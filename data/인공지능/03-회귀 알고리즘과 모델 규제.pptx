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</p:sldIdLst>
  <p:sldSz cx="12192000" cy="6858000"/>
  <p:notesSz cx="6858000" cy="9144000"/>
  <p:embeddedFontLst>
    <p:embeddedFont>
      <p:font typeface="Malgun Gothic" panose="020B0503020000020004" pitchFamily="50" charset="-127"/>
      <p:regular r:id="rId65"/>
      <p:bold r:id="rId66"/>
    </p:embeddedFont>
    <p:embeddedFont>
      <p:font typeface="Helvetica Neue Light" panose="020B0600000101010101" charset="0"/>
      <p:regular r:id="rId67"/>
      <p:bold r:id="rId68"/>
      <p:italic r:id="rId69"/>
      <p:boldItalic r:id="rId70"/>
    </p:embeddedFont>
    <p:embeddedFont>
      <p:font typeface="Noto Sans Symbols" pitchFamily="2" charset="0"/>
      <p:regular r:id="rId71"/>
      <p:bold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7">
          <p15:clr>
            <a:srgbClr val="A4A3A4"/>
          </p15:clr>
        </p15:guide>
        <p15:guide id="2" pos="3817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74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iDHiaH3ghAEiNzJwxab84Pl+E4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CC4822-36D8-4E0D-A62C-473381F2002F}">
  <a:tblStyle styleId="{F0CC4822-36D8-4E0D-A62C-473381F200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>
        <p:guide orient="horz" pos="2387"/>
        <p:guide pos="3817"/>
        <p:guide pos="3999"/>
        <p:guide orient="horz" pos="2591"/>
        <p:guide pos="960"/>
        <p:guide orient="horz" pos="1774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9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43e040fc3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g343e040fc3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43e040fc3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g343e040fc3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4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64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64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64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6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65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65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65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65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65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65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65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6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6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6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6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7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7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67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8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8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8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6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68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68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68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8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8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8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8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6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9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9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69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69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69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6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perch_dat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perch_data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perch_data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03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회귀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알고리즘과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규제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76;p1">
            <a:extLst>
              <a:ext uri="{FF2B5EF4-FFF2-40B4-BE49-F238E27FC236}">
                <a16:creationId xmlns:a16="http://schemas.microsoft.com/office/drawing/2014/main" id="{0D867507-7719-4D49-89C5-A10585A8CD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대전대학교 컴퓨터공학과</a:t>
            </a:r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ko-KR" altLang="en-US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/>
              <a:t>조교수 박상돈</a:t>
            </a:r>
            <a:endParaRPr lang="ko-KR" altLang="en-US" b="1" dirty="0"/>
          </a:p>
        </p:txBody>
      </p:sp>
      <p:sp>
        <p:nvSpPr>
          <p:cNvPr id="14" name="Google Shape;81;p1">
            <a:extLst>
              <a:ext uri="{FF2B5EF4-FFF2-40B4-BE49-F238E27FC236}">
                <a16:creationId xmlns:a16="http://schemas.microsoft.com/office/drawing/2014/main" id="{0BD8FAFD-AD57-47FB-8BA4-B359E0C3FA3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47600" y="2777285"/>
            <a:ext cx="2884900" cy="108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altLang="en-US" b="1" dirty="0"/>
              <a:t>인공지능</a:t>
            </a:r>
            <a:br>
              <a:rPr lang="en-US" altLang="ko-KR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FF63DFC-9330-0C5F-79CB-F422683159BF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7B5A8E3-2D03-9F1B-2F85-F5919755CD94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6F031543-351B-65FF-B75B-65058807EDD4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BA88532C-5C55-55DE-417E-F4F0B8DC03B3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EBB1550-C86E-9B6F-2A3E-B475A639BBE2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5F500BF2-7B31-7666-20EF-828875AD944C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09BB023-E2BF-CC07-1382-F82BC53EC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820764C4-A12A-D733-8AB9-AB4BBC4719A1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F2EF86B-5AF0-6CC9-969A-0D75BFC04FEF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65178D25-E336-D4E9-C73F-54BD3BB834B9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85486F0B-CB5F-7423-6477-8620651A364F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EB660398-2F84-3DAE-1AB7-9A7453F035C5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F4BCEE35-C720-93F6-BBE8-11036AC79E1B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FFBF2ECD-B1F8-6B80-7B38-B246152883D0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39C660BF-7B69-1391-4BC2-510A150F14E2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6368857B-70C8-7166-4507-BD9892DF9744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FAA07F1E-BAB4-23F3-AEFF-4223A4C322D2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AA2DA74E-FE7A-67D2-C265-23846BC86235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DEE75508-7D6C-E265-3550-F1562ADC7C25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CAE5C931-C8DB-93DE-1BEC-00B41221550C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0F340ADD-884B-B880-E1F7-40A29F75A782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CC89AE-D867-68DA-55E4-255576F8E5E9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B37657-DEBE-5304-8848-17B07B632C3D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0DC5C2-C1B2-81E2-84BF-00D7D19781C8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A74DC4-9F57-991B-C2C4-294096ACFF9B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6EA0CE-CCC4-8A22-64E7-BA1E752985FB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5A1BC-8A56-C3E8-2B1F-204A798C9241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7C2799-37AF-6D40-9405-B48BCAE98C20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DB070E-6507-0A97-67D7-983C1CE533A6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0791FE-C31B-E870-C3A8-469C54FC7A34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B1A3AD3C-C7FB-8B6C-51A7-4D51DBCEC688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364E7E3B-9ACF-A342-4098-BE2A40AD62B4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98566F80-B908-1696-21BB-5608922DDEC8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7399288F-FE72-9C61-EB7B-DF3AA87EE5F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864F8840-0AEB-7EA5-5663-004AFB3F0C0E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9828F4A9-5FF3-E24D-243E-0CE484111371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DF2A8DF1-90E9-9F84-22F1-678FD2E5069F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5ECDFD04-95D9-13A9-9824-E6EFA442073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DB3B8593-F979-C9D0-D970-B367D6CB731D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AE93B114-868C-2B5B-4A99-042068B9695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6D50D639-27B9-4C35-8B7F-601AE099FA4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8306775E-1823-C99D-3276-8CB6CE2F8C6A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FF58FCBA-CEC9-B147-71C0-13C3780EB278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1CE519D0-E2E7-2C85-C81C-FFAC926692A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FE572521-7213-A18F-01D3-CDEBA4C3A9E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B467C98C-0809-C0B9-8693-D9EE674B27A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AE76C21C-51D2-7431-A793-A1A7192EA3A4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0AD5E3E7-4F39-00C1-33F6-5BDCAD727B5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FB742EEE-A6DC-FD9A-C52C-D80293ED69BD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7276F898-AC98-33BC-0F8F-B32217EE1D7E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67204BAB-8298-5A71-FD4C-D37259A84FF8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FA6F0BCE-C0A4-6E14-A21E-7DC2CB788CC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796CB2F3-B953-F9BE-F38B-3389CC72A08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BD506CC3-EE5F-2D19-069B-0910993B0AD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C7243F87-5DC3-0247-B5D8-5493A6132452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125E7627-834C-60FE-9806-D57C5226DAB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09A2BD12-B29D-F688-5CC0-5B1F096C4CD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DEE161E2-8F07-A245-A074-EB96D76324E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55B22E7D-3079-6CBD-41CA-E78B9D753FE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46C7853B-8D61-7CEA-5B04-D00C8B76D139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2FF39170-FF60-98D3-03DC-6A9887B0B479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9B88099F-9BF4-A710-1987-5B7C9A2AF39B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51A4786E-0DBB-0FC2-03D8-82364C98EA8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1518B26F-6557-7C21-5F06-1E9AA641E07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36EE5236-8695-3521-4E37-07A452DFBB4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48325D17-7A8D-415E-08FB-31D09840369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3FB7C058-847B-05EE-6889-A738F33E0C32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C7BE22C4-D768-CDB1-9BBA-0328AEBA11E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B008895C-8AC8-44E5-4F61-40238260DCF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DDD817E0-A3E9-5217-C0B1-FF8780AF91A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6378CFE6-9679-75DD-E6E3-430FC4180516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06DC5940-7441-BFD4-83A3-67ED6BB0A151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5763D705-57E5-7C2E-BFAA-867146749563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001D230E-4A9E-CC5A-FE06-8E162B89E88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D0EFD458-C372-16BD-C93A-360F0BD886D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AF4A4973-ACDF-4A7F-8595-060647CACF0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7AC85113-3756-30D8-D35A-3F496987B8F5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9AC291C4-2996-BD79-6521-D4DEA9AF719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0F528E10-A4B1-5A5F-7434-26943BF572C5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78F78E77-448E-24F6-73C4-9C875B2738B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4D81A424-E74B-802E-9ADA-4DC4E55EC09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6600478F-C111-281E-DF5F-3371CAF312B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931547D0-2949-2EB8-8D13-6248FFDE338A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D21A2708-4F6E-5673-C411-DA9EA062D4A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6CC623FD-4942-9175-351F-FE80C375F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149FBFDF-1F82-C435-2AB2-65A4C0821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A38AB075-B364-3DA0-1719-262BBB9579AD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D61AB89B-3C42-1EBC-B790-D501A00636BB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6BE59D44-94A6-E9F7-1787-5CEE5315F2CF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50D2DF4-CD13-A4FA-1A50-384B8E0BAEB7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63AB6568-4A94-A8F1-E411-5CA14A25AC5A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75D2B183-1C1F-CE92-292F-2471DC03DFE9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469786CC-6100-79BF-0829-C36A0CCA50F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5C4E2B35-EB2A-F3FB-4674-9EF85CAEFC20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DAD3266E-F41D-80E8-9CB0-12E3E00FC1B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16E964E0-30DB-C526-D523-3C27540D7DF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03 회귀 알고리즘과 모델 규제</a:t>
            </a:r>
            <a:br>
              <a:rPr lang="en-US" b="1"/>
            </a:br>
            <a:endParaRPr sz="2000" b="1"/>
          </a:p>
        </p:txBody>
      </p:sp>
      <p:sp>
        <p:nvSpPr>
          <p:cNvPr id="202" name="Google Shape;202;p5"/>
          <p:cNvSpPr txBox="1"/>
          <p:nvPr/>
        </p:nvSpPr>
        <p:spPr>
          <a:xfrm>
            <a:off x="757708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3-1	k-최근접 이웃 회귀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3-2 	선형 회귀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3-3 	특성 공학과 규제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03 회귀 알고리즘과 모델 규제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49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지도 학습 알고리즘의 한 종류인 회귀 알고리즘에 대해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다양한 선형 회귀 알고리즘의 장단점을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농어의 무게를 예측하라!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농어 샘플 56개의 높이, 길이 등 수치로 무게를 예측하기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지도 학습 알고리즘은 크게 분류와 회귀(regression)로 나뉨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분류: 샘플을 몇 개의 클래스 중 하나로 분류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회귀: 클래스 중 하나로 분류하는 것이 아니라 임의의 어떤 숫자를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예) 내년도 경제 성장률을 예측하거나 배달이 도착할 시간을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회귀는 정해진 클래스가 없고 임의의 수치를 출력</a:t>
            </a:r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1126" y="4108289"/>
            <a:ext cx="4114800" cy="2159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분류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예측하려는 샘플에 가장 가까운 샘플 k개를 선택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샘플들의 클래스를 확인하여 다수 클래스를 새로운 샘플의 클래스로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다음 그림의 왼쪽에 k-최근접 이웃 분류가 잘 나타남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 = 3(샘플이 3개)이라 가정하면 사각형이 2개로 다수이기 때문에 새로운 샘플의 클래스는 사각형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회귀(2)</a:t>
            </a:r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0646" y="3447854"/>
            <a:ext cx="6430708" cy="2581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k-최근접 이웃 회귀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분류와 똑같이 예측하려는 샘플에 가장 가까운 샘플 k개를 선택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회귀이기 때문에 이웃한 샘플의 타깃은 어떤 클래스가 아니라 임의의 수치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 샘플의 수치를 사용해 새로운 샘플 의 타깃을 예측하기 위해 이 수치들의 평균을 구함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그림에서 이웃한 샘플의 타깃값이 각각 100, 80, 60이고 이를 평균하면 샘플의 예측 타깃값은 80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34" name="Google Shape;234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회귀(3)</a:t>
            </a:r>
            <a:endParaRPr/>
          </a:p>
        </p:txBody>
      </p:sp>
      <p:sp>
        <p:nvSpPr>
          <p:cNvPr id="235" name="Google Shape;235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36" name="Google Shape;236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37" name="Google Shape;2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4326" y="3334700"/>
            <a:ext cx="6323348" cy="291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준비</a:t>
            </a:r>
            <a:endParaRPr dirty="0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준비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농어의</a:t>
            </a:r>
            <a:r>
              <a:rPr lang="en-US" dirty="0"/>
              <a:t> </a:t>
            </a:r>
            <a:r>
              <a:rPr lang="en-US" dirty="0" err="1"/>
              <a:t>길이만</a:t>
            </a:r>
            <a:r>
              <a:rPr lang="en-US" dirty="0"/>
              <a:t> </a:t>
            </a:r>
            <a:r>
              <a:rPr lang="en-US" dirty="0" err="1"/>
              <a:t>있어도</a:t>
            </a:r>
            <a:r>
              <a:rPr lang="en-US" dirty="0"/>
              <a:t> </a:t>
            </a:r>
            <a:r>
              <a:rPr lang="en-US" dirty="0" err="1"/>
              <a:t>무게를</a:t>
            </a:r>
            <a:r>
              <a:rPr lang="en-US" dirty="0"/>
              <a:t> 잘 </a:t>
            </a:r>
            <a:r>
              <a:rPr lang="en-US" dirty="0" err="1"/>
              <a:t>예측할</a:t>
            </a:r>
            <a:r>
              <a:rPr lang="en-US" dirty="0"/>
              <a:t> 수 </a:t>
            </a:r>
            <a:r>
              <a:rPr lang="en-US" dirty="0" err="1"/>
              <a:t>있다고</a:t>
            </a:r>
            <a:r>
              <a:rPr lang="en-US" dirty="0"/>
              <a:t> </a:t>
            </a:r>
            <a:r>
              <a:rPr lang="en-US" dirty="0" err="1"/>
              <a:t>가정</a:t>
            </a:r>
            <a:r>
              <a:rPr lang="en-US" dirty="0"/>
              <a:t> (</a:t>
            </a:r>
            <a:r>
              <a:rPr lang="en-US" dirty="0" err="1"/>
              <a:t>농어의</a:t>
            </a:r>
            <a:r>
              <a:rPr lang="en-US" dirty="0"/>
              <a:t> </a:t>
            </a:r>
            <a:r>
              <a:rPr lang="en-US" dirty="0" err="1"/>
              <a:t>길이가</a:t>
            </a:r>
            <a:r>
              <a:rPr lang="en-US" dirty="0"/>
              <a:t> </a:t>
            </a:r>
            <a:r>
              <a:rPr lang="en-US" dirty="0" err="1"/>
              <a:t>특성</a:t>
            </a:r>
            <a:r>
              <a:rPr lang="en-US" dirty="0"/>
              <a:t>, </a:t>
            </a:r>
            <a:r>
              <a:rPr lang="en-US" dirty="0" err="1"/>
              <a:t>무게가</a:t>
            </a:r>
            <a:r>
              <a:rPr lang="en-US" dirty="0"/>
              <a:t> </a:t>
            </a:r>
            <a:r>
              <a:rPr lang="en-US" dirty="0" err="1"/>
              <a:t>타깃</a:t>
            </a:r>
            <a:r>
              <a:rPr lang="en-US" dirty="0"/>
              <a:t>)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넘파이</a:t>
            </a:r>
            <a:r>
              <a:rPr lang="en-US" dirty="0"/>
              <a:t> </a:t>
            </a:r>
            <a:r>
              <a:rPr lang="en-US" dirty="0" err="1"/>
              <a:t>배열로</a:t>
            </a:r>
            <a:r>
              <a:rPr lang="en-US" dirty="0"/>
              <a:t> </a:t>
            </a:r>
            <a:r>
              <a:rPr lang="en-US" dirty="0" err="1"/>
              <a:t>만들기</a:t>
            </a:r>
            <a:r>
              <a:rPr lang="en-US" dirty="0"/>
              <a:t> (</a:t>
            </a:r>
            <a:r>
              <a:rPr lang="en-US" dirty="0" err="1"/>
              <a:t>소스</a:t>
            </a:r>
            <a:r>
              <a:rPr lang="en-US" dirty="0"/>
              <a:t>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http://bit.ly/perch_data</a:t>
            </a:r>
            <a:r>
              <a:rPr lang="en-US" dirty="0"/>
              <a:t>에서 </a:t>
            </a:r>
            <a:r>
              <a:rPr lang="en-US" dirty="0" err="1"/>
              <a:t>복사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43" name="Google Shape;243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회귀(4)</a:t>
            </a:r>
            <a:endParaRPr/>
          </a:p>
        </p:txBody>
      </p:sp>
      <p:sp>
        <p:nvSpPr>
          <p:cNvPr id="244" name="Google Shape;244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45" name="Google Shape;245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46" name="Google Shape;246;p10"/>
          <p:cNvGraphicFramePr/>
          <p:nvPr/>
        </p:nvGraphicFramePr>
        <p:xfrm>
          <a:off x="1692549" y="2677548"/>
          <a:ext cx="4560400" cy="37947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5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import </a:t>
                      </a:r>
                      <a:r>
                        <a:rPr lang="en-US" sz="1350" b="0" u="none" strike="noStrike" cap="none" dirty="0" err="1">
                          <a:solidFill>
                            <a:schemeClr val="dk1"/>
                          </a:solidFill>
                        </a:rPr>
                        <a:t>numpy</a:t>
                      </a: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 as np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 err="1">
                          <a:solidFill>
                            <a:schemeClr val="dk1"/>
                          </a:solidFill>
                        </a:rPr>
                        <a:t>perch_length</a:t>
                      </a: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350" b="0" u="none" strike="noStrike" cap="none" dirty="0" err="1">
                          <a:solidFill>
                            <a:schemeClr val="dk1"/>
                          </a:solidFill>
                        </a:rPr>
                        <a:t>np.array</a:t>
                      </a: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[ 8.4, 13.7, 15.0, 16.2, 17.4, 18.0, 18.7, 19.0, 19.6, 20.0,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21.0, 21.0, 21.0, 21.3, 22.0, 22.0, 22.0, 22.0, 22.0, 22.5,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22.5, 22.7, 23.0, 23.5, 24.0, 24.0, 24.6, 25.0, 25.6, 26.5,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27.3, 27.5, 27.5, 27.5, 28.0, 28.7, 30.0, 32.8, 34.5, 35.0,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36.5, 36.0, 37.0, 37.0, 39.0, 39.0, 39.0, 40.0, 40.0, 40.0,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40.0, 42.0, 43.0, 43.0, 43.5, 44.0]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 err="1">
                          <a:solidFill>
                            <a:schemeClr val="dk1"/>
                          </a:solidFill>
                        </a:rPr>
                        <a:t>perch_weight</a:t>
                      </a: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350" b="0" u="none" strike="noStrike" cap="none" dirty="0" err="1">
                          <a:solidFill>
                            <a:schemeClr val="dk1"/>
                          </a:solidFill>
                        </a:rPr>
                        <a:t>np.array</a:t>
                      </a: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[ 5.9, 32.0, 40.0, 51.5, 70.0, 100.0, 78.0, 80.0, 85.0, 85.0,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110.0, 115.0, 125.0, 130.0, 120.0, 120.0, 130.0, 135.0, 110.0,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130.0, 150.0, 145.0, 150.0, 170.0, 225.0, 145.0, 188.0, 180.0,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197.0, 218.0, 300.0, 260.0, 265.0, 250.0, 250.0, 300.0, 320.0,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514.0, 556.0, 840.0, 685.0, 700.0, 700.0, 690.0, 900.0, 650.0,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820.0, 850.0, 900.0, 1015.0, 820.0, 1100.0, 1000.0, 1100.0,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1000.0, 1000.0]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35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데이터 준비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데이터가 형태 파악을 위해 산점도 그리기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하나의 특성을 사용하기 때문에 특성 데이터를 x축, 타깃 데이터를 y축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맷플롯립을 임포트하고 scatter( ) 함수를 사용하여 산점도 그리기</a:t>
            </a:r>
            <a:endParaRPr/>
          </a:p>
        </p:txBody>
      </p:sp>
      <p:sp>
        <p:nvSpPr>
          <p:cNvPr id="252" name="Google Shape;252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회귀(5)</a:t>
            </a:r>
            <a:endParaRPr/>
          </a:p>
        </p:txBody>
      </p:sp>
      <p:sp>
        <p:nvSpPr>
          <p:cNvPr id="253" name="Google Shape;253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54" name="Google Shape;254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55" name="Google Shape;255;p11"/>
          <p:cNvGraphicFramePr/>
          <p:nvPr/>
        </p:nvGraphicFramePr>
        <p:xfrm>
          <a:off x="1722588" y="3301208"/>
          <a:ext cx="3578425" cy="11582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plt.scatter(perch_length, perch_weight)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6" name="Google Shape;256;p11"/>
          <p:cNvCxnSpPr/>
          <p:nvPr/>
        </p:nvCxnSpPr>
        <p:spPr>
          <a:xfrm>
            <a:off x="5543145" y="3880328"/>
            <a:ext cx="32975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57" name="Google Shape;25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1318" y="3301208"/>
            <a:ext cx="4423716" cy="2863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세트로 나누기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train_test_split( ) 함수를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책과 결과를 동일하게 유지하기 위해 random_state=42로 지정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사이킷런에 사용할 훈련 세트는 2차원 배열이어야 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perch_length가 1차원 배열이기 때문에 이를 나눈 train_input과</a:t>
            </a:r>
            <a:br>
              <a:rPr lang="en-US"/>
            </a:br>
            <a:r>
              <a:rPr lang="en-US"/>
              <a:t> test_input도 1차원 배열 </a:t>
            </a:r>
            <a:br>
              <a:rPr lang="en-US"/>
            </a:br>
            <a:r>
              <a:rPr lang="en-US"/>
              <a:t>- 이런 1차원 배열을1개의 열이 있는 2차원 배열로 바꿔야 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파이썬에서 1차원 배열의 크기는 원소가 1개인 튜플</a:t>
            </a:r>
            <a:br>
              <a:rPr lang="en-US"/>
            </a:br>
            <a:r>
              <a:rPr lang="en-US"/>
              <a:t>- 예를 들어 [1, 2, 3]의 크기는 (3, )</a:t>
            </a:r>
            <a:br>
              <a:rPr lang="en-US"/>
            </a:br>
            <a:r>
              <a:rPr lang="en-US"/>
              <a:t>- 이를 2차원 배열로 만들기 위해 억지로 하나의 열을 추가하여 배열의 크기가 (3, 1)이 됨</a:t>
            </a:r>
            <a:br>
              <a:rPr lang="en-US"/>
            </a:br>
            <a:r>
              <a:rPr lang="en-US"/>
              <a:t>- 배열을 나타내는 방식만 달라졌을 뿐 배열에 있는 원소의 개수는 동일하게 3개</a:t>
            </a:r>
            <a:endParaRPr/>
          </a:p>
        </p:txBody>
      </p:sp>
      <p:sp>
        <p:nvSpPr>
          <p:cNvPr id="263" name="Google Shape;263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회귀(6)</a:t>
            </a:r>
            <a:endParaRPr/>
          </a:p>
        </p:txBody>
      </p:sp>
      <p:sp>
        <p:nvSpPr>
          <p:cNvPr id="264" name="Google Shape;264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65" name="Google Shape;265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66" name="Google Shape;266;p12"/>
          <p:cNvGraphicFramePr/>
          <p:nvPr/>
        </p:nvGraphicFramePr>
        <p:xfrm>
          <a:off x="1704582" y="2697480"/>
          <a:ext cx="5282575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perch_length, perch_weight,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7" name="Google Shape;26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275" y="3680667"/>
            <a:ext cx="3396525" cy="18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세트로 나누기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크기를 바꿀 수 있는 reshape( ) 메서드</a:t>
            </a:r>
            <a:br>
              <a:rPr lang="en-US"/>
            </a:br>
            <a:r>
              <a:rPr lang="en-US"/>
              <a:t>- 2장에서는 2개의 특성을 사용했기 때문에 자연스럽게 열이 2개인 2차원 배열을 사용</a:t>
            </a:r>
            <a:br>
              <a:rPr lang="en-US"/>
            </a:br>
            <a:r>
              <a:rPr lang="en-US"/>
              <a:t>- 이번 예제에서는 특성을 1개만 사용하므로 수동으로 2차원 배열을 만들어 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(4, ) 배열을 (2, 2) 크기로 바꾸기</a:t>
            </a:r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회귀(7)</a:t>
            </a:r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76" name="Google Shape;276;p13"/>
          <p:cNvGraphicFramePr/>
          <p:nvPr/>
        </p:nvGraphicFramePr>
        <p:xfrm>
          <a:off x="1704581" y="3401490"/>
          <a:ext cx="4185275" cy="5181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test_array = np.array([1,2,3,4])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print(test_array.shape)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7" name="Google Shape;277;p13"/>
          <p:cNvCxnSpPr/>
          <p:nvPr/>
        </p:nvCxnSpPr>
        <p:spPr>
          <a:xfrm>
            <a:off x="6133706" y="3674559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8" name="Google Shape;278;p13"/>
          <p:cNvSpPr txBox="1"/>
          <p:nvPr/>
        </p:nvSpPr>
        <p:spPr>
          <a:xfrm>
            <a:off x="6792074" y="3478963"/>
            <a:ext cx="1555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13"/>
          <p:cNvGraphicFramePr/>
          <p:nvPr/>
        </p:nvGraphicFramePr>
        <p:xfrm>
          <a:off x="1704581" y="4395348"/>
          <a:ext cx="4185275" cy="5181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test_array = test_array.reshape(2, 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print(test_array.shape)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0" name="Google Shape;280;p13"/>
          <p:cNvCxnSpPr/>
          <p:nvPr/>
        </p:nvCxnSpPr>
        <p:spPr>
          <a:xfrm>
            <a:off x="6133706" y="4668417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1" name="Google Shape;281;p13"/>
          <p:cNvSpPr txBox="1"/>
          <p:nvPr/>
        </p:nvSpPr>
        <p:spPr>
          <a:xfrm>
            <a:off x="6792074" y="4472821"/>
            <a:ext cx="1555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3511776" y="4031275"/>
            <a:ext cx="347100" cy="253200"/>
          </a:xfrm>
          <a:prstGeom prst="down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360035" y="5064703"/>
            <a:ext cx="9273000" cy="1464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지정한 크기와 원본 배열의 원소 개수가 달라도 되나?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reshape() 메서드는 크기가 바뀐 새로운 배열을 반환할 때 지정한 크기가 원본 배열에 있는 원소의 개수와 </a:t>
            </a:r>
            <a:b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다르면 에러가 발생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예를 들어 다음과 같이 (4, ) 크기의 배열을 (2, 3)으로 바꾸려고 하면 원본 배열의 원소는 4개인데 2 × 3 = 6개로 바꾸려고 하기 때문에 에러 발생</a:t>
            </a:r>
            <a:endParaRPr/>
          </a:p>
        </p:txBody>
      </p:sp>
      <p:pic>
        <p:nvPicPr>
          <p:cNvPr id="284" name="Google Shape;284;p13" descr="Lightbulb and ge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121" y="5047677"/>
            <a:ext cx="455111" cy="455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데이터 준비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세트로 나누기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reshape( ) 메서드를 사용해 train_input과 test_input을 2차원 배열로 변환</a:t>
            </a:r>
            <a:br>
              <a:rPr lang="en-US"/>
            </a:br>
            <a:r>
              <a:rPr lang="en-US"/>
              <a:t>- train_input의 크기는 (42, )</a:t>
            </a:r>
            <a:br>
              <a:rPr lang="en-US"/>
            </a:br>
            <a:r>
              <a:rPr lang="en-US"/>
              <a:t>- 이를 2차원 배열인 (42, 1)로 바꾸려면 train_input.reshape(42, 1)과 같이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넘파이의 배열의 크기를 자동으로 지정하는 기능</a:t>
            </a:r>
            <a:br>
              <a:rPr lang="en-US"/>
            </a:br>
            <a:r>
              <a:rPr lang="en-US"/>
              <a:t>- 크기에 -1을 지정하면 나머지 원소 개수로 모두 채우라는 의미</a:t>
            </a:r>
            <a:br>
              <a:rPr lang="en-US"/>
            </a:br>
            <a:r>
              <a:rPr lang="en-US"/>
              <a:t>- 첫 번째 크기를 나머지 원소 개수로 채우고, 두 번째 크기를 1로 하려면 train_input.reshape(-1, 1)처럼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reshape( ) 메서드로 배열의 크기 변경하기</a:t>
            </a:r>
            <a:endParaRPr/>
          </a:p>
        </p:txBody>
      </p:sp>
      <p:sp>
        <p:nvSpPr>
          <p:cNvPr id="290" name="Google Shape;290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회귀(8)</a:t>
            </a:r>
            <a:endParaRPr/>
          </a:p>
        </p:txBody>
      </p:sp>
      <p:sp>
        <p:nvSpPr>
          <p:cNvPr id="291" name="Google Shape;291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92" name="Google Shape;292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93" name="Google Shape;293;p14"/>
          <p:cNvGraphicFramePr/>
          <p:nvPr/>
        </p:nvGraphicFramePr>
        <p:xfrm>
          <a:off x="1714008" y="4684194"/>
          <a:ext cx="4185275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train_input.reshape(-1, 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test_input.reshape(-1, 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print(train_input.shape, test_input.shape)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4" name="Google Shape;294;p14"/>
          <p:cNvCxnSpPr/>
          <p:nvPr/>
        </p:nvCxnSpPr>
        <p:spPr>
          <a:xfrm>
            <a:off x="6152560" y="5004398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5" name="Google Shape;295;p14"/>
          <p:cNvSpPr txBox="1"/>
          <p:nvPr/>
        </p:nvSpPr>
        <p:spPr>
          <a:xfrm>
            <a:off x="6820355" y="4808802"/>
            <a:ext cx="15550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1) (14, 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결정계수</a:t>
            </a:r>
            <a:r>
              <a:rPr lang="en-US" dirty="0"/>
              <a:t>(R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사이킷런에서</a:t>
            </a:r>
            <a:r>
              <a:rPr lang="en-US" dirty="0"/>
              <a:t> 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알고리즘을</a:t>
            </a:r>
            <a:r>
              <a:rPr lang="en-US" dirty="0"/>
              <a:t> </a:t>
            </a:r>
            <a:r>
              <a:rPr lang="en-US" dirty="0" err="1"/>
              <a:t>구현한</a:t>
            </a:r>
            <a:r>
              <a:rPr lang="en-US" dirty="0"/>
              <a:t> </a:t>
            </a:r>
            <a:r>
              <a:rPr lang="en-US" dirty="0" err="1"/>
              <a:t>클래스는</a:t>
            </a:r>
            <a:r>
              <a:rPr lang="en-US" dirty="0"/>
              <a:t> </a:t>
            </a:r>
            <a:r>
              <a:rPr lang="en-US" dirty="0" err="1"/>
              <a:t>KNeighborsRegressor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클래스의</a:t>
            </a:r>
            <a:r>
              <a:rPr lang="en-US" dirty="0"/>
              <a:t> </a:t>
            </a:r>
            <a:r>
              <a:rPr lang="en-US" dirty="0" err="1"/>
              <a:t>사용법은</a:t>
            </a:r>
            <a:r>
              <a:rPr lang="en-US" dirty="0"/>
              <a:t> </a:t>
            </a:r>
            <a:r>
              <a:rPr lang="en-US" dirty="0" err="1"/>
              <a:t>KNeighborsClassifier와</a:t>
            </a:r>
            <a:r>
              <a:rPr lang="en-US" dirty="0"/>
              <a:t> </a:t>
            </a:r>
            <a:r>
              <a:rPr lang="en-US" dirty="0" err="1"/>
              <a:t>매우</a:t>
            </a:r>
            <a:r>
              <a:rPr lang="en-US" dirty="0"/>
              <a:t> </a:t>
            </a:r>
            <a:r>
              <a:rPr lang="en-US" dirty="0" err="1"/>
              <a:t>비슷함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객체를</a:t>
            </a:r>
            <a:r>
              <a:rPr lang="en-US" dirty="0"/>
              <a:t> </a:t>
            </a:r>
            <a:r>
              <a:rPr lang="en-US" dirty="0" err="1"/>
              <a:t>생성하고</a:t>
            </a:r>
            <a:r>
              <a:rPr lang="en-US" dirty="0"/>
              <a:t> fit( ) </a:t>
            </a:r>
            <a:r>
              <a:rPr lang="en-US" dirty="0" err="1"/>
              <a:t>메서드로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훈련하기</a:t>
            </a: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altLang="ko-KR"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점수는</a:t>
            </a:r>
            <a:r>
              <a:rPr lang="en-US" dirty="0"/>
              <a:t> </a:t>
            </a:r>
            <a:r>
              <a:rPr lang="en-US" dirty="0" err="1"/>
              <a:t>분류에서는</a:t>
            </a:r>
            <a:r>
              <a:rPr lang="en-US" dirty="0"/>
              <a:t> </a:t>
            </a:r>
            <a:r>
              <a:rPr lang="en-US" dirty="0" err="1"/>
              <a:t>정확도</a:t>
            </a:r>
            <a:r>
              <a:rPr lang="en-US" dirty="0"/>
              <a:t>, </a:t>
            </a:r>
            <a:r>
              <a:rPr lang="en-US" dirty="0" err="1"/>
              <a:t>회귀에서는</a:t>
            </a:r>
            <a:r>
              <a:rPr lang="en-US" dirty="0"/>
              <a:t> </a:t>
            </a:r>
            <a:r>
              <a:rPr lang="en-US" dirty="0" err="1"/>
              <a:t>결정계수</a:t>
            </a:r>
            <a:r>
              <a:rPr lang="en-US" dirty="0"/>
              <a:t>(R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만약</a:t>
            </a:r>
            <a:r>
              <a:rPr lang="en-US" dirty="0"/>
              <a:t> </a:t>
            </a:r>
            <a:r>
              <a:rPr lang="en-US" dirty="0" err="1"/>
              <a:t>타깃의</a:t>
            </a:r>
            <a:r>
              <a:rPr lang="en-US" dirty="0"/>
              <a:t> </a:t>
            </a:r>
            <a:r>
              <a:rPr lang="en-US" dirty="0" err="1"/>
              <a:t>평균</a:t>
            </a:r>
            <a:r>
              <a:rPr lang="en-US" dirty="0"/>
              <a:t> </a:t>
            </a:r>
            <a:r>
              <a:rPr lang="en-US" dirty="0" err="1"/>
              <a:t>정도를</a:t>
            </a:r>
            <a:r>
              <a:rPr lang="en-US" dirty="0"/>
              <a:t> </a:t>
            </a:r>
            <a:r>
              <a:rPr lang="en-US" dirty="0" err="1"/>
              <a:t>예측하는</a:t>
            </a:r>
            <a:r>
              <a:rPr lang="en-US" dirty="0"/>
              <a:t> </a:t>
            </a:r>
            <a:r>
              <a:rPr lang="en-US" dirty="0" err="1"/>
              <a:t>수준이라면</a:t>
            </a:r>
            <a:r>
              <a:rPr lang="en-US" dirty="0"/>
              <a:t> (즉, </a:t>
            </a:r>
            <a:r>
              <a:rPr lang="en-US" dirty="0" err="1"/>
              <a:t>분자와</a:t>
            </a:r>
            <a:r>
              <a:rPr lang="en-US" dirty="0"/>
              <a:t> </a:t>
            </a:r>
            <a:r>
              <a:rPr lang="en-US" dirty="0" err="1"/>
              <a:t>분모가</a:t>
            </a:r>
            <a:r>
              <a:rPr lang="en-US" dirty="0"/>
              <a:t> </a:t>
            </a:r>
            <a:r>
              <a:rPr lang="en-US" dirty="0" err="1"/>
              <a:t>비슷해져</a:t>
            </a:r>
            <a:r>
              <a:rPr lang="en-US" dirty="0"/>
              <a:t>) R</a:t>
            </a:r>
            <a:r>
              <a:rPr lang="en-US" baseline="30000" dirty="0"/>
              <a:t>2</a:t>
            </a:r>
            <a:r>
              <a:rPr lang="en-US" dirty="0"/>
              <a:t>는 0에 </a:t>
            </a:r>
            <a:r>
              <a:rPr lang="en-US" dirty="0" err="1"/>
              <a:t>가까워지고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예측이</a:t>
            </a:r>
            <a:r>
              <a:rPr lang="en-US" dirty="0"/>
              <a:t> </a:t>
            </a:r>
            <a:r>
              <a:rPr lang="en-US" dirty="0" err="1"/>
              <a:t>타깃에</a:t>
            </a:r>
            <a:r>
              <a:rPr lang="en-US" dirty="0"/>
              <a:t> </a:t>
            </a:r>
            <a:r>
              <a:rPr lang="en-US" dirty="0" err="1"/>
              <a:t>아주</a:t>
            </a:r>
            <a:r>
              <a:rPr lang="en-US" dirty="0"/>
              <a:t> </a:t>
            </a:r>
            <a:r>
              <a:rPr lang="en-US" dirty="0" err="1"/>
              <a:t>가까워지면</a:t>
            </a:r>
            <a:r>
              <a:rPr lang="en-US" dirty="0"/>
              <a:t> (</a:t>
            </a:r>
            <a:r>
              <a:rPr lang="en-US" dirty="0" err="1"/>
              <a:t>분자가</a:t>
            </a:r>
            <a:r>
              <a:rPr lang="en-US" dirty="0"/>
              <a:t> 0에 </a:t>
            </a:r>
            <a:r>
              <a:rPr lang="en-US" dirty="0" err="1"/>
              <a:t>가까워지기</a:t>
            </a:r>
            <a:r>
              <a:rPr lang="en-US" dirty="0"/>
              <a:t> </a:t>
            </a:r>
            <a:r>
              <a:rPr lang="en-US" dirty="0" err="1"/>
              <a:t>때문에</a:t>
            </a:r>
            <a:r>
              <a:rPr lang="en-US" dirty="0"/>
              <a:t>) 1에 </a:t>
            </a:r>
            <a:r>
              <a:rPr lang="en-US" dirty="0" err="1"/>
              <a:t>가까운</a:t>
            </a:r>
            <a:r>
              <a:rPr lang="en-US" dirty="0"/>
              <a:t> </a:t>
            </a:r>
            <a:r>
              <a:rPr lang="en-US" dirty="0" err="1"/>
              <a:t>값이</a:t>
            </a:r>
            <a:r>
              <a:rPr lang="en-US" dirty="0"/>
              <a:t> 됨</a:t>
            </a:r>
            <a:endParaRPr dirty="0"/>
          </a:p>
        </p:txBody>
      </p:sp>
      <p:sp>
        <p:nvSpPr>
          <p:cNvPr id="301" name="Google Shape;301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회귀(9)</a:t>
            </a:r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04" name="Google Shape;304;p15"/>
          <p:cNvGraphicFramePr/>
          <p:nvPr/>
        </p:nvGraphicFramePr>
        <p:xfrm>
          <a:off x="1234997" y="2893828"/>
          <a:ext cx="4185275" cy="13716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from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sklearn.neighbors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 import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KNeighborsRegressor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KNeighborsRegressor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# k-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최근접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이웃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회귀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모델을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훈련합니다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knr.fit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5" name="Google Shape;305;p15"/>
          <p:cNvCxnSpPr/>
          <p:nvPr/>
        </p:nvCxnSpPr>
        <p:spPr>
          <a:xfrm>
            <a:off x="5616986" y="4891041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6" name="Google Shape;306;p15"/>
          <p:cNvSpPr txBox="1"/>
          <p:nvPr/>
        </p:nvSpPr>
        <p:spPr>
          <a:xfrm>
            <a:off x="6237646" y="4704872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0.9928094061010639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7" name="Google Shape;307;p15"/>
          <p:cNvGraphicFramePr/>
          <p:nvPr/>
        </p:nvGraphicFramePr>
        <p:xfrm>
          <a:off x="1234996" y="4723726"/>
          <a:ext cx="4185275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8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print(knr.score(test_input,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8" name="Google Shape;308;p15"/>
          <p:cNvGrpSpPr/>
          <p:nvPr/>
        </p:nvGrpSpPr>
        <p:grpSpPr>
          <a:xfrm>
            <a:off x="8784741" y="4771270"/>
            <a:ext cx="2983326" cy="741567"/>
            <a:chOff x="4226366" y="3660503"/>
            <a:chExt cx="2983326" cy="741567"/>
          </a:xfrm>
        </p:grpSpPr>
        <p:sp>
          <p:nvSpPr>
            <p:cNvPr id="309" name="Google Shape;309;p15"/>
            <p:cNvSpPr txBox="1"/>
            <p:nvPr/>
          </p:nvSpPr>
          <p:spPr>
            <a:xfrm>
              <a:off x="4226366" y="3845169"/>
              <a:ext cx="9028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1800" b="1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 = 1 - </a:t>
              </a:r>
              <a:endParaRPr sz="1800" b="1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5"/>
            <p:cNvSpPr txBox="1"/>
            <p:nvPr/>
          </p:nvSpPr>
          <p:spPr>
            <a:xfrm>
              <a:off x="5029200" y="3660503"/>
              <a:ext cx="2180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(타깃 – 예측)</a:t>
              </a:r>
              <a:r>
                <a:rPr lang="en-US" sz="1800" b="1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의 합</a:t>
              </a:r>
              <a:endParaRPr/>
            </a:p>
          </p:txBody>
        </p:sp>
        <p:sp>
          <p:nvSpPr>
            <p:cNvPr id="311" name="Google Shape;311;p15"/>
            <p:cNvSpPr txBox="1"/>
            <p:nvPr/>
          </p:nvSpPr>
          <p:spPr>
            <a:xfrm>
              <a:off x="5029200" y="4032738"/>
              <a:ext cx="2180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(타깃 – 평균)</a:t>
              </a:r>
              <a:r>
                <a:rPr lang="en-US" sz="1800" b="1" i="1" baseline="30000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 b="1" i="1">
                  <a:solidFill>
                    <a:srgbClr val="1C5A25"/>
                  </a:solidFill>
                  <a:latin typeface="Calibri"/>
                  <a:ea typeface="Calibri"/>
                  <a:cs typeface="Calibri"/>
                  <a:sym typeface="Calibri"/>
                </a:rPr>
                <a:t>의 합</a:t>
              </a:r>
              <a:endParaRPr/>
            </a:p>
          </p:txBody>
        </p:sp>
        <p:cxnSp>
          <p:nvCxnSpPr>
            <p:cNvPr id="312" name="Google Shape;312;p15"/>
            <p:cNvCxnSpPr/>
            <p:nvPr/>
          </p:nvCxnSpPr>
          <p:spPr>
            <a:xfrm>
              <a:off x="5122985" y="4029835"/>
              <a:ext cx="2086707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결정계수</a:t>
            </a:r>
            <a:r>
              <a:rPr lang="en-US" dirty="0"/>
              <a:t>(R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타깃과</a:t>
            </a:r>
            <a:r>
              <a:rPr lang="en-US" dirty="0"/>
              <a:t> </a:t>
            </a:r>
            <a:r>
              <a:rPr lang="en-US" dirty="0" err="1"/>
              <a:t>예측한</a:t>
            </a:r>
            <a:r>
              <a:rPr lang="en-US" dirty="0"/>
              <a:t> 값 </a:t>
            </a:r>
            <a:r>
              <a:rPr lang="en-US" dirty="0" err="1"/>
              <a:t>사이의</a:t>
            </a:r>
            <a:r>
              <a:rPr lang="en-US" dirty="0"/>
              <a:t> </a:t>
            </a:r>
            <a:r>
              <a:rPr lang="en-US" dirty="0" err="1"/>
              <a:t>차이를</a:t>
            </a:r>
            <a:r>
              <a:rPr lang="en-US" dirty="0"/>
              <a:t> </a:t>
            </a:r>
            <a:r>
              <a:rPr lang="en-US" dirty="0" err="1"/>
              <a:t>구하여</a:t>
            </a:r>
            <a:r>
              <a:rPr lang="en-US" dirty="0"/>
              <a:t> </a:t>
            </a:r>
            <a:r>
              <a:rPr lang="en-US" dirty="0" err="1"/>
              <a:t>어느</a:t>
            </a:r>
            <a:r>
              <a:rPr lang="en-US" dirty="0"/>
              <a:t> </a:t>
            </a:r>
            <a:r>
              <a:rPr lang="en-US" dirty="0" err="1"/>
              <a:t>정도</a:t>
            </a:r>
            <a:r>
              <a:rPr lang="en-US" dirty="0"/>
              <a:t> </a:t>
            </a:r>
            <a:r>
              <a:rPr lang="en-US" dirty="0" err="1"/>
              <a:t>예측이</a:t>
            </a:r>
            <a:r>
              <a:rPr lang="en-US" dirty="0"/>
              <a:t> </a:t>
            </a:r>
            <a:r>
              <a:rPr lang="en-US" dirty="0" err="1"/>
              <a:t>벗어났는지</a:t>
            </a:r>
            <a:r>
              <a:rPr lang="en-US" dirty="0"/>
              <a:t> </a:t>
            </a:r>
            <a:r>
              <a:rPr lang="en-US" dirty="0" err="1"/>
              <a:t>평가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사이킷런</a:t>
            </a:r>
            <a:r>
              <a:rPr lang="en-US" dirty="0"/>
              <a:t> </a:t>
            </a:r>
            <a:r>
              <a:rPr lang="en-US" dirty="0" err="1"/>
              <a:t>sklearn.metrics</a:t>
            </a:r>
            <a:r>
              <a:rPr lang="en-US" dirty="0"/>
              <a:t> </a:t>
            </a:r>
            <a:r>
              <a:rPr lang="en-US" dirty="0" err="1"/>
              <a:t>패키지의</a:t>
            </a:r>
            <a:r>
              <a:rPr lang="en-US" dirty="0"/>
              <a:t> </a:t>
            </a:r>
            <a:r>
              <a:rPr lang="en-US" dirty="0" err="1"/>
              <a:t>mean_absolute_error</a:t>
            </a:r>
            <a:r>
              <a:rPr lang="en-US" dirty="0"/>
              <a:t>: </a:t>
            </a:r>
            <a:r>
              <a:rPr lang="en-US" dirty="0" err="1"/>
              <a:t>타깃과</a:t>
            </a:r>
            <a:r>
              <a:rPr lang="en-US" dirty="0"/>
              <a:t> </a:t>
            </a:r>
            <a:r>
              <a:rPr lang="en-US" dirty="0" err="1"/>
              <a:t>예측의</a:t>
            </a:r>
            <a:r>
              <a:rPr lang="en-US" dirty="0"/>
              <a:t> </a:t>
            </a:r>
            <a:r>
              <a:rPr lang="en-US" dirty="0" err="1"/>
              <a:t>절댓값</a:t>
            </a:r>
            <a:r>
              <a:rPr lang="en-US" dirty="0"/>
              <a:t> </a:t>
            </a:r>
            <a:r>
              <a:rPr lang="en-US" dirty="0" err="1"/>
              <a:t>오차를</a:t>
            </a:r>
            <a:r>
              <a:rPr lang="en-US" dirty="0"/>
              <a:t> </a:t>
            </a:r>
            <a:r>
              <a:rPr lang="en-US" dirty="0" err="1"/>
              <a:t>평균하여</a:t>
            </a:r>
            <a:r>
              <a:rPr lang="en-US" dirty="0"/>
              <a:t> </a:t>
            </a:r>
            <a:r>
              <a:rPr lang="en-US" dirty="0" err="1"/>
              <a:t>반환</a:t>
            </a: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결과에서</a:t>
            </a:r>
            <a:r>
              <a:rPr lang="en-US" dirty="0"/>
              <a:t> </a:t>
            </a:r>
            <a:r>
              <a:rPr lang="en-US" dirty="0" err="1"/>
              <a:t>예측이</a:t>
            </a:r>
            <a:r>
              <a:rPr lang="en-US" dirty="0"/>
              <a:t> </a:t>
            </a:r>
            <a:r>
              <a:rPr lang="en-US" dirty="0" err="1"/>
              <a:t>평균적으로</a:t>
            </a:r>
            <a:r>
              <a:rPr lang="en-US" dirty="0"/>
              <a:t> 19g </a:t>
            </a:r>
            <a:r>
              <a:rPr lang="en-US" dirty="0" err="1"/>
              <a:t>정도</a:t>
            </a:r>
            <a:r>
              <a:rPr lang="en-US" dirty="0"/>
              <a:t> </a:t>
            </a:r>
            <a:r>
              <a:rPr lang="en-US" dirty="0" err="1"/>
              <a:t>타깃값과</a:t>
            </a:r>
            <a:r>
              <a:rPr lang="en-US" dirty="0"/>
              <a:t> </a:t>
            </a:r>
            <a:r>
              <a:rPr lang="en-US" dirty="0" err="1"/>
              <a:t>차이가</a:t>
            </a:r>
            <a:r>
              <a:rPr lang="en-US" dirty="0"/>
              <a:t> </a:t>
            </a:r>
            <a:r>
              <a:rPr lang="en-US" dirty="0" err="1"/>
              <a:t>나타남</a:t>
            </a:r>
            <a:endParaRPr dirty="0"/>
          </a:p>
        </p:txBody>
      </p:sp>
      <p:sp>
        <p:nvSpPr>
          <p:cNvPr id="318" name="Google Shape;318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회귀(10)</a:t>
            </a:r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cxnSp>
        <p:nvCxnSpPr>
          <p:cNvPr id="321" name="Google Shape;321;p16"/>
          <p:cNvCxnSpPr/>
          <p:nvPr/>
        </p:nvCxnSpPr>
        <p:spPr>
          <a:xfrm>
            <a:off x="6551226" y="3381384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2" name="Google Shape;322;p16"/>
          <p:cNvSpPr txBox="1"/>
          <p:nvPr/>
        </p:nvSpPr>
        <p:spPr>
          <a:xfrm>
            <a:off x="7420980" y="3196718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19.157142857142862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3" name="Google Shape;323;p16"/>
          <p:cNvGraphicFramePr/>
          <p:nvPr/>
        </p:nvGraphicFramePr>
        <p:xfrm>
          <a:off x="1271587" y="2529840"/>
          <a:ext cx="4824425" cy="17983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sklearn.metrics import mean_absolute_error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세트에 대한 예측을 만듭니다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test_prediction = knr.predict(test_input)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세트에 대한 평균 절댓값 오차를 계산합니다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mae = mean_absolute_error(test_target, test_prediction)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print(mae)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과대적합</a:t>
            </a:r>
            <a:r>
              <a:rPr lang="en-US" dirty="0"/>
              <a:t> vs </a:t>
            </a:r>
            <a:r>
              <a:rPr lang="en-US" dirty="0" err="1"/>
              <a:t>과소적합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앞에서</a:t>
            </a:r>
            <a:r>
              <a:rPr lang="en-US" dirty="0"/>
              <a:t> </a:t>
            </a:r>
            <a:r>
              <a:rPr lang="en-US" dirty="0" err="1"/>
              <a:t>훈련한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R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점수를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세트에서</a:t>
            </a:r>
            <a:r>
              <a:rPr lang="en-US" dirty="0"/>
              <a:t> </a:t>
            </a:r>
            <a:r>
              <a:rPr lang="en-US" dirty="0" err="1"/>
              <a:t>평가하면</a:t>
            </a:r>
            <a:r>
              <a:rPr lang="en-US" dirty="0"/>
              <a:t> 두 값 중 </a:t>
            </a:r>
            <a:r>
              <a:rPr lang="en-US" dirty="0" err="1"/>
              <a:t>보통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조금</a:t>
            </a:r>
            <a:r>
              <a:rPr lang="en-US" dirty="0"/>
              <a:t> 더 </a:t>
            </a:r>
            <a:r>
              <a:rPr lang="en-US" dirty="0" err="1"/>
              <a:t>높게</a:t>
            </a:r>
            <a:r>
              <a:rPr lang="en-US" dirty="0"/>
              <a:t> </a:t>
            </a:r>
            <a:r>
              <a:rPr lang="en-US" dirty="0" err="1"/>
              <a:t>나옴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과대적합</a:t>
            </a:r>
            <a:r>
              <a:rPr lang="en-US" dirty="0"/>
              <a:t>(overfitting)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세트에서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굉장히</a:t>
            </a:r>
            <a:r>
              <a:rPr lang="en-US" dirty="0"/>
              <a:t> </a:t>
            </a:r>
            <a:r>
              <a:rPr lang="en-US" dirty="0" err="1"/>
              <a:t>좋았는데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세트에서는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굉장히</a:t>
            </a:r>
            <a:r>
              <a:rPr lang="en-US" dirty="0"/>
              <a:t> </a:t>
            </a:r>
            <a:r>
              <a:rPr lang="en-US" dirty="0" err="1"/>
              <a:t>나쁜</a:t>
            </a:r>
            <a:r>
              <a:rPr lang="en-US" dirty="0"/>
              <a:t> </a:t>
            </a:r>
            <a:r>
              <a:rPr lang="en-US" dirty="0" err="1"/>
              <a:t>경우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즉,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세트에만</a:t>
            </a:r>
            <a:r>
              <a:rPr lang="en-US" dirty="0"/>
              <a:t> 잘 </a:t>
            </a:r>
            <a:r>
              <a:rPr lang="en-US" dirty="0" err="1"/>
              <a:t>맞는</a:t>
            </a:r>
            <a:r>
              <a:rPr lang="en-US" dirty="0"/>
              <a:t> </a:t>
            </a:r>
            <a:r>
              <a:rPr lang="en-US" dirty="0" err="1"/>
              <a:t>모델이라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나중에</a:t>
            </a:r>
            <a:r>
              <a:rPr lang="en-US" dirty="0"/>
              <a:t> </a:t>
            </a:r>
            <a:r>
              <a:rPr lang="en-US" dirty="0" err="1"/>
              <a:t>실전에</a:t>
            </a:r>
            <a:r>
              <a:rPr lang="en-US" dirty="0"/>
              <a:t> </a:t>
            </a:r>
            <a:r>
              <a:rPr lang="en-US" dirty="0" err="1"/>
              <a:t>투입하여</a:t>
            </a:r>
            <a:r>
              <a:rPr lang="en-US" dirty="0"/>
              <a:t> </a:t>
            </a:r>
            <a:r>
              <a:rPr lang="en-US" dirty="0" err="1"/>
              <a:t>새로운</a:t>
            </a:r>
            <a:r>
              <a:rPr lang="en-US" dirty="0"/>
              <a:t> </a:t>
            </a:r>
            <a:r>
              <a:rPr lang="en-US" dirty="0" err="1"/>
              <a:t>샘플에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예측을</a:t>
            </a:r>
            <a:r>
              <a:rPr lang="en-US" dirty="0"/>
              <a:t> </a:t>
            </a:r>
            <a:r>
              <a:rPr lang="en-US" dirty="0" err="1"/>
              <a:t>만들</a:t>
            </a:r>
            <a:r>
              <a:rPr lang="en-US" dirty="0"/>
              <a:t> 때 잘 </a:t>
            </a:r>
            <a:r>
              <a:rPr lang="en-US" dirty="0" err="1"/>
              <a:t>동작하지</a:t>
            </a:r>
            <a:r>
              <a:rPr lang="en-US" dirty="0"/>
              <a:t> </a:t>
            </a:r>
            <a:r>
              <a:rPr lang="en-US" dirty="0" err="1"/>
              <a:t>않을</a:t>
            </a:r>
            <a:r>
              <a:rPr lang="en-US" dirty="0"/>
              <a:t> </a:t>
            </a:r>
            <a:r>
              <a:rPr lang="en-US" dirty="0" err="1"/>
              <a:t>것임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과소적합</a:t>
            </a:r>
            <a:r>
              <a:rPr lang="en-US" dirty="0"/>
              <a:t>(underfitting)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반대로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세트보다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높거나</a:t>
            </a:r>
            <a:r>
              <a:rPr lang="en-US" dirty="0"/>
              <a:t> 두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모두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낮은</a:t>
            </a:r>
            <a:r>
              <a:rPr lang="en-US" dirty="0"/>
              <a:t> </a:t>
            </a:r>
            <a:r>
              <a:rPr lang="en-US" dirty="0" err="1"/>
              <a:t>경우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즉, 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단순하여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적절히</a:t>
            </a:r>
            <a:r>
              <a:rPr lang="en-US" dirty="0"/>
              <a:t> </a:t>
            </a:r>
            <a:r>
              <a:rPr lang="en-US" dirty="0" err="1"/>
              <a:t>훈련되지</a:t>
            </a:r>
            <a:r>
              <a:rPr lang="en-US" dirty="0"/>
              <a:t> </a:t>
            </a:r>
            <a:r>
              <a:rPr lang="en-US" dirty="0" err="1"/>
              <a:t>않은</a:t>
            </a:r>
            <a:r>
              <a:rPr lang="en-US" dirty="0"/>
              <a:t> </a:t>
            </a:r>
            <a:r>
              <a:rPr lang="en-US" dirty="0" err="1"/>
              <a:t>경우</a:t>
            </a:r>
            <a:endParaRPr dirty="0"/>
          </a:p>
        </p:txBody>
      </p:sp>
      <p:sp>
        <p:nvSpPr>
          <p:cNvPr id="329" name="Google Shape;329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회귀(11)</a:t>
            </a:r>
            <a:endParaRPr/>
          </a:p>
        </p:txBody>
      </p:sp>
      <p:sp>
        <p:nvSpPr>
          <p:cNvPr id="330" name="Google Shape;330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31" name="Google Shape;331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cxnSp>
        <p:nvCxnSpPr>
          <p:cNvPr id="332" name="Google Shape;332;p17"/>
          <p:cNvCxnSpPr/>
          <p:nvPr/>
        </p:nvCxnSpPr>
        <p:spPr>
          <a:xfrm>
            <a:off x="6316741" y="2256766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3" name="Google Shape;333;p17"/>
          <p:cNvSpPr txBox="1"/>
          <p:nvPr/>
        </p:nvSpPr>
        <p:spPr>
          <a:xfrm>
            <a:off x="6952011" y="2069335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0.9698823289099255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17"/>
          <p:cNvGraphicFramePr/>
          <p:nvPr/>
        </p:nvGraphicFramePr>
        <p:xfrm>
          <a:off x="1271587" y="2090724"/>
          <a:ext cx="4824425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print(knr.score(train_input, train_target))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과대적합</a:t>
            </a:r>
            <a:r>
              <a:rPr lang="en-US" dirty="0"/>
              <a:t> vs </a:t>
            </a:r>
            <a:r>
              <a:rPr lang="en-US" dirty="0" err="1"/>
              <a:t>과소적합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앞의</a:t>
            </a:r>
            <a:r>
              <a:rPr lang="en-US" dirty="0"/>
              <a:t> 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회귀로</a:t>
            </a:r>
            <a:r>
              <a:rPr lang="en-US" dirty="0"/>
              <a:t> </a:t>
            </a:r>
            <a:r>
              <a:rPr lang="en-US" dirty="0" err="1"/>
              <a:t>평가한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점수는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세트보다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높은</a:t>
            </a:r>
            <a:r>
              <a:rPr lang="en-US" dirty="0"/>
              <a:t> </a:t>
            </a:r>
            <a:r>
              <a:rPr lang="en-US" dirty="0" err="1"/>
              <a:t>과소적합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문제</a:t>
            </a:r>
            <a:r>
              <a:rPr lang="en-US" dirty="0"/>
              <a:t> </a:t>
            </a:r>
            <a:r>
              <a:rPr lang="en-US" dirty="0" err="1"/>
              <a:t>해결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조금</a:t>
            </a:r>
            <a:r>
              <a:rPr lang="en-US" dirty="0"/>
              <a:t> 더 </a:t>
            </a:r>
            <a:r>
              <a:rPr lang="en-US" dirty="0" err="1"/>
              <a:t>복잡하게</a:t>
            </a:r>
            <a:r>
              <a:rPr lang="en-US" dirty="0"/>
              <a:t>(즉,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더 잘 </a:t>
            </a:r>
            <a:r>
              <a:rPr lang="en-US" dirty="0" err="1"/>
              <a:t>맞게</a:t>
            </a:r>
            <a:r>
              <a:rPr lang="en-US" dirty="0"/>
              <a:t>) </a:t>
            </a:r>
            <a:r>
              <a:rPr lang="en-US" dirty="0" err="1"/>
              <a:t>만들면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점수는</a:t>
            </a:r>
            <a:r>
              <a:rPr lang="en-US" dirty="0"/>
              <a:t> </a:t>
            </a:r>
            <a:r>
              <a:rPr lang="en-US" dirty="0" err="1"/>
              <a:t>조금</a:t>
            </a:r>
            <a:r>
              <a:rPr lang="en-US" dirty="0"/>
              <a:t> </a:t>
            </a:r>
            <a:r>
              <a:rPr lang="en-US" dirty="0" err="1"/>
              <a:t>낮아질</a:t>
            </a:r>
            <a:r>
              <a:rPr lang="en-US" dirty="0"/>
              <a:t> </a:t>
            </a:r>
            <a:r>
              <a:rPr lang="en-US" dirty="0" err="1"/>
              <a:t>것임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이웃의</a:t>
            </a:r>
            <a:r>
              <a:rPr lang="en-US" dirty="0"/>
              <a:t> </a:t>
            </a:r>
            <a:r>
              <a:rPr lang="en-US" dirty="0" err="1"/>
              <a:t>개수</a:t>
            </a:r>
            <a:r>
              <a:rPr lang="en-US" dirty="0"/>
              <a:t> </a:t>
            </a:r>
            <a:r>
              <a:rPr lang="en-US" dirty="0" err="1"/>
              <a:t>k를</a:t>
            </a:r>
            <a:r>
              <a:rPr lang="en-US" dirty="0"/>
              <a:t> </a:t>
            </a:r>
            <a:r>
              <a:rPr lang="en-US" dirty="0" err="1"/>
              <a:t>줄여</a:t>
            </a:r>
            <a:r>
              <a:rPr lang="en-US" dirty="0"/>
              <a:t> 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알고리즘으로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더 </a:t>
            </a:r>
            <a:r>
              <a:rPr lang="en-US" dirty="0" err="1"/>
              <a:t>복잡하게</a:t>
            </a:r>
            <a:r>
              <a:rPr lang="en-US" dirty="0"/>
              <a:t> </a:t>
            </a:r>
            <a:r>
              <a:rPr lang="en-US" dirty="0" err="1"/>
              <a:t>만들기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이웃의</a:t>
            </a:r>
            <a:r>
              <a:rPr lang="en-US" dirty="0"/>
              <a:t> </a:t>
            </a:r>
            <a:r>
              <a:rPr lang="en-US" dirty="0" err="1"/>
              <a:t>개수를</a:t>
            </a:r>
            <a:r>
              <a:rPr lang="en-US" dirty="0"/>
              <a:t> </a:t>
            </a:r>
            <a:r>
              <a:rPr lang="en-US" dirty="0" err="1"/>
              <a:t>줄이면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국지적인</a:t>
            </a:r>
            <a:r>
              <a:rPr lang="en-US" dirty="0"/>
              <a:t> </a:t>
            </a:r>
            <a:r>
              <a:rPr lang="en-US" dirty="0" err="1"/>
              <a:t>패턴에</a:t>
            </a:r>
            <a:r>
              <a:rPr lang="en-US" dirty="0"/>
              <a:t> </a:t>
            </a:r>
            <a:r>
              <a:rPr lang="en-US" dirty="0" err="1"/>
              <a:t>민감해지고</a:t>
            </a:r>
            <a:r>
              <a:rPr lang="en-US" dirty="0"/>
              <a:t>, </a:t>
            </a:r>
            <a:r>
              <a:rPr lang="en-US" dirty="0" err="1"/>
              <a:t>이웃의</a:t>
            </a:r>
            <a:r>
              <a:rPr lang="en-US" dirty="0"/>
              <a:t> </a:t>
            </a:r>
            <a:r>
              <a:rPr lang="en-US" dirty="0" err="1"/>
              <a:t>개수를</a:t>
            </a:r>
            <a:r>
              <a:rPr lang="en-US" dirty="0"/>
              <a:t> </a:t>
            </a:r>
            <a:r>
              <a:rPr lang="en-US" dirty="0" err="1"/>
              <a:t>늘리면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전반에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일반적인</a:t>
            </a:r>
            <a:r>
              <a:rPr lang="en-US" dirty="0"/>
              <a:t> </a:t>
            </a:r>
            <a:r>
              <a:rPr lang="en-US" dirty="0" err="1"/>
              <a:t>패턴을</a:t>
            </a:r>
            <a:r>
              <a:rPr lang="en-US" dirty="0"/>
              <a:t> </a:t>
            </a:r>
            <a:r>
              <a:rPr lang="en-US" dirty="0" err="1"/>
              <a:t>따르게</a:t>
            </a:r>
            <a:r>
              <a:rPr lang="en-US" dirty="0"/>
              <a:t> 됨</a:t>
            </a:r>
            <a:endParaRPr dirty="0"/>
          </a:p>
        </p:txBody>
      </p:sp>
      <p:sp>
        <p:nvSpPr>
          <p:cNvPr id="340" name="Google Shape;340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회귀(12)</a:t>
            </a:r>
            <a:endParaRPr/>
          </a:p>
        </p:txBody>
      </p:sp>
      <p:sp>
        <p:nvSpPr>
          <p:cNvPr id="341" name="Google Shape;341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42" name="Google Shape;342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과대적합 vs 과소적합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사이킷런의 k-최근접 이웃 알고리즘의 기본 k 값은 5를 3으로 낮추기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n_neighbors 속성값 변경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세트의 점수 확인</a:t>
            </a:r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회귀(13)</a:t>
            </a:r>
            <a:endParaRPr/>
          </a:p>
        </p:txBody>
      </p:sp>
      <p:sp>
        <p:nvSpPr>
          <p:cNvPr id="349" name="Google Shape;349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50" name="Google Shape;350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cxnSp>
        <p:nvCxnSpPr>
          <p:cNvPr id="351" name="Google Shape;351;p19"/>
          <p:cNvCxnSpPr/>
          <p:nvPr/>
        </p:nvCxnSpPr>
        <p:spPr>
          <a:xfrm>
            <a:off x="6894005" y="3137500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2" name="Google Shape;352;p19"/>
          <p:cNvSpPr txBox="1"/>
          <p:nvPr/>
        </p:nvSpPr>
        <p:spPr>
          <a:xfrm>
            <a:off x="7585548" y="2952834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0.9804899950518966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" name="Google Shape;353;p19"/>
          <p:cNvGraphicFramePr/>
          <p:nvPr/>
        </p:nvGraphicFramePr>
        <p:xfrm>
          <a:off x="1698307" y="2494455"/>
          <a:ext cx="4824425" cy="13716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#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이웃의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개수를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3으로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설정합니다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knr.n_neighbors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 = 3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#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모델을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다시</a:t>
                      </a:r>
                      <a:r>
                        <a:rPr lang="en-US" sz="1400" b="0" u="none" strike="noStrike" cap="none" dirty="0">
                          <a:solidFill>
                            <a:srgbClr val="205A04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205A04"/>
                          </a:solidFill>
                        </a:rPr>
                        <a:t>훈련합니다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knr.fit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knr.score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))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4" name="Google Shape;354;p19"/>
          <p:cNvCxnSpPr/>
          <p:nvPr/>
        </p:nvCxnSpPr>
        <p:spPr>
          <a:xfrm>
            <a:off x="6522720" y="5048416"/>
            <a:ext cx="41452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5" name="Google Shape;355;p19"/>
          <p:cNvSpPr txBox="1"/>
          <p:nvPr/>
        </p:nvSpPr>
        <p:spPr>
          <a:xfrm>
            <a:off x="7178679" y="4851558"/>
            <a:ext cx="2657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0.974645996398761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19"/>
          <p:cNvGraphicFramePr/>
          <p:nvPr/>
        </p:nvGraphicFramePr>
        <p:xfrm>
          <a:off x="1262160" y="4928210"/>
          <a:ext cx="4824425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8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print(knr.score(test_input, test_target))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문제</a:t>
            </a:r>
            <a:r>
              <a:rPr lang="en-US" dirty="0"/>
              <a:t> </a:t>
            </a:r>
            <a:r>
              <a:rPr lang="en-US" dirty="0" err="1"/>
              <a:t>다루기</a:t>
            </a:r>
            <a:r>
              <a:rPr lang="en-US" dirty="0"/>
              <a:t>(</a:t>
            </a:r>
            <a:r>
              <a:rPr lang="en-US" dirty="0" err="1"/>
              <a:t>문제해결</a:t>
            </a:r>
            <a:r>
              <a:rPr lang="en-US" dirty="0"/>
              <a:t> </a:t>
            </a:r>
            <a:r>
              <a:rPr lang="en-US" dirty="0" err="1"/>
              <a:t>과정</a:t>
            </a:r>
            <a:r>
              <a:rPr lang="en-US" dirty="0"/>
              <a:t>)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 dirty="0" err="1"/>
              <a:t>문제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농어의</a:t>
            </a:r>
            <a:r>
              <a:rPr lang="en-US" dirty="0"/>
              <a:t> </a:t>
            </a:r>
            <a:r>
              <a:rPr lang="en-US" dirty="0" err="1"/>
              <a:t>높이</a:t>
            </a:r>
            <a:r>
              <a:rPr lang="en-US" dirty="0"/>
              <a:t>, </a:t>
            </a:r>
            <a:r>
              <a:rPr lang="en-US" dirty="0" err="1"/>
              <a:t>길이</a:t>
            </a:r>
            <a:r>
              <a:rPr lang="en-US" dirty="0"/>
              <a:t> </a:t>
            </a:r>
            <a:r>
              <a:rPr lang="en-US" dirty="0" err="1"/>
              <a:t>등의</a:t>
            </a:r>
            <a:r>
              <a:rPr lang="en-US" dirty="0"/>
              <a:t> </a:t>
            </a:r>
            <a:r>
              <a:rPr lang="en-US" dirty="0" err="1"/>
              <a:t>수치로</a:t>
            </a:r>
            <a:r>
              <a:rPr lang="en-US" dirty="0"/>
              <a:t> </a:t>
            </a:r>
            <a:r>
              <a:rPr lang="en-US" dirty="0" err="1"/>
              <a:t>무게를</a:t>
            </a:r>
            <a:r>
              <a:rPr lang="en-US" dirty="0"/>
              <a:t> </a:t>
            </a:r>
            <a:r>
              <a:rPr lang="en-US" dirty="0" err="1"/>
              <a:t>예측하기</a:t>
            </a:r>
            <a:r>
              <a:rPr lang="en-US" dirty="0"/>
              <a:t>(</a:t>
            </a:r>
            <a:r>
              <a:rPr lang="en-US" dirty="0" err="1"/>
              <a:t>회귀는</a:t>
            </a:r>
            <a:r>
              <a:rPr lang="en-US" dirty="0"/>
              <a:t> </a:t>
            </a:r>
            <a:r>
              <a:rPr lang="en-US" dirty="0" err="1"/>
              <a:t>임의의</a:t>
            </a:r>
            <a:r>
              <a:rPr lang="en-US" dirty="0"/>
              <a:t> </a:t>
            </a:r>
            <a:r>
              <a:rPr lang="en-US" dirty="0" err="1"/>
              <a:t>수치를</a:t>
            </a:r>
            <a:r>
              <a:rPr lang="en-US" dirty="0"/>
              <a:t> </a:t>
            </a:r>
            <a:r>
              <a:rPr lang="en-US" dirty="0" err="1"/>
              <a:t>예측</a:t>
            </a:r>
            <a:r>
              <a:rPr lang="en-US" dirty="0"/>
              <a:t>)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 dirty="0" err="1"/>
              <a:t>해결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모델은</a:t>
            </a:r>
            <a:r>
              <a:rPr lang="en-US" dirty="0"/>
              <a:t> </a:t>
            </a:r>
            <a:r>
              <a:rPr lang="en-US" dirty="0" err="1"/>
              <a:t>분류와</a:t>
            </a:r>
            <a:r>
              <a:rPr lang="en-US" dirty="0"/>
              <a:t> </a:t>
            </a:r>
            <a:r>
              <a:rPr lang="en-US" dirty="0" err="1"/>
              <a:t>동일하게</a:t>
            </a:r>
            <a:r>
              <a:rPr lang="en-US" dirty="0"/>
              <a:t>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가까운</a:t>
            </a:r>
            <a:r>
              <a:rPr lang="en-US" dirty="0"/>
              <a:t> </a:t>
            </a:r>
            <a:r>
              <a:rPr lang="en-US" dirty="0" err="1"/>
              <a:t>k개의</a:t>
            </a:r>
            <a:r>
              <a:rPr lang="en-US" dirty="0"/>
              <a:t> </a:t>
            </a:r>
            <a:r>
              <a:rPr lang="en-US" dirty="0" err="1"/>
              <a:t>이웃을</a:t>
            </a:r>
            <a:r>
              <a:rPr lang="en-US" dirty="0"/>
              <a:t> </a:t>
            </a:r>
            <a:r>
              <a:rPr lang="en-US" dirty="0" err="1"/>
              <a:t>찾아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샘플의</a:t>
            </a:r>
            <a:r>
              <a:rPr lang="en-US" dirty="0"/>
              <a:t> </a:t>
            </a:r>
            <a:r>
              <a:rPr lang="en-US" dirty="0" err="1"/>
              <a:t>타깃값을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평균하여</a:t>
            </a:r>
            <a:r>
              <a:rPr lang="en-US" dirty="0"/>
              <a:t> 이 </a:t>
            </a:r>
            <a:r>
              <a:rPr lang="en-US" dirty="0" err="1"/>
              <a:t>샘플의</a:t>
            </a:r>
            <a:r>
              <a:rPr lang="en-US" dirty="0"/>
              <a:t> </a:t>
            </a:r>
            <a:r>
              <a:rPr lang="en-US" dirty="0" err="1"/>
              <a:t>예측값으로</a:t>
            </a:r>
            <a:r>
              <a:rPr lang="en-US" dirty="0"/>
              <a:t> </a:t>
            </a:r>
            <a:r>
              <a:rPr lang="en-US" dirty="0" err="1"/>
              <a:t>사용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사이킷런은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점수로</a:t>
            </a:r>
            <a:r>
              <a:rPr lang="en-US" dirty="0"/>
              <a:t> R</a:t>
            </a:r>
            <a:r>
              <a:rPr lang="en-US" baseline="30000" dirty="0"/>
              <a:t>2</a:t>
            </a:r>
            <a:r>
              <a:rPr lang="en-US" dirty="0"/>
              <a:t>, 즉 </a:t>
            </a:r>
            <a:r>
              <a:rPr lang="en-US" dirty="0" err="1"/>
              <a:t>결정계수</a:t>
            </a:r>
            <a:r>
              <a:rPr lang="en-US" dirty="0"/>
              <a:t>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반환</a:t>
            </a:r>
            <a:r>
              <a:rPr lang="en-US" dirty="0"/>
              <a:t>. 이 </a:t>
            </a:r>
            <a:r>
              <a:rPr lang="en-US" dirty="0" err="1"/>
              <a:t>값은</a:t>
            </a:r>
            <a:r>
              <a:rPr lang="en-US" dirty="0"/>
              <a:t> 1에 </a:t>
            </a:r>
            <a:r>
              <a:rPr lang="en-US" dirty="0" err="1"/>
              <a:t>가까울수록</a:t>
            </a:r>
            <a:r>
              <a:rPr lang="en-US" dirty="0"/>
              <a:t> </a:t>
            </a:r>
            <a:r>
              <a:rPr lang="en-US" dirty="0" err="1"/>
              <a:t>좋음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정량적인</a:t>
            </a:r>
            <a:r>
              <a:rPr lang="en-US" dirty="0"/>
              <a:t> </a:t>
            </a:r>
            <a:r>
              <a:rPr lang="en-US" dirty="0" err="1"/>
              <a:t>평가는</a:t>
            </a:r>
            <a:r>
              <a:rPr lang="en-US" dirty="0"/>
              <a:t> </a:t>
            </a:r>
            <a:r>
              <a:rPr lang="en-US" dirty="0" err="1"/>
              <a:t>사이킷런에서</a:t>
            </a:r>
            <a:r>
              <a:rPr lang="en-US" dirty="0"/>
              <a:t> </a:t>
            </a:r>
            <a:r>
              <a:rPr lang="en-US" dirty="0" err="1"/>
              <a:t>제공하는</a:t>
            </a:r>
            <a:r>
              <a:rPr lang="en-US" dirty="0"/>
              <a:t>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평가</a:t>
            </a:r>
            <a:r>
              <a:rPr lang="en-US" dirty="0"/>
              <a:t> </a:t>
            </a:r>
            <a:r>
              <a:rPr lang="en-US" dirty="0" err="1"/>
              <a:t>도구를</a:t>
            </a:r>
            <a:r>
              <a:rPr lang="en-US" dirty="0"/>
              <a:t> </a:t>
            </a:r>
            <a:r>
              <a:rPr lang="en-US" dirty="0" err="1"/>
              <a:t>사용할</a:t>
            </a:r>
            <a:r>
              <a:rPr lang="en-US" dirty="0"/>
              <a:t> 수 </a:t>
            </a:r>
            <a:r>
              <a:rPr lang="en-US" dirty="0" err="1"/>
              <a:t>있음</a:t>
            </a:r>
            <a:r>
              <a:rPr lang="en-US" dirty="0"/>
              <a:t>(</a:t>
            </a:r>
            <a:r>
              <a:rPr lang="en-US" dirty="0" err="1"/>
              <a:t>대표적으로</a:t>
            </a:r>
            <a:r>
              <a:rPr lang="en-US" dirty="0"/>
              <a:t> </a:t>
            </a:r>
            <a:r>
              <a:rPr lang="en-US" dirty="0" err="1"/>
              <a:t>절댓값</a:t>
            </a:r>
            <a:r>
              <a:rPr lang="en-US" dirty="0"/>
              <a:t> </a:t>
            </a:r>
            <a:r>
              <a:rPr lang="en-US" dirty="0" err="1"/>
              <a:t>오차</a:t>
            </a:r>
            <a:r>
              <a:rPr lang="en-US" dirty="0"/>
              <a:t>)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훈련하고</a:t>
            </a:r>
            <a:r>
              <a:rPr lang="en-US" dirty="0"/>
              <a:t> </a:t>
            </a:r>
            <a:r>
              <a:rPr lang="en-US" dirty="0" err="1"/>
              <a:t>나서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대해</a:t>
            </a:r>
            <a:r>
              <a:rPr lang="en-US" dirty="0"/>
              <a:t> </a:t>
            </a:r>
            <a:r>
              <a:rPr lang="en-US" dirty="0" err="1"/>
              <a:t>모두</a:t>
            </a:r>
            <a:r>
              <a:rPr lang="en-US" dirty="0"/>
              <a:t> </a:t>
            </a:r>
            <a:r>
              <a:rPr lang="en-US" dirty="0" err="1"/>
              <a:t>평가</a:t>
            </a:r>
            <a:r>
              <a:rPr lang="en-US" dirty="0"/>
              <a:t> </a:t>
            </a:r>
            <a:r>
              <a:rPr lang="en-US" dirty="0" err="1"/>
              <a:t>점수를</a:t>
            </a:r>
            <a:r>
              <a:rPr lang="en-US" dirty="0"/>
              <a:t> </a:t>
            </a:r>
            <a:r>
              <a:rPr lang="en-US" dirty="0" err="1"/>
              <a:t>구할</a:t>
            </a:r>
            <a:r>
              <a:rPr lang="en-US" dirty="0"/>
              <a:t> 수 </a:t>
            </a:r>
            <a:r>
              <a:rPr lang="en-US" dirty="0" err="1"/>
              <a:t>있음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 </a:t>
            </a:r>
            <a:r>
              <a:rPr lang="en-US" dirty="0" err="1"/>
              <a:t>차이가</a:t>
            </a:r>
            <a:r>
              <a:rPr lang="en-US" dirty="0"/>
              <a:t> </a:t>
            </a:r>
            <a:r>
              <a:rPr lang="en-US" dirty="0" err="1"/>
              <a:t>크면</a:t>
            </a:r>
            <a:r>
              <a:rPr lang="en-US" dirty="0"/>
              <a:t> </a:t>
            </a:r>
            <a:r>
              <a:rPr lang="en-US" dirty="0" err="1"/>
              <a:t>좋지</a:t>
            </a:r>
            <a:r>
              <a:rPr lang="en-US" dirty="0"/>
              <a:t> </a:t>
            </a:r>
            <a:r>
              <a:rPr lang="en-US" dirty="0" err="1"/>
              <a:t>않음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일반적으로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세트보다</a:t>
            </a:r>
            <a:r>
              <a:rPr lang="en-US" dirty="0"/>
              <a:t> </a:t>
            </a:r>
            <a:r>
              <a:rPr lang="en-US" dirty="0" err="1"/>
              <a:t>조금</a:t>
            </a:r>
            <a:r>
              <a:rPr lang="en-US" dirty="0"/>
              <a:t> 더 </a:t>
            </a:r>
            <a:r>
              <a:rPr lang="en-US" dirty="0" err="1"/>
              <a:t>높음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과대적합</a:t>
            </a:r>
            <a:r>
              <a:rPr lang="en-US" dirty="0"/>
              <a:t>: </a:t>
            </a:r>
            <a:r>
              <a:rPr lang="en-US" dirty="0" err="1"/>
              <a:t>만약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낮다면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과도하게</a:t>
            </a:r>
            <a:r>
              <a:rPr lang="en-US" dirty="0"/>
              <a:t> </a:t>
            </a:r>
            <a:r>
              <a:rPr lang="en-US" dirty="0" err="1"/>
              <a:t>맞춰짐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과소적합</a:t>
            </a:r>
            <a:r>
              <a:rPr lang="en-US" dirty="0"/>
              <a:t>: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높거나</a:t>
            </a:r>
            <a:r>
              <a:rPr lang="en-US" dirty="0"/>
              <a:t> 두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모두</a:t>
            </a:r>
            <a:r>
              <a:rPr lang="en-US" dirty="0"/>
              <a:t> </a:t>
            </a:r>
            <a:r>
              <a:rPr lang="en-US" dirty="0" err="1"/>
              <a:t>낮은</a:t>
            </a:r>
            <a:r>
              <a:rPr lang="en-US" dirty="0"/>
              <a:t> </a:t>
            </a:r>
            <a:r>
              <a:rPr lang="en-US" dirty="0" err="1"/>
              <a:t>경우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과대적합일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덜 </a:t>
            </a:r>
            <a:r>
              <a:rPr lang="en-US" dirty="0" err="1"/>
              <a:t>복잡하게</a:t>
            </a:r>
            <a:r>
              <a:rPr lang="en-US" dirty="0"/>
              <a:t> </a:t>
            </a:r>
            <a:r>
              <a:rPr lang="en-US" dirty="0" err="1"/>
              <a:t>만들어야</a:t>
            </a:r>
            <a:r>
              <a:rPr lang="en-US" dirty="0"/>
              <a:t> 함(k-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이웃의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k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늘림</a:t>
            </a:r>
            <a:r>
              <a:rPr lang="en-US" dirty="0"/>
              <a:t>)</a:t>
            </a:r>
            <a:endParaRPr dirty="0"/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과소적합일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더 </a:t>
            </a:r>
            <a:r>
              <a:rPr lang="en-US" dirty="0" err="1"/>
              <a:t>복잡하게</a:t>
            </a:r>
            <a:r>
              <a:rPr lang="en-US" dirty="0"/>
              <a:t> </a:t>
            </a:r>
            <a:r>
              <a:rPr lang="en-US" dirty="0" err="1"/>
              <a:t>만들어</a:t>
            </a:r>
            <a:r>
              <a:rPr lang="en-US" dirty="0"/>
              <a:t> 줌(k-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이웃의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k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줄임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62" name="Google Shape;362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k-최근접 이웃 회귀(14)</a:t>
            </a:r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마무리(1)</a:t>
            </a:r>
            <a:endParaRPr/>
          </a:p>
        </p:txBody>
      </p:sp>
      <p:sp>
        <p:nvSpPr>
          <p:cNvPr id="370" name="Google Shape;370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71" name="Google Shape;371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키워드로</a:t>
            </a:r>
            <a:r>
              <a:rPr lang="en-US" dirty="0"/>
              <a:t> </a:t>
            </a:r>
            <a:r>
              <a:rPr lang="en-US" dirty="0" err="1"/>
              <a:t>끝나는</a:t>
            </a:r>
            <a:r>
              <a:rPr lang="en-US" dirty="0"/>
              <a:t> </a:t>
            </a:r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포인트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회귀는</a:t>
            </a:r>
            <a:r>
              <a:rPr lang="en-US" dirty="0"/>
              <a:t> </a:t>
            </a:r>
            <a:r>
              <a:rPr lang="en-US" dirty="0" err="1"/>
              <a:t>임의의</a:t>
            </a:r>
            <a:r>
              <a:rPr lang="en-US" dirty="0"/>
              <a:t> </a:t>
            </a:r>
            <a:r>
              <a:rPr lang="en-US" dirty="0" err="1"/>
              <a:t>수치를</a:t>
            </a:r>
            <a:r>
              <a:rPr lang="en-US" dirty="0"/>
              <a:t> </a:t>
            </a:r>
            <a:r>
              <a:rPr lang="en-US" dirty="0" err="1"/>
              <a:t>예측하는</a:t>
            </a:r>
            <a:r>
              <a:rPr lang="en-US" dirty="0"/>
              <a:t> </a:t>
            </a:r>
            <a:r>
              <a:rPr lang="en-US" dirty="0" err="1"/>
              <a:t>문제</a:t>
            </a:r>
            <a:r>
              <a:rPr lang="en-US" dirty="0"/>
              <a:t>. </a:t>
            </a:r>
            <a:r>
              <a:rPr lang="en-US" dirty="0" err="1"/>
              <a:t>따라서</a:t>
            </a:r>
            <a:r>
              <a:rPr lang="en-US" dirty="0"/>
              <a:t> </a:t>
            </a:r>
            <a:r>
              <a:rPr lang="en-US" dirty="0" err="1"/>
              <a:t>타깃값도</a:t>
            </a:r>
            <a:r>
              <a:rPr lang="en-US" dirty="0"/>
              <a:t> </a:t>
            </a:r>
            <a:r>
              <a:rPr lang="en-US" dirty="0" err="1"/>
              <a:t>임의의</a:t>
            </a:r>
            <a:r>
              <a:rPr lang="en-US" dirty="0"/>
              <a:t> </a:t>
            </a:r>
            <a:r>
              <a:rPr lang="en-US" dirty="0" err="1"/>
              <a:t>수치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/>
              <a:t>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회귀는</a:t>
            </a:r>
            <a:r>
              <a:rPr lang="en-US" dirty="0"/>
              <a:t> 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알고리즘을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문제</a:t>
            </a:r>
            <a:r>
              <a:rPr lang="en-US" dirty="0"/>
              <a:t> </a:t>
            </a:r>
            <a:r>
              <a:rPr lang="en-US" dirty="0" err="1"/>
              <a:t>해결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가까운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샘플을</a:t>
            </a:r>
            <a:r>
              <a:rPr lang="en-US" dirty="0"/>
              <a:t> </a:t>
            </a:r>
            <a:r>
              <a:rPr lang="en-US" dirty="0" err="1"/>
              <a:t>찾고</a:t>
            </a:r>
            <a:r>
              <a:rPr lang="en-US" dirty="0"/>
              <a:t> 이 </a:t>
            </a:r>
            <a:r>
              <a:rPr lang="en-US" dirty="0" err="1"/>
              <a:t>샘플들의</a:t>
            </a:r>
            <a:r>
              <a:rPr lang="en-US" dirty="0"/>
              <a:t> </a:t>
            </a:r>
            <a:r>
              <a:rPr lang="en-US" dirty="0" err="1"/>
              <a:t>타깃값을</a:t>
            </a:r>
            <a:r>
              <a:rPr lang="en-US" dirty="0"/>
              <a:t> </a:t>
            </a:r>
            <a:r>
              <a:rPr lang="en-US" dirty="0" err="1"/>
              <a:t>평균하여</a:t>
            </a:r>
            <a:r>
              <a:rPr lang="en-US" dirty="0"/>
              <a:t> </a:t>
            </a:r>
            <a:r>
              <a:rPr lang="en-US" dirty="0" err="1"/>
              <a:t>예측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결정계수</a:t>
            </a:r>
            <a:r>
              <a:rPr lang="en-US" dirty="0"/>
              <a:t>(R</a:t>
            </a:r>
            <a:r>
              <a:rPr lang="en-US" baseline="30000" dirty="0"/>
              <a:t>2</a:t>
            </a:r>
            <a:r>
              <a:rPr lang="en-US" dirty="0"/>
              <a:t>)는 </a:t>
            </a:r>
            <a:r>
              <a:rPr lang="en-US" dirty="0" err="1"/>
              <a:t>대표적인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문제의</a:t>
            </a:r>
            <a:r>
              <a:rPr lang="en-US" dirty="0"/>
              <a:t> </a:t>
            </a:r>
            <a:r>
              <a:rPr lang="en-US" dirty="0" err="1"/>
              <a:t>성능</a:t>
            </a:r>
            <a:r>
              <a:rPr lang="en-US" dirty="0"/>
              <a:t> </a:t>
            </a:r>
            <a:r>
              <a:rPr lang="en-US" dirty="0" err="1"/>
              <a:t>측정</a:t>
            </a:r>
            <a:r>
              <a:rPr lang="en-US" dirty="0"/>
              <a:t> </a:t>
            </a:r>
            <a:r>
              <a:rPr lang="en-US" dirty="0" err="1"/>
              <a:t>도구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1에 </a:t>
            </a:r>
            <a:r>
              <a:rPr lang="en-US" dirty="0" err="1"/>
              <a:t>가까울수록</a:t>
            </a:r>
            <a:r>
              <a:rPr lang="en-US" dirty="0"/>
              <a:t> </a:t>
            </a:r>
            <a:r>
              <a:rPr lang="en-US" dirty="0" err="1"/>
              <a:t>좋고</a:t>
            </a:r>
            <a:r>
              <a:rPr lang="en-US" dirty="0"/>
              <a:t>, 0에 </a:t>
            </a:r>
            <a:r>
              <a:rPr lang="en-US" dirty="0" err="1"/>
              <a:t>가깝다면</a:t>
            </a:r>
            <a:r>
              <a:rPr lang="en-US" dirty="0"/>
              <a:t> </a:t>
            </a:r>
            <a:r>
              <a:rPr lang="en-US" dirty="0" err="1"/>
              <a:t>성능이</a:t>
            </a:r>
            <a:r>
              <a:rPr lang="en-US" dirty="0"/>
              <a:t> </a:t>
            </a:r>
            <a:r>
              <a:rPr lang="en-US" dirty="0" err="1"/>
              <a:t>나쁜</a:t>
            </a:r>
            <a:r>
              <a:rPr lang="en-US" dirty="0"/>
              <a:t> </a:t>
            </a:r>
            <a:r>
              <a:rPr lang="en-US" dirty="0" err="1"/>
              <a:t>모델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과대적합은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 </a:t>
            </a:r>
            <a:r>
              <a:rPr lang="en-US" dirty="0" err="1"/>
              <a:t>성능이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 </a:t>
            </a:r>
            <a:r>
              <a:rPr lang="en-US" dirty="0" err="1"/>
              <a:t>성능보다</a:t>
            </a:r>
            <a:r>
              <a:rPr lang="en-US" dirty="0"/>
              <a:t> </a:t>
            </a:r>
            <a:r>
              <a:rPr lang="en-US" dirty="0" err="1"/>
              <a:t>훨씬</a:t>
            </a:r>
            <a:r>
              <a:rPr lang="en-US" dirty="0"/>
              <a:t> </a:t>
            </a:r>
            <a:r>
              <a:rPr lang="en-US" dirty="0" err="1"/>
              <a:t>높을</a:t>
            </a:r>
            <a:r>
              <a:rPr lang="en-US" dirty="0"/>
              <a:t> 때 </a:t>
            </a:r>
            <a:r>
              <a:rPr lang="en-US" dirty="0" err="1"/>
              <a:t>발생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집착해서</a:t>
            </a:r>
            <a:r>
              <a:rPr lang="en-US" dirty="0"/>
              <a:t> </a:t>
            </a:r>
            <a:r>
              <a:rPr lang="en-US" dirty="0" err="1"/>
              <a:t>데이터에</a:t>
            </a:r>
            <a:r>
              <a:rPr lang="en-US" dirty="0"/>
              <a:t> </a:t>
            </a:r>
            <a:r>
              <a:rPr lang="en-US" dirty="0" err="1"/>
              <a:t>내재된</a:t>
            </a:r>
            <a:r>
              <a:rPr lang="en-US" dirty="0"/>
              <a:t> </a:t>
            </a:r>
            <a:r>
              <a:rPr lang="en-US" dirty="0" err="1"/>
              <a:t>거시적인</a:t>
            </a:r>
            <a:r>
              <a:rPr lang="en-US" dirty="0"/>
              <a:t> </a:t>
            </a:r>
            <a:r>
              <a:rPr lang="en-US" dirty="0" err="1"/>
              <a:t>패턴을</a:t>
            </a:r>
            <a:r>
              <a:rPr lang="en-US" dirty="0"/>
              <a:t> </a:t>
            </a:r>
            <a:r>
              <a:rPr lang="en-US" dirty="0" err="1"/>
              <a:t>감지하지</a:t>
            </a:r>
            <a:r>
              <a:rPr lang="en-US" dirty="0"/>
              <a:t> </a:t>
            </a:r>
            <a:r>
              <a:rPr lang="en-US" dirty="0" err="1"/>
              <a:t>못함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과소적합은</a:t>
            </a:r>
            <a:r>
              <a:rPr lang="en-US" dirty="0"/>
              <a:t> </a:t>
            </a:r>
            <a:r>
              <a:rPr lang="en-US" dirty="0" err="1"/>
              <a:t>이와</a:t>
            </a:r>
            <a:r>
              <a:rPr lang="en-US" dirty="0"/>
              <a:t> </a:t>
            </a:r>
            <a:r>
              <a:rPr lang="en-US" dirty="0" err="1"/>
              <a:t>반대로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 </a:t>
            </a:r>
            <a:r>
              <a:rPr lang="en-US" dirty="0" err="1"/>
              <a:t>성능이</a:t>
            </a:r>
            <a:r>
              <a:rPr lang="en-US" dirty="0"/>
              <a:t> </a:t>
            </a:r>
            <a:r>
              <a:rPr lang="en-US" dirty="0" err="1"/>
              <a:t>모두</a:t>
            </a:r>
            <a:r>
              <a:rPr lang="en-US" dirty="0"/>
              <a:t> </a:t>
            </a:r>
            <a:r>
              <a:rPr lang="en-US" dirty="0" err="1"/>
              <a:t>동일하게</a:t>
            </a:r>
            <a:r>
              <a:rPr lang="en-US" dirty="0"/>
              <a:t> </a:t>
            </a:r>
            <a:r>
              <a:rPr lang="en-US" dirty="0" err="1"/>
              <a:t>낮거나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 </a:t>
            </a:r>
            <a:r>
              <a:rPr lang="en-US" dirty="0" err="1"/>
              <a:t>성능이</a:t>
            </a:r>
            <a:r>
              <a:rPr lang="en-US" dirty="0"/>
              <a:t> </a:t>
            </a:r>
            <a:r>
              <a:rPr lang="en-US" dirty="0" err="1"/>
              <a:t>오히려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더 </a:t>
            </a:r>
            <a:r>
              <a:rPr lang="en-US" dirty="0" err="1"/>
              <a:t>높을</a:t>
            </a:r>
            <a:r>
              <a:rPr lang="en-US" dirty="0"/>
              <a:t> 때 </a:t>
            </a:r>
            <a:r>
              <a:rPr lang="en-US" dirty="0" err="1"/>
              <a:t>발생</a:t>
            </a:r>
            <a:r>
              <a:rPr lang="en-US" dirty="0"/>
              <a:t>. </a:t>
            </a:r>
            <a:r>
              <a:rPr lang="en-US" dirty="0" err="1"/>
              <a:t>이런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더 </a:t>
            </a:r>
            <a:r>
              <a:rPr lang="en-US" dirty="0" err="1"/>
              <a:t>복잡한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잘 </a:t>
            </a:r>
            <a:r>
              <a:rPr lang="en-US" dirty="0" err="1"/>
              <a:t>맞는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만들어야</a:t>
            </a:r>
            <a:r>
              <a:rPr lang="en-US" dirty="0"/>
              <a:t> 함</a:t>
            </a:r>
            <a:endParaRPr dirty="0"/>
          </a:p>
        </p:txBody>
      </p:sp>
      <p:sp>
        <p:nvSpPr>
          <p:cNvPr id="372" name="Google Shape;372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마무리(2)</a:t>
            </a:r>
            <a:endParaRPr/>
          </a:p>
        </p:txBody>
      </p:sp>
      <p:sp>
        <p:nvSpPr>
          <p:cNvPr id="378" name="Google Shape;378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79" name="Google Shape;379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KNeighborsRegressor: k-최근접 이웃 회귀 모델을 만드는 사이킷런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mean_absolute_error( ): 회귀 모델의 평균 절댓값 오차를 계산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numpy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reshape( ): 배열의 크기를 바꾸는 메서드</a:t>
            </a:r>
            <a:endParaRPr/>
          </a:p>
        </p:txBody>
      </p:sp>
      <p:sp>
        <p:nvSpPr>
          <p:cNvPr id="380" name="Google Shape;380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3-1 확인 문제</a:t>
            </a:r>
            <a:endParaRPr/>
          </a:p>
        </p:txBody>
      </p:sp>
      <p:sp>
        <p:nvSpPr>
          <p:cNvPr id="386" name="Google Shape;386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87" name="Google Shape;387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7709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dirty="0" err="1"/>
              <a:t>앞서</a:t>
            </a:r>
            <a:r>
              <a:rPr lang="en-US" dirty="0"/>
              <a:t> </a:t>
            </a:r>
            <a:r>
              <a:rPr lang="en-US" dirty="0" err="1"/>
              <a:t>만든</a:t>
            </a:r>
            <a:r>
              <a:rPr lang="en-US" dirty="0"/>
              <a:t> k-</a:t>
            </a:r>
            <a:r>
              <a:rPr lang="en-US" dirty="0" err="1"/>
              <a:t>최근접</a:t>
            </a:r>
            <a:r>
              <a:rPr lang="en-US" dirty="0"/>
              <a:t> </a:t>
            </a:r>
            <a:r>
              <a:rPr lang="en-US" dirty="0" err="1"/>
              <a:t>이웃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k </a:t>
            </a:r>
            <a:r>
              <a:rPr lang="en-US" dirty="0" err="1"/>
              <a:t>값을</a:t>
            </a:r>
            <a:r>
              <a:rPr lang="en-US" dirty="0"/>
              <a:t> 1, 5, 10으로 </a:t>
            </a:r>
            <a:r>
              <a:rPr lang="en-US" dirty="0" err="1"/>
              <a:t>바꿔가며</a:t>
            </a:r>
            <a:r>
              <a:rPr lang="en-US" dirty="0"/>
              <a:t> </a:t>
            </a:r>
            <a:r>
              <a:rPr lang="en-US" dirty="0" err="1"/>
              <a:t>훈련하고</a:t>
            </a:r>
            <a:r>
              <a:rPr lang="en-US" dirty="0"/>
              <a:t>, </a:t>
            </a:r>
            <a:r>
              <a:rPr lang="en-US" dirty="0" err="1"/>
              <a:t>농어의</a:t>
            </a:r>
            <a:r>
              <a:rPr lang="en-US" dirty="0"/>
              <a:t> </a:t>
            </a:r>
            <a:r>
              <a:rPr lang="en-US" dirty="0" err="1"/>
              <a:t>길이를</a:t>
            </a:r>
            <a:r>
              <a:rPr lang="en-US" dirty="0"/>
              <a:t> 5에서 45까지 </a:t>
            </a:r>
            <a:r>
              <a:rPr lang="en-US" dirty="0" err="1"/>
              <a:t>바꿔가며</a:t>
            </a:r>
            <a:r>
              <a:rPr lang="en-US" dirty="0"/>
              <a:t> </a:t>
            </a:r>
            <a:r>
              <a:rPr lang="en-US" dirty="0" err="1"/>
              <a:t>예측을</a:t>
            </a:r>
            <a:r>
              <a:rPr lang="en-US" dirty="0"/>
              <a:t> </a:t>
            </a:r>
            <a:r>
              <a:rPr lang="en-US" dirty="0" err="1"/>
              <a:t>만들어</a:t>
            </a:r>
            <a:r>
              <a:rPr lang="en-US" dirty="0"/>
              <a:t> </a:t>
            </a:r>
            <a:r>
              <a:rPr lang="en-US" dirty="0" err="1"/>
              <a:t>그래프로</a:t>
            </a:r>
            <a:r>
              <a:rPr lang="en-US" dirty="0"/>
              <a:t> </a:t>
            </a:r>
            <a:r>
              <a:rPr lang="en-US" dirty="0" err="1"/>
              <a:t>나타내기</a:t>
            </a:r>
            <a:r>
              <a:rPr lang="en-US" dirty="0"/>
              <a:t>. </a:t>
            </a:r>
            <a:r>
              <a:rPr lang="en-US" dirty="0" err="1"/>
              <a:t>n이</a:t>
            </a:r>
            <a:r>
              <a:rPr lang="en-US" dirty="0"/>
              <a:t> </a:t>
            </a:r>
            <a:r>
              <a:rPr lang="en-US" dirty="0" err="1"/>
              <a:t>커짐에</a:t>
            </a:r>
            <a:r>
              <a:rPr lang="en-US" dirty="0"/>
              <a:t> </a:t>
            </a:r>
            <a:r>
              <a:rPr lang="en-US" dirty="0" err="1"/>
              <a:t>따라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단순해지는</a:t>
            </a:r>
            <a:r>
              <a:rPr lang="en-US" dirty="0"/>
              <a:t> </a:t>
            </a:r>
            <a:r>
              <a:rPr lang="en-US" dirty="0" err="1"/>
              <a:t>것을</a:t>
            </a:r>
            <a:r>
              <a:rPr lang="en-US" dirty="0"/>
              <a:t> 볼 수 </a:t>
            </a:r>
            <a:r>
              <a:rPr lang="en-US" dirty="0" err="1"/>
              <a:t>있는가</a:t>
            </a:r>
            <a:r>
              <a:rPr lang="en-US" dirty="0"/>
              <a:t>? </a:t>
            </a:r>
            <a:r>
              <a:rPr lang="en-US" sz="1600" dirty="0"/>
              <a:t>[</a:t>
            </a:r>
            <a:r>
              <a:rPr lang="en-US" sz="1600" dirty="0" err="1"/>
              <a:t>노트</a:t>
            </a:r>
            <a:r>
              <a:rPr lang="en-US" sz="1600" dirty="0"/>
              <a:t>] </a:t>
            </a:r>
            <a:r>
              <a:rPr lang="en-US" sz="1600" dirty="0" err="1"/>
              <a:t>맷플롯립의</a:t>
            </a:r>
            <a:r>
              <a:rPr lang="en-US" sz="1600" dirty="0"/>
              <a:t> plot() </a:t>
            </a:r>
            <a:r>
              <a:rPr lang="en-US" sz="1600" dirty="0" err="1"/>
              <a:t>함수는</a:t>
            </a:r>
            <a:r>
              <a:rPr lang="en-US" sz="1600" dirty="0"/>
              <a:t> </a:t>
            </a:r>
            <a:r>
              <a:rPr lang="en-US" sz="1600" dirty="0" err="1"/>
              <a:t>x축과</a:t>
            </a:r>
            <a:r>
              <a:rPr lang="en-US" sz="1600" dirty="0"/>
              <a:t> </a:t>
            </a:r>
            <a:r>
              <a:rPr lang="en-US" sz="1600" dirty="0" err="1"/>
              <a:t>y축의</a:t>
            </a:r>
            <a:r>
              <a:rPr lang="en-US" sz="1600" dirty="0"/>
              <a:t> </a:t>
            </a:r>
            <a:r>
              <a:rPr lang="en-US" sz="1600" dirty="0" err="1"/>
              <a:t>값을</a:t>
            </a:r>
            <a:r>
              <a:rPr lang="en-US" sz="1600" dirty="0"/>
              <a:t> </a:t>
            </a:r>
            <a:r>
              <a:rPr lang="en-US" sz="1600" dirty="0" err="1"/>
              <a:t>받아</a:t>
            </a:r>
            <a:r>
              <a:rPr lang="en-US" sz="1600" dirty="0"/>
              <a:t> 선 </a:t>
            </a:r>
            <a:r>
              <a:rPr lang="en-US" sz="1600" dirty="0" err="1"/>
              <a:t>그래프를</a:t>
            </a:r>
            <a:r>
              <a:rPr lang="en-US" sz="1600" dirty="0"/>
              <a:t> </a:t>
            </a:r>
            <a:r>
              <a:rPr lang="en-US" sz="1600" dirty="0" err="1"/>
              <a:t>그려줌</a:t>
            </a:r>
            <a:endParaRPr sz="1600" dirty="0"/>
          </a:p>
        </p:txBody>
      </p:sp>
      <p:sp>
        <p:nvSpPr>
          <p:cNvPr id="388" name="Google Shape;388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89" name="Google Shape;389;p23"/>
          <p:cNvGraphicFramePr/>
          <p:nvPr/>
        </p:nvGraphicFramePr>
        <p:xfrm>
          <a:off x="2955925" y="2396989"/>
          <a:ext cx="6280150" cy="3914849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k-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최근접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이웃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회귀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객체를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만듭니다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KNeighborsRegressor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5에서 45까지 x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좌표를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만듭니다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x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np.arange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(5, 45).reshape(-1, 1)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n = 1, 5, 10일 때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예측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결과를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그래프로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그립니다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for n in [1, 5, 10]: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모델을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훈련합니다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knr.n_neighbors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 =                                         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이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라인의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코드를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완성해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보세요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knr.fit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지정한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범위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x에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대한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예측을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구합니다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prediction =                                                    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이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라인의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코드를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완성해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보세요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#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훈련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세트와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예측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결과를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그래프로</a:t>
                      </a:r>
                      <a:r>
                        <a:rPr lang="en-US" sz="1400" b="0" u="none" strike="noStrike" cap="none" dirty="0">
                          <a:solidFill>
                            <a:srgbClr val="1C5A25"/>
                          </a:solidFill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rgbClr val="1C5A25"/>
                          </a:solidFill>
                        </a:rPr>
                        <a:t>그립니다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plt.scatter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plt.plot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(x, prediction)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plt.show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</a:rPr>
                        <a:t>()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0" name="Google Shape;390;p23"/>
          <p:cNvSpPr/>
          <p:nvPr/>
        </p:nvSpPr>
        <p:spPr>
          <a:xfrm>
            <a:off x="4596954" y="4286762"/>
            <a:ext cx="1352996" cy="168543"/>
          </a:xfrm>
          <a:prstGeom prst="rect">
            <a:avLst/>
          </a:prstGeom>
          <a:solidFill>
            <a:srgbClr val="65DE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4176228" y="5061643"/>
            <a:ext cx="1773722" cy="165100"/>
          </a:xfrm>
          <a:prstGeom prst="rect">
            <a:avLst/>
          </a:prstGeom>
          <a:solidFill>
            <a:srgbClr val="65DE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50cm 농어의 무게를 예측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앞서 만든 모델을 사용해 이 농어의 무게를 예측하니, 저울에 나온 농어의 무게와 너무 차이가?</a:t>
            </a:r>
            <a:endParaRPr/>
          </a:p>
        </p:txBody>
      </p:sp>
      <p:sp>
        <p:nvSpPr>
          <p:cNvPr id="398" name="Google Shape;398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회귀(1)</a:t>
            </a:r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01" name="Google Shape;40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6147" y="2658759"/>
            <a:ext cx="3379707" cy="3364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k-최근접 이웃의 한계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문제를 재현하기 위해 먼저 1절에서 사용한 데이터와 모델을 준비(소스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http://bit.ly/perch_data</a:t>
            </a:r>
            <a:r>
              <a:rPr lang="en-US"/>
              <a:t>)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07" name="Google Shape;407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회귀(2)</a:t>
            </a:r>
            <a:endParaRPr/>
          </a:p>
        </p:txBody>
      </p:sp>
      <p:sp>
        <p:nvSpPr>
          <p:cNvPr id="408" name="Google Shape;408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09" name="Google Shape;409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10" name="Google Shape;410;p25"/>
          <p:cNvGraphicFramePr/>
          <p:nvPr/>
        </p:nvGraphicFramePr>
        <p:xfrm>
          <a:off x="1258917" y="2020349"/>
          <a:ext cx="6280150" cy="39319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perch_length = np.array(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[ 8.4, 13.7, 15.0, 16.2, 17.4, 18.0, 18.7, 19.0, 19.6, 20.0,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21.0, 21.0, 21.0, 21.3, 22.0, 22.0, 22.0, 22.0, 22.0, 22.5,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22.5, 22.7, 23.0, 23.5, 24.0, 24.0, 24.6, 25.0, 25.6, 26.5,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27.3, 27.5, 27.5, 27.5, 28.0, 28.7, 30.0, 32.8, 34.5, 35.0,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36.5, 36.0, 37.0, 37.0, 39.0, 39.0, 39.0, 40.0, 40.0, 40.0,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40.0, 42.0, 43.0, 43.0, 43.5, 44.0]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perch_weight = np.array(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[ 5.9, 32.0, 40.0, 51.5, 70.0, 100.0, 78.0, 80.0, 85.0, 85.0,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110.0, 115.0, 125.0, 130.0, 120.0, 120.0, 130.0, 135.0, 110.0,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130.0, 150.0, 145.0, 150.0, 170.0, 225.0, 145.0, 188.0, 180.0,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197.0, 218.0, 300.0, 260.0, 265.0, 250.0, 250.0, 300.0, 320.0,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514.0, 556.0, 840.0, 685.0, 700.0, 700.0, 690.0, 900.0, 650.0,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820.0, 850.0, 900.0, 1015.0, 820.0, 1100.0, 1000.0, 1100.0,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1000.0, 1000.0]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k-최근접 이웃의 한계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훈련 세트와 테스트 세트로 나누고, 특성 데이터는2 차원 배열로 변환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최근접 이웃 개수를 3으로 하는 모델을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모델을 사용해 길이가 50cm인 농어의 무게를 예측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- 50cm 농어의 무게를 1,033g 정도로 예측. 그런데 실제 이 농어의 무게는 훨씬 더 많이 나간다고 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16" name="Google Shape;416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회귀(3)</a:t>
            </a:r>
            <a:endParaRPr/>
          </a:p>
        </p:txBody>
      </p:sp>
      <p:sp>
        <p:nvSpPr>
          <p:cNvPr id="417" name="Google Shape;417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18" name="Google Shape;418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19" name="Google Shape;419;p26"/>
          <p:cNvGraphicFramePr/>
          <p:nvPr/>
        </p:nvGraphicFramePr>
        <p:xfrm>
          <a:off x="1685729" y="1908367"/>
          <a:ext cx="6280150" cy="15849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세트와 테스트 세트로 나눕니다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perch_length, perch_weight, random_state=42)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세트와 테스트 세트를 2차원 배열로 바꿉니다</a:t>
                      </a: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train_input.reshape(-1, 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test_input.reshape(-1, 1)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" name="Google Shape;420;p26"/>
          <p:cNvGraphicFramePr/>
          <p:nvPr/>
        </p:nvGraphicFramePr>
        <p:xfrm>
          <a:off x="1685729" y="4023471"/>
          <a:ext cx="6280150" cy="94489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KNeighborsRegressor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 = KNeighborsRegressor(n_neighbors=3)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k-최근접 이웃 회귀 모델을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knr.fit(train_input,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1" name="Google Shape;421;p26"/>
          <p:cNvGraphicFramePr/>
          <p:nvPr/>
        </p:nvGraphicFramePr>
        <p:xfrm>
          <a:off x="1657985" y="5473200"/>
          <a:ext cx="2938975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293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print(knr.predict([[50]]))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2" name="Google Shape;422;p26"/>
          <p:cNvCxnSpPr/>
          <p:nvPr/>
        </p:nvCxnSpPr>
        <p:spPr>
          <a:xfrm>
            <a:off x="4800599" y="5642691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3" name="Google Shape;423;p26"/>
          <p:cNvSpPr txBox="1"/>
          <p:nvPr/>
        </p:nvSpPr>
        <p:spPr>
          <a:xfrm>
            <a:off x="5296853" y="5440642"/>
            <a:ext cx="2103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[1033.33333333]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k-최근접 이웃의 한계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k-최근접 이웃 모델의 kneighbors( ) 메서드를 사용하여, 훈련 세트와 50cm 농어 </a:t>
            </a:r>
            <a:br>
              <a:rPr lang="en-US"/>
            </a:br>
            <a:r>
              <a:rPr lang="en-US"/>
              <a:t>그리고 이 농어의 최근접 이웃을 산점도에 표시</a:t>
            </a:r>
            <a:endParaRPr/>
          </a:p>
        </p:txBody>
      </p:sp>
      <p:sp>
        <p:nvSpPr>
          <p:cNvPr id="429" name="Google Shape;429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회귀(4)</a:t>
            </a:r>
            <a:endParaRPr/>
          </a:p>
        </p:txBody>
      </p:sp>
      <p:sp>
        <p:nvSpPr>
          <p:cNvPr id="430" name="Google Shape;430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31" name="Google Shape;431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32" name="Google Shape;432;p27"/>
          <p:cNvGraphicFramePr/>
          <p:nvPr/>
        </p:nvGraphicFramePr>
        <p:xfrm>
          <a:off x="1739883" y="2346573"/>
          <a:ext cx="4173100" cy="32918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농어의 이웃을 구합니다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knr.kneighbors([[50]])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세트의 산점도를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 중에서 이웃 샘플만 다시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plt.scatter(train_input[indexes], train_target[indexes], marker='D’)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 데이터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plt.scatter(50, 1033,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3" name="Google Shape;433;p27"/>
          <p:cNvCxnSpPr/>
          <p:nvPr/>
        </p:nvCxnSpPr>
        <p:spPr>
          <a:xfrm>
            <a:off x="6127349" y="3863559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34" name="Google Shape;43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4331" y="2223701"/>
            <a:ext cx="5219344" cy="3414712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7"/>
          <p:cNvSpPr txBox="1"/>
          <p:nvPr/>
        </p:nvSpPr>
        <p:spPr>
          <a:xfrm>
            <a:off x="5783978" y="5836757"/>
            <a:ext cx="6108192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산점도를 보면 길이가 커질수록 농어의 무게가 증가하는 경향이  보임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하지만 50cm 농어에서 가장 가까운 것은 45cm 근방이기 때문에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k-최근접 이웃 알고리즘은 이 샘플들의 무게를 평균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k-최근접 이웃의 한계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이웃 샘플의 타깃 평균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모델이 예측했던 값과 정확히 일치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회귀는 가장 가까운 샘플을 찾아 타깃을 평균</a:t>
            </a:r>
            <a:br>
              <a:rPr lang="en-US"/>
            </a:br>
            <a:r>
              <a:rPr lang="en-US"/>
              <a:t>따라서 새로운 샘플이 훈련 세트의 범위를 벗어나면 엉뚱한 값을 예측할 수 있음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예를 들어 길이가 100cm인 농어도 여전히 1,033g으로 예측</a:t>
            </a:r>
            <a:endParaRPr/>
          </a:p>
        </p:txBody>
      </p:sp>
      <p:sp>
        <p:nvSpPr>
          <p:cNvPr id="441" name="Google Shape;441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회귀(5)</a:t>
            </a:r>
            <a:endParaRPr/>
          </a:p>
        </p:txBody>
      </p:sp>
      <p:sp>
        <p:nvSpPr>
          <p:cNvPr id="442" name="Google Shape;442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43" name="Google Shape;443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44" name="Google Shape;444;p28"/>
          <p:cNvGraphicFramePr/>
          <p:nvPr/>
        </p:nvGraphicFramePr>
        <p:xfrm>
          <a:off x="1695156" y="1897815"/>
          <a:ext cx="417310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print(np.mean(train_target[indexes]))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5" name="Google Shape;445;p28"/>
          <p:cNvCxnSpPr/>
          <p:nvPr/>
        </p:nvCxnSpPr>
        <p:spPr>
          <a:xfrm>
            <a:off x="6055897" y="2069432"/>
            <a:ext cx="25569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6" name="Google Shape;446;p28"/>
          <p:cNvSpPr txBox="1"/>
          <p:nvPr/>
        </p:nvSpPr>
        <p:spPr>
          <a:xfrm>
            <a:off x="6499244" y="1865549"/>
            <a:ext cx="2602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1033.3333333333333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7" name="Google Shape;447;p28"/>
          <p:cNvGraphicFramePr/>
          <p:nvPr/>
        </p:nvGraphicFramePr>
        <p:xfrm>
          <a:off x="1695156" y="3626960"/>
          <a:ext cx="417310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print(knr.predict([[100]]))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8" name="Google Shape;448;p28"/>
          <p:cNvCxnSpPr/>
          <p:nvPr/>
        </p:nvCxnSpPr>
        <p:spPr>
          <a:xfrm>
            <a:off x="6055897" y="3798577"/>
            <a:ext cx="25569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9" name="Google Shape;449;p28"/>
          <p:cNvSpPr txBox="1"/>
          <p:nvPr/>
        </p:nvSpPr>
        <p:spPr>
          <a:xfrm>
            <a:off x="6499244" y="3594694"/>
            <a:ext cx="2602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[1033.33333333]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0" name="Google Shape;450;p28"/>
          <p:cNvGraphicFramePr/>
          <p:nvPr/>
        </p:nvGraphicFramePr>
        <p:xfrm>
          <a:off x="1695155" y="4130315"/>
          <a:ext cx="4173100" cy="22250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100cm 농어의 이웃을 구합니다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knr.kneighbors([[100]])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세트의 산점도를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 중에서 이웃 샘플만 다시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plt.scatter(train_input[indexes], train_target[indexes],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100cm 농어 데이터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plt.scatter(100, 1033,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1" name="Google Shape;451;p28"/>
          <p:cNvCxnSpPr/>
          <p:nvPr/>
        </p:nvCxnSpPr>
        <p:spPr>
          <a:xfrm>
            <a:off x="6055897" y="5173759"/>
            <a:ext cx="25569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52" name="Google Shape;45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9244" y="3976653"/>
            <a:ext cx="4059038" cy="26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"/>
          <p:cNvSpPr txBox="1">
            <a:spLocks noGrp="1"/>
          </p:cNvSpPr>
          <p:nvPr>
            <p:ph type="body" idx="1"/>
          </p:nvPr>
        </p:nvSpPr>
        <p:spPr>
          <a:xfrm>
            <a:off x="487014" y="815007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회귀(linear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회귀는 널리 사용되는 대표적인 회귀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비교적 간단하고 성능이 뛰어나기 때문에 맨 처음 배우는 머신러닝 알고리즘 중 하나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선형이란 말에서 짐작할 수 있듯이 특성이 하나인 경우 어떤 직선을 학습하는 알고리즘</a:t>
            </a:r>
            <a:endParaRPr/>
          </a:p>
        </p:txBody>
      </p:sp>
      <p:sp>
        <p:nvSpPr>
          <p:cNvPr id="458" name="Google Shape;458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회귀(6)</a:t>
            </a:r>
            <a:endParaRPr/>
          </a:p>
        </p:txBody>
      </p:sp>
      <p:sp>
        <p:nvSpPr>
          <p:cNvPr id="459" name="Google Shape;459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60" name="Google Shape;460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61" name="Google Shape;46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714" y="2601516"/>
            <a:ext cx="10196512" cy="2180757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9"/>
          <p:cNvSpPr txBox="1"/>
          <p:nvPr/>
        </p:nvSpPr>
        <p:spPr>
          <a:xfrm>
            <a:off x="1463040" y="5005420"/>
            <a:ext cx="3029712" cy="136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❶은 모든 농어의 무게를 하나로 예측.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 직선의 위치가 만약 훈련 세트의 평균에 가깝다면 R</a:t>
            </a:r>
            <a:r>
              <a:rPr lang="en-US" sz="1400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는 0에 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가까운 값이 됨</a:t>
            </a:r>
            <a:endParaRPr/>
          </a:p>
        </p:txBody>
      </p:sp>
      <p:sp>
        <p:nvSpPr>
          <p:cNvPr id="463" name="Google Shape;463;p29"/>
          <p:cNvSpPr txBox="1"/>
          <p:nvPr/>
        </p:nvSpPr>
        <p:spPr>
          <a:xfrm>
            <a:off x="4949952" y="5005420"/>
            <a:ext cx="3029712" cy="136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❷는 완전히 반대로 예측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길이가 작은 농어의 무게가 높고 길이가 큰 농어의 무게가 낮음.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이렇게 예측을 반대로 하면 R</a:t>
            </a:r>
            <a:r>
              <a:rPr lang="en-US" sz="1400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가 음수가 될 수 있음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8359012" y="5005420"/>
            <a:ext cx="3138043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❸이 가장 적합한 직선.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이런 직선을 머신러닝 알고리즘이 자동으로 찾을 수 있음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회귀(linear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사이킷런은 sklearn.linear_model 패키지 아래에 LinearRegression 클래스로 선형 회귀 알고리즘을 구현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클래스의 객체를 만들어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모델 클래스들은 훈련, 평가, 예측하는 메서드 이름이 모두 동일</a:t>
            </a:r>
            <a:br>
              <a:rPr lang="en-US"/>
            </a:br>
            <a:r>
              <a:rPr lang="en-US"/>
              <a:t>- 즉, LinearRegression 클래스에도 fit( ), score( ), predict( ) 메서드가 있음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70" name="Google Shape;470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회귀(7)</a:t>
            </a:r>
            <a:endParaRPr/>
          </a:p>
        </p:txBody>
      </p:sp>
      <p:sp>
        <p:nvSpPr>
          <p:cNvPr id="471" name="Google Shape;471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72" name="Google Shape;472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73" name="Google Shape;473;p30"/>
          <p:cNvGraphicFramePr/>
          <p:nvPr/>
        </p:nvGraphicFramePr>
        <p:xfrm>
          <a:off x="1645415" y="3304848"/>
          <a:ext cx="4553775" cy="17983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55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sklearn.linear_model import LinearRegression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LinearRegression()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선형 회귀 모델을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농어에 대해 예측합니다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print(lr.predict([[50]]))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4" name="Google Shape;474;p30"/>
          <p:cNvCxnSpPr/>
          <p:nvPr/>
        </p:nvCxnSpPr>
        <p:spPr>
          <a:xfrm>
            <a:off x="6530009" y="4116497"/>
            <a:ext cx="49987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5" name="Google Shape;475;p30"/>
          <p:cNvSpPr txBox="1"/>
          <p:nvPr/>
        </p:nvSpPr>
        <p:spPr>
          <a:xfrm>
            <a:off x="7360698" y="3931831"/>
            <a:ext cx="2310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[1241.83860323]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2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선형 회귀(linear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회귀를 사용했을 때와 달리 선형 회귀는 50cm 농어의 무게를 아주 높게 예측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회귀가 학습한 직선을 그려 보고 어떻게 이런 값이 나왔는지 알아보기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LinearRegression 클래스가 찾은 a와 b는 lr 객체의 coef_와 intercept_ 속성에 저장돼 있음</a:t>
            </a:r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회귀(8)</a:t>
            </a:r>
            <a:endParaRPr/>
          </a:p>
        </p:txBody>
      </p:sp>
      <p:sp>
        <p:nvSpPr>
          <p:cNvPr id="482" name="Google Shape;482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83" name="Google Shape;483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484" name="Google Shape;48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6119" y="2512336"/>
            <a:ext cx="4208418" cy="2450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5" name="Google Shape;485;p31"/>
          <p:cNvGraphicFramePr/>
          <p:nvPr/>
        </p:nvGraphicFramePr>
        <p:xfrm>
          <a:off x="1704582" y="5625600"/>
          <a:ext cx="3222125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22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print(lr.coef_, lr.intercept_)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6" name="Google Shape;486;p31"/>
          <p:cNvCxnSpPr/>
          <p:nvPr/>
        </p:nvCxnSpPr>
        <p:spPr>
          <a:xfrm>
            <a:off x="5266550" y="5804462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7" name="Google Shape;487;p31"/>
          <p:cNvSpPr txBox="1"/>
          <p:nvPr/>
        </p:nvSpPr>
        <p:spPr>
          <a:xfrm>
            <a:off x="6057506" y="5593334"/>
            <a:ext cx="40294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[39.01714496] -709.0186449535477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(linear regression)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농어의</a:t>
            </a:r>
            <a:r>
              <a:rPr lang="en-US" dirty="0"/>
              <a:t> </a:t>
            </a:r>
            <a:r>
              <a:rPr lang="en-US" dirty="0" err="1"/>
              <a:t>길이</a:t>
            </a:r>
            <a:r>
              <a:rPr lang="en-US" dirty="0"/>
              <a:t> 15에서 50까지 </a:t>
            </a:r>
            <a:r>
              <a:rPr lang="en-US" dirty="0" err="1"/>
              <a:t>직선으로</a:t>
            </a:r>
            <a:r>
              <a:rPr lang="en-US" dirty="0"/>
              <a:t> </a:t>
            </a:r>
            <a:r>
              <a:rPr lang="en-US" dirty="0" err="1"/>
              <a:t>나타내고</a:t>
            </a:r>
            <a:r>
              <a:rPr lang="en-US" dirty="0"/>
              <a:t>,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산점도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dirty="0"/>
              <a:t>이 </a:t>
            </a:r>
            <a:r>
              <a:rPr lang="en-US" dirty="0" err="1"/>
              <a:t>직선을</a:t>
            </a:r>
            <a:r>
              <a:rPr lang="en-US" dirty="0"/>
              <a:t> </a:t>
            </a:r>
            <a:r>
              <a:rPr lang="en-US" dirty="0" err="1"/>
              <a:t>그리려면</a:t>
            </a:r>
            <a:r>
              <a:rPr lang="en-US" dirty="0"/>
              <a:t> </a:t>
            </a:r>
            <a:r>
              <a:rPr lang="en-US" dirty="0" err="1"/>
              <a:t>앞에서</a:t>
            </a:r>
            <a:r>
              <a:rPr lang="en-US" dirty="0"/>
              <a:t> </a:t>
            </a:r>
            <a:r>
              <a:rPr lang="en-US" dirty="0" err="1"/>
              <a:t>구한</a:t>
            </a:r>
            <a:r>
              <a:rPr lang="en-US" dirty="0"/>
              <a:t> </a:t>
            </a:r>
            <a:r>
              <a:rPr lang="en-US" dirty="0" err="1"/>
              <a:t>기울기와</a:t>
            </a:r>
            <a:r>
              <a:rPr lang="en-US" dirty="0"/>
              <a:t> </a:t>
            </a:r>
            <a:r>
              <a:rPr lang="en-US" dirty="0" err="1"/>
              <a:t>절편을</a:t>
            </a:r>
            <a:r>
              <a:rPr lang="en-US" dirty="0"/>
              <a:t> </a:t>
            </a:r>
            <a:r>
              <a:rPr lang="en-US" dirty="0" err="1"/>
              <a:t>사용하여</a:t>
            </a:r>
            <a:r>
              <a:rPr lang="en-US" dirty="0"/>
              <a:t> (15, 15×39-709)와  (50, 50×39-709) 두 </a:t>
            </a:r>
            <a:r>
              <a:rPr lang="en-US" dirty="0" err="1"/>
              <a:t>점을</a:t>
            </a:r>
            <a:r>
              <a:rPr lang="en-US" dirty="0"/>
              <a:t> </a:t>
            </a:r>
            <a:r>
              <a:rPr lang="en-US" dirty="0" err="1"/>
              <a:t>이으면</a:t>
            </a:r>
            <a:r>
              <a:rPr lang="en-US" dirty="0"/>
              <a:t> 됨</a:t>
            </a: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-US" altLang="ko-KR"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R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조금</a:t>
            </a:r>
            <a:r>
              <a:rPr lang="en-US" dirty="0"/>
              <a:t> </a:t>
            </a:r>
            <a:r>
              <a:rPr lang="en-US" dirty="0" err="1"/>
              <a:t>차이남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점수도</a:t>
            </a:r>
            <a:r>
              <a:rPr lang="en-US" dirty="0"/>
              <a:t> </a:t>
            </a:r>
            <a:r>
              <a:rPr lang="en-US" dirty="0" err="1"/>
              <a:t>높지</a:t>
            </a:r>
            <a:r>
              <a:rPr lang="en-US" dirty="0"/>
              <a:t> </a:t>
            </a:r>
            <a:r>
              <a:rPr lang="en-US" dirty="0" err="1"/>
              <a:t>않아</a:t>
            </a:r>
            <a:r>
              <a:rPr lang="en-US" dirty="0"/>
              <a:t> </a:t>
            </a:r>
            <a:r>
              <a:rPr lang="en-US" dirty="0" err="1"/>
              <a:t>전체적으로</a:t>
            </a:r>
            <a:r>
              <a:rPr lang="en-US" dirty="0"/>
              <a:t> </a:t>
            </a:r>
            <a:r>
              <a:rPr lang="en-US" dirty="0" err="1"/>
              <a:t>과소적합되었다고</a:t>
            </a:r>
            <a:r>
              <a:rPr lang="en-US" dirty="0"/>
              <a:t> 볼 수 </a:t>
            </a:r>
            <a:r>
              <a:rPr lang="en-US" dirty="0" err="1"/>
              <a:t>있음</a:t>
            </a:r>
            <a:endParaRPr dirty="0"/>
          </a:p>
        </p:txBody>
      </p:sp>
      <p:sp>
        <p:nvSpPr>
          <p:cNvPr id="493" name="Google Shape;493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회귀(8)</a:t>
            </a:r>
            <a:endParaRPr/>
          </a:p>
        </p:txBody>
      </p:sp>
      <p:sp>
        <p:nvSpPr>
          <p:cNvPr id="494" name="Google Shape;494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95" name="Google Shape;495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96" name="Google Shape;496;p32"/>
          <p:cNvGraphicFramePr/>
          <p:nvPr/>
        </p:nvGraphicFramePr>
        <p:xfrm>
          <a:off x="2147642" y="2230051"/>
          <a:ext cx="4209675" cy="22250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세트의 산점도를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15에서 50까지 1차 방정식 그래프를 그립니다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plt.plot([15, 50], [15*lr.coef_+lr.intercept_, 50*lr.coef_+lr.intercept_])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rgbClr val="1C5A25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50cm 농어 데이터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plt.scatter(50, 1241.8,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7" name="Google Shape;497;p32"/>
          <p:cNvCxnSpPr/>
          <p:nvPr/>
        </p:nvCxnSpPr>
        <p:spPr>
          <a:xfrm>
            <a:off x="6600639" y="3332264"/>
            <a:ext cx="37466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98" name="Google Shape;49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8634" y="2147588"/>
            <a:ext cx="3796546" cy="24782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9" name="Google Shape;499;p32"/>
          <p:cNvGraphicFramePr/>
          <p:nvPr/>
        </p:nvGraphicFramePr>
        <p:xfrm>
          <a:off x="1716253" y="5157421"/>
          <a:ext cx="4462275" cy="5181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46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print(lr.score(train_input, train_target))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훈련 세트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print(lr.score(test_input, test_target)) </a:t>
                      </a:r>
                      <a:r>
                        <a:rPr lang="en-US" sz="1400" b="0" u="none" strike="noStrike" cap="none">
                          <a:solidFill>
                            <a:srgbClr val="1C5A25"/>
                          </a:solidFill>
                        </a:rPr>
                        <a:t># 테스트 세트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0" name="Google Shape;500;p32"/>
          <p:cNvCxnSpPr/>
          <p:nvPr/>
        </p:nvCxnSpPr>
        <p:spPr>
          <a:xfrm>
            <a:off x="6600639" y="5416501"/>
            <a:ext cx="402336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1" name="Google Shape;501;p32"/>
          <p:cNvSpPr txBox="1"/>
          <p:nvPr/>
        </p:nvSpPr>
        <p:spPr>
          <a:xfrm>
            <a:off x="7425089" y="5093335"/>
            <a:ext cx="250545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0.9398463339976039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0.8247503123313558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최적의 곡선을 찾기</a:t>
            </a:r>
            <a:endParaRPr/>
          </a:p>
        </p:txBody>
      </p:sp>
      <p:sp>
        <p:nvSpPr>
          <p:cNvPr id="507" name="Google Shape;507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회귀(9)</a:t>
            </a:r>
            <a:endParaRPr/>
          </a:p>
        </p:txBody>
      </p:sp>
      <p:sp>
        <p:nvSpPr>
          <p:cNvPr id="508" name="Google Shape;508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09" name="Google Shape;509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10" name="Google Shape;51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0913" y="2261133"/>
            <a:ext cx="5290174" cy="3532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농어의 길이를 제곱해서 원래 데이터 앞에 추가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column_stack( ) 함수 사용: train_input을 제곱한 것과 train_input </a:t>
            </a:r>
            <a:br>
              <a:rPr lang="en-US"/>
            </a:br>
            <a:r>
              <a:rPr lang="en-US"/>
              <a:t>두 배열을 나란히 붙이면 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데이터셋 크기 확인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원래 특성인 길이를 제곱하여 왼쪽 열에 추가했기 때문에 </a:t>
            </a:r>
            <a:br>
              <a:rPr lang="en-US"/>
            </a:br>
            <a:r>
              <a:rPr lang="en-US"/>
              <a:t>훈련 세트와 테스트 세트 모두 열이 2개로 늘어남</a:t>
            </a:r>
            <a:endParaRPr/>
          </a:p>
        </p:txBody>
      </p:sp>
      <p:sp>
        <p:nvSpPr>
          <p:cNvPr id="516" name="Google Shape;516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회귀(10)</a:t>
            </a:r>
            <a:endParaRPr/>
          </a:p>
        </p:txBody>
      </p:sp>
      <p:sp>
        <p:nvSpPr>
          <p:cNvPr id="517" name="Google Shape;517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18" name="Google Shape;518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19" name="Google Shape;51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5301" y="665363"/>
            <a:ext cx="2838641" cy="55272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0" name="Google Shape;520;p34"/>
          <p:cNvGraphicFramePr/>
          <p:nvPr/>
        </p:nvGraphicFramePr>
        <p:xfrm>
          <a:off x="1704582" y="2750235"/>
          <a:ext cx="5063100" cy="5181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06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train_poly = np.column_stack((train_input ** 2, train_input))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test_poly = np.column_stack((test_input ** 2, test_input))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p34"/>
          <p:cNvGraphicFramePr/>
          <p:nvPr/>
        </p:nvGraphicFramePr>
        <p:xfrm>
          <a:off x="1704582" y="3932219"/>
          <a:ext cx="333185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3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print(train_poly.shape, test_poly.shape)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2" name="Google Shape;522;p34"/>
          <p:cNvCxnSpPr/>
          <p:nvPr/>
        </p:nvCxnSpPr>
        <p:spPr>
          <a:xfrm>
            <a:off x="5236455" y="4081875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3" name="Google Shape;523;p34"/>
          <p:cNvSpPr txBox="1"/>
          <p:nvPr/>
        </p:nvSpPr>
        <p:spPr>
          <a:xfrm>
            <a:off x="5729091" y="3897209"/>
            <a:ext cx="17135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2) (14,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train_poly를 사용해 선형 회귀 모델을 다시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모델이 훈련한 계수와 절편을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모델이 학습한 그래프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이런 방정식을 다항식(polynomial)이라 부르며 다항식을 사용한 선형 회귀를 다항 회귀라 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529" name="Google Shape;529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회귀(11)</a:t>
            </a:r>
            <a:endParaRPr/>
          </a:p>
        </p:txBody>
      </p:sp>
      <p:sp>
        <p:nvSpPr>
          <p:cNvPr id="530" name="Google Shape;530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31" name="Google Shape;531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32" name="Google Shape;532;p35"/>
          <p:cNvGraphicFramePr/>
          <p:nvPr/>
        </p:nvGraphicFramePr>
        <p:xfrm>
          <a:off x="1723436" y="1937950"/>
          <a:ext cx="3331850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3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 = LinearRegression()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lr.fit(train_poly,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print(lr.predict([[50**2, 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3" name="Google Shape;533;p35"/>
          <p:cNvCxnSpPr/>
          <p:nvPr/>
        </p:nvCxnSpPr>
        <p:spPr>
          <a:xfrm>
            <a:off x="5228160" y="2304639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4" name="Google Shape;534;p35"/>
          <p:cNvSpPr txBox="1"/>
          <p:nvPr/>
        </p:nvSpPr>
        <p:spPr>
          <a:xfrm>
            <a:off x="5708030" y="2119973"/>
            <a:ext cx="1921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[1573.98423528]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5" name="Google Shape;535;p35"/>
          <p:cNvGraphicFramePr/>
          <p:nvPr/>
        </p:nvGraphicFramePr>
        <p:xfrm>
          <a:off x="1748390" y="3354479"/>
          <a:ext cx="333185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3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print(lr.coef_, lr.intercept_)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6" name="Google Shape;536;p35"/>
          <p:cNvCxnSpPr/>
          <p:nvPr/>
        </p:nvCxnSpPr>
        <p:spPr>
          <a:xfrm>
            <a:off x="5273310" y="3539145"/>
            <a:ext cx="2926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7" name="Google Shape;537;p35"/>
          <p:cNvSpPr txBox="1"/>
          <p:nvPr/>
        </p:nvSpPr>
        <p:spPr>
          <a:xfrm>
            <a:off x="5753179" y="3354479"/>
            <a:ext cx="5223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[ 1.01433211 -21.55792498] 116.0502107827827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1626964" y="4382334"/>
            <a:ext cx="46150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무게 = 1.01 × 길이</a:t>
            </a:r>
            <a:r>
              <a:rPr lang="en-US" sz="1400" b="1" i="1" baseline="300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 b="1" i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- 21.6 × 길이 + 116.05</a:t>
            </a:r>
            <a:endParaRPr sz="1400" b="1" i="1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다항 회귀(polynomial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세트의 산점도에 그래프로 그리고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짧은 직선을 이어서 그리면 마치 곡선처럼 표현 가능(여기에서는 1씩 짧게 끊어서 그리기)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R</a:t>
            </a:r>
            <a:r>
              <a:rPr lang="en-US" baseline="30000"/>
              <a:t>2</a:t>
            </a:r>
            <a:r>
              <a:rPr lang="en-US"/>
              <a:t> 점수를 평가</a:t>
            </a:r>
            <a:endParaRPr/>
          </a:p>
        </p:txBody>
      </p:sp>
      <p:sp>
        <p:nvSpPr>
          <p:cNvPr id="544" name="Google Shape;544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회귀(12)</a:t>
            </a:r>
            <a:endParaRPr/>
          </a:p>
        </p:txBody>
      </p:sp>
      <p:sp>
        <p:nvSpPr>
          <p:cNvPr id="545" name="Google Shape;545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46" name="Google Shape;546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47" name="Google Shape;547;p36"/>
          <p:cNvGraphicFramePr/>
          <p:nvPr/>
        </p:nvGraphicFramePr>
        <p:xfrm>
          <a:off x="2108462" y="2308931"/>
          <a:ext cx="5388875" cy="26517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38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구간별 직선을 그리기 위해 15에서 49까지 정수 배열을 만듭니다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 = np.arange(15, 50)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>
                        <a:solidFill>
                          <a:srgbClr val="1C5A2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훈련 세트의 산점도를 그립니다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plt.scatter(train_input, train_target)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15에서 49까지 2차 방정식 그래프를 그립니다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plt.plot(point, 1.01*point**2 - 21.6*point + 116.05)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>
                        <a:solidFill>
                          <a:srgbClr val="1C5A2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1C5A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50cm 농어 데이터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plt.scatter(50, 1574, marker='^')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plt.show() </a:t>
                      </a:r>
                      <a:endParaRPr sz="11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8" name="Google Shape;54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0995" y="2274193"/>
            <a:ext cx="4076918" cy="2664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36"/>
          <p:cNvCxnSpPr/>
          <p:nvPr/>
        </p:nvCxnSpPr>
        <p:spPr>
          <a:xfrm>
            <a:off x="7621711" y="3609139"/>
            <a:ext cx="240245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550" name="Google Shape;550;p36"/>
          <p:cNvGraphicFramePr/>
          <p:nvPr/>
        </p:nvGraphicFramePr>
        <p:xfrm>
          <a:off x="1690075" y="5510798"/>
          <a:ext cx="3752075" cy="5181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75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print(lr.score(train_poly,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print(lr.score(test_poly, test_target))</a:t>
                      </a:r>
                      <a:endParaRPr sz="1400" b="0" i="0" u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1" name="Google Shape;551;p36"/>
          <p:cNvSpPr txBox="1"/>
          <p:nvPr/>
        </p:nvSpPr>
        <p:spPr>
          <a:xfrm>
            <a:off x="6408060" y="5469208"/>
            <a:ext cx="290779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0.9706807451768623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0.9775935108325122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6"/>
          <p:cNvCxnSpPr/>
          <p:nvPr/>
        </p:nvCxnSpPr>
        <p:spPr>
          <a:xfrm>
            <a:off x="5766612" y="5791761"/>
            <a:ext cx="3169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회귀로 훈련 세트 범위 밖의 샘플 예측(문제해결 과정)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회귀를 사용해서 농어의 무게를 예측했을 때 발생하는 큰 문제는 훈련 세트 범위 밖의 샘플을 예측할 수 없다는 점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 회귀는 아무리 멀리 떨어져 있더라도 무조건 가장 가까운 샘플의 타깃을 평균하여 예측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선형 회귀 사용하여 최적의 직선의 방정식을 찾는 것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사이킷런의 LinearRegression 클래스를 사용하면 k-최근접 이웃 알고리즘을 사용했을 때와 동일한 </a:t>
            </a:r>
            <a:br>
              <a:rPr lang="en-US"/>
            </a:br>
            <a:r>
              <a:rPr lang="en-US"/>
              <a:t>방식으로 모델을 훈련하고 예측에 사용할 수 있음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직선의 최적의 기울기와 절편값들은 선형 회귀 모델의 coef_와 intercept_ 속성에 저장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직선 모델은 단순하여 농어의 무게가 음수일 수도 있ㅇ기 때문에, 다항 회귀를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농어의 길이를 제곱하여 훈련 세트에 추가한 다음 선형 회귀 모델을 다시 훈련 - 이 모델은 2차 방정식의 그래프 형태를 학습하였고 훈련세트가 분포된 형태를 잘 표현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세트와 테스트 세트의 성능이 단순한 선형 회귀보다 훨씬 높아짐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하지만 훈련 세트 성능보다 테스트 세트 성능이 조금 높은 것으로 보아 과소적합된 경향이 아직 남음</a:t>
            </a:r>
            <a:endParaRPr/>
          </a:p>
        </p:txBody>
      </p:sp>
      <p:sp>
        <p:nvSpPr>
          <p:cNvPr id="558" name="Google Shape;558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선형 회귀(13)</a:t>
            </a:r>
            <a:endParaRPr/>
          </a:p>
        </p:txBody>
      </p:sp>
      <p:sp>
        <p:nvSpPr>
          <p:cNvPr id="559" name="Google Shape;559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60" name="Google Shape;560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마무리</a:t>
            </a:r>
            <a:endParaRPr/>
          </a:p>
        </p:txBody>
      </p:sp>
      <p:sp>
        <p:nvSpPr>
          <p:cNvPr id="566" name="Google Shape;566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67" name="Google Shape;567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선형 회귀는 특성과 타깃 사이의 관계를 가장 잘 나타내는 선형 방정식을 찾음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특성이 하나면 직선 방정식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선형 회귀가 찾은 특성과 타깃 사이의 관계는 선형 방정식의 계수 또는 가중치에 저장됨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머신러닝에서 종종 가중치는 방정식의 기울기와 절편을 모두 의미하는 경우가 많음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모델 파라미터는 선형 회귀가 찾은 가중치처럼 머신러닝 모델이 특성에서 학습한 파라미터를 말함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다항 회귀는 다항식을 사용하여 특성과 타깃 사이의 관계를 나타냄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함수는 비선형일 수 있지만 여전히 선형 회귀로 표현할 수 있음</a:t>
            </a:r>
            <a:endParaRPr/>
          </a:p>
          <a:p>
            <a:pPr marL="22860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LinearRegression: 사이킷런의 선형 회귀 클래스</a:t>
            </a:r>
            <a:endParaRPr/>
          </a:p>
        </p:txBody>
      </p:sp>
      <p:sp>
        <p:nvSpPr>
          <p:cNvPr id="568" name="Google Shape;568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확인 문제</a:t>
            </a:r>
            <a:endParaRPr/>
          </a:p>
        </p:txBody>
      </p:sp>
      <p:sp>
        <p:nvSpPr>
          <p:cNvPr id="574" name="Google Shape;574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75" name="Google Shape;575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찾은</a:t>
            </a:r>
            <a:r>
              <a:rPr lang="en-US" dirty="0"/>
              <a:t> </a:t>
            </a:r>
            <a:r>
              <a:rPr lang="en-US" dirty="0" err="1"/>
              <a:t>방정식의</a:t>
            </a:r>
            <a:r>
              <a:rPr lang="en-US" dirty="0"/>
              <a:t> </a:t>
            </a:r>
            <a:r>
              <a:rPr lang="en-US" dirty="0" err="1"/>
              <a:t>계수를</a:t>
            </a:r>
            <a:r>
              <a:rPr lang="en-US" dirty="0"/>
              <a:t> </a:t>
            </a:r>
            <a:r>
              <a:rPr lang="en-US" dirty="0" err="1"/>
              <a:t>무엇이라고</a:t>
            </a:r>
            <a:r>
              <a:rPr lang="en-US" dirty="0"/>
              <a:t> </a:t>
            </a:r>
            <a:r>
              <a:rPr lang="en-US" dirty="0" err="1"/>
              <a:t>부르나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파라미터</a:t>
            </a:r>
            <a:r>
              <a:rPr lang="en-US" dirty="0"/>
              <a:t>		②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파라미터</a:t>
            </a:r>
            <a:r>
              <a:rPr lang="en-US" dirty="0"/>
              <a:t>		</a:t>
            </a:r>
            <a:br>
              <a:rPr lang="en-US" dirty="0"/>
            </a:br>
            <a:r>
              <a:rPr lang="en-US" dirty="0"/>
              <a:t>③ </a:t>
            </a:r>
            <a:r>
              <a:rPr lang="en-US" dirty="0" err="1"/>
              <a:t>학습</a:t>
            </a:r>
            <a:r>
              <a:rPr lang="en-US" dirty="0"/>
              <a:t> </a:t>
            </a:r>
            <a:r>
              <a:rPr lang="en-US" dirty="0" err="1"/>
              <a:t>파라미터</a:t>
            </a:r>
            <a:r>
              <a:rPr lang="en-US"/>
              <a:t> 		④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파라미터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 err="1"/>
              <a:t>사이킷런에서</a:t>
            </a:r>
            <a:r>
              <a:rPr lang="en-US" dirty="0"/>
              <a:t> </a:t>
            </a:r>
            <a:r>
              <a:rPr lang="en-US" dirty="0" err="1"/>
              <a:t>다항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훈련할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클래스는</a:t>
            </a:r>
            <a:r>
              <a:rPr lang="en-US" dirty="0"/>
              <a:t> </a:t>
            </a:r>
            <a:r>
              <a:rPr lang="en-US" dirty="0" err="1"/>
              <a:t>무엇인가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</a:t>
            </a:r>
            <a:r>
              <a:rPr lang="en-US" dirty="0" err="1"/>
              <a:t>LinearRegression</a:t>
            </a:r>
            <a:r>
              <a:rPr lang="en-US" dirty="0"/>
              <a:t>		② </a:t>
            </a:r>
            <a:r>
              <a:rPr lang="en-US" dirty="0" err="1"/>
              <a:t>PolynomialRegression</a:t>
            </a:r>
            <a:r>
              <a:rPr lang="en-US" dirty="0"/>
              <a:t>		</a:t>
            </a:r>
            <a:br>
              <a:rPr lang="en-US" dirty="0"/>
            </a:br>
            <a:r>
              <a:rPr lang="en-US" dirty="0"/>
              <a:t>③ </a:t>
            </a:r>
            <a:r>
              <a:rPr lang="en-US" dirty="0" err="1"/>
              <a:t>KNeighborsClassifier</a:t>
            </a:r>
            <a:r>
              <a:rPr lang="en-US" dirty="0"/>
              <a:t> 	④ </a:t>
            </a:r>
            <a:r>
              <a:rPr lang="en-US" dirty="0" err="1"/>
              <a:t>PolynomialClassifier</a:t>
            </a:r>
            <a:endParaRPr dirty="0"/>
          </a:p>
          <a:p>
            <a:pPr marL="1270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</p:txBody>
      </p:sp>
      <p:sp>
        <p:nvSpPr>
          <p:cNvPr id="576" name="Google Shape;576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43e040fc38_0_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3-2 확인 문제</a:t>
            </a:r>
            <a:endParaRPr/>
          </a:p>
        </p:txBody>
      </p:sp>
      <p:sp>
        <p:nvSpPr>
          <p:cNvPr id="582" name="Google Shape;582;g343e040fc38_0_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583" name="Google Shape;583;g343e040fc38_0_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9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3"/>
            </a:pPr>
            <a:r>
              <a:rPr lang="en-US" dirty="0" err="1"/>
              <a:t>다음</a:t>
            </a:r>
            <a:r>
              <a:rPr lang="en-US" dirty="0"/>
              <a:t> 중 </a:t>
            </a: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클래스에서</a:t>
            </a:r>
            <a:r>
              <a:rPr lang="en-US" dirty="0"/>
              <a:t> </a:t>
            </a:r>
            <a:r>
              <a:rPr lang="en-US" dirty="0" err="1"/>
              <a:t>제공하는</a:t>
            </a:r>
            <a:r>
              <a:rPr lang="en-US" dirty="0"/>
              <a:t> </a:t>
            </a:r>
            <a:r>
              <a:rPr lang="en-US" dirty="0" err="1"/>
              <a:t>메서드가</a:t>
            </a:r>
            <a:r>
              <a:rPr lang="en-US" dirty="0"/>
              <a:t> </a:t>
            </a:r>
            <a:r>
              <a:rPr lang="en-US" dirty="0" err="1"/>
              <a:t>아닌것은</a:t>
            </a:r>
            <a:r>
              <a:rPr lang="en-US" dirty="0"/>
              <a:t> </a:t>
            </a:r>
            <a:r>
              <a:rPr lang="en-US" dirty="0" err="1"/>
              <a:t>무엇인가요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fit()			② score()</a:t>
            </a:r>
            <a:br>
              <a:rPr lang="en-US" dirty="0"/>
            </a:br>
            <a:r>
              <a:rPr lang="en-US" dirty="0"/>
              <a:t>③ evaluate() 		④ predict()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457200" lvl="0" indent="-469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 dirty="0" err="1"/>
              <a:t>사이킷런에서</a:t>
            </a:r>
            <a:r>
              <a:rPr lang="en-US" dirty="0"/>
              <a:t> </a:t>
            </a:r>
            <a:r>
              <a:rPr lang="en-US" dirty="0" err="1"/>
              <a:t>다항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훈련할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클래스는</a:t>
            </a:r>
            <a:r>
              <a:rPr lang="en-US" dirty="0"/>
              <a:t> </a:t>
            </a:r>
            <a:r>
              <a:rPr lang="en-US" dirty="0" err="1"/>
              <a:t>무엇인가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</a:t>
            </a:r>
            <a:r>
              <a:rPr lang="en-US" dirty="0" err="1"/>
              <a:t>LinearRegression</a:t>
            </a:r>
            <a:r>
              <a:rPr lang="en-US" dirty="0"/>
              <a:t>		② </a:t>
            </a:r>
            <a:r>
              <a:rPr lang="en-US" dirty="0" err="1"/>
              <a:t>PolynomialRegression</a:t>
            </a:r>
            <a:r>
              <a:rPr lang="en-US" dirty="0"/>
              <a:t>		</a:t>
            </a:r>
            <a:br>
              <a:rPr lang="en-US" dirty="0"/>
            </a:br>
            <a:r>
              <a:rPr lang="en-US" dirty="0"/>
              <a:t>③ </a:t>
            </a:r>
            <a:r>
              <a:rPr lang="en-US" dirty="0" err="1"/>
              <a:t>KNeighborsClassifier</a:t>
            </a:r>
            <a:r>
              <a:rPr lang="en-US" dirty="0"/>
              <a:t> 	④ </a:t>
            </a:r>
            <a:r>
              <a:rPr lang="en-US" dirty="0" err="1"/>
              <a:t>PolynomialClassifier</a:t>
            </a:r>
            <a:endParaRPr dirty="0"/>
          </a:p>
          <a:p>
            <a:pPr marL="1270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</p:txBody>
      </p:sp>
      <p:sp>
        <p:nvSpPr>
          <p:cNvPr id="584" name="Google Shape;584;g343e040fc38_0_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선형 회귀는 특성이 많을수록 효과가 커짐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PolynomialFeatures 클래스에 농어의 높이와 두께 특성도 추가하여 과소적합 해소</a:t>
            </a:r>
            <a:endParaRPr/>
          </a:p>
          <a:p>
            <a:pPr marL="1600200" lvl="3" indent="-1397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590" name="Google Shape;590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규제(1)</a:t>
            </a:r>
            <a:endParaRPr/>
          </a:p>
        </p:txBody>
      </p:sp>
      <p:sp>
        <p:nvSpPr>
          <p:cNvPr id="591" name="Google Shape;591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592" name="Google Shape;592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593" name="Google Shape;593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1320" y="2447037"/>
            <a:ext cx="6349360" cy="324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다중 회귀(multiple regression)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여러 개의 특성을 사용한 선형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오른쪽 그림처럼 특성이 2개면 타깃값과 함께 3차원 공간을 형성하고 선형 회귀 방정식 </a:t>
            </a:r>
            <a:br>
              <a:rPr lang="en-US"/>
            </a:br>
            <a:r>
              <a:rPr lang="en-US"/>
              <a:t>‘타깃 = a ×특성1 + b × 특성2 + 절편’은 평면이 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특성이 많은 고차원에서는 선형 회귀가 매우 복잡한 모델을 표현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 공학(feature engineering): 기존의 특성을 사용해 새로운 특성을 뽑아내는 작업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예제에서는 농어의 길이뿐만 아니라 농어의 높이와 두께도 함께 사용하고, 이전 절에서처럼 3개의 특성을 각각 제곱하여 추가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각 특성을 서로 곱해서 또 다른 특성을 생성. 즉, ‘농어 길이 × 농어 높이’를 새로운 특성으로 생성</a:t>
            </a:r>
            <a:endParaRPr/>
          </a:p>
        </p:txBody>
      </p:sp>
      <p:sp>
        <p:nvSpPr>
          <p:cNvPr id="599" name="Google Shape;599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규제(2)</a:t>
            </a:r>
            <a:endParaRPr/>
          </a:p>
        </p:txBody>
      </p:sp>
      <p:sp>
        <p:nvSpPr>
          <p:cNvPr id="600" name="Google Shape;600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01" name="Google Shape;601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602" name="Google Shape;602;p41"/>
          <p:cNvPicPr preferRelativeResize="0"/>
          <p:nvPr/>
        </p:nvPicPr>
        <p:blipFill rotWithShape="1">
          <a:blip r:embed="rId3">
            <a:alphaModFix/>
          </a:blip>
          <a:srcRect t="13522"/>
          <a:stretch/>
        </p:blipFill>
        <p:spPr>
          <a:xfrm>
            <a:off x="3224213" y="2660074"/>
            <a:ext cx="5743575" cy="189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준비</a:t>
            </a:r>
            <a:endParaRPr dirty="0"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판다스</a:t>
            </a:r>
            <a:r>
              <a:rPr lang="en-US" dirty="0"/>
              <a:t>(pandas)의 </a:t>
            </a:r>
            <a:r>
              <a:rPr lang="en-US" dirty="0" err="1"/>
              <a:t>데이터프레임</a:t>
            </a:r>
            <a:r>
              <a:rPr lang="en-US" dirty="0"/>
              <a:t>(</a:t>
            </a:r>
            <a:r>
              <a:rPr lang="en-US" dirty="0" err="1"/>
              <a:t>dataframe</a:t>
            </a:r>
            <a:r>
              <a:rPr lang="en-US" dirty="0"/>
              <a:t>)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농어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인터넷에서</a:t>
            </a:r>
            <a:r>
              <a:rPr lang="en-US" dirty="0"/>
              <a:t> </a:t>
            </a:r>
            <a:r>
              <a:rPr lang="en-US" dirty="0" err="1"/>
              <a:t>내려받아</a:t>
            </a:r>
            <a:r>
              <a:rPr lang="en-US" dirty="0"/>
              <a:t> </a:t>
            </a:r>
            <a:r>
              <a:rPr lang="en-US" dirty="0" err="1"/>
              <a:t>넘파이</a:t>
            </a:r>
            <a:r>
              <a:rPr lang="en-US" dirty="0"/>
              <a:t> </a:t>
            </a:r>
            <a:r>
              <a:rPr lang="en-US" dirty="0" err="1"/>
              <a:t>배열로</a:t>
            </a:r>
            <a:r>
              <a:rPr lang="en-US" dirty="0"/>
              <a:t> </a:t>
            </a:r>
            <a:r>
              <a:rPr lang="en-US" dirty="0" err="1"/>
              <a:t>변환하여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US" dirty="0" err="1"/>
              <a:t>파일</a:t>
            </a:r>
            <a:r>
              <a:rPr lang="en-US" dirty="0"/>
              <a:t> </a:t>
            </a:r>
            <a:r>
              <a:rPr lang="en-US" dirty="0" err="1"/>
              <a:t>내용</a:t>
            </a:r>
            <a:r>
              <a:rPr lang="en-US" dirty="0"/>
              <a:t>: 웹 </a:t>
            </a:r>
            <a:r>
              <a:rPr lang="en-US" dirty="0" err="1"/>
              <a:t>브라우저로</a:t>
            </a:r>
            <a:r>
              <a:rPr lang="en-US" dirty="0"/>
              <a:t> https://bit.ly/perch_csv_data에 </a:t>
            </a:r>
            <a:r>
              <a:rPr lang="en-US" dirty="0" err="1"/>
              <a:t>접속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판다스의</a:t>
            </a:r>
            <a:r>
              <a:rPr lang="en-US" dirty="0"/>
              <a:t> </a:t>
            </a:r>
            <a:r>
              <a:rPr lang="en-US" dirty="0" err="1"/>
              <a:t>read_csv</a:t>
            </a:r>
            <a:r>
              <a:rPr lang="en-US" dirty="0"/>
              <a:t>( ) </a:t>
            </a:r>
            <a:r>
              <a:rPr lang="en-US" dirty="0" err="1"/>
              <a:t>함수에</a:t>
            </a:r>
            <a:r>
              <a:rPr lang="en-US" dirty="0"/>
              <a:t> </a:t>
            </a:r>
            <a:r>
              <a:rPr lang="en-US" dirty="0" err="1"/>
              <a:t>주소</a:t>
            </a:r>
            <a:r>
              <a:rPr lang="en-US" dirty="0"/>
              <a:t> </a:t>
            </a:r>
            <a:r>
              <a:rPr lang="en-US" dirty="0" err="1"/>
              <a:t>삽입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read_csv</a:t>
            </a:r>
            <a:r>
              <a:rPr lang="en-US" dirty="0"/>
              <a:t>( ) </a:t>
            </a:r>
            <a:r>
              <a:rPr lang="en-US" dirty="0" err="1"/>
              <a:t>함수로</a:t>
            </a:r>
            <a:r>
              <a:rPr lang="en-US" dirty="0"/>
              <a:t> </a:t>
            </a:r>
            <a:r>
              <a:rPr lang="en-US" dirty="0" err="1"/>
              <a:t>데이터프레임을</a:t>
            </a:r>
            <a:r>
              <a:rPr lang="en-US" dirty="0"/>
              <a:t> </a:t>
            </a:r>
            <a:r>
              <a:rPr lang="en-US" dirty="0" err="1"/>
              <a:t>만든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 head( ) </a:t>
            </a:r>
            <a:r>
              <a:rPr lang="en-US" dirty="0" err="1"/>
              <a:t>메서드를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처음</a:t>
            </a:r>
            <a:r>
              <a:rPr lang="en-US" dirty="0"/>
              <a:t> </a:t>
            </a:r>
            <a:r>
              <a:rPr lang="en-US" dirty="0" err="1"/>
              <a:t>다섯</a:t>
            </a:r>
            <a:r>
              <a:rPr lang="en-US" dirty="0"/>
              <a:t> </a:t>
            </a:r>
            <a:r>
              <a:rPr lang="en-US" dirty="0" err="1"/>
              <a:t>개의</a:t>
            </a:r>
            <a:r>
              <a:rPr lang="en-US" dirty="0"/>
              <a:t> 행 </a:t>
            </a:r>
            <a:r>
              <a:rPr lang="en-US" dirty="0" err="1"/>
              <a:t>출력</a:t>
            </a:r>
            <a:endParaRPr dirty="0"/>
          </a:p>
        </p:txBody>
      </p:sp>
      <p:sp>
        <p:nvSpPr>
          <p:cNvPr id="608" name="Google Shape;608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규제(3)</a:t>
            </a:r>
            <a:endParaRPr/>
          </a:p>
        </p:txBody>
      </p:sp>
      <p:sp>
        <p:nvSpPr>
          <p:cNvPr id="609" name="Google Shape;609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10" name="Google Shape;610;p4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11" name="Google Shape;611;p42"/>
          <p:cNvGraphicFramePr/>
          <p:nvPr/>
        </p:nvGraphicFramePr>
        <p:xfrm>
          <a:off x="1639797" y="5473453"/>
          <a:ext cx="5800725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8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import pandas as pd # pd는 관례적으로 사용하는 판다스의 별칭입니다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perch_full = pd.read_csv('https://bit.ly/perch_csv_data')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perch_full.head()</a:t>
                      </a:r>
                      <a:endParaRPr sz="12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2" name="Google Shape;612;p42"/>
          <p:cNvCxnSpPr/>
          <p:nvPr/>
        </p:nvCxnSpPr>
        <p:spPr>
          <a:xfrm>
            <a:off x="7703505" y="5929746"/>
            <a:ext cx="363416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13" name="Google Shape;61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0296" y="3536802"/>
            <a:ext cx="6315425" cy="16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7832" y="4878325"/>
            <a:ext cx="2111192" cy="18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준비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타깃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준비</a:t>
            </a:r>
            <a:r>
              <a:rPr lang="en-US" dirty="0"/>
              <a:t>: </a:t>
            </a:r>
            <a:r>
              <a:rPr lang="en-US" dirty="0" err="1"/>
              <a:t>이전과</a:t>
            </a:r>
            <a:r>
              <a:rPr lang="en-US" dirty="0"/>
              <a:t> </a:t>
            </a:r>
            <a:r>
              <a:rPr lang="en-US" dirty="0" err="1"/>
              <a:t>같이</a:t>
            </a:r>
            <a:r>
              <a:rPr lang="en-US" dirty="0"/>
              <a:t> </a:t>
            </a:r>
            <a:r>
              <a:rPr lang="en-US" dirty="0" err="1"/>
              <a:t>소스</a:t>
            </a:r>
            <a:r>
              <a:rPr lang="en-US" dirty="0"/>
              <a:t>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http://bit.ly/perch_data</a:t>
            </a:r>
            <a:r>
              <a:rPr lang="en-US" dirty="0"/>
              <a:t>에서 </a:t>
            </a:r>
            <a:r>
              <a:rPr lang="en-US" dirty="0" err="1"/>
              <a:t>복사</a:t>
            </a: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perch_full과</a:t>
            </a:r>
            <a:r>
              <a:rPr lang="en-US" dirty="0"/>
              <a:t> </a:t>
            </a:r>
            <a:r>
              <a:rPr lang="en-US" dirty="0" err="1"/>
              <a:t>perch_weight를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세트로</a:t>
            </a:r>
            <a:r>
              <a:rPr lang="en-US" dirty="0"/>
              <a:t> </a:t>
            </a:r>
            <a:r>
              <a:rPr lang="en-US" dirty="0" err="1"/>
              <a:t>나누기</a:t>
            </a:r>
            <a:endParaRPr dirty="0"/>
          </a:p>
        </p:txBody>
      </p:sp>
      <p:sp>
        <p:nvSpPr>
          <p:cNvPr id="620" name="Google Shape;620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규제(4)</a:t>
            </a:r>
            <a:endParaRPr/>
          </a:p>
        </p:txBody>
      </p:sp>
      <p:sp>
        <p:nvSpPr>
          <p:cNvPr id="621" name="Google Shape;621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22" name="Google Shape;622;p4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23" name="Google Shape;623;p43"/>
          <p:cNvGraphicFramePr/>
          <p:nvPr/>
        </p:nvGraphicFramePr>
        <p:xfrm>
          <a:off x="1685729" y="1901719"/>
          <a:ext cx="6280150" cy="22250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import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numpy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as np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perch_weight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np.array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[ 5.9, 32.0, 40.0, 51.5, 70.0, 100.0, 78.0, 80.0, 85.0, 85.0,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  110.0, 115.0, 125.0, 130.0, 120.0, 120.0, 130.0, 135.0, 110.0,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  130.0, 150.0, 145.0, 150.0, 170.0, 225.0, 145.0, 188.0, 180.0,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  197.0, 218.0, 300.0, 260.0, 265.0, 250.0, 250.0, 300.0, 320.0,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  514.0, 556.0, 840.0, 685.0, 700.0, 700.0, 690.0, 900.0, 650.0,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  820.0, 850.0, 900.0, 1015.0, 820.0, 1100.0, 1000.0, 1100.0,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  1000.0, 1000.0]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       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4" name="Google Shape;624;p43"/>
          <p:cNvGraphicFramePr/>
          <p:nvPr/>
        </p:nvGraphicFramePr>
        <p:xfrm>
          <a:off x="1685729" y="4774662"/>
          <a:ext cx="6280150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  perch_full, perch_weight, random_state=42)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변환기</a:t>
            </a:r>
            <a:r>
              <a:rPr lang="en-US" dirty="0"/>
              <a:t>(transformer)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만들거나</a:t>
            </a:r>
            <a:r>
              <a:rPr lang="en-US" dirty="0"/>
              <a:t> </a:t>
            </a:r>
            <a:r>
              <a:rPr lang="en-US" dirty="0" err="1"/>
              <a:t>전처리하기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다양한</a:t>
            </a:r>
            <a:r>
              <a:rPr lang="en-US" dirty="0"/>
              <a:t> </a:t>
            </a:r>
            <a:r>
              <a:rPr lang="en-US" dirty="0" err="1"/>
              <a:t>클래스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클래스에</a:t>
            </a:r>
            <a:r>
              <a:rPr lang="en-US" dirty="0"/>
              <a:t> </a:t>
            </a:r>
            <a:r>
              <a:rPr lang="en-US" dirty="0" err="1"/>
              <a:t>일관된</a:t>
            </a:r>
            <a:r>
              <a:rPr lang="en-US" dirty="0"/>
              <a:t> fit( ), score( ), predict( ) </a:t>
            </a:r>
            <a:r>
              <a:rPr lang="en-US" dirty="0" err="1"/>
              <a:t>메서드가</a:t>
            </a:r>
            <a:r>
              <a:rPr lang="en-US" dirty="0"/>
              <a:t>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것처럼</a:t>
            </a:r>
            <a:r>
              <a:rPr lang="en-US" dirty="0"/>
              <a:t> </a:t>
            </a:r>
            <a:r>
              <a:rPr lang="en-US" dirty="0" err="1"/>
              <a:t>변환기</a:t>
            </a:r>
            <a:r>
              <a:rPr lang="en-US" dirty="0"/>
              <a:t> </a:t>
            </a:r>
            <a:r>
              <a:rPr lang="en-US" dirty="0" err="1"/>
              <a:t>클래스는</a:t>
            </a:r>
            <a:r>
              <a:rPr lang="en-US" dirty="0"/>
              <a:t> </a:t>
            </a:r>
            <a:r>
              <a:rPr lang="en-US" dirty="0" err="1"/>
              <a:t>모두</a:t>
            </a:r>
            <a:r>
              <a:rPr lang="en-US" dirty="0"/>
              <a:t> fit( ), transform( ) </a:t>
            </a:r>
            <a:r>
              <a:rPr lang="en-US" dirty="0" err="1"/>
              <a:t>메서드를</a:t>
            </a:r>
            <a:r>
              <a:rPr lang="en-US" dirty="0"/>
              <a:t> </a:t>
            </a:r>
            <a:r>
              <a:rPr lang="en-US" dirty="0" err="1"/>
              <a:t>제공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앞서</a:t>
            </a:r>
            <a:r>
              <a:rPr lang="en-US" dirty="0"/>
              <a:t> </a:t>
            </a:r>
            <a:r>
              <a:rPr lang="en-US" dirty="0" err="1"/>
              <a:t>배운</a:t>
            </a:r>
            <a:r>
              <a:rPr lang="en-US" dirty="0"/>
              <a:t> </a:t>
            </a:r>
            <a:r>
              <a:rPr lang="en-US" dirty="0" err="1"/>
              <a:t>LinearRegression</a:t>
            </a:r>
            <a:r>
              <a:rPr lang="en-US" dirty="0"/>
              <a:t> </a:t>
            </a:r>
            <a:r>
              <a:rPr lang="en-US" dirty="0" err="1"/>
              <a:t>같은</a:t>
            </a:r>
            <a:r>
              <a:rPr lang="en-US" dirty="0"/>
              <a:t> </a:t>
            </a: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클래스는</a:t>
            </a:r>
            <a:r>
              <a:rPr lang="en-US" dirty="0"/>
              <a:t> </a:t>
            </a:r>
            <a:r>
              <a:rPr lang="en-US" dirty="0" err="1"/>
              <a:t>추정기</a:t>
            </a:r>
            <a:r>
              <a:rPr lang="en-US" dirty="0"/>
              <a:t>(estimator)</a:t>
            </a:r>
            <a:r>
              <a:rPr lang="en-US" dirty="0" err="1"/>
              <a:t>라고도</a:t>
            </a:r>
            <a:r>
              <a:rPr lang="en-US" dirty="0"/>
              <a:t> </a:t>
            </a:r>
            <a:r>
              <a:rPr lang="en-US" dirty="0" err="1"/>
              <a:t>부름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sklearn.preprocessing</a:t>
            </a:r>
            <a:r>
              <a:rPr lang="en-US" dirty="0"/>
              <a:t> </a:t>
            </a:r>
            <a:r>
              <a:rPr lang="en-US" dirty="0" err="1"/>
              <a:t>패키지의</a:t>
            </a:r>
            <a:r>
              <a:rPr lang="en-US" dirty="0"/>
              <a:t> </a:t>
            </a:r>
            <a:r>
              <a:rPr lang="en-US" dirty="0" err="1"/>
              <a:t>PolynomialFeatures</a:t>
            </a:r>
            <a:r>
              <a:rPr lang="en-US" dirty="0"/>
              <a:t> </a:t>
            </a:r>
            <a:r>
              <a:rPr lang="en-US" dirty="0" err="1"/>
              <a:t>클래스</a:t>
            </a: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2개의 </a:t>
            </a:r>
            <a:r>
              <a:rPr lang="en-US" dirty="0" err="1"/>
              <a:t>특성</a:t>
            </a:r>
            <a:r>
              <a:rPr lang="en-US" dirty="0"/>
              <a:t> 2와 3으로 </a:t>
            </a:r>
            <a:r>
              <a:rPr lang="en-US" dirty="0" err="1"/>
              <a:t>이루어진</a:t>
            </a:r>
            <a:r>
              <a:rPr lang="en-US" dirty="0"/>
              <a:t> </a:t>
            </a:r>
            <a:r>
              <a:rPr lang="en-US" dirty="0" err="1"/>
              <a:t>샘플</a:t>
            </a:r>
            <a:r>
              <a:rPr lang="en-US" dirty="0"/>
              <a:t> </a:t>
            </a:r>
            <a:r>
              <a:rPr lang="en-US" dirty="0" err="1"/>
              <a:t>하나를</a:t>
            </a:r>
            <a:r>
              <a:rPr lang="en-US" dirty="0"/>
              <a:t> </a:t>
            </a:r>
            <a:r>
              <a:rPr lang="en-US" dirty="0" err="1"/>
              <a:t>적용</a:t>
            </a:r>
            <a:br>
              <a:rPr lang="en-US" dirty="0"/>
            </a:br>
            <a:r>
              <a:rPr lang="en-US" dirty="0"/>
              <a:t>이 </a:t>
            </a:r>
            <a:r>
              <a:rPr lang="en-US" dirty="0" err="1"/>
              <a:t>클래스의</a:t>
            </a:r>
            <a:r>
              <a:rPr lang="en-US" dirty="0"/>
              <a:t> </a:t>
            </a:r>
            <a:r>
              <a:rPr lang="en-US" dirty="0" err="1"/>
              <a:t>객체를</a:t>
            </a:r>
            <a:r>
              <a:rPr lang="en-US" dirty="0"/>
              <a:t> </a:t>
            </a:r>
            <a:r>
              <a:rPr lang="en-US" dirty="0" err="1"/>
              <a:t>만든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 fit( ), transform( ) </a:t>
            </a:r>
            <a:r>
              <a:rPr lang="en-US" dirty="0" err="1"/>
              <a:t>메서드를</a:t>
            </a:r>
            <a:r>
              <a:rPr lang="en-US" dirty="0"/>
              <a:t> </a:t>
            </a:r>
            <a:r>
              <a:rPr lang="en-US" dirty="0" err="1"/>
              <a:t>차례대로</a:t>
            </a:r>
            <a:r>
              <a:rPr lang="en-US" dirty="0"/>
              <a:t> </a:t>
            </a:r>
            <a:r>
              <a:rPr lang="en-US" dirty="0" err="1"/>
              <a:t>호출</a:t>
            </a: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fit( ) </a:t>
            </a:r>
            <a:r>
              <a:rPr lang="en-US" dirty="0" err="1"/>
              <a:t>메서드는</a:t>
            </a:r>
            <a:r>
              <a:rPr lang="en-US" dirty="0"/>
              <a:t> </a:t>
            </a:r>
            <a:r>
              <a:rPr lang="en-US" dirty="0" err="1"/>
              <a:t>새롭게</a:t>
            </a:r>
            <a:r>
              <a:rPr lang="en-US" dirty="0"/>
              <a:t> </a:t>
            </a:r>
            <a:r>
              <a:rPr lang="en-US" dirty="0" err="1"/>
              <a:t>만들</a:t>
            </a:r>
            <a:r>
              <a:rPr lang="en-US" dirty="0"/>
              <a:t> </a:t>
            </a:r>
            <a:r>
              <a:rPr lang="en-US" dirty="0" err="1"/>
              <a:t>특성</a:t>
            </a:r>
            <a:r>
              <a:rPr lang="en-US" dirty="0"/>
              <a:t> </a:t>
            </a:r>
            <a:r>
              <a:rPr lang="en-US" dirty="0" err="1"/>
              <a:t>조합을</a:t>
            </a:r>
            <a:r>
              <a:rPr lang="en-US" dirty="0"/>
              <a:t> </a:t>
            </a:r>
            <a:r>
              <a:rPr lang="en-US" dirty="0" err="1"/>
              <a:t>찾고</a:t>
            </a:r>
            <a:r>
              <a:rPr lang="en-US" dirty="0"/>
              <a:t> transform( ) </a:t>
            </a:r>
            <a:r>
              <a:rPr lang="en-US" dirty="0" err="1"/>
              <a:t>메서드는</a:t>
            </a:r>
            <a:r>
              <a:rPr lang="en-US" dirty="0"/>
              <a:t> </a:t>
            </a:r>
            <a:r>
              <a:rPr lang="en-US" dirty="0" err="1"/>
              <a:t>실제로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변환</a:t>
            </a:r>
            <a:br>
              <a:rPr lang="en-US" dirty="0"/>
            </a:br>
            <a:r>
              <a:rPr lang="en-US" dirty="0" err="1"/>
              <a:t>변환기는</a:t>
            </a:r>
            <a:r>
              <a:rPr lang="en-US" dirty="0"/>
              <a:t> </a:t>
            </a:r>
            <a:r>
              <a:rPr lang="en-US" dirty="0" err="1"/>
              <a:t>입력데이터를</a:t>
            </a:r>
            <a:r>
              <a:rPr lang="en-US" dirty="0"/>
              <a:t> </a:t>
            </a:r>
            <a:r>
              <a:rPr lang="en-US" dirty="0" err="1"/>
              <a:t>변환하는</a:t>
            </a:r>
            <a:r>
              <a:rPr lang="en-US" dirty="0"/>
              <a:t> 데 </a:t>
            </a:r>
            <a:r>
              <a:rPr lang="en-US" dirty="0" err="1"/>
              <a:t>타깃</a:t>
            </a:r>
            <a:r>
              <a:rPr lang="en-US" dirty="0"/>
              <a:t> </a:t>
            </a:r>
            <a:r>
              <a:rPr lang="en-US" dirty="0" err="1"/>
              <a:t>데이터가</a:t>
            </a:r>
            <a:r>
              <a:rPr lang="en-US" dirty="0"/>
              <a:t> </a:t>
            </a:r>
            <a:r>
              <a:rPr lang="en-US" dirty="0" err="1"/>
              <a:t>필요하지</a:t>
            </a:r>
            <a:r>
              <a:rPr lang="en-US" dirty="0"/>
              <a:t> </a:t>
            </a:r>
            <a:r>
              <a:rPr lang="en-US" dirty="0" err="1"/>
              <a:t>않으므로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클래스와는</a:t>
            </a:r>
            <a:r>
              <a:rPr lang="en-US" dirty="0"/>
              <a:t> </a:t>
            </a:r>
            <a:r>
              <a:rPr lang="en-US" dirty="0" err="1"/>
              <a:t>다르게</a:t>
            </a:r>
            <a:r>
              <a:rPr lang="en-US" dirty="0"/>
              <a:t> fit( ) </a:t>
            </a:r>
            <a:r>
              <a:rPr lang="en-US" dirty="0" err="1"/>
              <a:t>메서드에</a:t>
            </a:r>
            <a:r>
              <a:rPr lang="en-US" dirty="0"/>
              <a:t> </a:t>
            </a:r>
            <a:r>
              <a:rPr lang="en-US" dirty="0" err="1"/>
              <a:t>입력</a:t>
            </a:r>
            <a:r>
              <a:rPr lang="en-US" dirty="0"/>
              <a:t> </a:t>
            </a:r>
            <a:r>
              <a:rPr lang="en-US" dirty="0" err="1"/>
              <a:t>데이터만</a:t>
            </a:r>
            <a:r>
              <a:rPr lang="en-US" dirty="0"/>
              <a:t> </a:t>
            </a:r>
            <a:r>
              <a:rPr lang="en-US" dirty="0" err="1"/>
              <a:t>전달</a:t>
            </a:r>
            <a:br>
              <a:rPr lang="en-US" dirty="0"/>
            </a:br>
            <a:r>
              <a:rPr lang="en-US" dirty="0"/>
              <a:t>즉, </a:t>
            </a:r>
            <a:r>
              <a:rPr lang="en-US" dirty="0" err="1"/>
              <a:t>여기에서는</a:t>
            </a:r>
            <a:r>
              <a:rPr lang="en-US" dirty="0"/>
              <a:t> 2개의 </a:t>
            </a:r>
            <a:r>
              <a:rPr lang="en-US" dirty="0" err="1"/>
              <a:t>특성</a:t>
            </a:r>
            <a:r>
              <a:rPr lang="en-US" dirty="0"/>
              <a:t>(</a:t>
            </a:r>
            <a:r>
              <a:rPr lang="en-US" dirty="0" err="1"/>
              <a:t>원소</a:t>
            </a:r>
            <a:r>
              <a:rPr lang="en-US" dirty="0"/>
              <a:t>)을 </a:t>
            </a:r>
            <a:r>
              <a:rPr lang="en-US" dirty="0" err="1"/>
              <a:t>가진</a:t>
            </a:r>
            <a:r>
              <a:rPr lang="en-US" dirty="0"/>
              <a:t> </a:t>
            </a:r>
            <a:r>
              <a:rPr lang="en-US" dirty="0" err="1"/>
              <a:t>샘플</a:t>
            </a:r>
            <a:r>
              <a:rPr lang="en-US" dirty="0"/>
              <a:t> [2, 3]이 6개의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가진</a:t>
            </a:r>
            <a:r>
              <a:rPr lang="en-US" dirty="0"/>
              <a:t> </a:t>
            </a:r>
            <a:r>
              <a:rPr lang="en-US" dirty="0" err="1"/>
              <a:t>샘플</a:t>
            </a:r>
            <a:r>
              <a:rPr lang="en-US" dirty="0"/>
              <a:t> [1 . 2 . 3 . 4 . 6 . 9 .]로 </a:t>
            </a:r>
            <a:r>
              <a:rPr lang="en-US" dirty="0" err="1"/>
              <a:t>바뀜</a:t>
            </a:r>
            <a:endParaRPr dirty="0"/>
          </a:p>
        </p:txBody>
      </p:sp>
      <p:sp>
        <p:nvSpPr>
          <p:cNvPr id="630" name="Google Shape;630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규제(5)</a:t>
            </a:r>
            <a:endParaRPr/>
          </a:p>
        </p:txBody>
      </p:sp>
      <p:sp>
        <p:nvSpPr>
          <p:cNvPr id="631" name="Google Shape;631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32" name="Google Shape;632;p4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33" name="Google Shape;633;p44"/>
          <p:cNvGraphicFramePr/>
          <p:nvPr/>
        </p:nvGraphicFramePr>
        <p:xfrm>
          <a:off x="1666875" y="3267173"/>
          <a:ext cx="468155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68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sklearn.preprocessing import PolynomialFeatures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4" name="Google Shape;634;p44"/>
          <p:cNvGraphicFramePr/>
          <p:nvPr>
            <p:extLst>
              <p:ext uri="{D42A27DB-BD31-4B8C-83A1-F6EECF244321}">
                <p14:modId xmlns:p14="http://schemas.microsoft.com/office/powerpoint/2010/main" val="2635811675"/>
              </p:ext>
            </p:extLst>
          </p:nvPr>
        </p:nvGraphicFramePr>
        <p:xfrm>
          <a:off x="1666875" y="4227905"/>
          <a:ext cx="3409225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0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poly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PolynomialFeatures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poly.fit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([[2, 3]])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poly.transform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([[2, 3]]))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5" name="Google Shape;635;p44"/>
          <p:cNvCxnSpPr/>
          <p:nvPr/>
        </p:nvCxnSpPr>
        <p:spPr>
          <a:xfrm>
            <a:off x="5404338" y="4593665"/>
            <a:ext cx="445477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6" name="Google Shape;636;p44"/>
          <p:cNvSpPr txBox="1"/>
          <p:nvPr/>
        </p:nvSpPr>
        <p:spPr>
          <a:xfrm>
            <a:off x="6178061" y="4408999"/>
            <a:ext cx="22097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[[1. 2. 3. 4. 6. 9.]]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변환기</a:t>
            </a:r>
            <a:r>
              <a:rPr lang="en-US" dirty="0"/>
              <a:t>(transformer)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PolynomialFeatures</a:t>
            </a:r>
            <a:r>
              <a:rPr lang="en-US" dirty="0"/>
              <a:t> </a:t>
            </a:r>
            <a:r>
              <a:rPr lang="en-US" dirty="0" err="1"/>
              <a:t>클래스는</a:t>
            </a:r>
            <a:r>
              <a:rPr lang="en-US" dirty="0"/>
              <a:t> </a:t>
            </a:r>
            <a:r>
              <a:rPr lang="en-US" dirty="0" err="1"/>
              <a:t>기본적으로</a:t>
            </a:r>
            <a:r>
              <a:rPr lang="en-US" dirty="0"/>
              <a:t> 각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제곱한</a:t>
            </a:r>
            <a:r>
              <a:rPr lang="en-US" dirty="0"/>
              <a:t> </a:t>
            </a:r>
            <a:r>
              <a:rPr lang="en-US" dirty="0" err="1"/>
              <a:t>항을</a:t>
            </a:r>
            <a:r>
              <a:rPr lang="en-US" dirty="0"/>
              <a:t> </a:t>
            </a:r>
            <a:r>
              <a:rPr lang="en-US" dirty="0" err="1"/>
              <a:t>추가하고</a:t>
            </a:r>
            <a:r>
              <a:rPr lang="en-US" dirty="0"/>
              <a:t> </a:t>
            </a:r>
            <a:r>
              <a:rPr lang="en-US" dirty="0" err="1"/>
              <a:t>특성끼리</a:t>
            </a:r>
            <a:r>
              <a:rPr lang="en-US" dirty="0"/>
              <a:t> </a:t>
            </a:r>
            <a:r>
              <a:rPr lang="en-US" dirty="0" err="1"/>
              <a:t>서로</a:t>
            </a:r>
            <a:r>
              <a:rPr lang="en-US" dirty="0"/>
              <a:t> </a:t>
            </a:r>
            <a:r>
              <a:rPr lang="en-US" dirty="0" err="1"/>
              <a:t>곱한</a:t>
            </a:r>
            <a:r>
              <a:rPr lang="en-US" dirty="0"/>
              <a:t> </a:t>
            </a:r>
            <a:r>
              <a:rPr lang="en-US" dirty="0" err="1"/>
              <a:t>항을</a:t>
            </a:r>
            <a:r>
              <a:rPr lang="en-US" dirty="0"/>
              <a:t> </a:t>
            </a:r>
            <a:r>
              <a:rPr lang="en-US" dirty="0" err="1"/>
              <a:t>추가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2와 3을 </a:t>
            </a:r>
            <a:r>
              <a:rPr lang="en-US" dirty="0" err="1"/>
              <a:t>각기</a:t>
            </a:r>
            <a:r>
              <a:rPr lang="en-US" dirty="0"/>
              <a:t> </a:t>
            </a:r>
            <a:r>
              <a:rPr lang="en-US" dirty="0" err="1"/>
              <a:t>제곱한</a:t>
            </a:r>
            <a:r>
              <a:rPr lang="en-US" dirty="0"/>
              <a:t> 4와 9가 </a:t>
            </a:r>
            <a:r>
              <a:rPr lang="en-US" dirty="0" err="1"/>
              <a:t>추가되었고</a:t>
            </a:r>
            <a:r>
              <a:rPr lang="en-US" dirty="0"/>
              <a:t>, 2와 3을 </a:t>
            </a:r>
            <a:r>
              <a:rPr lang="en-US" dirty="0" err="1"/>
              <a:t>곱한</a:t>
            </a:r>
            <a:r>
              <a:rPr lang="en-US" dirty="0"/>
              <a:t> 6이 </a:t>
            </a:r>
            <a:r>
              <a:rPr lang="en-US" dirty="0" err="1"/>
              <a:t>추가됨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1은 왜 </a:t>
            </a:r>
            <a:r>
              <a:rPr lang="en-US" dirty="0" err="1"/>
              <a:t>추가되었을까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          </a:t>
            </a:r>
            <a:r>
              <a:rPr lang="en-US" dirty="0" err="1"/>
              <a:t>무게</a:t>
            </a:r>
            <a:r>
              <a:rPr lang="en-US" dirty="0"/>
              <a:t> = a × </a:t>
            </a:r>
            <a:r>
              <a:rPr lang="en-US" dirty="0" err="1"/>
              <a:t>길이</a:t>
            </a:r>
            <a:r>
              <a:rPr lang="en-US" dirty="0"/>
              <a:t> + b × </a:t>
            </a:r>
            <a:r>
              <a:rPr lang="en-US" dirty="0" err="1"/>
              <a:t>높이</a:t>
            </a:r>
            <a:r>
              <a:rPr lang="en-US" dirty="0"/>
              <a:t> + c × </a:t>
            </a:r>
            <a:r>
              <a:rPr lang="en-US" dirty="0" err="1"/>
              <a:t>두께</a:t>
            </a:r>
            <a:r>
              <a:rPr lang="en-US" dirty="0"/>
              <a:t> + d × 1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방정식의</a:t>
            </a:r>
            <a:r>
              <a:rPr lang="en-US" dirty="0"/>
              <a:t> </a:t>
            </a:r>
            <a:r>
              <a:rPr lang="en-US" dirty="0" err="1"/>
              <a:t>절편은</a:t>
            </a:r>
            <a:r>
              <a:rPr lang="en-US" dirty="0"/>
              <a:t> </a:t>
            </a:r>
            <a:r>
              <a:rPr lang="en-US" dirty="0" err="1"/>
              <a:t>항상</a:t>
            </a:r>
            <a:r>
              <a:rPr lang="en-US" dirty="0"/>
              <a:t> </a:t>
            </a:r>
            <a:r>
              <a:rPr lang="en-US" dirty="0" err="1"/>
              <a:t>값이</a:t>
            </a:r>
            <a:r>
              <a:rPr lang="en-US" dirty="0"/>
              <a:t> 1인 </a:t>
            </a:r>
            <a:r>
              <a:rPr lang="en-US" dirty="0" err="1"/>
              <a:t>특성과</a:t>
            </a:r>
            <a:r>
              <a:rPr lang="en-US" dirty="0"/>
              <a:t> </a:t>
            </a:r>
            <a:r>
              <a:rPr lang="en-US" dirty="0" err="1"/>
              <a:t>곱해지는</a:t>
            </a:r>
            <a:r>
              <a:rPr lang="en-US" dirty="0"/>
              <a:t> </a:t>
            </a:r>
            <a:r>
              <a:rPr lang="en-US" dirty="0" err="1"/>
              <a:t>계수라고</a:t>
            </a:r>
            <a:r>
              <a:rPr lang="en-US" dirty="0"/>
              <a:t> 볼 수 </a:t>
            </a:r>
            <a:r>
              <a:rPr lang="en-US" dirty="0" err="1"/>
              <a:t>있으며</a:t>
            </a:r>
            <a:r>
              <a:rPr lang="en-US" dirty="0"/>
              <a:t>, </a:t>
            </a:r>
            <a:r>
              <a:rPr lang="en-US" dirty="0" err="1"/>
              <a:t>특성은</a:t>
            </a:r>
            <a:r>
              <a:rPr lang="en-US" dirty="0"/>
              <a:t> (</a:t>
            </a:r>
            <a:r>
              <a:rPr lang="en-US" dirty="0" err="1"/>
              <a:t>길이</a:t>
            </a:r>
            <a:r>
              <a:rPr lang="en-US" dirty="0"/>
              <a:t>, </a:t>
            </a:r>
            <a:r>
              <a:rPr lang="en-US" dirty="0" err="1"/>
              <a:t>높이</a:t>
            </a:r>
            <a:r>
              <a:rPr lang="en-US" dirty="0"/>
              <a:t>, </a:t>
            </a:r>
            <a:r>
              <a:rPr lang="en-US" dirty="0" err="1"/>
              <a:t>두께</a:t>
            </a:r>
            <a:r>
              <a:rPr lang="en-US" dirty="0"/>
              <a:t>, 1)이 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모델은</a:t>
            </a:r>
            <a:r>
              <a:rPr lang="en-US" dirty="0"/>
              <a:t> </a:t>
            </a:r>
            <a:r>
              <a:rPr lang="en-US" dirty="0" err="1"/>
              <a:t>자동으로</a:t>
            </a:r>
            <a:r>
              <a:rPr lang="en-US" dirty="0"/>
              <a:t> </a:t>
            </a:r>
            <a:r>
              <a:rPr lang="en-US" dirty="0" err="1"/>
              <a:t>절편을</a:t>
            </a:r>
            <a:r>
              <a:rPr lang="en-US" dirty="0"/>
              <a:t> </a:t>
            </a:r>
            <a:r>
              <a:rPr lang="en-US" dirty="0" err="1"/>
              <a:t>추가하므로</a:t>
            </a:r>
            <a:r>
              <a:rPr lang="en-US" dirty="0"/>
              <a:t> </a:t>
            </a:r>
            <a:r>
              <a:rPr lang="en-US" dirty="0" err="1"/>
              <a:t>굳이</a:t>
            </a:r>
            <a:r>
              <a:rPr lang="en-US" dirty="0"/>
              <a:t> </a:t>
            </a:r>
            <a:r>
              <a:rPr lang="en-US" dirty="0" err="1"/>
              <a:t>이렇게</a:t>
            </a:r>
            <a:r>
              <a:rPr lang="en-US" dirty="0"/>
              <a:t>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만들</a:t>
            </a:r>
            <a:r>
              <a:rPr lang="en-US" dirty="0"/>
              <a:t> </a:t>
            </a:r>
            <a:r>
              <a:rPr lang="en-US" dirty="0" err="1"/>
              <a:t>필요가</a:t>
            </a:r>
            <a:r>
              <a:rPr lang="en-US" dirty="0"/>
              <a:t> </a:t>
            </a:r>
            <a:r>
              <a:rPr lang="en-US" dirty="0" err="1"/>
              <a:t>없음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include_bias</a:t>
            </a:r>
            <a:r>
              <a:rPr lang="en-US" dirty="0"/>
              <a:t>=</a:t>
            </a:r>
            <a:r>
              <a:rPr lang="en-US" dirty="0" err="1"/>
              <a:t>False로</a:t>
            </a:r>
            <a:r>
              <a:rPr lang="en-US" dirty="0"/>
              <a:t> </a:t>
            </a:r>
            <a:r>
              <a:rPr lang="en-US" dirty="0" err="1"/>
              <a:t>지정하여</a:t>
            </a:r>
            <a:r>
              <a:rPr lang="en-US" dirty="0"/>
              <a:t> </a:t>
            </a:r>
            <a:r>
              <a:rPr lang="en-US" dirty="0" err="1"/>
              <a:t>다시</a:t>
            </a:r>
            <a:r>
              <a:rPr lang="en-US" dirty="0"/>
              <a:t>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변환</a:t>
            </a:r>
            <a:br>
              <a:rPr lang="en-US" dirty="0"/>
            </a:br>
            <a:r>
              <a:rPr lang="en-US" dirty="0" err="1"/>
              <a:t>절편을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항이</a:t>
            </a:r>
            <a:r>
              <a:rPr lang="en-US" dirty="0"/>
              <a:t> </a:t>
            </a:r>
            <a:r>
              <a:rPr lang="en-US" dirty="0" err="1"/>
              <a:t>제거되고</a:t>
            </a:r>
            <a:r>
              <a:rPr lang="en-US" dirty="0"/>
              <a:t> </a:t>
            </a:r>
            <a:r>
              <a:rPr lang="en-US" dirty="0" err="1"/>
              <a:t>특성의</a:t>
            </a:r>
            <a:r>
              <a:rPr lang="en-US" dirty="0"/>
              <a:t> </a:t>
            </a:r>
            <a:r>
              <a:rPr lang="en-US" dirty="0" err="1"/>
              <a:t>제곱과</a:t>
            </a:r>
            <a:r>
              <a:rPr lang="en-US" dirty="0"/>
              <a:t> </a:t>
            </a:r>
            <a:r>
              <a:rPr lang="en-US" dirty="0" err="1"/>
              <a:t>특성끼리</a:t>
            </a:r>
            <a:r>
              <a:rPr lang="en-US" dirty="0"/>
              <a:t> </a:t>
            </a:r>
            <a:r>
              <a:rPr lang="en-US" dirty="0" err="1"/>
              <a:t>곱한</a:t>
            </a:r>
            <a:r>
              <a:rPr lang="en-US" dirty="0"/>
              <a:t> </a:t>
            </a:r>
            <a:r>
              <a:rPr lang="en-US" dirty="0" err="1"/>
              <a:t>항만</a:t>
            </a:r>
            <a:r>
              <a:rPr lang="en-US" dirty="0"/>
              <a:t> </a:t>
            </a:r>
            <a:r>
              <a:rPr lang="en-US" dirty="0" err="1"/>
              <a:t>추가됨</a:t>
            </a:r>
            <a:endParaRPr dirty="0"/>
          </a:p>
          <a:p>
            <a:pPr marL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2" name="Google Shape;642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규제(6)</a:t>
            </a:r>
            <a:endParaRPr/>
          </a:p>
        </p:txBody>
      </p:sp>
      <p:sp>
        <p:nvSpPr>
          <p:cNvPr id="643" name="Google Shape;643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644" name="Google Shape;644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45" name="Google Shape;645;p45"/>
          <p:cNvGraphicFramePr/>
          <p:nvPr/>
        </p:nvGraphicFramePr>
        <p:xfrm>
          <a:off x="1758081" y="4689418"/>
          <a:ext cx="3975475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97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 = PolynomialFeatures(include_bias=False)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poly.fit([[2, 3]])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print(poly.transform([[2, 3]]))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6" name="Google Shape;646;p45"/>
          <p:cNvCxnSpPr/>
          <p:nvPr/>
        </p:nvCxnSpPr>
        <p:spPr>
          <a:xfrm>
            <a:off x="5880320" y="5154042"/>
            <a:ext cx="445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7" name="Google Shape;647;p45"/>
          <p:cNvSpPr txBox="1"/>
          <p:nvPr/>
        </p:nvSpPr>
        <p:spPr>
          <a:xfrm>
            <a:off x="6472593" y="4946713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[[2. 3. 4. 6. 9.]]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6"/>
          <p:cNvSpPr txBox="1">
            <a:spLocks noGrp="1"/>
          </p:cNvSpPr>
          <p:nvPr>
            <p:ph type="body" idx="1"/>
          </p:nvPr>
        </p:nvSpPr>
        <p:spPr>
          <a:xfrm>
            <a:off x="504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변환기</a:t>
            </a:r>
            <a:r>
              <a:rPr lang="en-US" dirty="0"/>
              <a:t>(transformer)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train_input을</a:t>
            </a:r>
            <a:r>
              <a:rPr lang="en-US" dirty="0"/>
              <a:t> </a:t>
            </a:r>
            <a:r>
              <a:rPr lang="en-US" dirty="0" err="1"/>
              <a:t>변환한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train_poly에</a:t>
            </a:r>
            <a:r>
              <a:rPr lang="en-US" dirty="0"/>
              <a:t> </a:t>
            </a:r>
            <a:r>
              <a:rPr lang="en-US" dirty="0" err="1"/>
              <a:t>저장하고</a:t>
            </a:r>
            <a:r>
              <a:rPr lang="en-US" dirty="0"/>
              <a:t> 이 </a:t>
            </a:r>
            <a:r>
              <a:rPr lang="en-US" dirty="0" err="1"/>
              <a:t>배열의</a:t>
            </a:r>
            <a:r>
              <a:rPr lang="en-US" dirty="0"/>
              <a:t> </a:t>
            </a:r>
            <a:r>
              <a:rPr lang="en-US" dirty="0" err="1"/>
              <a:t>크기를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get_feature_names_out</a:t>
            </a:r>
            <a:r>
              <a:rPr lang="en-US" dirty="0"/>
              <a:t>( ) </a:t>
            </a:r>
            <a:r>
              <a:rPr lang="en-US" dirty="0" err="1"/>
              <a:t>메서드를</a:t>
            </a:r>
            <a:r>
              <a:rPr lang="en-US" dirty="0"/>
              <a:t> </a:t>
            </a:r>
            <a:r>
              <a:rPr lang="en-US" dirty="0" err="1"/>
              <a:t>호출하여</a:t>
            </a:r>
            <a:r>
              <a:rPr lang="en-US" dirty="0"/>
              <a:t> 9개의 </a:t>
            </a:r>
            <a:r>
              <a:rPr lang="en-US" dirty="0" err="1"/>
              <a:t>특성이</a:t>
            </a:r>
            <a:r>
              <a:rPr lang="en-US" dirty="0"/>
              <a:t> </a:t>
            </a:r>
            <a:r>
              <a:rPr lang="en-US" dirty="0" err="1"/>
              <a:t>각각</a:t>
            </a:r>
            <a:r>
              <a:rPr lang="en-US" dirty="0"/>
              <a:t> </a:t>
            </a:r>
            <a:r>
              <a:rPr lang="en-US" dirty="0" err="1"/>
              <a:t>어떤</a:t>
            </a:r>
            <a:r>
              <a:rPr lang="en-US" dirty="0"/>
              <a:t> </a:t>
            </a:r>
            <a:r>
              <a:rPr lang="en-US" dirty="0" err="1"/>
              <a:t>입력의</a:t>
            </a:r>
            <a:r>
              <a:rPr lang="en-US" dirty="0"/>
              <a:t> </a:t>
            </a:r>
            <a:r>
              <a:rPr lang="en-US" dirty="0" err="1"/>
              <a:t>조합으로</a:t>
            </a:r>
            <a:r>
              <a:rPr lang="en-US" dirty="0"/>
              <a:t> </a:t>
            </a:r>
            <a:r>
              <a:rPr lang="en-US" dirty="0" err="1"/>
              <a:t>만들어졌는지</a:t>
            </a:r>
            <a:r>
              <a:rPr lang="en-US" dirty="0"/>
              <a:t> </a:t>
            </a:r>
            <a:r>
              <a:rPr lang="en-US" dirty="0" err="1"/>
              <a:t>알려줌</a:t>
            </a:r>
            <a:br>
              <a:rPr lang="en-US" dirty="0"/>
            </a:b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세트를</a:t>
            </a:r>
            <a:r>
              <a:rPr lang="en-US" dirty="0"/>
              <a:t> </a:t>
            </a:r>
            <a:r>
              <a:rPr lang="en-US" dirty="0" err="1"/>
              <a:t>변환</a:t>
            </a:r>
            <a:endParaRPr dirty="0"/>
          </a:p>
        </p:txBody>
      </p:sp>
      <p:sp>
        <p:nvSpPr>
          <p:cNvPr id="653" name="Google Shape;653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규제(7)</a:t>
            </a:r>
            <a:endParaRPr/>
          </a:p>
        </p:txBody>
      </p:sp>
      <p:sp>
        <p:nvSpPr>
          <p:cNvPr id="654" name="Google Shape;654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55" name="Google Shape;655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56" name="Google Shape;656;p46"/>
          <p:cNvGraphicFramePr/>
          <p:nvPr>
            <p:extLst>
              <p:ext uri="{D42A27DB-BD31-4B8C-83A1-F6EECF244321}">
                <p14:modId xmlns:p14="http://schemas.microsoft.com/office/powerpoint/2010/main" val="1945087056"/>
              </p:ext>
            </p:extLst>
          </p:nvPr>
        </p:nvGraphicFramePr>
        <p:xfrm>
          <a:off x="1746250" y="2071320"/>
          <a:ext cx="3855116" cy="94489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855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poly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PolynomialFeatures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include_bias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=False)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poly.fit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train_poly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poly.transform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train_poly.shape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7" name="Google Shape;657;p46"/>
          <p:cNvCxnSpPr/>
          <p:nvPr/>
        </p:nvCxnSpPr>
        <p:spPr>
          <a:xfrm>
            <a:off x="6003739" y="2643052"/>
            <a:ext cx="445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8" name="Google Shape;658;p46"/>
          <p:cNvSpPr txBox="1"/>
          <p:nvPr/>
        </p:nvSpPr>
        <p:spPr>
          <a:xfrm>
            <a:off x="6834823" y="2458386"/>
            <a:ext cx="220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(42, 9)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9" name="Google Shape;659;p46"/>
          <p:cNvGraphicFramePr/>
          <p:nvPr>
            <p:extLst>
              <p:ext uri="{D42A27DB-BD31-4B8C-83A1-F6EECF244321}">
                <p14:modId xmlns:p14="http://schemas.microsoft.com/office/powerpoint/2010/main" val="3392557942"/>
              </p:ext>
            </p:extLst>
          </p:nvPr>
        </p:nvGraphicFramePr>
        <p:xfrm>
          <a:off x="1751716" y="4301799"/>
          <a:ext cx="269340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269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poly.get_feature_names_</a:t>
                      </a:r>
                      <a:r>
                        <a:rPr lang="en-US" b="0" dirty="0" err="1">
                          <a:solidFill>
                            <a:schemeClr val="dk1"/>
                          </a:solidFill>
                        </a:rPr>
                        <a:t>out</a:t>
                      </a:r>
                      <a:r>
                        <a:rPr lang="en-US" b="0" dirty="0">
                          <a:solidFill>
                            <a:schemeClr val="dk1"/>
                          </a:solidFill>
                        </a:rPr>
                        <a:t>()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60" name="Google Shape;660;p46"/>
          <p:cNvCxnSpPr/>
          <p:nvPr/>
        </p:nvCxnSpPr>
        <p:spPr>
          <a:xfrm>
            <a:off x="4749004" y="4454210"/>
            <a:ext cx="445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1" name="Google Shape;661;p46"/>
          <p:cNvSpPr txBox="1"/>
          <p:nvPr/>
        </p:nvSpPr>
        <p:spPr>
          <a:xfrm>
            <a:off x="5498359" y="4031506"/>
            <a:ext cx="599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array(['length', ' height', ' width', 'length^2', 'length height',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'length width', ' height^2', ' height width', ' width^2'],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dtype=object)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2" name="Google Shape;662;p46"/>
          <p:cNvGraphicFramePr/>
          <p:nvPr/>
        </p:nvGraphicFramePr>
        <p:xfrm>
          <a:off x="1751716" y="5273962"/>
          <a:ext cx="410450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test_poly = poly.transform(test_input)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다중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훈련하기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사이킷런의</a:t>
            </a:r>
            <a:r>
              <a:rPr lang="en-US" dirty="0"/>
              <a:t> </a:t>
            </a:r>
            <a:r>
              <a:rPr lang="en-US" dirty="0" err="1"/>
              <a:t>LinearRegression</a:t>
            </a:r>
            <a:r>
              <a:rPr lang="en-US" dirty="0"/>
              <a:t> </a:t>
            </a:r>
            <a:r>
              <a:rPr lang="en-US" dirty="0" err="1"/>
              <a:t>클래스를</a:t>
            </a:r>
            <a:r>
              <a:rPr lang="en-US" dirty="0"/>
              <a:t> </a:t>
            </a:r>
            <a:r>
              <a:rPr lang="en-US" dirty="0" err="1"/>
              <a:t>임포트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앞에서</a:t>
            </a:r>
            <a:r>
              <a:rPr lang="en-US" dirty="0"/>
              <a:t> </a:t>
            </a:r>
            <a:r>
              <a:rPr lang="en-US" dirty="0" err="1"/>
              <a:t>만든</a:t>
            </a:r>
            <a:r>
              <a:rPr lang="en-US" dirty="0"/>
              <a:t> </a:t>
            </a:r>
            <a:r>
              <a:rPr lang="en-US" dirty="0" err="1"/>
              <a:t>train_poly를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훈련시켜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PolynomialFeatures</a:t>
            </a:r>
            <a:r>
              <a:rPr lang="en-US" dirty="0"/>
              <a:t> </a:t>
            </a:r>
            <a:r>
              <a:rPr lang="en-US" dirty="0" err="1"/>
              <a:t>클래스의</a:t>
            </a:r>
            <a:r>
              <a:rPr lang="en-US" dirty="0"/>
              <a:t> degree </a:t>
            </a:r>
            <a:r>
              <a:rPr lang="en-US" dirty="0" err="1"/>
              <a:t>매개변수를</a:t>
            </a:r>
            <a:r>
              <a:rPr lang="en-US" dirty="0"/>
              <a:t> </a:t>
            </a:r>
            <a:r>
              <a:rPr lang="en-US" dirty="0" err="1"/>
              <a:t>사용하여</a:t>
            </a:r>
            <a:r>
              <a:rPr lang="en-US" dirty="0"/>
              <a:t> </a:t>
            </a:r>
            <a:r>
              <a:rPr lang="en-US" dirty="0" err="1"/>
              <a:t>필요한</a:t>
            </a:r>
            <a:r>
              <a:rPr lang="en-US" dirty="0"/>
              <a:t> </a:t>
            </a:r>
            <a:r>
              <a:rPr lang="en-US" dirty="0" err="1"/>
              <a:t>고차항의</a:t>
            </a:r>
            <a:r>
              <a:rPr lang="en-US" dirty="0"/>
              <a:t> </a:t>
            </a:r>
            <a:r>
              <a:rPr lang="en-US" dirty="0" err="1"/>
              <a:t>최대</a:t>
            </a:r>
            <a:r>
              <a:rPr lang="en-US" dirty="0"/>
              <a:t> </a:t>
            </a:r>
            <a:r>
              <a:rPr lang="en-US" dirty="0" err="1"/>
              <a:t>차수를</a:t>
            </a:r>
            <a:r>
              <a:rPr lang="en-US" dirty="0"/>
              <a:t> </a:t>
            </a:r>
            <a:r>
              <a:rPr lang="en-US" dirty="0" err="1"/>
              <a:t>지정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5제곱까지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만들어</a:t>
            </a:r>
            <a:r>
              <a:rPr lang="en-US" dirty="0"/>
              <a:t> </a:t>
            </a:r>
            <a:r>
              <a:rPr lang="en-US" dirty="0" err="1"/>
              <a:t>출력</a:t>
            </a:r>
            <a:endParaRPr dirty="0"/>
          </a:p>
        </p:txBody>
      </p:sp>
      <p:sp>
        <p:nvSpPr>
          <p:cNvPr id="668" name="Google Shape;668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규제(8)</a:t>
            </a:r>
            <a:endParaRPr/>
          </a:p>
        </p:txBody>
      </p:sp>
      <p:sp>
        <p:nvSpPr>
          <p:cNvPr id="669" name="Google Shape;669;p4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670" name="Google Shape;670;p4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71" name="Google Shape;671;p47"/>
          <p:cNvGraphicFramePr/>
          <p:nvPr/>
        </p:nvGraphicFramePr>
        <p:xfrm>
          <a:off x="1704658" y="3859421"/>
          <a:ext cx="410450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lr.score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test_poly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test_target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2" name="Google Shape;672;p47"/>
          <p:cNvCxnSpPr/>
          <p:nvPr/>
        </p:nvCxnSpPr>
        <p:spPr>
          <a:xfrm>
            <a:off x="6075948" y="2782484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3" name="Google Shape;673;p47"/>
          <p:cNvSpPr txBox="1"/>
          <p:nvPr/>
        </p:nvSpPr>
        <p:spPr>
          <a:xfrm>
            <a:off x="6565948" y="2597818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0.9903183436982124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4" name="Google Shape;674;p47"/>
          <p:cNvGraphicFramePr/>
          <p:nvPr>
            <p:extLst>
              <p:ext uri="{D42A27DB-BD31-4B8C-83A1-F6EECF244321}">
                <p14:modId xmlns:p14="http://schemas.microsoft.com/office/powerpoint/2010/main" val="3458516773"/>
              </p:ext>
            </p:extLst>
          </p:nvPr>
        </p:nvGraphicFramePr>
        <p:xfrm>
          <a:off x="1704658" y="2357042"/>
          <a:ext cx="4104500" cy="94489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from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sklearn.linear_model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import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LinearRegression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lr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LinearRegression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lr.fit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train_poly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lr.score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train_poly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5" name="Google Shape;675;p47"/>
          <p:cNvCxnSpPr/>
          <p:nvPr/>
        </p:nvCxnSpPr>
        <p:spPr>
          <a:xfrm>
            <a:off x="6075948" y="4010249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6" name="Google Shape;676;p47"/>
          <p:cNvSpPr txBox="1"/>
          <p:nvPr/>
        </p:nvSpPr>
        <p:spPr>
          <a:xfrm>
            <a:off x="6565948" y="3827155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0.9714559911594134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7" name="Google Shape;677;p47"/>
          <p:cNvGraphicFramePr/>
          <p:nvPr/>
        </p:nvGraphicFramePr>
        <p:xfrm>
          <a:off x="1704658" y="4990413"/>
          <a:ext cx="4104500" cy="13716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poly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PolynomialFeatures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(degree=5,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include_bias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=False)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poly.fit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train_poly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poly.transform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train_input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test_poly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poly.transform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test_input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train_poly.shape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78" name="Google Shape;678;p47"/>
          <p:cNvCxnSpPr/>
          <p:nvPr/>
        </p:nvCxnSpPr>
        <p:spPr>
          <a:xfrm>
            <a:off x="6075948" y="5652710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9" name="Google Shape;679;p47"/>
          <p:cNvSpPr txBox="1"/>
          <p:nvPr/>
        </p:nvSpPr>
        <p:spPr>
          <a:xfrm>
            <a:off x="6565948" y="5491547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(42, 55)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7"/>
          <p:cNvSpPr/>
          <p:nvPr/>
        </p:nvSpPr>
        <p:spPr>
          <a:xfrm>
            <a:off x="7045823" y="5929712"/>
            <a:ext cx="808892" cy="246184"/>
          </a:xfrm>
          <a:custGeom>
            <a:avLst/>
            <a:gdLst/>
            <a:ahLst/>
            <a:cxnLst/>
            <a:rect l="l" t="t" r="r" b="b"/>
            <a:pathLst>
              <a:path w="808892" h="422031" extrusionOk="0">
                <a:moveTo>
                  <a:pt x="0" y="0"/>
                </a:moveTo>
                <a:lnTo>
                  <a:pt x="0" y="422031"/>
                </a:lnTo>
                <a:lnTo>
                  <a:pt x="808892" y="422031"/>
                </a:lnTo>
              </a:path>
            </a:pathLst>
          </a:custGeom>
          <a:noFill/>
          <a:ln w="9525" cap="flat" cmpd="sng">
            <a:solidFill>
              <a:srgbClr val="1C5A25"/>
            </a:solidFill>
            <a:prstDash val="lgDashDot"/>
            <a:miter lim="800000"/>
            <a:headEnd type="triangle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7"/>
          <p:cNvSpPr txBox="1"/>
          <p:nvPr/>
        </p:nvSpPr>
        <p:spPr>
          <a:xfrm>
            <a:off x="7887775" y="5939627"/>
            <a:ext cx="2510848" cy="59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특성의 개수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train_poly 배열의 열의 개수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 dirty="0" err="1"/>
              <a:t>다중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훈련하기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이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다시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특성의</a:t>
            </a:r>
            <a:r>
              <a:rPr lang="en-US" dirty="0"/>
              <a:t> </a:t>
            </a:r>
            <a:r>
              <a:rPr lang="en-US" dirty="0" err="1"/>
              <a:t>개수를</a:t>
            </a:r>
            <a:r>
              <a:rPr lang="en-US" dirty="0"/>
              <a:t> </a:t>
            </a:r>
            <a:r>
              <a:rPr lang="en-US" dirty="0" err="1"/>
              <a:t>크게</a:t>
            </a:r>
            <a:r>
              <a:rPr lang="en-US" dirty="0"/>
              <a:t> </a:t>
            </a:r>
            <a:r>
              <a:rPr lang="en-US" dirty="0" err="1"/>
              <a:t>늘리면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모델은</a:t>
            </a:r>
            <a:r>
              <a:rPr lang="en-US" dirty="0"/>
              <a:t> </a:t>
            </a:r>
            <a:r>
              <a:rPr lang="en-US" dirty="0" err="1"/>
              <a:t>아주</a:t>
            </a:r>
            <a:r>
              <a:rPr lang="en-US" dirty="0"/>
              <a:t> </a:t>
            </a:r>
            <a:r>
              <a:rPr lang="en-US" dirty="0" err="1"/>
              <a:t>강력해져</a:t>
            </a:r>
            <a:r>
              <a:rPr lang="en-US" dirty="0"/>
              <a:t>,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대해</a:t>
            </a:r>
            <a:r>
              <a:rPr lang="en-US" dirty="0"/>
              <a:t> </a:t>
            </a:r>
            <a:r>
              <a:rPr lang="en-US" dirty="0" err="1"/>
              <a:t>거의</a:t>
            </a:r>
            <a:r>
              <a:rPr lang="en-US" dirty="0"/>
              <a:t> </a:t>
            </a:r>
            <a:r>
              <a:rPr lang="en-US" dirty="0" err="1"/>
              <a:t>완벽하게</a:t>
            </a:r>
            <a:r>
              <a:rPr lang="en-US" dirty="0"/>
              <a:t> </a:t>
            </a:r>
            <a:r>
              <a:rPr lang="en-US" dirty="0" err="1"/>
              <a:t>학습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하지만</a:t>
            </a:r>
            <a:r>
              <a:rPr lang="en-US" dirty="0"/>
              <a:t> </a:t>
            </a:r>
            <a:r>
              <a:rPr lang="en-US" dirty="0" err="1"/>
              <a:t>이런</a:t>
            </a:r>
            <a:r>
              <a:rPr lang="en-US" dirty="0"/>
              <a:t> </a:t>
            </a:r>
            <a:r>
              <a:rPr lang="en-US" dirty="0" err="1"/>
              <a:t>모델은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과대적합되므로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세트에서는</a:t>
            </a:r>
            <a:r>
              <a:rPr lang="en-US" dirty="0"/>
              <a:t> </a:t>
            </a:r>
            <a:r>
              <a:rPr lang="en-US" dirty="0" err="1"/>
              <a:t>형편없는</a:t>
            </a:r>
            <a:r>
              <a:rPr lang="en-US" dirty="0"/>
              <a:t> </a:t>
            </a:r>
            <a:r>
              <a:rPr lang="en-US" dirty="0" err="1"/>
              <a:t>점수를</a:t>
            </a:r>
            <a:r>
              <a:rPr lang="en-US" dirty="0"/>
              <a:t> </a:t>
            </a:r>
            <a:r>
              <a:rPr lang="en-US" dirty="0" err="1"/>
              <a:t>만들게</a:t>
            </a:r>
            <a:r>
              <a:rPr lang="en-US" dirty="0"/>
              <a:t> 됨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이 </a:t>
            </a:r>
            <a:r>
              <a:rPr lang="en-US" dirty="0" err="1"/>
              <a:t>문제를</a:t>
            </a:r>
            <a:r>
              <a:rPr lang="en-US" dirty="0"/>
              <a:t> </a:t>
            </a:r>
            <a:r>
              <a:rPr lang="en-US" dirty="0" err="1"/>
              <a:t>해결하기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dirty="0" err="1"/>
              <a:t>다시</a:t>
            </a:r>
            <a:r>
              <a:rPr lang="en-US" dirty="0"/>
              <a:t>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줄여야</a:t>
            </a:r>
            <a:r>
              <a:rPr lang="en-US" dirty="0"/>
              <a:t> 함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이런</a:t>
            </a:r>
            <a:r>
              <a:rPr lang="en-US" dirty="0"/>
              <a:t> </a:t>
            </a:r>
            <a:r>
              <a:rPr lang="en-US" dirty="0" err="1"/>
              <a:t>상황은</a:t>
            </a:r>
            <a:r>
              <a:rPr lang="en-US" dirty="0"/>
              <a:t> </a:t>
            </a:r>
            <a:r>
              <a:rPr lang="en-US" dirty="0" err="1"/>
              <a:t>과대적합을</a:t>
            </a:r>
            <a:r>
              <a:rPr lang="en-US" dirty="0"/>
              <a:t> </a:t>
            </a:r>
            <a:r>
              <a:rPr lang="en-US" dirty="0" err="1"/>
              <a:t>줄이는</a:t>
            </a:r>
            <a:r>
              <a:rPr lang="en-US" dirty="0"/>
              <a:t> 또 </a:t>
            </a:r>
            <a:r>
              <a:rPr lang="en-US" dirty="0" err="1"/>
              <a:t>다른</a:t>
            </a:r>
            <a:r>
              <a:rPr lang="en-US" dirty="0"/>
              <a:t> </a:t>
            </a:r>
            <a:r>
              <a:rPr lang="en-US" dirty="0" err="1"/>
              <a:t>방법을</a:t>
            </a:r>
            <a:r>
              <a:rPr lang="en-US" dirty="0"/>
              <a:t> </a:t>
            </a:r>
            <a:r>
              <a:rPr lang="en-US" dirty="0" err="1"/>
              <a:t>배워</a:t>
            </a:r>
            <a:r>
              <a:rPr lang="en-US" dirty="0"/>
              <a:t> 볼 </a:t>
            </a:r>
            <a:r>
              <a:rPr lang="en-US" dirty="0" err="1"/>
              <a:t>좋은</a:t>
            </a:r>
            <a:r>
              <a:rPr lang="en-US" dirty="0"/>
              <a:t> </a:t>
            </a:r>
            <a:r>
              <a:rPr lang="en-US" dirty="0" err="1"/>
              <a:t>기회</a:t>
            </a:r>
            <a:endParaRPr dirty="0"/>
          </a:p>
        </p:txBody>
      </p:sp>
      <p:sp>
        <p:nvSpPr>
          <p:cNvPr id="687" name="Google Shape;687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규제(9)</a:t>
            </a:r>
            <a:endParaRPr/>
          </a:p>
        </p:txBody>
      </p:sp>
      <p:sp>
        <p:nvSpPr>
          <p:cNvPr id="688" name="Google Shape;688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689" name="Google Shape;689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90" name="Google Shape;690;p48"/>
          <p:cNvGraphicFramePr/>
          <p:nvPr/>
        </p:nvGraphicFramePr>
        <p:xfrm>
          <a:off x="1727142" y="1898238"/>
          <a:ext cx="4104500" cy="51817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lr.fit(train_poly,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print(lr.score(train_poly, train_target))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1" name="Google Shape;691;p48"/>
          <p:cNvCxnSpPr/>
          <p:nvPr/>
        </p:nvCxnSpPr>
        <p:spPr>
          <a:xfrm>
            <a:off x="6089006" y="2153242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2" name="Google Shape;692;p48"/>
          <p:cNvSpPr txBox="1"/>
          <p:nvPr/>
        </p:nvSpPr>
        <p:spPr>
          <a:xfrm>
            <a:off x="6537299" y="1949722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0.9999999999991098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3" name="Google Shape;693;p48"/>
          <p:cNvGraphicFramePr/>
          <p:nvPr/>
        </p:nvGraphicFramePr>
        <p:xfrm>
          <a:off x="1727142" y="2943200"/>
          <a:ext cx="410450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print(lr.score(test_poly,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4" name="Google Shape;694;p48"/>
          <p:cNvCxnSpPr/>
          <p:nvPr/>
        </p:nvCxnSpPr>
        <p:spPr>
          <a:xfrm>
            <a:off x="6089006" y="3104420"/>
            <a:ext cx="319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5" name="Google Shape;695;p48"/>
          <p:cNvSpPr txBox="1"/>
          <p:nvPr/>
        </p:nvSpPr>
        <p:spPr>
          <a:xfrm>
            <a:off x="6537299" y="2910838"/>
            <a:ext cx="29153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-144.40579242684848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8"/>
          <p:cNvSpPr/>
          <p:nvPr/>
        </p:nvSpPr>
        <p:spPr>
          <a:xfrm>
            <a:off x="6471310" y="2919741"/>
            <a:ext cx="2444374" cy="369333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8"/>
          <p:cNvSpPr txBox="1"/>
          <p:nvPr/>
        </p:nvSpPr>
        <p:spPr>
          <a:xfrm>
            <a:off x="9006669" y="2958879"/>
            <a:ext cx="17411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매우 큰 음수가 나옴</a:t>
            </a:r>
            <a:endParaRPr/>
          </a:p>
        </p:txBody>
      </p:sp>
      <p:sp>
        <p:nvSpPr>
          <p:cNvPr id="698" name="Google Shape;698;p48"/>
          <p:cNvSpPr/>
          <p:nvPr/>
        </p:nvSpPr>
        <p:spPr>
          <a:xfrm>
            <a:off x="1898430" y="4650132"/>
            <a:ext cx="8899965" cy="191995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r>
              <a:rPr lang="en-US" sz="1400" b="1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샘플</a:t>
            </a:r>
            <a:r>
              <a:rPr lang="en-US" sz="1400" b="1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개수보다</a:t>
            </a:r>
            <a:r>
              <a:rPr lang="en-US" sz="1400" b="1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특성이</a:t>
            </a:r>
            <a:r>
              <a:rPr lang="en-US" sz="1400" b="1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많다면</a:t>
            </a:r>
            <a:r>
              <a:rPr lang="en-US" sz="1400" b="1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어떨까</a:t>
            </a:r>
            <a:r>
              <a:rPr lang="en-US" sz="1400" b="1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여기에서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사용한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훈련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세트의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샘플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개수는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42개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밖에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되지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않음</a:t>
            </a:r>
            <a:endParaRPr sz="1400" dirty="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42개의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샘플을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55개의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특성으로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훈련하면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완벽하게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학습할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수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있는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것이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당연</a:t>
            </a:r>
            <a:endParaRPr sz="1400" dirty="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예를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들어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42개의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참새를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맞추기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위해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딱 한 번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새총을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쏴야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한다면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참새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떼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중앙을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겨냥하여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가능한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한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맞출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가능성을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높여야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함</a:t>
            </a:r>
            <a:endParaRPr sz="1400" dirty="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하지만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55번이나 쏠 수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있다면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한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번에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하나씩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모든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참새를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맞출</a:t>
            </a:r>
            <a:r>
              <a:rPr lang="en-US" sz="1400" dirty="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수 </a:t>
            </a:r>
            <a:r>
              <a:rPr lang="en-US" sz="1400" dirty="0" err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있음</a:t>
            </a:r>
            <a:endParaRPr dirty="0"/>
          </a:p>
        </p:txBody>
      </p:sp>
      <p:grpSp>
        <p:nvGrpSpPr>
          <p:cNvPr id="699" name="Google Shape;699;p48"/>
          <p:cNvGrpSpPr/>
          <p:nvPr/>
        </p:nvGrpSpPr>
        <p:grpSpPr>
          <a:xfrm>
            <a:off x="1666875" y="4735952"/>
            <a:ext cx="1432152" cy="307777"/>
            <a:chOff x="1666875" y="4747675"/>
            <a:chExt cx="1432152" cy="307777"/>
          </a:xfrm>
        </p:grpSpPr>
        <p:sp>
          <p:nvSpPr>
            <p:cNvPr id="700" name="Google Shape;700;p48"/>
            <p:cNvSpPr txBox="1"/>
            <p:nvPr/>
          </p:nvSpPr>
          <p:spPr>
            <a:xfrm>
              <a:off x="1666875" y="4747675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B360D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1783704" y="4792919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CB360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 dirty="0" err="1"/>
              <a:t>규제</a:t>
            </a:r>
            <a:r>
              <a:rPr lang="en-US" dirty="0"/>
              <a:t>(regularization)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머신러닝</a:t>
            </a:r>
            <a:r>
              <a:rPr lang="en-US" dirty="0"/>
              <a:t>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세트를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과도하게</a:t>
            </a:r>
            <a:r>
              <a:rPr lang="en-US" dirty="0"/>
              <a:t> </a:t>
            </a:r>
            <a:r>
              <a:rPr lang="en-US" dirty="0" err="1"/>
              <a:t>학습하지</a:t>
            </a:r>
            <a:r>
              <a:rPr lang="en-US" dirty="0"/>
              <a:t> </a:t>
            </a:r>
            <a:r>
              <a:rPr lang="en-US" dirty="0" err="1"/>
              <a:t>못하도록</a:t>
            </a:r>
            <a:r>
              <a:rPr lang="en-US" dirty="0"/>
              <a:t> </a:t>
            </a:r>
            <a:r>
              <a:rPr lang="en-US" dirty="0" err="1"/>
              <a:t>훼방하는</a:t>
            </a:r>
            <a:r>
              <a:rPr lang="en-US" dirty="0"/>
              <a:t> 것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즉, </a:t>
            </a:r>
            <a:r>
              <a:rPr lang="en-US" dirty="0" err="1"/>
              <a:t>모델이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과대적합되지</a:t>
            </a:r>
            <a:r>
              <a:rPr lang="en-US" dirty="0"/>
              <a:t> </a:t>
            </a:r>
            <a:r>
              <a:rPr lang="en-US" dirty="0" err="1"/>
              <a:t>않도록</a:t>
            </a:r>
            <a:r>
              <a:rPr lang="en-US" dirty="0"/>
              <a:t> </a:t>
            </a:r>
            <a:r>
              <a:rPr lang="en-US" dirty="0" err="1"/>
              <a:t>만드는</a:t>
            </a:r>
            <a:r>
              <a:rPr lang="en-US" dirty="0"/>
              <a:t> 것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 </a:t>
            </a:r>
            <a:r>
              <a:rPr lang="en-US" dirty="0" err="1"/>
              <a:t>특성에</a:t>
            </a:r>
            <a:r>
              <a:rPr lang="en-US" dirty="0"/>
              <a:t> </a:t>
            </a:r>
            <a:r>
              <a:rPr lang="en-US" dirty="0" err="1"/>
              <a:t>곱해지는</a:t>
            </a:r>
            <a:r>
              <a:rPr lang="en-US" dirty="0"/>
              <a:t> </a:t>
            </a:r>
            <a:r>
              <a:rPr lang="en-US" dirty="0" err="1"/>
              <a:t>계수</a:t>
            </a:r>
            <a:r>
              <a:rPr lang="en-US" dirty="0"/>
              <a:t>(</a:t>
            </a:r>
            <a:r>
              <a:rPr lang="en-US" dirty="0" err="1"/>
              <a:t>또는</a:t>
            </a:r>
            <a:r>
              <a:rPr lang="en-US" dirty="0"/>
              <a:t> </a:t>
            </a:r>
            <a:r>
              <a:rPr lang="en-US" dirty="0" err="1"/>
              <a:t>기울기</a:t>
            </a:r>
            <a:r>
              <a:rPr lang="en-US" dirty="0"/>
              <a:t>)의 </a:t>
            </a:r>
            <a:r>
              <a:rPr lang="en-US" dirty="0" err="1"/>
              <a:t>크기를</a:t>
            </a:r>
            <a:r>
              <a:rPr lang="en-US" dirty="0"/>
              <a:t> </a:t>
            </a:r>
            <a:r>
              <a:rPr lang="en-US" dirty="0" err="1"/>
              <a:t>작게</a:t>
            </a:r>
            <a:r>
              <a:rPr lang="en-US" dirty="0"/>
              <a:t> </a:t>
            </a:r>
            <a:r>
              <a:rPr lang="en-US" dirty="0" err="1"/>
              <a:t>만드는</a:t>
            </a:r>
            <a:r>
              <a:rPr lang="en-US" dirty="0"/>
              <a:t> 일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아래</a:t>
            </a:r>
            <a:r>
              <a:rPr lang="en-US" dirty="0"/>
              <a:t> </a:t>
            </a:r>
            <a:r>
              <a:rPr lang="en-US" dirty="0" err="1"/>
              <a:t>그림에서</a:t>
            </a:r>
            <a:r>
              <a:rPr lang="en-US" dirty="0"/>
              <a:t> </a:t>
            </a:r>
            <a:r>
              <a:rPr lang="en-US" dirty="0" err="1"/>
              <a:t>왼쪽은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세트를</a:t>
            </a:r>
            <a:r>
              <a:rPr lang="en-US" dirty="0"/>
              <a:t> </a:t>
            </a:r>
            <a:r>
              <a:rPr lang="en-US" dirty="0" err="1"/>
              <a:t>과도하게</a:t>
            </a:r>
            <a:r>
              <a:rPr lang="en-US" dirty="0"/>
              <a:t> </a:t>
            </a:r>
            <a:r>
              <a:rPr lang="en-US" dirty="0" err="1"/>
              <a:t>학습했고</a:t>
            </a:r>
            <a:r>
              <a:rPr lang="en-US" dirty="0"/>
              <a:t>, </a:t>
            </a:r>
            <a:r>
              <a:rPr lang="en-US" dirty="0" err="1"/>
              <a:t>오른쪽은</a:t>
            </a:r>
            <a:r>
              <a:rPr lang="en-US" dirty="0"/>
              <a:t> </a:t>
            </a:r>
            <a:r>
              <a:rPr lang="en-US" dirty="0" err="1"/>
              <a:t>기울기를</a:t>
            </a:r>
            <a:r>
              <a:rPr lang="en-US" dirty="0"/>
              <a:t> </a:t>
            </a:r>
            <a:r>
              <a:rPr lang="en-US" dirty="0" err="1"/>
              <a:t>줄여</a:t>
            </a:r>
            <a:r>
              <a:rPr lang="en-US" dirty="0"/>
              <a:t> </a:t>
            </a:r>
            <a:r>
              <a:rPr lang="en-US" dirty="0" err="1"/>
              <a:t>보다</a:t>
            </a:r>
            <a:r>
              <a:rPr lang="en-US" dirty="0"/>
              <a:t> </a:t>
            </a:r>
            <a:r>
              <a:rPr lang="en-US" dirty="0" err="1"/>
              <a:t>보편적인</a:t>
            </a:r>
            <a:r>
              <a:rPr lang="en-US" dirty="0"/>
              <a:t> </a:t>
            </a:r>
            <a:r>
              <a:rPr lang="en-US" dirty="0" err="1"/>
              <a:t>패턴을</a:t>
            </a:r>
            <a:r>
              <a:rPr lang="en-US" dirty="0"/>
              <a:t> </a:t>
            </a:r>
            <a:r>
              <a:rPr lang="en-US" dirty="0" err="1"/>
              <a:t>학습</a:t>
            </a: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앞서</a:t>
            </a:r>
            <a:r>
              <a:rPr lang="en-US" dirty="0"/>
              <a:t> 55개의 </a:t>
            </a:r>
            <a:r>
              <a:rPr lang="en-US" dirty="0" err="1"/>
              <a:t>특성으로</a:t>
            </a:r>
            <a:r>
              <a:rPr lang="en-US" dirty="0"/>
              <a:t> </a:t>
            </a:r>
            <a:r>
              <a:rPr lang="en-US" dirty="0" err="1"/>
              <a:t>훈련한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계수를</a:t>
            </a:r>
            <a:r>
              <a:rPr lang="en-US" dirty="0"/>
              <a:t> </a:t>
            </a:r>
            <a:r>
              <a:rPr lang="en-US" dirty="0" err="1"/>
              <a:t>규제하여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점수를</a:t>
            </a:r>
            <a:r>
              <a:rPr lang="en-US" dirty="0"/>
              <a:t> </a:t>
            </a:r>
            <a:r>
              <a:rPr lang="en-US" dirty="0" err="1"/>
              <a:t>낮추고</a:t>
            </a:r>
            <a:r>
              <a:rPr lang="en-US" dirty="0"/>
              <a:t> </a:t>
            </a:r>
            <a:r>
              <a:rPr lang="en-US" dirty="0" err="1"/>
              <a:t>대신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점수를</a:t>
            </a:r>
            <a:r>
              <a:rPr lang="en-US" dirty="0"/>
              <a:t> </a:t>
            </a:r>
            <a:r>
              <a:rPr lang="en-US" dirty="0" err="1"/>
              <a:t>높이기</a:t>
            </a:r>
            <a:endParaRPr dirty="0"/>
          </a:p>
        </p:txBody>
      </p:sp>
      <p:sp>
        <p:nvSpPr>
          <p:cNvPr id="707" name="Google Shape;707;p4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규제(10)</a:t>
            </a:r>
            <a:endParaRPr/>
          </a:p>
        </p:txBody>
      </p:sp>
      <p:sp>
        <p:nvSpPr>
          <p:cNvPr id="708" name="Google Shape;708;p4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709" name="Google Shape;709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710" name="Google Shape;71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1139" y="2974020"/>
            <a:ext cx="6869723" cy="20221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49"/>
          <p:cNvSpPr/>
          <p:nvPr/>
        </p:nvSpPr>
        <p:spPr>
          <a:xfrm>
            <a:off x="1753075" y="5760400"/>
            <a:ext cx="9016200" cy="711900"/>
          </a:xfrm>
          <a:prstGeom prst="roundRect">
            <a:avLst>
              <a:gd name="adj" fmla="val 16667"/>
            </a:avLst>
          </a:prstGeom>
          <a:solidFill>
            <a:srgbClr val="FDD7A2"/>
          </a:solidFill>
          <a:ln>
            <a:noFill/>
          </a:ln>
        </p:spPr>
        <p:txBody>
          <a:bodyPr spcFirstLastPara="1" wrap="square" lIns="180000" tIns="72000" rIns="180000" bIns="72000" anchor="ctr" anchorCtr="0">
            <a:sp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훈련 세트에서 학습한 평균과 표준편차는 StandardScaler 클래스 객체의 mean_, scale_ 속성에 저장됨</a:t>
            </a:r>
            <a:endParaRPr sz="140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특성마다 계산하므로 55개의 평균과 표준 편차가 들어 있음</a:t>
            </a:r>
            <a:endParaRPr sz="1400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9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규제</a:t>
            </a:r>
            <a:r>
              <a:rPr lang="en-US" dirty="0"/>
              <a:t>(regularization)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특성의</a:t>
            </a:r>
            <a:r>
              <a:rPr lang="en-US" dirty="0"/>
              <a:t> </a:t>
            </a:r>
            <a:r>
              <a:rPr lang="en-US" dirty="0" err="1"/>
              <a:t>스케일이</a:t>
            </a:r>
            <a:r>
              <a:rPr lang="en-US" dirty="0"/>
              <a:t> </a:t>
            </a:r>
            <a:r>
              <a:rPr lang="en-US" dirty="0" err="1"/>
              <a:t>정규화되지</a:t>
            </a:r>
            <a:r>
              <a:rPr lang="en-US" dirty="0"/>
              <a:t> </a:t>
            </a:r>
            <a:r>
              <a:rPr lang="en-US" dirty="0" err="1"/>
              <a:t>않으면</a:t>
            </a:r>
            <a:r>
              <a:rPr lang="en-US" dirty="0"/>
              <a:t> </a:t>
            </a:r>
            <a:r>
              <a:rPr lang="en-US" dirty="0" err="1"/>
              <a:t>여기에</a:t>
            </a:r>
            <a:r>
              <a:rPr lang="en-US" dirty="0"/>
              <a:t> </a:t>
            </a:r>
            <a:r>
              <a:rPr lang="en-US" dirty="0" err="1"/>
              <a:t>곱해지는</a:t>
            </a:r>
            <a:r>
              <a:rPr lang="en-US" dirty="0"/>
              <a:t> </a:t>
            </a:r>
            <a:r>
              <a:rPr lang="en-US" dirty="0" err="1"/>
              <a:t>계수</a:t>
            </a:r>
            <a:r>
              <a:rPr lang="en-US" dirty="0"/>
              <a:t> </a:t>
            </a:r>
            <a:r>
              <a:rPr lang="en-US" dirty="0" err="1"/>
              <a:t>값도</a:t>
            </a:r>
            <a:r>
              <a:rPr lang="en-US" dirty="0"/>
              <a:t> </a:t>
            </a:r>
            <a:r>
              <a:rPr lang="en-US" dirty="0" err="1"/>
              <a:t>차이남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일반적으로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모델에</a:t>
            </a:r>
            <a:r>
              <a:rPr lang="en-US" dirty="0"/>
              <a:t> </a:t>
            </a:r>
            <a:r>
              <a:rPr lang="en-US" dirty="0" err="1"/>
              <a:t>규제를</a:t>
            </a:r>
            <a:r>
              <a:rPr lang="en-US" dirty="0"/>
              <a:t> </a:t>
            </a:r>
            <a:r>
              <a:rPr lang="en-US" dirty="0" err="1"/>
              <a:t>적용할</a:t>
            </a:r>
            <a:r>
              <a:rPr lang="en-US" dirty="0"/>
              <a:t> 때 </a:t>
            </a:r>
            <a:r>
              <a:rPr lang="en-US" dirty="0" err="1"/>
              <a:t>계수</a:t>
            </a:r>
            <a:r>
              <a:rPr lang="en-US" dirty="0"/>
              <a:t> </a:t>
            </a:r>
            <a:r>
              <a:rPr lang="en-US" dirty="0" err="1"/>
              <a:t>값의</a:t>
            </a:r>
            <a:r>
              <a:rPr lang="en-US" dirty="0"/>
              <a:t> </a:t>
            </a:r>
            <a:r>
              <a:rPr lang="en-US" dirty="0" err="1"/>
              <a:t>크기가</a:t>
            </a:r>
            <a:r>
              <a:rPr lang="en-US" dirty="0"/>
              <a:t> </a:t>
            </a:r>
            <a:r>
              <a:rPr lang="en-US" dirty="0" err="1"/>
              <a:t>서로</a:t>
            </a:r>
            <a:r>
              <a:rPr lang="en-US" dirty="0"/>
              <a:t> </a:t>
            </a:r>
            <a:r>
              <a:rPr lang="en-US" dirty="0" err="1"/>
              <a:t>많이</a:t>
            </a:r>
            <a:r>
              <a:rPr lang="en-US" dirty="0"/>
              <a:t> </a:t>
            </a:r>
            <a:r>
              <a:rPr lang="en-US" dirty="0" err="1"/>
              <a:t>다르면</a:t>
            </a:r>
            <a:r>
              <a:rPr lang="en-US" dirty="0"/>
              <a:t> </a:t>
            </a:r>
            <a:r>
              <a:rPr lang="en-US" dirty="0" err="1"/>
              <a:t>공정하게</a:t>
            </a:r>
            <a:r>
              <a:rPr lang="en-US" dirty="0"/>
              <a:t> </a:t>
            </a:r>
            <a:r>
              <a:rPr lang="en-US" dirty="0" err="1"/>
              <a:t>제어되지</a:t>
            </a:r>
            <a:r>
              <a:rPr lang="en-US" dirty="0"/>
              <a:t> </a:t>
            </a:r>
            <a:r>
              <a:rPr lang="en-US" dirty="0" err="1"/>
              <a:t>않음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규제를</a:t>
            </a:r>
            <a:r>
              <a:rPr lang="en-US" dirty="0"/>
              <a:t> </a:t>
            </a:r>
            <a:r>
              <a:rPr lang="en-US" dirty="0" err="1"/>
              <a:t>적용하기</a:t>
            </a:r>
            <a:r>
              <a:rPr lang="en-US" dirty="0"/>
              <a:t> </a:t>
            </a:r>
            <a:r>
              <a:rPr lang="en-US" dirty="0" err="1"/>
              <a:t>전에</a:t>
            </a:r>
            <a:r>
              <a:rPr lang="en-US" dirty="0"/>
              <a:t> </a:t>
            </a:r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정규화</a:t>
            </a:r>
            <a:r>
              <a:rPr lang="en-US" dirty="0"/>
              <a:t> </a:t>
            </a:r>
            <a:r>
              <a:rPr lang="en-US" dirty="0" err="1"/>
              <a:t>필요</a:t>
            </a:r>
            <a:br>
              <a:rPr lang="en-US" dirty="0"/>
            </a:br>
            <a:r>
              <a:rPr lang="en-US" dirty="0"/>
              <a:t> - 2장에서는 </a:t>
            </a:r>
            <a:r>
              <a:rPr lang="en-US" dirty="0" err="1"/>
              <a:t>평균과</a:t>
            </a:r>
            <a:r>
              <a:rPr lang="en-US" dirty="0"/>
              <a:t> </a:t>
            </a:r>
            <a:r>
              <a:rPr lang="en-US" dirty="0" err="1"/>
              <a:t>표준편차를</a:t>
            </a:r>
            <a:r>
              <a:rPr lang="en-US" dirty="0"/>
              <a:t> </a:t>
            </a:r>
            <a:r>
              <a:rPr lang="en-US" dirty="0" err="1"/>
              <a:t>직접</a:t>
            </a:r>
            <a:r>
              <a:rPr lang="en-US" dirty="0"/>
              <a:t> </a:t>
            </a:r>
            <a:r>
              <a:rPr lang="en-US" dirty="0" err="1"/>
              <a:t>구해</a:t>
            </a:r>
            <a:r>
              <a:rPr lang="en-US" dirty="0"/>
              <a:t>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표준점수로</a:t>
            </a:r>
            <a:r>
              <a:rPr lang="en-US" dirty="0"/>
              <a:t> </a:t>
            </a:r>
            <a:r>
              <a:rPr lang="en-US" dirty="0" err="1"/>
              <a:t>바꾸었음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이번에는</a:t>
            </a:r>
            <a:r>
              <a:rPr lang="en-US" dirty="0"/>
              <a:t> </a:t>
            </a:r>
            <a:r>
              <a:rPr lang="en-US" dirty="0" err="1"/>
              <a:t>사이킷런에서</a:t>
            </a:r>
            <a:r>
              <a:rPr lang="en-US" dirty="0"/>
              <a:t> </a:t>
            </a:r>
            <a:r>
              <a:rPr lang="en-US" dirty="0" err="1"/>
              <a:t>제공하는</a:t>
            </a:r>
            <a:r>
              <a:rPr lang="en-US" dirty="0"/>
              <a:t> </a:t>
            </a:r>
            <a:r>
              <a:rPr lang="en-US" dirty="0" err="1"/>
              <a:t>StandardScaler</a:t>
            </a:r>
            <a:r>
              <a:rPr lang="en-US" dirty="0"/>
              <a:t> </a:t>
            </a:r>
            <a:r>
              <a:rPr lang="en-US" dirty="0" err="1"/>
              <a:t>클래스를</a:t>
            </a:r>
            <a:r>
              <a:rPr lang="en-US" dirty="0"/>
              <a:t> </a:t>
            </a:r>
            <a:r>
              <a:rPr lang="en-US" dirty="0" err="1"/>
              <a:t>사용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StandardScaler</a:t>
            </a:r>
            <a:r>
              <a:rPr lang="en-US" dirty="0"/>
              <a:t> </a:t>
            </a:r>
            <a:r>
              <a:rPr lang="en-US" dirty="0" err="1"/>
              <a:t>클래스의</a:t>
            </a:r>
            <a:r>
              <a:rPr lang="en-US" dirty="0"/>
              <a:t> </a:t>
            </a:r>
            <a:r>
              <a:rPr lang="en-US" dirty="0" err="1"/>
              <a:t>객체</a:t>
            </a:r>
            <a:r>
              <a:rPr lang="en-US" dirty="0"/>
              <a:t> </a:t>
            </a:r>
            <a:r>
              <a:rPr lang="en-US" dirty="0" err="1"/>
              <a:t>ss를</a:t>
            </a:r>
            <a:r>
              <a:rPr lang="en-US" dirty="0"/>
              <a:t> </a:t>
            </a:r>
            <a:r>
              <a:rPr lang="en-US" dirty="0" err="1"/>
              <a:t>초기화한</a:t>
            </a:r>
            <a:r>
              <a:rPr lang="en-US" dirty="0"/>
              <a:t> 후 </a:t>
            </a:r>
            <a:r>
              <a:rPr lang="en-US" dirty="0" err="1"/>
              <a:t>PolynomialFeatures</a:t>
            </a:r>
            <a:r>
              <a:rPr lang="en-US" dirty="0"/>
              <a:t> </a:t>
            </a:r>
            <a:r>
              <a:rPr lang="en-US" dirty="0" err="1"/>
              <a:t>클래스로</a:t>
            </a:r>
            <a:r>
              <a:rPr lang="en-US" dirty="0"/>
              <a:t> </a:t>
            </a:r>
            <a:r>
              <a:rPr lang="en-US" dirty="0" err="1"/>
              <a:t>만든</a:t>
            </a:r>
            <a:r>
              <a:rPr lang="en-US" dirty="0"/>
              <a:t> </a:t>
            </a:r>
            <a:r>
              <a:rPr lang="en-US" dirty="0" err="1"/>
              <a:t>train_poly를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이 </a:t>
            </a:r>
            <a:r>
              <a:rPr lang="en-US" dirty="0" err="1"/>
              <a:t>객체를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(꼭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세트로</a:t>
            </a:r>
            <a:r>
              <a:rPr lang="en-US" dirty="0"/>
              <a:t> </a:t>
            </a:r>
            <a:r>
              <a:rPr lang="en-US" dirty="0" err="1"/>
              <a:t>학습한</a:t>
            </a:r>
            <a:r>
              <a:rPr lang="en-US" dirty="0"/>
              <a:t> </a:t>
            </a:r>
            <a:r>
              <a:rPr lang="en-US" dirty="0" err="1"/>
              <a:t>변환기를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세트까지</a:t>
            </a:r>
            <a:r>
              <a:rPr lang="en-US" dirty="0"/>
              <a:t> </a:t>
            </a:r>
            <a:r>
              <a:rPr lang="en-US" dirty="0" err="1"/>
              <a:t>변환해야</a:t>
            </a:r>
            <a:r>
              <a:rPr lang="en-US" dirty="0"/>
              <a:t> 함)</a:t>
            </a: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표준점수로</a:t>
            </a:r>
            <a:r>
              <a:rPr lang="en-US" dirty="0"/>
              <a:t> </a:t>
            </a:r>
            <a:r>
              <a:rPr lang="en-US" dirty="0" err="1"/>
              <a:t>변환한</a:t>
            </a:r>
            <a:r>
              <a:rPr lang="en-US" dirty="0"/>
              <a:t> </a:t>
            </a:r>
            <a:r>
              <a:rPr lang="en-US" dirty="0" err="1"/>
              <a:t>train_scaled와</a:t>
            </a:r>
            <a:r>
              <a:rPr lang="en-US" dirty="0"/>
              <a:t> </a:t>
            </a:r>
            <a:r>
              <a:rPr lang="en-US" dirty="0" err="1"/>
              <a:t>test_scaled가</a:t>
            </a:r>
            <a:r>
              <a:rPr lang="en-US" dirty="0"/>
              <a:t> </a:t>
            </a:r>
            <a:r>
              <a:rPr lang="en-US" dirty="0" err="1"/>
              <a:t>준비됨</a:t>
            </a:r>
            <a:endParaRPr dirty="0"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모델에</a:t>
            </a:r>
            <a:r>
              <a:rPr lang="en-US" dirty="0"/>
              <a:t> </a:t>
            </a:r>
            <a:r>
              <a:rPr lang="en-US" dirty="0" err="1"/>
              <a:t>규제를</a:t>
            </a:r>
            <a:r>
              <a:rPr lang="en-US" dirty="0"/>
              <a:t> </a:t>
            </a:r>
            <a:r>
              <a:rPr lang="en-US" dirty="0" err="1"/>
              <a:t>추가한</a:t>
            </a:r>
            <a:r>
              <a:rPr lang="en-US" dirty="0"/>
              <a:t> </a:t>
            </a:r>
            <a:r>
              <a:rPr lang="en-US" dirty="0" err="1"/>
              <a:t>모델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릿지</a:t>
            </a:r>
            <a:r>
              <a:rPr lang="en-US" dirty="0"/>
              <a:t>(ridge): </a:t>
            </a:r>
            <a:r>
              <a:rPr lang="en-US" dirty="0" err="1"/>
              <a:t>계수를</a:t>
            </a:r>
            <a:r>
              <a:rPr lang="en-US" dirty="0"/>
              <a:t> </a:t>
            </a:r>
            <a:r>
              <a:rPr lang="en-US" dirty="0" err="1"/>
              <a:t>제곱한</a:t>
            </a:r>
            <a:r>
              <a:rPr lang="en-US" dirty="0"/>
              <a:t>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기준으로</a:t>
            </a:r>
            <a:r>
              <a:rPr lang="en-US" dirty="0"/>
              <a:t> </a:t>
            </a:r>
            <a:r>
              <a:rPr lang="en-US" dirty="0" err="1"/>
              <a:t>규제를</a:t>
            </a:r>
            <a:r>
              <a:rPr lang="en-US" dirty="0"/>
              <a:t> </a:t>
            </a:r>
            <a:r>
              <a:rPr lang="en-US" dirty="0" err="1"/>
              <a:t>적용</a:t>
            </a:r>
            <a:endParaRPr dirty="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라쏘</a:t>
            </a:r>
            <a:r>
              <a:rPr lang="en-US" dirty="0"/>
              <a:t>(lasso): </a:t>
            </a:r>
            <a:r>
              <a:rPr lang="en-US" dirty="0" err="1"/>
              <a:t>계수의</a:t>
            </a:r>
            <a:r>
              <a:rPr lang="en-US" dirty="0"/>
              <a:t> </a:t>
            </a:r>
            <a:r>
              <a:rPr lang="en-US" dirty="0" err="1"/>
              <a:t>절댓값을</a:t>
            </a:r>
            <a:r>
              <a:rPr lang="en-US" dirty="0"/>
              <a:t> </a:t>
            </a:r>
            <a:r>
              <a:rPr lang="en-US" dirty="0" err="1"/>
              <a:t>기준으로</a:t>
            </a:r>
            <a:r>
              <a:rPr lang="en-US" dirty="0"/>
              <a:t> </a:t>
            </a:r>
            <a:r>
              <a:rPr lang="en-US" dirty="0" err="1"/>
              <a:t>규제를</a:t>
            </a:r>
            <a:r>
              <a:rPr lang="en-US" dirty="0"/>
              <a:t> </a:t>
            </a:r>
            <a:r>
              <a:rPr lang="en-US" dirty="0" err="1"/>
              <a:t>적용</a:t>
            </a:r>
            <a:r>
              <a:rPr lang="en-US" dirty="0"/>
              <a:t> (</a:t>
            </a:r>
            <a:r>
              <a:rPr lang="en-US" dirty="0" err="1"/>
              <a:t>계수값을</a:t>
            </a:r>
            <a:r>
              <a:rPr lang="en-US" dirty="0"/>
              <a:t> 0으로도 </a:t>
            </a:r>
            <a:r>
              <a:rPr lang="en-US" dirty="0" err="1"/>
              <a:t>만들</a:t>
            </a:r>
            <a:r>
              <a:rPr lang="en-US" dirty="0"/>
              <a:t> 수 </a:t>
            </a:r>
            <a:r>
              <a:rPr lang="en-US" dirty="0" err="1"/>
              <a:t>있음</a:t>
            </a:r>
            <a:r>
              <a:rPr lang="en-US" dirty="0"/>
              <a:t>)</a:t>
            </a:r>
            <a:endParaRPr dirty="0"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</p:txBody>
      </p:sp>
      <p:sp>
        <p:nvSpPr>
          <p:cNvPr id="717" name="Google Shape;717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규제(11)</a:t>
            </a:r>
            <a:endParaRPr/>
          </a:p>
        </p:txBody>
      </p:sp>
      <p:sp>
        <p:nvSpPr>
          <p:cNvPr id="718" name="Google Shape;718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19" name="Google Shape;719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20" name="Google Shape;720;p50"/>
          <p:cNvGraphicFramePr/>
          <p:nvPr/>
        </p:nvGraphicFramePr>
        <p:xfrm>
          <a:off x="1818186" y="3827485"/>
          <a:ext cx="4347075" cy="10820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3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from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sklearn.preprocessing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 import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StandardScaler</a:t>
                      </a:r>
                      <a:endParaRPr sz="1300" b="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ss =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StandardScaler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()</a:t>
                      </a:r>
                      <a:endParaRPr sz="15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ss.fit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train_poly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5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train_scaled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ss.transform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train_poly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5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test_scaled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ss.transform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300" b="0" dirty="0" err="1">
                          <a:solidFill>
                            <a:schemeClr val="dk1"/>
                          </a:solidFill>
                        </a:rPr>
                        <a:t>test_poly</a:t>
                      </a:r>
                      <a:r>
                        <a:rPr lang="en-US" sz="13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3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릿지</a:t>
            </a:r>
            <a:r>
              <a:rPr lang="en-US" dirty="0"/>
              <a:t> </a:t>
            </a:r>
            <a:r>
              <a:rPr lang="en-US" dirty="0" err="1"/>
              <a:t>회귀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릿지와</a:t>
            </a:r>
            <a:r>
              <a:rPr lang="en-US" dirty="0"/>
              <a:t> </a:t>
            </a:r>
            <a:r>
              <a:rPr lang="en-US" dirty="0" err="1"/>
              <a:t>라쏘</a:t>
            </a:r>
            <a:r>
              <a:rPr lang="en-US" dirty="0"/>
              <a:t> </a:t>
            </a:r>
            <a:r>
              <a:rPr lang="en-US" dirty="0" err="1"/>
              <a:t>모두</a:t>
            </a:r>
            <a:r>
              <a:rPr lang="en-US" dirty="0"/>
              <a:t> </a:t>
            </a:r>
            <a:r>
              <a:rPr lang="en-US" dirty="0" err="1"/>
              <a:t>sklearn.linear_model</a:t>
            </a:r>
            <a:r>
              <a:rPr lang="en-US" dirty="0"/>
              <a:t> </a:t>
            </a:r>
            <a:r>
              <a:rPr lang="en-US" dirty="0" err="1"/>
              <a:t>패키지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객체를</a:t>
            </a:r>
            <a:r>
              <a:rPr lang="en-US" dirty="0"/>
              <a:t> </a:t>
            </a:r>
            <a:r>
              <a:rPr lang="en-US" dirty="0" err="1"/>
              <a:t>만들고</a:t>
            </a:r>
            <a:r>
              <a:rPr lang="en-US" dirty="0"/>
              <a:t> fit( ) </a:t>
            </a:r>
            <a:r>
              <a:rPr lang="en-US" dirty="0" err="1"/>
              <a:t>메서드에서</a:t>
            </a:r>
            <a:r>
              <a:rPr lang="en-US" dirty="0"/>
              <a:t> </a:t>
            </a:r>
            <a:r>
              <a:rPr lang="en-US" dirty="0" err="1"/>
              <a:t>훈련한</a:t>
            </a:r>
            <a:r>
              <a:rPr lang="en-US" dirty="0"/>
              <a:t> </a:t>
            </a:r>
            <a:r>
              <a:rPr lang="en-US" dirty="0" err="1"/>
              <a:t>다음</a:t>
            </a:r>
            <a:r>
              <a:rPr lang="en-US" dirty="0"/>
              <a:t> score( ) </a:t>
            </a:r>
            <a:r>
              <a:rPr lang="en-US" dirty="0" err="1"/>
              <a:t>메서드로</a:t>
            </a:r>
            <a:r>
              <a:rPr lang="en-US" dirty="0"/>
              <a:t> </a:t>
            </a:r>
            <a:r>
              <a:rPr lang="en-US" dirty="0" err="1"/>
              <a:t>평가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앞서</a:t>
            </a:r>
            <a:r>
              <a:rPr lang="en-US" dirty="0"/>
              <a:t> </a:t>
            </a:r>
            <a:r>
              <a:rPr lang="en-US" dirty="0" err="1"/>
              <a:t>준비한</a:t>
            </a:r>
            <a:r>
              <a:rPr lang="en-US" dirty="0"/>
              <a:t> </a:t>
            </a:r>
            <a:r>
              <a:rPr lang="en-US" dirty="0" err="1"/>
              <a:t>train_scaled</a:t>
            </a:r>
            <a:r>
              <a:rPr lang="en-US" dirty="0"/>
              <a:t> </a:t>
            </a:r>
            <a:r>
              <a:rPr lang="en-US" dirty="0" err="1"/>
              <a:t>데이터로</a:t>
            </a:r>
            <a:r>
              <a:rPr lang="en-US" dirty="0"/>
              <a:t> </a:t>
            </a:r>
            <a:r>
              <a:rPr lang="en-US" dirty="0" err="1"/>
              <a:t>릿지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대한</a:t>
            </a:r>
            <a:r>
              <a:rPr lang="en-US" dirty="0"/>
              <a:t> </a:t>
            </a:r>
            <a:r>
              <a:rPr lang="en-US" dirty="0" err="1"/>
              <a:t>점수</a:t>
            </a:r>
            <a:r>
              <a:rPr lang="en-US" dirty="0"/>
              <a:t> </a:t>
            </a:r>
            <a:r>
              <a:rPr lang="en-US" dirty="0" err="1"/>
              <a:t>확인</a:t>
            </a: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릿지와</a:t>
            </a:r>
            <a:r>
              <a:rPr lang="en-US" dirty="0"/>
              <a:t> </a:t>
            </a:r>
            <a:r>
              <a:rPr lang="en-US" dirty="0" err="1"/>
              <a:t>라쏘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사용할</a:t>
            </a:r>
            <a:r>
              <a:rPr lang="en-US" dirty="0"/>
              <a:t> 때 </a:t>
            </a:r>
            <a:r>
              <a:rPr lang="en-US" dirty="0" err="1"/>
              <a:t>규제의</a:t>
            </a:r>
            <a:r>
              <a:rPr lang="en-US" dirty="0"/>
              <a:t> </a:t>
            </a:r>
            <a:r>
              <a:rPr lang="en-US" dirty="0" err="1"/>
              <a:t>양을</a:t>
            </a:r>
            <a:r>
              <a:rPr lang="en-US" dirty="0"/>
              <a:t> </a:t>
            </a:r>
            <a:r>
              <a:rPr lang="en-US" dirty="0" err="1"/>
              <a:t>임의로</a:t>
            </a:r>
            <a:r>
              <a:rPr lang="en-US" dirty="0"/>
              <a:t> </a:t>
            </a:r>
            <a:r>
              <a:rPr lang="en-US" dirty="0" err="1"/>
              <a:t>조절</a:t>
            </a:r>
            <a:r>
              <a:rPr lang="en-US" dirty="0"/>
              <a:t> </a:t>
            </a:r>
            <a:r>
              <a:rPr lang="en-US" dirty="0" err="1"/>
              <a:t>가능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객체를</a:t>
            </a:r>
            <a:r>
              <a:rPr lang="en-US" dirty="0"/>
              <a:t> </a:t>
            </a:r>
            <a:r>
              <a:rPr lang="en-US" dirty="0" err="1"/>
              <a:t>만들</a:t>
            </a:r>
            <a:r>
              <a:rPr lang="en-US" dirty="0"/>
              <a:t> 때 alpha </a:t>
            </a:r>
            <a:r>
              <a:rPr lang="en-US" dirty="0" err="1"/>
              <a:t>매개변수로</a:t>
            </a:r>
            <a:r>
              <a:rPr lang="en-US" dirty="0"/>
              <a:t> </a:t>
            </a:r>
            <a:r>
              <a:rPr lang="en-US" dirty="0" err="1"/>
              <a:t>규제의</a:t>
            </a:r>
            <a:r>
              <a:rPr lang="en-US" dirty="0"/>
              <a:t> </a:t>
            </a:r>
            <a:r>
              <a:rPr lang="en-US" dirty="0" err="1"/>
              <a:t>강도를</a:t>
            </a:r>
            <a:r>
              <a:rPr lang="en-US" dirty="0"/>
              <a:t> </a:t>
            </a:r>
            <a:r>
              <a:rPr lang="en-US" dirty="0" err="1"/>
              <a:t>조절</a:t>
            </a:r>
            <a:br>
              <a:rPr lang="en-US" dirty="0"/>
            </a:br>
            <a:r>
              <a:rPr lang="en-US" dirty="0"/>
              <a:t>- alpha </a:t>
            </a:r>
            <a:r>
              <a:rPr lang="en-US" dirty="0" err="1"/>
              <a:t>값이</a:t>
            </a:r>
            <a:r>
              <a:rPr lang="en-US" dirty="0"/>
              <a:t> </a:t>
            </a:r>
            <a:r>
              <a:rPr lang="en-US" dirty="0" err="1"/>
              <a:t>크면</a:t>
            </a:r>
            <a:r>
              <a:rPr lang="en-US" dirty="0"/>
              <a:t> </a:t>
            </a:r>
            <a:r>
              <a:rPr lang="en-US" dirty="0" err="1"/>
              <a:t>규제</a:t>
            </a:r>
            <a:r>
              <a:rPr lang="en-US" dirty="0"/>
              <a:t> </a:t>
            </a:r>
            <a:r>
              <a:rPr lang="en-US" dirty="0" err="1"/>
              <a:t>강도가</a:t>
            </a:r>
            <a:r>
              <a:rPr lang="en-US" dirty="0"/>
              <a:t> </a:t>
            </a:r>
            <a:r>
              <a:rPr lang="en-US" dirty="0" err="1"/>
              <a:t>세지므로</a:t>
            </a:r>
            <a:r>
              <a:rPr lang="en-US" dirty="0"/>
              <a:t> </a:t>
            </a:r>
            <a:r>
              <a:rPr lang="en-US" dirty="0" err="1"/>
              <a:t>계수</a:t>
            </a:r>
            <a:r>
              <a:rPr lang="en-US" dirty="0"/>
              <a:t> </a:t>
            </a:r>
            <a:r>
              <a:rPr lang="en-US" dirty="0" err="1"/>
              <a:t>값을</a:t>
            </a:r>
            <a:r>
              <a:rPr lang="en-US" dirty="0"/>
              <a:t> 더 </a:t>
            </a:r>
            <a:r>
              <a:rPr lang="en-US" dirty="0" err="1"/>
              <a:t>줄이고</a:t>
            </a:r>
            <a:r>
              <a:rPr lang="en-US" dirty="0"/>
              <a:t> </a:t>
            </a:r>
            <a:r>
              <a:rPr lang="en-US" dirty="0" err="1"/>
              <a:t>조금</a:t>
            </a:r>
            <a:r>
              <a:rPr lang="en-US" dirty="0"/>
              <a:t> 더 </a:t>
            </a:r>
            <a:r>
              <a:rPr lang="en-US" dirty="0" err="1"/>
              <a:t>과소적합되도록</a:t>
            </a:r>
            <a:r>
              <a:rPr lang="en-US" dirty="0"/>
              <a:t> </a:t>
            </a:r>
            <a:r>
              <a:rPr lang="en-US" dirty="0" err="1"/>
              <a:t>유도</a:t>
            </a:r>
            <a:br>
              <a:rPr lang="en-US" dirty="0"/>
            </a:br>
            <a:r>
              <a:rPr lang="en-US" dirty="0"/>
              <a:t>- alpha </a:t>
            </a:r>
            <a:r>
              <a:rPr lang="en-US" dirty="0" err="1"/>
              <a:t>값이</a:t>
            </a:r>
            <a:r>
              <a:rPr lang="en-US" dirty="0"/>
              <a:t> </a:t>
            </a:r>
            <a:r>
              <a:rPr lang="en-US" dirty="0" err="1"/>
              <a:t>작으면</a:t>
            </a:r>
            <a:r>
              <a:rPr lang="en-US" dirty="0"/>
              <a:t> </a:t>
            </a:r>
            <a:r>
              <a:rPr lang="en-US" dirty="0" err="1"/>
              <a:t>계수를</a:t>
            </a:r>
            <a:r>
              <a:rPr lang="en-US" dirty="0"/>
              <a:t> </a:t>
            </a:r>
            <a:r>
              <a:rPr lang="en-US" dirty="0" err="1"/>
              <a:t>줄이는</a:t>
            </a:r>
            <a:r>
              <a:rPr lang="en-US" dirty="0"/>
              <a:t> </a:t>
            </a:r>
            <a:r>
              <a:rPr lang="en-US" dirty="0" err="1"/>
              <a:t>역할이</a:t>
            </a:r>
            <a:r>
              <a:rPr lang="en-US" dirty="0"/>
              <a:t> </a:t>
            </a:r>
            <a:r>
              <a:rPr lang="en-US" dirty="0" err="1"/>
              <a:t>줄어들고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모델과</a:t>
            </a:r>
            <a:r>
              <a:rPr lang="en-US" dirty="0"/>
              <a:t> </a:t>
            </a:r>
            <a:r>
              <a:rPr lang="en-US" dirty="0" err="1"/>
              <a:t>유사해지므로</a:t>
            </a:r>
            <a:r>
              <a:rPr lang="en-US" dirty="0"/>
              <a:t> </a:t>
            </a:r>
            <a:r>
              <a:rPr lang="en-US" dirty="0" err="1"/>
              <a:t>과대적합될</a:t>
            </a:r>
            <a:r>
              <a:rPr lang="en-US" dirty="0"/>
              <a:t> </a:t>
            </a:r>
            <a:r>
              <a:rPr lang="en-US" dirty="0" err="1"/>
              <a:t>가능성이</a:t>
            </a:r>
            <a:r>
              <a:rPr lang="en-US" dirty="0"/>
              <a:t> 큼</a:t>
            </a:r>
            <a:endParaRPr dirty="0"/>
          </a:p>
        </p:txBody>
      </p:sp>
      <p:sp>
        <p:nvSpPr>
          <p:cNvPr id="726" name="Google Shape;726;p5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규제(12)</a:t>
            </a:r>
            <a:endParaRPr/>
          </a:p>
        </p:txBody>
      </p:sp>
      <p:sp>
        <p:nvSpPr>
          <p:cNvPr id="727" name="Google Shape;727;p5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28" name="Google Shape;728;p5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29" name="Google Shape;729;p51"/>
          <p:cNvGraphicFramePr/>
          <p:nvPr>
            <p:extLst>
              <p:ext uri="{D42A27DB-BD31-4B8C-83A1-F6EECF244321}">
                <p14:modId xmlns:p14="http://schemas.microsoft.com/office/powerpoint/2010/main" val="2535264084"/>
              </p:ext>
            </p:extLst>
          </p:nvPr>
        </p:nvGraphicFramePr>
        <p:xfrm>
          <a:off x="1702045" y="2834835"/>
          <a:ext cx="4347075" cy="94489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3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from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sklearn.linear_model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 import Ridge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ridge = Ridge()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ridge.fit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train_scaled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ridge.score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train_scaled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train_target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30" name="Google Shape;730;p51"/>
          <p:cNvCxnSpPr/>
          <p:nvPr/>
        </p:nvCxnSpPr>
        <p:spPr>
          <a:xfrm>
            <a:off x="6367740" y="3213313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1" name="Google Shape;731;p51"/>
          <p:cNvSpPr txBox="1"/>
          <p:nvPr/>
        </p:nvSpPr>
        <p:spPr>
          <a:xfrm>
            <a:off x="7061510" y="3032723"/>
            <a:ext cx="26787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0.9896101671037343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2" name="Google Shape;732;p51"/>
          <p:cNvGraphicFramePr/>
          <p:nvPr/>
        </p:nvGraphicFramePr>
        <p:xfrm>
          <a:off x="1702044" y="4416586"/>
          <a:ext cx="4347075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43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print(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ridge.score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test_scaled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dk1"/>
                          </a:solidFill>
                        </a:rPr>
                        <a:t>test_target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))</a:t>
                      </a:r>
                      <a:endParaRPr sz="1400" b="0" dirty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33" name="Google Shape;733;p51"/>
          <p:cNvCxnSpPr/>
          <p:nvPr/>
        </p:nvCxnSpPr>
        <p:spPr>
          <a:xfrm>
            <a:off x="6367740" y="4548864"/>
            <a:ext cx="37513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4" name="Google Shape;734;p51"/>
          <p:cNvSpPr txBox="1"/>
          <p:nvPr/>
        </p:nvSpPr>
        <p:spPr>
          <a:xfrm>
            <a:off x="7061510" y="4368274"/>
            <a:ext cx="26787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0.9790693977615398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 dirty="0" err="1"/>
              <a:t>릿지</a:t>
            </a:r>
            <a:r>
              <a:rPr lang="en-US" dirty="0"/>
              <a:t> </a:t>
            </a:r>
            <a:r>
              <a:rPr lang="en-US" dirty="0" err="1"/>
              <a:t>회귀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그래프</a:t>
            </a:r>
            <a:r>
              <a:rPr lang="en-US" dirty="0"/>
              <a:t> </a:t>
            </a:r>
            <a:r>
              <a:rPr lang="en-US" dirty="0" err="1"/>
              <a:t>그리기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alpha </a:t>
            </a:r>
            <a:r>
              <a:rPr lang="en-US" dirty="0" err="1"/>
              <a:t>값을</a:t>
            </a:r>
            <a:r>
              <a:rPr lang="en-US" dirty="0"/>
              <a:t> 0.001부터 10배씩 </a:t>
            </a:r>
            <a:r>
              <a:rPr lang="en-US" dirty="0" err="1"/>
              <a:t>늘렸기</a:t>
            </a:r>
            <a:r>
              <a:rPr lang="en-US" dirty="0"/>
              <a:t> </a:t>
            </a:r>
            <a:r>
              <a:rPr lang="en-US" dirty="0" err="1"/>
              <a:t>때문에</a:t>
            </a:r>
            <a:r>
              <a:rPr lang="en-US" dirty="0"/>
              <a:t> </a:t>
            </a:r>
            <a:r>
              <a:rPr lang="en-US" dirty="0" err="1"/>
              <a:t>이대로</a:t>
            </a:r>
            <a:r>
              <a:rPr lang="en-US" dirty="0"/>
              <a:t> </a:t>
            </a:r>
            <a:r>
              <a:rPr lang="en-US" dirty="0" err="1"/>
              <a:t>그래프를</a:t>
            </a:r>
            <a:r>
              <a:rPr lang="en-US" dirty="0"/>
              <a:t> </a:t>
            </a:r>
            <a:r>
              <a:rPr lang="en-US" dirty="0" err="1"/>
              <a:t>그리면</a:t>
            </a:r>
            <a:r>
              <a:rPr lang="en-US" dirty="0"/>
              <a:t> </a:t>
            </a:r>
            <a:r>
              <a:rPr lang="en-US" dirty="0" err="1"/>
              <a:t>그래프</a:t>
            </a:r>
            <a:r>
              <a:rPr lang="en-US" dirty="0"/>
              <a:t> </a:t>
            </a:r>
            <a:r>
              <a:rPr lang="en-US" dirty="0" err="1"/>
              <a:t>왼쪽이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촘촘해짐</a:t>
            </a:r>
            <a:endParaRPr dirty="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 dirty="0" err="1"/>
              <a:t>alpha_list에</a:t>
            </a:r>
            <a:r>
              <a:rPr lang="en-US" dirty="0"/>
              <a:t> </a:t>
            </a:r>
            <a:r>
              <a:rPr lang="en-US" dirty="0" err="1"/>
              <a:t>있는</a:t>
            </a:r>
            <a:r>
              <a:rPr lang="en-US" dirty="0"/>
              <a:t> 6개의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동일한</a:t>
            </a:r>
            <a:r>
              <a:rPr lang="en-US" dirty="0"/>
              <a:t> </a:t>
            </a:r>
            <a:r>
              <a:rPr lang="en-US" dirty="0" err="1"/>
              <a:t>간격으로</a:t>
            </a:r>
            <a:r>
              <a:rPr lang="en-US" dirty="0"/>
              <a:t> </a:t>
            </a:r>
            <a:r>
              <a:rPr lang="en-US" dirty="0" err="1"/>
              <a:t>나타내기</a:t>
            </a:r>
            <a:r>
              <a:rPr lang="en-US" dirty="0"/>
              <a:t> </a:t>
            </a:r>
            <a:r>
              <a:rPr lang="en-US" dirty="0" err="1"/>
              <a:t>위해서는</a:t>
            </a:r>
            <a:r>
              <a:rPr lang="en-US" dirty="0"/>
              <a:t> x </a:t>
            </a:r>
            <a:r>
              <a:rPr lang="en-US" dirty="0" err="1"/>
              <a:t>축을</a:t>
            </a:r>
            <a:r>
              <a:rPr lang="en-US" dirty="0"/>
              <a:t> </a:t>
            </a:r>
            <a:r>
              <a:rPr lang="en-US" dirty="0" err="1"/>
              <a:t>로그</a:t>
            </a:r>
            <a:r>
              <a:rPr lang="en-US" dirty="0"/>
              <a:t> </a:t>
            </a:r>
            <a:r>
              <a:rPr lang="en-US" dirty="0" err="1"/>
              <a:t>스케일로</a:t>
            </a:r>
            <a:r>
              <a:rPr lang="en-US" dirty="0"/>
              <a:t> </a:t>
            </a:r>
            <a:r>
              <a:rPr lang="en-US" dirty="0" err="1"/>
              <a:t>나타내야</a:t>
            </a:r>
            <a:r>
              <a:rPr lang="en-US" dirty="0"/>
              <a:t> 함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0" name="Google Shape;740;p5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규제(13)</a:t>
            </a:r>
            <a:endParaRPr/>
          </a:p>
        </p:txBody>
      </p:sp>
      <p:sp>
        <p:nvSpPr>
          <p:cNvPr id="741" name="Google Shape;741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742" name="Google Shape;742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43" name="Google Shape;743;p52"/>
          <p:cNvGraphicFramePr/>
          <p:nvPr/>
        </p:nvGraphicFramePr>
        <p:xfrm>
          <a:off x="1769785" y="2847081"/>
          <a:ext cx="3420950" cy="13716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plt.plot(alpha_list, train_score)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plt.plot(alpha_list, test_score)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plt.xscale('log')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plt.xlabel('alpha')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plt.ylabel('R^2')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4" name="Google Shape;744;p52"/>
          <p:cNvCxnSpPr/>
          <p:nvPr/>
        </p:nvCxnSpPr>
        <p:spPr>
          <a:xfrm>
            <a:off x="5633121" y="3272287"/>
            <a:ext cx="4017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5" name="Google Shape;745;p52"/>
          <p:cNvSpPr txBox="1"/>
          <p:nvPr/>
        </p:nvSpPr>
        <p:spPr>
          <a:xfrm>
            <a:off x="1415199" y="4452456"/>
            <a:ext cx="4278900" cy="18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그래프의 왼쪽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훈련 세트와 테스트 세트의 점수 차이가 아주 큼 훈련 세트에는 잘 맞고 테스트 세트에는 형편없는 과대적합의 전형적인 모습</a:t>
            </a:r>
            <a:endParaRPr sz="1400">
              <a:solidFill>
                <a:srgbClr val="1C5A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 오른쪽</a:t>
            </a:r>
            <a:b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훈련 세트와 테스트 세트의 점수가 모두 낮아지는 과소적합으로 가는 모습을 보임</a:t>
            </a:r>
            <a:endParaRPr/>
          </a:p>
        </p:txBody>
      </p:sp>
      <p:sp>
        <p:nvSpPr>
          <p:cNvPr id="746" name="Google Shape;746;p52"/>
          <p:cNvSpPr/>
          <p:nvPr/>
        </p:nvSpPr>
        <p:spPr>
          <a:xfrm>
            <a:off x="6375350" y="5457500"/>
            <a:ext cx="4410000" cy="998100"/>
          </a:xfrm>
          <a:prstGeom prst="roundRect">
            <a:avLst>
              <a:gd name="adj" fmla="val 16667"/>
            </a:avLst>
          </a:prstGeom>
          <a:solidFill>
            <a:srgbClr val="FDD7A2"/>
          </a:solidFill>
          <a:ln>
            <a:noFill/>
          </a:ln>
        </p:spPr>
        <p:txBody>
          <a:bodyPr spcFirstLastPara="1" wrap="square" lIns="180000" tIns="72000" rIns="180000" bIns="72000" anchor="ctr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넘파이 로그 함수</a:t>
            </a:r>
            <a:endParaRPr sz="1400" b="1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np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log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( ): </a:t>
            </a: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자연 상수 </a:t>
            </a:r>
            <a:r>
              <a:rPr lang="en-US" sz="1400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</a:t>
            </a: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를 밑으로 하는 자연로그 </a:t>
            </a:r>
            <a:endParaRPr sz="1400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400"/>
              <a:buFont typeface="Arial"/>
              <a:buChar char="•"/>
            </a:pP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np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4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log10</a:t>
            </a:r>
            <a:r>
              <a:rPr lang="en-US" sz="14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( ): </a:t>
            </a:r>
            <a:r>
              <a:rPr lang="en-US" sz="1400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 </a:t>
            </a:r>
            <a:r>
              <a:rPr lang="en-US" sz="14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을 밑으로 하는 상용로그</a:t>
            </a:r>
            <a:endParaRPr sz="1400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7" name="Google Shape;74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425" y="2569125"/>
            <a:ext cx="3730025" cy="28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릿지</a:t>
            </a:r>
            <a:r>
              <a:rPr lang="en-US" dirty="0"/>
              <a:t> </a:t>
            </a:r>
            <a:r>
              <a:rPr lang="en-US" dirty="0" err="1"/>
              <a:t>회귀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적절한</a:t>
            </a:r>
            <a:r>
              <a:rPr lang="en-US" dirty="0"/>
              <a:t> alpha </a:t>
            </a:r>
            <a:r>
              <a:rPr lang="en-US" dirty="0" err="1"/>
              <a:t>값은</a:t>
            </a:r>
            <a:r>
              <a:rPr lang="en-US" dirty="0"/>
              <a:t> 두 </a:t>
            </a:r>
            <a:r>
              <a:rPr lang="en-US" dirty="0" err="1"/>
              <a:t>그래프가</a:t>
            </a:r>
            <a:r>
              <a:rPr lang="en-US" dirty="0"/>
              <a:t>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가깝고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가장</a:t>
            </a:r>
            <a:r>
              <a:rPr lang="en-US" dirty="0"/>
              <a:t> </a:t>
            </a:r>
            <a:r>
              <a:rPr lang="en-US" dirty="0" err="1"/>
              <a:t>높은</a:t>
            </a:r>
            <a:r>
              <a:rPr lang="en-US" dirty="0"/>
              <a:t> -1, 즉 10</a:t>
            </a:r>
            <a:r>
              <a:rPr lang="en-US" baseline="30000" dirty="0"/>
              <a:t>-1</a:t>
            </a:r>
            <a:r>
              <a:rPr lang="en-US" dirty="0"/>
              <a:t>=0.1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alpha </a:t>
            </a:r>
            <a:r>
              <a:rPr lang="en-US" dirty="0" err="1"/>
              <a:t>값을</a:t>
            </a:r>
            <a:r>
              <a:rPr lang="en-US" dirty="0"/>
              <a:t> 0.1로 </a:t>
            </a:r>
            <a:r>
              <a:rPr lang="en-US" dirty="0" err="1"/>
              <a:t>하여</a:t>
            </a:r>
            <a:r>
              <a:rPr lang="en-US" dirty="0"/>
              <a:t> </a:t>
            </a:r>
            <a:r>
              <a:rPr lang="en-US" dirty="0" err="1"/>
              <a:t>최종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/>
              <a:t>이 </a:t>
            </a:r>
            <a:r>
              <a:rPr lang="en-US" dirty="0" err="1"/>
              <a:t>모델은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세트와</a:t>
            </a:r>
            <a:r>
              <a:rPr lang="en-US" dirty="0"/>
              <a:t> </a:t>
            </a:r>
            <a:r>
              <a:rPr lang="en-US" dirty="0" err="1"/>
              <a:t>테스트</a:t>
            </a:r>
            <a:r>
              <a:rPr lang="en-US" dirty="0"/>
              <a:t> </a:t>
            </a:r>
            <a:r>
              <a:rPr lang="en-US" dirty="0" err="1"/>
              <a:t>세트의</a:t>
            </a:r>
            <a:r>
              <a:rPr lang="en-US" dirty="0"/>
              <a:t> </a:t>
            </a:r>
            <a:r>
              <a:rPr lang="en-US" dirty="0" err="1"/>
              <a:t>점수가</a:t>
            </a:r>
            <a:r>
              <a:rPr lang="en-US" dirty="0"/>
              <a:t> </a:t>
            </a:r>
            <a:r>
              <a:rPr lang="en-US" dirty="0" err="1"/>
              <a:t>비슷하게</a:t>
            </a:r>
            <a:r>
              <a:rPr lang="en-US" dirty="0"/>
              <a:t> </a:t>
            </a:r>
            <a:r>
              <a:rPr lang="en-US" dirty="0" err="1"/>
              <a:t>모두</a:t>
            </a:r>
            <a:r>
              <a:rPr lang="en-US" dirty="0"/>
              <a:t> </a:t>
            </a:r>
            <a:r>
              <a:rPr lang="en-US" dirty="0" err="1"/>
              <a:t>높고</a:t>
            </a:r>
            <a:r>
              <a:rPr lang="en-US" dirty="0"/>
              <a:t> </a:t>
            </a:r>
            <a:r>
              <a:rPr lang="en-US" dirty="0" err="1"/>
              <a:t>과대적합과</a:t>
            </a:r>
            <a:r>
              <a:rPr lang="en-US" dirty="0"/>
              <a:t> </a:t>
            </a:r>
            <a:r>
              <a:rPr lang="en-US" dirty="0" err="1"/>
              <a:t>과소적합</a:t>
            </a:r>
            <a:r>
              <a:rPr lang="en-US" dirty="0"/>
              <a:t> </a:t>
            </a:r>
            <a:r>
              <a:rPr lang="en-US" dirty="0" err="1"/>
              <a:t>사이에서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균형을</a:t>
            </a:r>
            <a:r>
              <a:rPr lang="en-US" dirty="0"/>
              <a:t> </a:t>
            </a:r>
            <a:r>
              <a:rPr lang="en-US" dirty="0" err="1"/>
              <a:t>맟춤</a:t>
            </a:r>
            <a:endParaRPr dirty="0"/>
          </a:p>
        </p:txBody>
      </p:sp>
      <p:sp>
        <p:nvSpPr>
          <p:cNvPr id="753" name="Google Shape;753;p5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규제(14)</a:t>
            </a:r>
            <a:endParaRPr/>
          </a:p>
        </p:txBody>
      </p:sp>
      <p:sp>
        <p:nvSpPr>
          <p:cNvPr id="754" name="Google Shape;754;p5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755" name="Google Shape;755;p5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56" name="Google Shape;756;p53"/>
          <p:cNvGraphicFramePr/>
          <p:nvPr/>
        </p:nvGraphicFramePr>
        <p:xfrm>
          <a:off x="1703165" y="2487576"/>
          <a:ext cx="3420950" cy="11582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ridge = Ridge(alpha=0.1)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ridge.fit(train_scaled,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print(ridge.score(train_scaled,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print(ridge.score(test_scaled,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57" name="Google Shape;757;p53"/>
          <p:cNvCxnSpPr/>
          <p:nvPr/>
        </p:nvCxnSpPr>
        <p:spPr>
          <a:xfrm>
            <a:off x="5472515" y="3059056"/>
            <a:ext cx="5008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8" name="Google Shape;758;p53"/>
          <p:cNvSpPr txBox="1"/>
          <p:nvPr/>
        </p:nvSpPr>
        <p:spPr>
          <a:xfrm>
            <a:off x="6321733" y="2735890"/>
            <a:ext cx="26053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0.9903815817570366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0.9827976465386926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라쏘 모델을 훈련하는 것은 릿지와 유사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Ridge 클래스를 Lasso 클래스로 바꾸면 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 점수 확인</a:t>
            </a:r>
            <a:endParaRPr/>
          </a:p>
        </p:txBody>
      </p:sp>
      <p:sp>
        <p:nvSpPr>
          <p:cNvPr id="764" name="Google Shape;764;p5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규제(15)</a:t>
            </a:r>
            <a:endParaRPr/>
          </a:p>
        </p:txBody>
      </p:sp>
      <p:sp>
        <p:nvSpPr>
          <p:cNvPr id="765" name="Google Shape;765;p5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766" name="Google Shape;766;p5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67" name="Google Shape;767;p54"/>
          <p:cNvGraphicFramePr/>
          <p:nvPr/>
        </p:nvGraphicFramePr>
        <p:xfrm>
          <a:off x="1676303" y="2270760"/>
          <a:ext cx="3420950" cy="115825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from sklearn.linear_model import Lasso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 = Lasso()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print(lasso.score(train_scaled, train_target))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8" name="Google Shape;768;p54"/>
          <p:cNvCxnSpPr/>
          <p:nvPr/>
        </p:nvCxnSpPr>
        <p:spPr>
          <a:xfrm>
            <a:off x="5399167" y="2778338"/>
            <a:ext cx="35849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9" name="Google Shape;769;p54"/>
          <p:cNvSpPr txBox="1"/>
          <p:nvPr/>
        </p:nvSpPr>
        <p:spPr>
          <a:xfrm>
            <a:off x="6059585" y="2593672"/>
            <a:ext cx="26053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0.9897898972080961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0" name="Google Shape;770;p54"/>
          <p:cNvGraphicFramePr/>
          <p:nvPr/>
        </p:nvGraphicFramePr>
        <p:xfrm>
          <a:off x="1676303" y="4047431"/>
          <a:ext cx="3420950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4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71" name="Google Shape;771;p54"/>
          <p:cNvCxnSpPr/>
          <p:nvPr/>
        </p:nvCxnSpPr>
        <p:spPr>
          <a:xfrm>
            <a:off x="5408594" y="4196951"/>
            <a:ext cx="35849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2" name="Google Shape;772;p54"/>
          <p:cNvSpPr txBox="1"/>
          <p:nvPr/>
        </p:nvSpPr>
        <p:spPr>
          <a:xfrm>
            <a:off x="6078439" y="4012285"/>
            <a:ext cx="26053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0.9800593698421883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라쏘 모델도 alpha 매개변수로 규제의 강도를 조절 가능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alpha 값을 바꾸어 가며 훈련 세트와 테스트 세트에 대한 점수 계산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778" name="Google Shape;778;p5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규제(16)</a:t>
            </a:r>
            <a:endParaRPr/>
          </a:p>
        </p:txBody>
      </p:sp>
      <p:sp>
        <p:nvSpPr>
          <p:cNvPr id="779" name="Google Shape;779;p5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780" name="Google Shape;780;p5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81" name="Google Shape;781;p55"/>
          <p:cNvGraphicFramePr/>
          <p:nvPr/>
        </p:nvGraphicFramePr>
        <p:xfrm>
          <a:off x="1666875" y="2297552"/>
          <a:ext cx="5111875" cy="24384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511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train_score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test_score = []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alpha_list = [0.001, 0.01, 0.1, 1, 10, 100]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for alpha in alpha_list: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# 라쏘 모델을 만듭니다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lasso = Lasso(alpha=alpha, max_iter=10000)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# 라쏘 모델을 훈련합니다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lasso.fit(train_scaled,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# 훈련 점수와 테스트 점수를 저장합니다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train_score.append(lasso.score(train_scaled,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     test_score.append(lasso.score(test_scaled,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2" name="Google Shape;782;p55"/>
          <p:cNvSpPr/>
          <p:nvPr/>
        </p:nvSpPr>
        <p:spPr>
          <a:xfrm>
            <a:off x="1898430" y="4804273"/>
            <a:ext cx="9376028" cy="18178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                    경고(Warning)가 뜨는데 정상인가?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라쏘 모델을 훈련할 때 </a:t>
            </a:r>
            <a:r>
              <a:rPr lang="en-US" sz="1400">
                <a:solidFill>
                  <a:srgbClr val="CB360D"/>
                </a:solidFill>
                <a:latin typeface="Calibri"/>
                <a:ea typeface="Calibri"/>
                <a:cs typeface="Calibri"/>
                <a:sym typeface="Calibri"/>
              </a:rPr>
              <a:t>ConvergenceWarning</a:t>
            </a: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이란 경고가 발생할 수 있음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사이킷런의 라쏘 모델은 최적의 계수를 찾기 위해 반복적인 계산을 수행하는데, 지정한 반복 횟수가 부족할 때 이런 경고가 발생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이 반복 횟수를 충분히 늘리기 위해 max_iter 매개변수의 값을 10000으로 지정했음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필요하면 더 늘릴 수 있지만 이 문제에서는 큰 영향을 끼치지 않음</a:t>
            </a:r>
            <a:endParaRPr/>
          </a:p>
        </p:txBody>
      </p:sp>
      <p:grpSp>
        <p:nvGrpSpPr>
          <p:cNvPr id="783" name="Google Shape;783;p55"/>
          <p:cNvGrpSpPr/>
          <p:nvPr/>
        </p:nvGrpSpPr>
        <p:grpSpPr>
          <a:xfrm>
            <a:off x="1666875" y="4890093"/>
            <a:ext cx="1432152" cy="307777"/>
            <a:chOff x="1666875" y="4747675"/>
            <a:chExt cx="1432152" cy="307777"/>
          </a:xfrm>
        </p:grpSpPr>
        <p:sp>
          <p:nvSpPr>
            <p:cNvPr id="784" name="Google Shape;784;p55"/>
            <p:cNvSpPr txBox="1"/>
            <p:nvPr/>
          </p:nvSpPr>
          <p:spPr>
            <a:xfrm>
              <a:off x="1666875" y="4747675"/>
              <a:ext cx="1432152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60000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CB360D"/>
                  </a:solidFill>
                  <a:latin typeface="Calibri"/>
                  <a:ea typeface="Calibri"/>
                  <a:cs typeface="Calibri"/>
                  <a:sym typeface="Calibri"/>
                </a:rPr>
                <a:t>여기서 잠깐</a:t>
              </a:r>
              <a:endParaRPr/>
            </a:p>
          </p:txBody>
        </p:sp>
        <p:sp>
          <p:nvSpPr>
            <p:cNvPr id="785" name="Google Shape;785;p55"/>
            <p:cNvSpPr/>
            <p:nvPr/>
          </p:nvSpPr>
          <p:spPr>
            <a:xfrm>
              <a:off x="1783704" y="4792919"/>
              <a:ext cx="183354" cy="183354"/>
            </a:xfrm>
            <a:prstGeom prst="plus">
              <a:avLst>
                <a:gd name="adj" fmla="val 35390"/>
              </a:avLst>
            </a:prstGeom>
            <a:solidFill>
              <a:srgbClr val="CB360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train_score와 test_score 리스트를 사용해 그래프 그리기</a:t>
            </a:r>
            <a:br>
              <a:rPr lang="en-US"/>
            </a:br>
            <a:r>
              <a:rPr lang="en-US"/>
              <a:t>- x축은 로그 스케일로 바꿈</a:t>
            </a:r>
            <a:endParaRPr/>
          </a:p>
        </p:txBody>
      </p:sp>
      <p:sp>
        <p:nvSpPr>
          <p:cNvPr id="791" name="Google Shape;791;p5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규제(17)</a:t>
            </a:r>
            <a:endParaRPr/>
          </a:p>
        </p:txBody>
      </p:sp>
      <p:sp>
        <p:nvSpPr>
          <p:cNvPr id="792" name="Google Shape;792;p5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793" name="Google Shape;793;p5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794" name="Google Shape;794;p56"/>
          <p:cNvGraphicFramePr/>
          <p:nvPr/>
        </p:nvGraphicFramePr>
        <p:xfrm>
          <a:off x="1852374" y="2190663"/>
          <a:ext cx="3571925" cy="73153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plt.plot(np.log10(alpha_list), train_score)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plt.plot(np.log10(alpha_list), test_score)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95" name="Google Shape;79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3324" y="2387463"/>
            <a:ext cx="4708750" cy="313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6" name="Google Shape;796;p56"/>
          <p:cNvCxnSpPr/>
          <p:nvPr/>
        </p:nvCxnSpPr>
        <p:spPr>
          <a:xfrm>
            <a:off x="5684689" y="2556423"/>
            <a:ext cx="26822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7" name="Google Shape;797;p56"/>
          <p:cNvSpPr txBox="1"/>
          <p:nvPr/>
        </p:nvSpPr>
        <p:spPr>
          <a:xfrm>
            <a:off x="1682284" y="3222877"/>
            <a:ext cx="4136517" cy="146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Arial"/>
              <a:buChar char="•"/>
            </a:pP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그래프의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왼쪽은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과대적합을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보여주고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있고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오른쪽으로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갈수록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훈련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세트와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테스트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세트의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점수가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좁혀짐가장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오른쪽은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아주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크게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점수가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떨어짐</a:t>
            </a:r>
            <a:b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이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지점은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분명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과소적합되는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모델일</a:t>
            </a:r>
            <a:r>
              <a:rPr lang="en-US" sz="1400" dirty="0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 err="1">
                <a:solidFill>
                  <a:srgbClr val="1C5A25"/>
                </a:solidFill>
                <a:latin typeface="Calibri"/>
                <a:ea typeface="Calibri"/>
                <a:cs typeface="Calibri"/>
                <a:sym typeface="Calibri"/>
              </a:rPr>
              <a:t>것임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09913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라쏘 회귀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라쏘 모델에서 최적의 alpha 값은 1, 즉 10</a:t>
            </a:r>
            <a:r>
              <a:rPr lang="en-US" baseline="30000"/>
              <a:t>1</a:t>
            </a:r>
            <a:r>
              <a:rPr lang="en-US"/>
              <a:t>=10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값으로 다시 모델을 훈련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coef_ 속성에 저장되어 있는 라쏘 모델의 계수 중에 0인 것을 헤아려보기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55개의 특성을 모델에 주입했지만 라쏘 모델이 사용한 특성은 15개에 불과함</a:t>
            </a:r>
            <a:br>
              <a:rPr lang="en-US"/>
            </a:br>
            <a:r>
              <a:rPr lang="en-US"/>
              <a:t>이런 특징 때문에 라쏘 모델을 유용한 특성을 골라내는 용도로도 사용할 수 있음</a:t>
            </a:r>
            <a:endParaRPr/>
          </a:p>
        </p:txBody>
      </p:sp>
      <p:sp>
        <p:nvSpPr>
          <p:cNvPr id="803" name="Google Shape;803;p5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규제(18)</a:t>
            </a:r>
            <a:endParaRPr/>
          </a:p>
        </p:txBody>
      </p:sp>
      <p:sp>
        <p:nvSpPr>
          <p:cNvPr id="804" name="Google Shape;804;p5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805" name="Google Shape;805;p5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806" name="Google Shape;806;p57"/>
          <p:cNvGraphicFramePr/>
          <p:nvPr/>
        </p:nvGraphicFramePr>
        <p:xfrm>
          <a:off x="1685729" y="2402657"/>
          <a:ext cx="3571925" cy="94489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 = Lasso(alpha=10)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lasso.fit(train_scaled,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print(lasso.score(train_scaled, train_target))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print(lasso.score(test_scaled, test_target))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07" name="Google Shape;807;p57"/>
          <p:cNvCxnSpPr/>
          <p:nvPr/>
        </p:nvCxnSpPr>
        <p:spPr>
          <a:xfrm>
            <a:off x="5567917" y="2833486"/>
            <a:ext cx="26822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8" name="Google Shape;808;p57"/>
          <p:cNvSpPr txBox="1"/>
          <p:nvPr/>
        </p:nvSpPr>
        <p:spPr>
          <a:xfrm>
            <a:off x="6146395" y="2519747"/>
            <a:ext cx="305409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0.9888067471131867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0.9824470598706695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9" name="Google Shape;809;p57"/>
          <p:cNvGraphicFramePr/>
          <p:nvPr/>
        </p:nvGraphicFramePr>
        <p:xfrm>
          <a:off x="1685729" y="4109417"/>
          <a:ext cx="3571925" cy="304810"/>
        </p:xfrm>
        <a:graphic>
          <a:graphicData uri="http://schemas.openxmlformats.org/drawingml/2006/table">
            <a:tbl>
              <a:tblPr firstRow="1" bandRow="1">
                <a:noFill/>
                <a:tableStyleId>{F0CC4822-36D8-4E0D-A62C-473381F2002F}</a:tableStyleId>
              </a:tblPr>
              <a:tblGrid>
                <a:gridCol w="357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print(np.sum(lasso.coef_ == 0))</a:t>
                      </a:r>
                      <a:endParaRPr sz="1400" b="0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10" name="Google Shape;810;p57"/>
          <p:cNvCxnSpPr/>
          <p:nvPr/>
        </p:nvCxnSpPr>
        <p:spPr>
          <a:xfrm>
            <a:off x="5567917" y="4261817"/>
            <a:ext cx="26822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11" name="Google Shape;811;p57"/>
          <p:cNvSpPr txBox="1"/>
          <p:nvPr/>
        </p:nvSpPr>
        <p:spPr>
          <a:xfrm>
            <a:off x="6146395" y="4077151"/>
            <a:ext cx="30540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0901711" cy="5451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과대적합을</a:t>
            </a:r>
            <a:r>
              <a:rPr lang="en-US" dirty="0"/>
              <a:t> </a:t>
            </a:r>
            <a:r>
              <a:rPr lang="en-US" dirty="0" err="1"/>
              <a:t>제어하기</a:t>
            </a:r>
            <a:r>
              <a:rPr lang="en-US" dirty="0"/>
              <a:t>(</a:t>
            </a:r>
            <a:r>
              <a:rPr lang="en-US" dirty="0" err="1"/>
              <a:t>문제해결</a:t>
            </a:r>
            <a:r>
              <a:rPr lang="en-US" dirty="0"/>
              <a:t> </a:t>
            </a:r>
            <a:r>
              <a:rPr lang="en-US" dirty="0" err="1"/>
              <a:t>과정</a:t>
            </a:r>
            <a:r>
              <a:rPr lang="en-US" dirty="0"/>
              <a:t>)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문제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알고리즘을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농어의</a:t>
            </a:r>
            <a:r>
              <a:rPr lang="en-US" dirty="0"/>
              <a:t> </a:t>
            </a:r>
            <a:r>
              <a:rPr lang="en-US" dirty="0" err="1"/>
              <a:t>무게를</a:t>
            </a:r>
            <a:r>
              <a:rPr lang="en-US" dirty="0"/>
              <a:t> </a:t>
            </a:r>
            <a:r>
              <a:rPr lang="en-US" dirty="0" err="1"/>
              <a:t>예측하는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훈련시켰지만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</a:t>
            </a:r>
            <a:r>
              <a:rPr lang="en-US" dirty="0"/>
              <a:t> </a:t>
            </a:r>
            <a:r>
              <a:rPr lang="en-US" dirty="0" err="1"/>
              <a:t>과소적합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dirty="0" err="1"/>
              <a:t>해결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농어의</a:t>
            </a:r>
            <a:r>
              <a:rPr lang="en-US" dirty="0"/>
              <a:t> </a:t>
            </a:r>
            <a:r>
              <a:rPr lang="en-US" dirty="0" err="1"/>
              <a:t>길이뿐만</a:t>
            </a:r>
            <a:r>
              <a:rPr lang="en-US" dirty="0"/>
              <a:t> </a:t>
            </a:r>
            <a:r>
              <a:rPr lang="en-US" dirty="0" err="1"/>
              <a:t>아니라</a:t>
            </a:r>
            <a:r>
              <a:rPr lang="en-US" dirty="0"/>
              <a:t> </a:t>
            </a:r>
            <a:r>
              <a:rPr lang="en-US" dirty="0" err="1"/>
              <a:t>높이와</a:t>
            </a:r>
            <a:r>
              <a:rPr lang="en-US" dirty="0"/>
              <a:t> </a:t>
            </a:r>
            <a:r>
              <a:rPr lang="en-US" dirty="0" err="1"/>
              <a:t>두께도</a:t>
            </a:r>
            <a:r>
              <a:rPr lang="en-US" dirty="0"/>
              <a:t> </a:t>
            </a:r>
            <a:r>
              <a:rPr lang="en-US" dirty="0" err="1"/>
              <a:t>사용하여</a:t>
            </a:r>
            <a:r>
              <a:rPr lang="en-US" dirty="0"/>
              <a:t> </a:t>
            </a:r>
            <a:r>
              <a:rPr lang="en-US" dirty="0" err="1"/>
              <a:t>다중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또한</a:t>
            </a:r>
            <a:r>
              <a:rPr lang="en-US" dirty="0"/>
              <a:t> </a:t>
            </a:r>
            <a:r>
              <a:rPr lang="en-US" dirty="0" err="1"/>
              <a:t>다항</a:t>
            </a:r>
            <a:r>
              <a:rPr lang="en-US" dirty="0"/>
              <a:t>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많이</a:t>
            </a:r>
            <a:r>
              <a:rPr lang="en-US" dirty="0"/>
              <a:t> </a:t>
            </a:r>
            <a:r>
              <a:rPr lang="en-US" dirty="0" err="1"/>
              <a:t>추가하여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세트에서</a:t>
            </a:r>
            <a:r>
              <a:rPr lang="en-US" dirty="0"/>
              <a:t> </a:t>
            </a:r>
            <a:r>
              <a:rPr lang="en-US" dirty="0" err="1"/>
              <a:t>거의</a:t>
            </a:r>
            <a:r>
              <a:rPr lang="en-US" dirty="0"/>
              <a:t> </a:t>
            </a:r>
            <a:r>
              <a:rPr lang="en-US" dirty="0" err="1"/>
              <a:t>완벽에</a:t>
            </a:r>
            <a:r>
              <a:rPr lang="en-US" dirty="0"/>
              <a:t> </a:t>
            </a:r>
            <a:r>
              <a:rPr lang="en-US" dirty="0" err="1"/>
              <a:t>가까운</a:t>
            </a:r>
            <a:r>
              <a:rPr lang="en-US" dirty="0"/>
              <a:t> </a:t>
            </a:r>
            <a:r>
              <a:rPr lang="en-US" dirty="0" err="1"/>
              <a:t>점수를</a:t>
            </a:r>
            <a:r>
              <a:rPr lang="en-US" dirty="0"/>
              <a:t> </a:t>
            </a:r>
            <a:r>
              <a:rPr lang="en-US" dirty="0" err="1"/>
              <a:t>얻는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많이</a:t>
            </a:r>
            <a:r>
              <a:rPr lang="en-US" dirty="0"/>
              <a:t> </a:t>
            </a:r>
            <a:r>
              <a:rPr lang="en-US" dirty="0" err="1"/>
              <a:t>추가하면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회귀는</a:t>
            </a:r>
            <a:r>
              <a:rPr lang="en-US" dirty="0"/>
              <a:t> </a:t>
            </a:r>
            <a:r>
              <a:rPr lang="en-US" dirty="0" err="1"/>
              <a:t>매우</a:t>
            </a:r>
            <a:r>
              <a:rPr lang="en-US" dirty="0"/>
              <a:t> </a:t>
            </a:r>
            <a:r>
              <a:rPr lang="en-US" dirty="0" err="1"/>
              <a:t>강력한</a:t>
            </a:r>
            <a:r>
              <a:rPr lang="en-US" dirty="0"/>
              <a:t> </a:t>
            </a:r>
            <a:r>
              <a:rPr lang="en-US" dirty="0" err="1"/>
              <a:t>성능을</a:t>
            </a:r>
            <a:r>
              <a:rPr lang="en-US" dirty="0"/>
              <a:t> </a:t>
            </a:r>
            <a:r>
              <a:rPr lang="en-US" dirty="0" err="1"/>
              <a:t>발휘하지만</a:t>
            </a:r>
            <a:r>
              <a:rPr lang="en-US" dirty="0"/>
              <a:t>, </a:t>
            </a:r>
            <a:r>
              <a:rPr lang="en-US" dirty="0" err="1"/>
              <a:t>특성이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많으면</a:t>
            </a:r>
            <a:r>
              <a:rPr lang="en-US" dirty="0"/>
              <a:t> </a:t>
            </a:r>
            <a:r>
              <a:rPr lang="en-US" dirty="0" err="1"/>
              <a:t>선형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제약하기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도구가</a:t>
            </a:r>
            <a:r>
              <a:rPr lang="en-US" dirty="0"/>
              <a:t> </a:t>
            </a:r>
            <a:r>
              <a:rPr lang="en-US" dirty="0" err="1"/>
              <a:t>필요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이를</a:t>
            </a:r>
            <a:r>
              <a:rPr lang="en-US" dirty="0"/>
              <a:t> </a:t>
            </a:r>
            <a:r>
              <a:rPr lang="en-US" dirty="0" err="1"/>
              <a:t>위해</a:t>
            </a:r>
            <a:r>
              <a:rPr lang="en-US" dirty="0"/>
              <a:t> </a:t>
            </a:r>
            <a:r>
              <a:rPr lang="en-US" dirty="0" err="1"/>
              <a:t>릿지</a:t>
            </a:r>
            <a:r>
              <a:rPr lang="en-US" dirty="0"/>
              <a:t> </a:t>
            </a:r>
            <a:r>
              <a:rPr lang="en-US" dirty="0" err="1"/>
              <a:t>회귀와</a:t>
            </a:r>
            <a:r>
              <a:rPr lang="en-US" dirty="0"/>
              <a:t> </a:t>
            </a:r>
            <a:r>
              <a:rPr lang="en-US" dirty="0" err="1"/>
              <a:t>라쏘</a:t>
            </a:r>
            <a:r>
              <a:rPr lang="en-US" dirty="0"/>
              <a:t> </a:t>
            </a:r>
            <a:r>
              <a:rPr lang="en-US" dirty="0" err="1"/>
              <a:t>회귀에</a:t>
            </a:r>
            <a:r>
              <a:rPr lang="en-US" dirty="0"/>
              <a:t> </a:t>
            </a:r>
            <a:r>
              <a:rPr lang="en-US" dirty="0" err="1"/>
              <a:t>대해</a:t>
            </a:r>
            <a:r>
              <a:rPr lang="en-US" dirty="0"/>
              <a:t> </a:t>
            </a:r>
            <a:r>
              <a:rPr lang="en-US" dirty="0" err="1"/>
              <a:t>학습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사이킷런을</a:t>
            </a:r>
            <a:r>
              <a:rPr lang="en-US" dirty="0"/>
              <a:t> </a:t>
            </a:r>
            <a:r>
              <a:rPr lang="en-US" dirty="0" err="1"/>
              <a:t>사용해</a:t>
            </a:r>
            <a:r>
              <a:rPr lang="en-US" dirty="0"/>
              <a:t> </a:t>
            </a:r>
            <a:r>
              <a:rPr lang="en-US" dirty="0" err="1"/>
              <a:t>다중</a:t>
            </a:r>
            <a:r>
              <a:rPr lang="en-US" dirty="0"/>
              <a:t> </a:t>
            </a:r>
            <a:r>
              <a:rPr lang="en-US" dirty="0" err="1"/>
              <a:t>회귀</a:t>
            </a:r>
            <a:r>
              <a:rPr lang="en-US" dirty="0"/>
              <a:t> </a:t>
            </a:r>
            <a:r>
              <a:rPr lang="en-US" dirty="0" err="1"/>
              <a:t>모델과</a:t>
            </a:r>
            <a:r>
              <a:rPr lang="en-US" dirty="0"/>
              <a:t> </a:t>
            </a:r>
            <a:r>
              <a:rPr lang="en-US" dirty="0" err="1"/>
              <a:t>릿지</a:t>
            </a:r>
            <a:r>
              <a:rPr lang="en-US" dirty="0"/>
              <a:t>, </a:t>
            </a:r>
            <a:r>
              <a:rPr lang="en-US" dirty="0" err="1"/>
              <a:t>라쏘</a:t>
            </a:r>
            <a:r>
              <a:rPr lang="en-US" dirty="0"/>
              <a:t>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훈련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dirty="0" err="1"/>
              <a:t>릿지와</a:t>
            </a:r>
            <a:r>
              <a:rPr lang="en-US" dirty="0"/>
              <a:t> </a:t>
            </a:r>
            <a:r>
              <a:rPr lang="en-US" dirty="0" err="1"/>
              <a:t>라쏘</a:t>
            </a:r>
            <a:r>
              <a:rPr lang="en-US" dirty="0"/>
              <a:t> </a:t>
            </a:r>
            <a:r>
              <a:rPr lang="en-US" dirty="0" err="1"/>
              <a:t>모델의</a:t>
            </a:r>
            <a:r>
              <a:rPr lang="en-US" dirty="0"/>
              <a:t> </a:t>
            </a:r>
            <a:r>
              <a:rPr lang="en-US" dirty="0" err="1"/>
              <a:t>규제</a:t>
            </a:r>
            <a:r>
              <a:rPr lang="en-US" dirty="0"/>
              <a:t> </a:t>
            </a:r>
            <a:r>
              <a:rPr lang="en-US" dirty="0" err="1"/>
              <a:t>양을</a:t>
            </a:r>
            <a:r>
              <a:rPr lang="en-US" dirty="0"/>
              <a:t> </a:t>
            </a:r>
            <a:r>
              <a:rPr lang="en-US" dirty="0" err="1"/>
              <a:t>조절하기</a:t>
            </a:r>
            <a:r>
              <a:rPr lang="en-US" dirty="0"/>
              <a:t> </a:t>
            </a:r>
            <a:r>
              <a:rPr lang="en-US" dirty="0" err="1"/>
              <a:t>위한</a:t>
            </a:r>
            <a:r>
              <a:rPr lang="en-US" dirty="0"/>
              <a:t> </a:t>
            </a:r>
            <a:r>
              <a:rPr lang="en-US" dirty="0" err="1"/>
              <a:t>최적의</a:t>
            </a:r>
            <a:r>
              <a:rPr lang="en-US" dirty="0"/>
              <a:t> alpha 값 </a:t>
            </a:r>
            <a:r>
              <a:rPr lang="en-US" dirty="0" err="1"/>
              <a:t>찾기</a:t>
            </a:r>
            <a:endParaRPr dirty="0"/>
          </a:p>
        </p:txBody>
      </p:sp>
      <p:sp>
        <p:nvSpPr>
          <p:cNvPr id="817" name="Google Shape;817;p5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특성 공학과 규제(19)</a:t>
            </a:r>
            <a:endParaRPr/>
          </a:p>
        </p:txBody>
      </p:sp>
      <p:sp>
        <p:nvSpPr>
          <p:cNvPr id="818" name="Google Shape;818;p5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819" name="Google Shape;819;p5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마무리(1)</a:t>
            </a:r>
            <a:endParaRPr/>
          </a:p>
        </p:txBody>
      </p:sp>
      <p:sp>
        <p:nvSpPr>
          <p:cNvPr id="825" name="Google Shape;825;p5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826" name="Google Shape;826;p5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다중 회귀</a:t>
            </a:r>
            <a:r>
              <a:rPr lang="en-US"/>
              <a:t>는 여러 개의 특성을 사용하는 회귀 모델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특성이 많으면 선형 모델은 강력한 성능을 발휘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특성 공학</a:t>
            </a:r>
            <a:r>
              <a:rPr lang="en-US"/>
              <a:t>은 주어진 특성을 조합하여 새로운 특성을 만드는 일련의 작업 과정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릿지</a:t>
            </a:r>
            <a:r>
              <a:rPr lang="en-US"/>
              <a:t>는 규제가 있는 선형 회귀 모델 중 하나이며 선형 모델의 계수를 작게 만들어 과대적합을 완화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릿지는 비교적 효과가 좋아 널리 사용하는 규제 방법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라쏘</a:t>
            </a:r>
            <a:r>
              <a:rPr lang="en-US"/>
              <a:t>는 또 다른 규제가 있는 선형 회귀 모델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릿지와 달리 계수 값을 아예 0으로 만들 수도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하이퍼파라미터</a:t>
            </a:r>
            <a:r>
              <a:rPr lang="en-US"/>
              <a:t>는 머신러닝 알고리즘이 학습하지 않는 파라미터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이런 파라미터는 사람이 사전에 지정해야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대표적으로 릿지와 라쏘의 규제 강도 alpha 파라미터</a:t>
            </a:r>
            <a:endParaRPr/>
          </a:p>
        </p:txBody>
      </p:sp>
      <p:sp>
        <p:nvSpPr>
          <p:cNvPr id="827" name="Google Shape;827;p5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마무리(2)</a:t>
            </a:r>
            <a:endParaRPr/>
          </a:p>
        </p:txBody>
      </p:sp>
      <p:sp>
        <p:nvSpPr>
          <p:cNvPr id="833" name="Google Shape;833;p6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834" name="Google Shape;834;p6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pandas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read_csv( ): CSV 파일을 로컬 컴퓨터나 인터넷에서 읽어 판다스 데이터프레임으로 변환하는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자주 사용하는 매개변수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sep: CSV 파일의 구분자를 지정. 기본값은 ‘콤마(,)’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header에 데이터프레임의 열 이름으로 사용할 CSV 파일의 행 번호를 지정. 기본적으로 첫 번째 행을 열 이름으로 사용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skiprows는 파일에서 읽기 전에 건너뛸 행의 개수를 지정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nrows는 파일에서 읽을 행의 개수를 지정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835" name="Google Shape;835;p6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마무리(3)</a:t>
            </a:r>
            <a:endParaRPr/>
          </a:p>
        </p:txBody>
      </p:sp>
      <p:sp>
        <p:nvSpPr>
          <p:cNvPr id="841" name="Google Shape;841;p6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842" name="Google Shape;842;p6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49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PolynomialFeatures는 주어진 특성을 조합하여 새로운 특성을 만듦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degree는 최고 차수를 지정. 기본값은 2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interaction_only가 True이면 거듭제곱 항은 제외되고 특성 간의 곱셈 항만 추가됨. 기본값은 False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include_bias가 False이면 절편을 위한 특성을 추가하지 않음. 기본값은 True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Ridge는 규제가 있는 회귀 알고리즘인 릿지 회귀 모델을 훈련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alpha 매개변수로 규제의 강도를 조절.  alpha 값이 클수록 규제가 강해지며, 기본값은 1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solver 매개변수에 최적의 모델을 찾기 위한 방법을 지정할 수 있음. 기본값은 ‘auto’이며 데이터에 따라 자동으로 선택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사이킷런 0.17 버전에 추가된 ‘sag’는 확률적 평균 경사 하강법 알고리즘으로 특성과 샘플 수가 많을 때 성능이 빠르고 좋음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사이킷런 0.19 버전에는 ‘sag’의 개선 버전인 ‘saga’가 추가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random_state는 solver가 ‘sag’나 ‘saga’일 때 넘파이 난수 시드값을 지정할 수 있음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Lasso는 규제가 있는 회귀 알고리즘인 라쏘 회귀 모델을 훈련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이 클래스는 최적의 모델을 찾기 위해 좌표축을 따라 최적화를 수행해가는 좌표 하강법 coordinate descent을 사용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alpha와 random_state 매개변수는 Ridge 클래스와 동일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/>
              <a:t>max_iter는 알고리즘의 수행 반복 횟수를 지정. 기본값은 1000</a:t>
            </a:r>
            <a:endParaRPr/>
          </a:p>
        </p:txBody>
      </p:sp>
      <p:sp>
        <p:nvSpPr>
          <p:cNvPr id="843" name="Google Shape;843;p6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6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확인 문제</a:t>
            </a:r>
            <a:endParaRPr/>
          </a:p>
        </p:txBody>
      </p:sp>
      <p:sp>
        <p:nvSpPr>
          <p:cNvPr id="849" name="Google Shape;849;p6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850" name="Google Shape;850;p6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672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/>
              <a:t>a, b, c </a:t>
            </a:r>
            <a:r>
              <a:rPr lang="en-US" dirty="0" err="1"/>
              <a:t>특성으로</a:t>
            </a:r>
            <a:r>
              <a:rPr lang="en-US" dirty="0"/>
              <a:t> </a:t>
            </a:r>
            <a:r>
              <a:rPr lang="en-US" dirty="0" err="1"/>
              <a:t>이루어진</a:t>
            </a:r>
            <a:r>
              <a:rPr lang="en-US" dirty="0"/>
              <a:t> </a:t>
            </a:r>
            <a:r>
              <a:rPr lang="en-US" dirty="0" err="1"/>
              <a:t>훈련</a:t>
            </a:r>
            <a:r>
              <a:rPr lang="en-US" dirty="0"/>
              <a:t> </a:t>
            </a:r>
            <a:r>
              <a:rPr lang="en-US" dirty="0" err="1"/>
              <a:t>세트를</a:t>
            </a:r>
            <a:r>
              <a:rPr lang="en-US" dirty="0"/>
              <a:t> </a:t>
            </a:r>
            <a:r>
              <a:rPr lang="en-US" dirty="0" err="1"/>
              <a:t>PolynomialFeatures</a:t>
            </a:r>
            <a:r>
              <a:rPr lang="en-US" dirty="0"/>
              <a:t>(degree=3)</a:t>
            </a:r>
            <a:r>
              <a:rPr lang="en-US" dirty="0" err="1"/>
              <a:t>으로</a:t>
            </a:r>
            <a:r>
              <a:rPr lang="en-US" dirty="0"/>
              <a:t> </a:t>
            </a:r>
            <a:r>
              <a:rPr lang="en-US" dirty="0" err="1"/>
              <a:t>변환했다</a:t>
            </a:r>
            <a:r>
              <a:rPr lang="en-US" dirty="0"/>
              <a:t>. </a:t>
            </a:r>
            <a:r>
              <a:rPr lang="en-US" dirty="0" err="1"/>
              <a:t>다음</a:t>
            </a:r>
            <a:r>
              <a:rPr lang="en-US" dirty="0"/>
              <a:t> 중 이 </a:t>
            </a:r>
            <a:r>
              <a:rPr lang="en-US" dirty="0" err="1"/>
              <a:t>변환된</a:t>
            </a:r>
            <a:r>
              <a:rPr lang="en-US" dirty="0"/>
              <a:t> </a:t>
            </a:r>
            <a:r>
              <a:rPr lang="en-US" dirty="0" err="1"/>
              <a:t>데이터에</a:t>
            </a:r>
            <a:r>
              <a:rPr lang="en-US" dirty="0"/>
              <a:t> </a:t>
            </a:r>
            <a:r>
              <a:rPr lang="en-US" dirty="0" err="1"/>
              <a:t>포함되지</a:t>
            </a:r>
            <a:r>
              <a:rPr lang="en-US" dirty="0"/>
              <a:t> </a:t>
            </a:r>
            <a:r>
              <a:rPr lang="en-US" dirty="0" err="1"/>
              <a:t>않는</a:t>
            </a:r>
            <a:r>
              <a:rPr lang="en-US" dirty="0"/>
              <a:t> </a:t>
            </a:r>
            <a:r>
              <a:rPr lang="en-US" dirty="0" err="1"/>
              <a:t>특성은</a:t>
            </a:r>
            <a:r>
              <a:rPr lang="en-US" dirty="0"/>
              <a:t> </a:t>
            </a:r>
            <a:r>
              <a:rPr lang="en-US" dirty="0" err="1"/>
              <a:t>무엇인가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1		② a		③ a * b		④ a * b</a:t>
            </a:r>
            <a:r>
              <a:rPr lang="en-US" baseline="30000" dirty="0"/>
              <a:t>3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aseline="30000" dirty="0"/>
          </a:p>
          <a:p>
            <a:pPr marL="342900" lvl="0" indent="-352425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dirty="0" err="1"/>
              <a:t>다음</a:t>
            </a:r>
            <a:r>
              <a:rPr lang="en-US" dirty="0"/>
              <a:t> 중 </a:t>
            </a:r>
            <a:r>
              <a:rPr lang="en-US" dirty="0" err="1"/>
              <a:t>특성을</a:t>
            </a:r>
            <a:r>
              <a:rPr lang="en-US" dirty="0"/>
              <a:t> </a:t>
            </a:r>
            <a:r>
              <a:rPr lang="en-US" dirty="0" err="1"/>
              <a:t>표준화하는</a:t>
            </a:r>
            <a:r>
              <a:rPr lang="en-US" dirty="0"/>
              <a:t> </a:t>
            </a:r>
            <a:r>
              <a:rPr lang="en-US" dirty="0" err="1"/>
              <a:t>사이킷런</a:t>
            </a:r>
            <a:r>
              <a:rPr lang="en-US" dirty="0"/>
              <a:t> </a:t>
            </a:r>
            <a:r>
              <a:rPr lang="en-US" dirty="0" err="1"/>
              <a:t>변환기</a:t>
            </a:r>
            <a:r>
              <a:rPr lang="en-US" dirty="0"/>
              <a:t> </a:t>
            </a:r>
            <a:r>
              <a:rPr lang="en-US" dirty="0" err="1"/>
              <a:t>클래스는</a:t>
            </a:r>
            <a:r>
              <a:rPr lang="en-US" dirty="0"/>
              <a:t> </a:t>
            </a:r>
            <a:r>
              <a:rPr lang="en-US" dirty="0" err="1"/>
              <a:t>무엇인가</a:t>
            </a:r>
            <a:r>
              <a:rPr lang="en-US" dirty="0"/>
              <a:t>?</a:t>
            </a:r>
            <a:endParaRPr dirty="0"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① Ridge				② Lasso		</a:t>
            </a:r>
            <a:br>
              <a:rPr lang="en-US" dirty="0"/>
            </a:br>
            <a:r>
              <a:rPr lang="en-US" dirty="0"/>
              <a:t>③ </a:t>
            </a:r>
            <a:r>
              <a:rPr lang="en-US" dirty="0" err="1"/>
              <a:t>StandardScaler</a:t>
            </a:r>
            <a:r>
              <a:rPr lang="en-US" dirty="0"/>
              <a:t>	④ </a:t>
            </a:r>
            <a:r>
              <a:rPr lang="en-US" dirty="0" err="1"/>
              <a:t>LinearRegression</a:t>
            </a:r>
            <a:endParaRPr dirty="0"/>
          </a:p>
        </p:txBody>
      </p:sp>
      <p:sp>
        <p:nvSpPr>
          <p:cNvPr id="851" name="Google Shape;851;p6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43e040fc38_0_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3-3 확인 문제</a:t>
            </a:r>
            <a:endParaRPr/>
          </a:p>
        </p:txBody>
      </p:sp>
      <p:sp>
        <p:nvSpPr>
          <p:cNvPr id="857" name="Google Shape;857;g343e040fc38_0_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858" name="Google Shape;858;g343e040fc38_0_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52425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다음 중 과대적합과 과소적합을 올바르게 표현하지 못한 것은 무엇인가?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과대적합인 모델은 훈련 세트의 점수가 높음		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② 과대적합인 모델은 테스트 세트의 점수도 높음		</a:t>
            </a:r>
            <a:br>
              <a:rPr lang="en-US"/>
            </a:br>
            <a:r>
              <a:rPr lang="en-US"/>
              <a:t>③ 과소적합인 모델은 훈련 세트의 점수가 낮음	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④ 과소적합인 모델은 테스트 세트의 점수도 낮음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69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/>
              <a:t>다음 중 훈련하기 전에 특성을 표준화해야 하는 모델 클래스를 모두 고르세요.</a:t>
            </a:r>
            <a:endParaRPr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① KNeighborsClassifier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② KNeighborsRegressor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③ Ridge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/>
              <a:t>④ Lasso</a:t>
            </a:r>
            <a:endParaRPr sz="1800"/>
          </a:p>
        </p:txBody>
      </p:sp>
      <p:sp>
        <p:nvSpPr>
          <p:cNvPr id="859" name="Google Shape;859;g343e040fc38_0_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8098</Words>
  <Application>Microsoft Office PowerPoint</Application>
  <PresentationFormat>와이드스크린</PresentationFormat>
  <Paragraphs>1018</Paragraphs>
  <Slides>62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8" baseType="lpstr">
      <vt:lpstr>Noto Sans Symbols</vt:lpstr>
      <vt:lpstr>Arial</vt:lpstr>
      <vt:lpstr>Helvetica Neue Light</vt:lpstr>
      <vt:lpstr>Calibri</vt:lpstr>
      <vt:lpstr>Malgun Gothic</vt:lpstr>
      <vt:lpstr>Office 테마</vt:lpstr>
      <vt:lpstr>인공지능 </vt:lpstr>
      <vt:lpstr>PowerPoint 프레젠테이션</vt:lpstr>
      <vt:lpstr>Contents</vt:lpstr>
      <vt:lpstr>PowerPoint 프레젠테이션</vt:lpstr>
      <vt:lpstr>SECTION 3-1 k-최근접 이웃 회귀(1)</vt:lpstr>
      <vt:lpstr>SECTION 3-1 k-최근접 이웃 회귀(2)</vt:lpstr>
      <vt:lpstr>SECTION 3-1 k-최근접 이웃 회귀(3)</vt:lpstr>
      <vt:lpstr>SECTION 3-1 k-최근접 이웃 회귀(4)</vt:lpstr>
      <vt:lpstr>SECTION 3-1 k-최근접 이웃 회귀(5)</vt:lpstr>
      <vt:lpstr>SECTION 3-1 k-최근접 이웃 회귀(6)</vt:lpstr>
      <vt:lpstr>SECTION 3-1 k-최근접 이웃 회귀(7)</vt:lpstr>
      <vt:lpstr>SECTION 3-1 k-최근접 이웃 회귀(8)</vt:lpstr>
      <vt:lpstr>SECTION 3-1 k-최근접 이웃 회귀(9)</vt:lpstr>
      <vt:lpstr>SECTION 3-1 k-최근접 이웃 회귀(10)</vt:lpstr>
      <vt:lpstr>SECTION 3-1 k-최근접 이웃 회귀(11)</vt:lpstr>
      <vt:lpstr>SECTION 3-1 k-최근접 이웃 회귀(12)</vt:lpstr>
      <vt:lpstr>SECTION 3-1 k-최근접 이웃 회귀(13)</vt:lpstr>
      <vt:lpstr>SECTION 3-1 k-최근접 이웃 회귀(14)</vt:lpstr>
      <vt:lpstr>SECTION 3-1 마무리(1)</vt:lpstr>
      <vt:lpstr>SECTION 3-1 마무리(2)</vt:lpstr>
      <vt:lpstr>SECTION 3-1 확인 문제</vt:lpstr>
      <vt:lpstr>SECTION 3-2 선형 회귀(1)</vt:lpstr>
      <vt:lpstr>SECTION 3-2 선형 회귀(2)</vt:lpstr>
      <vt:lpstr>SECTION 3-2 선형 회귀(3)</vt:lpstr>
      <vt:lpstr>SECTION 3-2 선형 회귀(4)</vt:lpstr>
      <vt:lpstr>SECTION 3-2 선형 회귀(5)</vt:lpstr>
      <vt:lpstr>SECTION 3-2 선형 회귀(6)</vt:lpstr>
      <vt:lpstr>SECTION 3-2 선형 회귀(7)</vt:lpstr>
      <vt:lpstr>SECTION 3-2 선형 회귀(8)</vt:lpstr>
      <vt:lpstr>SECTION 3-2 선형 회귀(8)</vt:lpstr>
      <vt:lpstr>SECTION 3-2 선형 회귀(9)</vt:lpstr>
      <vt:lpstr>SECTION 3-2 선형 회귀(10)</vt:lpstr>
      <vt:lpstr>SECTION 3-2 선형 회귀(11)</vt:lpstr>
      <vt:lpstr>SECTION 3-2 선형 회귀(12)</vt:lpstr>
      <vt:lpstr>SECTION 3-2 선형 회귀(13)</vt:lpstr>
      <vt:lpstr>SECTION 3-2 마무리</vt:lpstr>
      <vt:lpstr>SECTION 3-2 확인 문제</vt:lpstr>
      <vt:lpstr>SECTION 3-2 확인 문제</vt:lpstr>
      <vt:lpstr>SECTION 3-3 특성 공학과 규제(1)</vt:lpstr>
      <vt:lpstr>SECTION 3-3 특성 공학과 규제(2)</vt:lpstr>
      <vt:lpstr>SECTION 3-3 특성 공학과 규제(3)</vt:lpstr>
      <vt:lpstr>SECTION 3-3 특성 공학과 규제(4)</vt:lpstr>
      <vt:lpstr>SECTION 3-3 특성 공학과 규제(5)</vt:lpstr>
      <vt:lpstr>SECTION 3-3 특성 공학과 규제(6)</vt:lpstr>
      <vt:lpstr>SECTION 3-3 특성 공학과 규제(7)</vt:lpstr>
      <vt:lpstr>SECTION 3-3 특성 공학과 규제(8)</vt:lpstr>
      <vt:lpstr>SECTION 3-3 특성 공학과 규제(9)</vt:lpstr>
      <vt:lpstr>SECTION 3-3 특성 공학과 규제(10)</vt:lpstr>
      <vt:lpstr>SECTION 3-3 특성 공학과 규제(11)</vt:lpstr>
      <vt:lpstr>SECTION 3-3 특성 공학과 규제(12)</vt:lpstr>
      <vt:lpstr>SECTION 3-3 특성 공학과 규제(13)</vt:lpstr>
      <vt:lpstr>SECTION 3-3 특성 공학과 규제(14)</vt:lpstr>
      <vt:lpstr>SECTION 3-3 특성 공학과 규제(15)</vt:lpstr>
      <vt:lpstr>SECTION 3-3 특성 공학과 규제(16)</vt:lpstr>
      <vt:lpstr>SECTION 3-3 특성 공학과 규제(17)</vt:lpstr>
      <vt:lpstr>SECTION 3-3 특성 공학과 규제(18)</vt:lpstr>
      <vt:lpstr>SECTION 3-3 특성 공학과 규제(19)</vt:lpstr>
      <vt:lpstr>SECTION 3-3 마무리(1)</vt:lpstr>
      <vt:lpstr>SECTION 3-3 마무리(2)</vt:lpstr>
      <vt:lpstr>SECTION 3-3 마무리(3)</vt:lpstr>
      <vt:lpstr>SECTION 3-3 확인 문제</vt:lpstr>
      <vt:lpstr>SECTION 3-3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혼자 공부하는 머신러닝+딥러닝 (개정판)</dc:title>
  <dc:creator>마케팅팀</dc:creator>
  <cp:lastModifiedBy>상돈 박</cp:lastModifiedBy>
  <cp:revision>11</cp:revision>
  <dcterms:created xsi:type="dcterms:W3CDTF">2020-01-31T07:25:46Z</dcterms:created>
  <dcterms:modified xsi:type="dcterms:W3CDTF">2026-03-16T10:44:01Z</dcterms:modified>
</cp:coreProperties>
</file>