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48" r:id="rId1"/>
  </p:sldMasterIdLst>
  <p:notesMasterIdLst>
    <p:notesMasterId r:id="rId9"/>
  </p:notesMasterIdLst>
  <p:sldIdLst>
    <p:sldId id="257" r:id="rId2"/>
    <p:sldId id="303" r:id="rId3"/>
    <p:sldId id="260" r:id="rId4"/>
    <p:sldId id="304" r:id="rId5"/>
    <p:sldId id="305" r:id="rId6"/>
    <p:sldId id="307" r:id="rId7"/>
    <p:sldId id="308" r:id="rId8"/>
  </p:sldIdLst>
  <p:sldSz cx="12192000" cy="6858000"/>
  <p:notesSz cx="6858000" cy="9144000"/>
  <p:embeddedFontLst>
    <p:embeddedFont>
      <p:font typeface="Malgun Gothic" panose="020B0503020000020004" pitchFamily="50" charset="-127"/>
      <p:regular r:id="rId10"/>
      <p:bold r:id="rId11"/>
    </p:embeddedFont>
    <p:embeddedFont>
      <p:font typeface="Calibri" panose="020F0502020204030204" pitchFamily="34" charset="0"/>
      <p:regular r:id="rId12"/>
      <p:bold r:id="rId13"/>
      <p:italic r:id="rId14"/>
      <p:boldItalic r:id="rId15"/>
    </p:embeddedFont>
    <p:embeddedFont>
      <p:font typeface="Noto Sans Symbols" pitchFamily="2" charset="0"/>
      <p:regular r:id="rId16"/>
      <p:bold r:id="rId1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341">
          <p15:clr>
            <a:srgbClr val="A4A3A4"/>
          </p15:clr>
        </p15:guide>
        <p15:guide id="2" pos="3840">
          <p15:clr>
            <a:srgbClr val="A4A3A4"/>
          </p15:clr>
        </p15:guide>
        <p15:guide id="3" pos="3999">
          <p15:clr>
            <a:srgbClr val="A4A3A4"/>
          </p15:clr>
        </p15:guide>
        <p15:guide id="4" orient="horz" pos="2591">
          <p15:clr>
            <a:srgbClr val="A4A3A4"/>
          </p15:clr>
        </p15:guide>
        <p15:guide id="5" pos="960">
          <p15:clr>
            <a:srgbClr val="A4A3A4"/>
          </p15:clr>
        </p15:guide>
        <p15:guide id="6" orient="horz" pos="1797">
          <p15:clr>
            <a:srgbClr val="A4A3A4"/>
          </p15:clr>
        </p15:guide>
        <p15:guide id="7" orient="horz" pos="504">
          <p15:clr>
            <a:srgbClr val="A4A3A4"/>
          </p15:clr>
        </p15:guide>
        <p15:guide id="8" pos="506">
          <p15:clr>
            <a:srgbClr val="A4A3A4"/>
          </p15:clr>
        </p15:guide>
        <p15:guide id="9" pos="7174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61" roundtripDataSignature="AMtx7mgQh/JTZB+tcnoesXfhZuEldfv5O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C014BDC-B06A-43B6-9D0A-1BB114C4A0B7}">
  <a:tblStyle styleId="{FC014BDC-B06A-43B6-9D0A-1BB114C4A0B7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7F2E8"/>
          </a:solidFill>
        </a:fill>
      </a:tcStyle>
    </a:wholeTbl>
    <a:band1H>
      <a:tcTxStyle/>
      <a:tcStyle>
        <a:tcBdr/>
        <a:fill>
          <a:solidFill>
            <a:srgbClr val="CCE5CE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CE5CE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AB367915-EC1C-4A17-8A3B-353DF6489126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  <a:tcStyle>
        <a:tcBdr/>
        <a:fill>
          <a:solidFill>
            <a:schemeClr val="dk1">
              <a:alpha val="2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dk1">
              <a:alpha val="20000"/>
            </a:schemeClr>
          </a:solidFill>
        </a:fill>
      </a:tcStyle>
    </a:band1V>
    <a:band2V>
      <a:tcTxStyle/>
      <a:tcStyle>
        <a:tcBdr/>
      </a:tcStyle>
    </a:band2V>
    <a:lastCol>
      <a:tcTxStyle b="on" i="off"/>
      <a:tcStyle>
        <a:tcBdr/>
      </a:tcStyle>
    </a:lastCol>
    <a:firstCol>
      <a:tcTxStyle b="on" i="off"/>
      <a:tcStyle>
        <a:tcBdr/>
      </a:tcStyle>
    </a:firstCol>
    <a:lastRow>
      <a:tcTxStyle b="on" i="off"/>
      <a:tcStyle>
        <a:tcBdr>
          <a:top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rgbClr val="FFFFFF">
              <a:alpha val="0"/>
            </a:srgbClr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/>
      <a:tcStyle>
        <a:tcBdr>
          <a:bottom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rgbClr val="FFFFFF">
              <a:alpha val="0"/>
            </a:srgbClr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8" d="100"/>
          <a:sy n="108" d="100"/>
        </p:scale>
        <p:origin x="678" y="138"/>
      </p:cViewPr>
      <p:guideLst>
        <p:guide orient="horz" pos="2341"/>
        <p:guide pos="3840"/>
        <p:guide pos="3999"/>
        <p:guide orient="horz" pos="2591"/>
        <p:guide pos="960"/>
        <p:guide orient="horz" pos="1797"/>
        <p:guide orient="horz" pos="504"/>
        <p:guide pos="506"/>
        <p:guide pos="7174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00" d="100"/>
          <a:sy n="100" d="100"/>
        </p:scale>
        <p:origin x="0" y="0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3" Type="http://schemas.openxmlformats.org/officeDocument/2006/relationships/slide" Target="slides/slide2.xml"/><Relationship Id="rId63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schemas.openxmlformats.org/officeDocument/2006/relationships/font" Target="fonts/font8.fntdata"/><Relationship Id="rId2" Type="http://schemas.openxmlformats.org/officeDocument/2006/relationships/slide" Target="slides/slide1.xml"/><Relationship Id="rId16" Type="http://schemas.openxmlformats.org/officeDocument/2006/relationships/font" Target="fonts/font7.fntdata"/><Relationship Id="rId6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font" Target="fonts/font6.fntdata"/><Relationship Id="rId61" Type="http://customschemas.google.com/relationships/presentationmetadata" Target="metadata"/><Relationship Id="rId10" Type="http://schemas.openxmlformats.org/officeDocument/2006/relationships/font" Target="fonts/font1.fntdata"/><Relationship Id="rId65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font" Target="fonts/font5.fntdata"/><Relationship Id="rId6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4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4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" name="Google Shape;79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4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7" name="Google Shape;197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표지">
  <p:cSld name="표지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7"/>
          <p:cNvSpPr/>
          <p:nvPr/>
        </p:nvSpPr>
        <p:spPr>
          <a:xfrm rot="10800000">
            <a:off x="-3" y="-3"/>
            <a:ext cx="8697688" cy="5529945"/>
          </a:xfrm>
          <a:custGeom>
            <a:avLst/>
            <a:gdLst/>
            <a:ahLst/>
            <a:cxnLst/>
            <a:rect l="l" t="t" r="r" b="b"/>
            <a:pathLst>
              <a:path w="113764" h="66545" extrusionOk="0">
                <a:moveTo>
                  <a:pt x="113763" y="1"/>
                </a:moveTo>
                <a:cubicBezTo>
                  <a:pt x="113763" y="1"/>
                  <a:pt x="94363" y="5103"/>
                  <a:pt x="77775" y="33272"/>
                </a:cubicBezTo>
                <a:cubicBezTo>
                  <a:pt x="67864" y="50104"/>
                  <a:pt x="57286" y="53491"/>
                  <a:pt x="45819" y="53491"/>
                </a:cubicBezTo>
                <a:cubicBezTo>
                  <a:pt x="38095" y="53491"/>
                  <a:pt x="29967" y="51954"/>
                  <a:pt x="21367" y="51954"/>
                </a:cubicBezTo>
                <a:cubicBezTo>
                  <a:pt x="0" y="51954"/>
                  <a:pt x="792" y="66545"/>
                  <a:pt x="792" y="66545"/>
                </a:cubicBezTo>
                <a:lnTo>
                  <a:pt x="113763" y="66545"/>
                </a:lnTo>
                <a:lnTo>
                  <a:pt x="113763" y="1"/>
                </a:ln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4BB0A0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7;p47"/>
          <p:cNvSpPr/>
          <p:nvPr/>
        </p:nvSpPr>
        <p:spPr>
          <a:xfrm rot="10800000">
            <a:off x="3799114" y="2286000"/>
            <a:ext cx="8392886" cy="4572000"/>
          </a:xfrm>
          <a:custGeom>
            <a:avLst/>
            <a:gdLst/>
            <a:ahLst/>
            <a:cxnLst/>
            <a:rect l="l" t="t" r="r" b="b"/>
            <a:pathLst>
              <a:path w="106741" h="62325" extrusionOk="0">
                <a:moveTo>
                  <a:pt x="106740" y="0"/>
                </a:moveTo>
                <a:lnTo>
                  <a:pt x="1" y="83"/>
                </a:lnTo>
                <a:lnTo>
                  <a:pt x="1" y="61346"/>
                </a:lnTo>
                <a:cubicBezTo>
                  <a:pt x="1" y="61346"/>
                  <a:pt x="3546" y="62324"/>
                  <a:pt x="8431" y="62324"/>
                </a:cubicBezTo>
                <a:cubicBezTo>
                  <a:pt x="17345" y="62324"/>
                  <a:pt x="30721" y="59067"/>
                  <a:pt x="35169" y="40668"/>
                </a:cubicBezTo>
                <a:cubicBezTo>
                  <a:pt x="39815" y="21454"/>
                  <a:pt x="48059" y="15875"/>
                  <a:pt x="55684" y="15875"/>
                </a:cubicBezTo>
                <a:cubicBezTo>
                  <a:pt x="59361" y="15875"/>
                  <a:pt x="62895" y="17173"/>
                  <a:pt x="65811" y="18864"/>
                </a:cubicBezTo>
                <a:cubicBezTo>
                  <a:pt x="71333" y="22067"/>
                  <a:pt x="77411" y="23685"/>
                  <a:pt x="83155" y="23685"/>
                </a:cubicBezTo>
                <a:cubicBezTo>
                  <a:pt x="95750" y="23685"/>
                  <a:pt x="106740" y="15906"/>
                  <a:pt x="106740" y="0"/>
                </a:cubicBez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52AEE1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47"/>
          <p:cNvSpPr txBox="1">
            <a:spLocks noGrp="1"/>
          </p:cNvSpPr>
          <p:nvPr>
            <p:ph type="ctrTitle"/>
          </p:nvPr>
        </p:nvSpPr>
        <p:spPr>
          <a:xfrm>
            <a:off x="703254" y="1780334"/>
            <a:ext cx="7009510" cy="35918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algun Gothic"/>
              <a:buNone/>
              <a:defRPr sz="5200" b="1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9" name="Google Shape;19;p47"/>
          <p:cNvSpPr txBox="1">
            <a:spLocks noGrp="1"/>
          </p:cNvSpPr>
          <p:nvPr>
            <p:ph type="subTitle" idx="1"/>
          </p:nvPr>
        </p:nvSpPr>
        <p:spPr>
          <a:xfrm>
            <a:off x="8202127" y="5077666"/>
            <a:ext cx="3268457" cy="10724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9pPr>
          </a:lstStyle>
          <a:p>
            <a:endParaRPr/>
          </a:p>
        </p:txBody>
      </p:sp>
      <p:cxnSp>
        <p:nvCxnSpPr>
          <p:cNvPr id="20" name="Google Shape;20;p47"/>
          <p:cNvCxnSpPr/>
          <p:nvPr/>
        </p:nvCxnSpPr>
        <p:spPr>
          <a:xfrm>
            <a:off x="708848" y="662121"/>
            <a:ext cx="0" cy="872100"/>
          </a:xfrm>
          <a:prstGeom prst="straightConnector1">
            <a:avLst/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내지1">
  <p:cSld name="내지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8"/>
          <p:cNvSpPr/>
          <p:nvPr/>
        </p:nvSpPr>
        <p:spPr>
          <a:xfrm>
            <a:off x="-9939" y="-19878"/>
            <a:ext cx="1402629" cy="671349"/>
          </a:xfrm>
          <a:custGeom>
            <a:avLst/>
            <a:gdLst/>
            <a:ahLst/>
            <a:cxnLst/>
            <a:rect l="l" t="t" r="r" b="b"/>
            <a:pathLst>
              <a:path w="106741" h="62325" extrusionOk="0">
                <a:moveTo>
                  <a:pt x="106740" y="0"/>
                </a:moveTo>
                <a:lnTo>
                  <a:pt x="1" y="83"/>
                </a:lnTo>
                <a:lnTo>
                  <a:pt x="1" y="61346"/>
                </a:lnTo>
                <a:cubicBezTo>
                  <a:pt x="1" y="61346"/>
                  <a:pt x="3546" y="62324"/>
                  <a:pt x="8431" y="62324"/>
                </a:cubicBezTo>
                <a:cubicBezTo>
                  <a:pt x="17345" y="62324"/>
                  <a:pt x="30721" y="59067"/>
                  <a:pt x="35169" y="40668"/>
                </a:cubicBezTo>
                <a:cubicBezTo>
                  <a:pt x="39815" y="21454"/>
                  <a:pt x="48059" y="15875"/>
                  <a:pt x="55684" y="15875"/>
                </a:cubicBezTo>
                <a:cubicBezTo>
                  <a:pt x="59361" y="15875"/>
                  <a:pt x="62895" y="17173"/>
                  <a:pt x="65811" y="18864"/>
                </a:cubicBezTo>
                <a:cubicBezTo>
                  <a:pt x="71333" y="22067"/>
                  <a:pt x="77411" y="23685"/>
                  <a:pt x="83155" y="23685"/>
                </a:cubicBezTo>
                <a:cubicBezTo>
                  <a:pt x="95750" y="23685"/>
                  <a:pt x="106740" y="15906"/>
                  <a:pt x="106740" y="0"/>
                </a:cubicBez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52AEE1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48"/>
          <p:cNvSpPr/>
          <p:nvPr/>
        </p:nvSpPr>
        <p:spPr>
          <a:xfrm>
            <a:off x="10555357" y="5655364"/>
            <a:ext cx="1648441" cy="1209683"/>
          </a:xfrm>
          <a:custGeom>
            <a:avLst/>
            <a:gdLst/>
            <a:ahLst/>
            <a:cxnLst/>
            <a:rect l="l" t="t" r="r" b="b"/>
            <a:pathLst>
              <a:path w="113764" h="66545" extrusionOk="0">
                <a:moveTo>
                  <a:pt x="113763" y="1"/>
                </a:moveTo>
                <a:cubicBezTo>
                  <a:pt x="113763" y="1"/>
                  <a:pt x="94363" y="5103"/>
                  <a:pt x="77775" y="33272"/>
                </a:cubicBezTo>
                <a:cubicBezTo>
                  <a:pt x="67864" y="50104"/>
                  <a:pt x="57286" y="53491"/>
                  <a:pt x="45819" y="53491"/>
                </a:cubicBezTo>
                <a:cubicBezTo>
                  <a:pt x="38095" y="53491"/>
                  <a:pt x="29967" y="51954"/>
                  <a:pt x="21367" y="51954"/>
                </a:cubicBezTo>
                <a:cubicBezTo>
                  <a:pt x="0" y="51954"/>
                  <a:pt x="792" y="66545"/>
                  <a:pt x="792" y="66545"/>
                </a:cubicBezTo>
                <a:lnTo>
                  <a:pt x="113763" y="66545"/>
                </a:lnTo>
                <a:lnTo>
                  <a:pt x="113763" y="1"/>
                </a:ln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4BB0A0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48"/>
          <p:cNvSpPr txBox="1">
            <a:spLocks noGrp="1"/>
          </p:cNvSpPr>
          <p:nvPr>
            <p:ph type="sldNum" idx="12"/>
          </p:nvPr>
        </p:nvSpPr>
        <p:spPr>
          <a:xfrm>
            <a:off x="11691731" y="6483194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  <p:sp>
        <p:nvSpPr>
          <p:cNvPr id="25" name="Google Shape;25;p48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  <a:defRPr sz="3000" b="1">
                <a:solidFill>
                  <a:srgbClr val="F0643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8"/>
          <p:cNvSpPr txBox="1">
            <a:spLocks noGrp="1"/>
          </p:cNvSpPr>
          <p:nvPr>
            <p:ph type="body" idx="1"/>
          </p:nvPr>
        </p:nvSpPr>
        <p:spPr>
          <a:xfrm>
            <a:off x="1030287" y="1415600"/>
            <a:ext cx="10080625" cy="4630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55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7" name="Google Shape;27;p48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>
                <a:solidFill>
                  <a:schemeClr val="dk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사용자 지정 레이아웃">
  <p:cSld name="1_사용자 지정 레이아웃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50"/>
          <p:cNvSpPr/>
          <p:nvPr/>
        </p:nvSpPr>
        <p:spPr>
          <a:xfrm>
            <a:off x="-9939" y="-19878"/>
            <a:ext cx="1402629" cy="671349"/>
          </a:xfrm>
          <a:custGeom>
            <a:avLst/>
            <a:gdLst/>
            <a:ahLst/>
            <a:cxnLst/>
            <a:rect l="l" t="t" r="r" b="b"/>
            <a:pathLst>
              <a:path w="106741" h="62325" extrusionOk="0">
                <a:moveTo>
                  <a:pt x="106740" y="0"/>
                </a:moveTo>
                <a:lnTo>
                  <a:pt x="1" y="83"/>
                </a:lnTo>
                <a:lnTo>
                  <a:pt x="1" y="61346"/>
                </a:lnTo>
                <a:cubicBezTo>
                  <a:pt x="1" y="61346"/>
                  <a:pt x="3546" y="62324"/>
                  <a:pt x="8431" y="62324"/>
                </a:cubicBezTo>
                <a:cubicBezTo>
                  <a:pt x="17345" y="62324"/>
                  <a:pt x="30721" y="59067"/>
                  <a:pt x="35169" y="40668"/>
                </a:cubicBezTo>
                <a:cubicBezTo>
                  <a:pt x="39815" y="21454"/>
                  <a:pt x="48059" y="15875"/>
                  <a:pt x="55684" y="15875"/>
                </a:cubicBezTo>
                <a:cubicBezTo>
                  <a:pt x="59361" y="15875"/>
                  <a:pt x="62895" y="17173"/>
                  <a:pt x="65811" y="18864"/>
                </a:cubicBezTo>
                <a:cubicBezTo>
                  <a:pt x="71333" y="22067"/>
                  <a:pt x="77411" y="23685"/>
                  <a:pt x="83155" y="23685"/>
                </a:cubicBezTo>
                <a:cubicBezTo>
                  <a:pt x="95750" y="23685"/>
                  <a:pt x="106740" y="15906"/>
                  <a:pt x="106740" y="0"/>
                </a:cubicBez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52AEE1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50"/>
          <p:cNvSpPr/>
          <p:nvPr/>
        </p:nvSpPr>
        <p:spPr>
          <a:xfrm>
            <a:off x="10555357" y="5655364"/>
            <a:ext cx="1648441" cy="1209683"/>
          </a:xfrm>
          <a:custGeom>
            <a:avLst/>
            <a:gdLst/>
            <a:ahLst/>
            <a:cxnLst/>
            <a:rect l="l" t="t" r="r" b="b"/>
            <a:pathLst>
              <a:path w="113764" h="66545" extrusionOk="0">
                <a:moveTo>
                  <a:pt x="113763" y="1"/>
                </a:moveTo>
                <a:cubicBezTo>
                  <a:pt x="113763" y="1"/>
                  <a:pt x="94363" y="5103"/>
                  <a:pt x="77775" y="33272"/>
                </a:cubicBezTo>
                <a:cubicBezTo>
                  <a:pt x="67864" y="50104"/>
                  <a:pt x="57286" y="53491"/>
                  <a:pt x="45819" y="53491"/>
                </a:cubicBezTo>
                <a:cubicBezTo>
                  <a:pt x="38095" y="53491"/>
                  <a:pt x="29967" y="51954"/>
                  <a:pt x="21367" y="51954"/>
                </a:cubicBezTo>
                <a:cubicBezTo>
                  <a:pt x="0" y="51954"/>
                  <a:pt x="792" y="66545"/>
                  <a:pt x="792" y="66545"/>
                </a:cubicBezTo>
                <a:lnTo>
                  <a:pt x="113763" y="66545"/>
                </a:lnTo>
                <a:lnTo>
                  <a:pt x="113763" y="1"/>
                </a:ln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4BB0A0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50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  <a:defRPr sz="3000" b="1">
                <a:solidFill>
                  <a:srgbClr val="F0643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50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  <p:sp>
        <p:nvSpPr>
          <p:cNvPr id="44" name="Google Shape;44;p50"/>
          <p:cNvSpPr txBox="1">
            <a:spLocks noGrp="1"/>
          </p:cNvSpPr>
          <p:nvPr>
            <p:ph type="body" idx="1"/>
          </p:nvPr>
        </p:nvSpPr>
        <p:spPr>
          <a:xfrm>
            <a:off x="487015" y="815008"/>
            <a:ext cx="11281052" cy="21866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55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4BB0A0"/>
              </a:buClr>
              <a:buSzPts val="2000"/>
              <a:buFont typeface="Arial"/>
              <a:buChar char="◦"/>
              <a:defRPr sz="2000"/>
            </a:lvl1pPr>
            <a:lvl2pPr marL="914400" lvl="1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⁃"/>
              <a:defRPr sz="1800"/>
            </a:lvl2pPr>
            <a:lvl3pPr marL="1371600" lvl="2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3pPr>
            <a:lvl4pPr marL="1828800" lvl="3" indent="-3175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4pPr>
            <a:lvl5pPr marL="2286000" lvl="4" indent="-3175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5" name="Google Shape;45;p50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>
                <a:solidFill>
                  <a:schemeClr val="dk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목차">
  <p:cSld name="목차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51"/>
          <p:cNvSpPr/>
          <p:nvPr/>
        </p:nvSpPr>
        <p:spPr>
          <a:xfrm>
            <a:off x="-9939" y="-19878"/>
            <a:ext cx="1402629" cy="671349"/>
          </a:xfrm>
          <a:custGeom>
            <a:avLst/>
            <a:gdLst/>
            <a:ahLst/>
            <a:cxnLst/>
            <a:rect l="l" t="t" r="r" b="b"/>
            <a:pathLst>
              <a:path w="106741" h="62325" extrusionOk="0">
                <a:moveTo>
                  <a:pt x="106740" y="0"/>
                </a:moveTo>
                <a:lnTo>
                  <a:pt x="1" y="83"/>
                </a:lnTo>
                <a:lnTo>
                  <a:pt x="1" y="61346"/>
                </a:lnTo>
                <a:cubicBezTo>
                  <a:pt x="1" y="61346"/>
                  <a:pt x="3546" y="62324"/>
                  <a:pt x="8431" y="62324"/>
                </a:cubicBezTo>
                <a:cubicBezTo>
                  <a:pt x="17345" y="62324"/>
                  <a:pt x="30721" y="59067"/>
                  <a:pt x="35169" y="40668"/>
                </a:cubicBezTo>
                <a:cubicBezTo>
                  <a:pt x="39815" y="21454"/>
                  <a:pt x="48059" y="15875"/>
                  <a:pt x="55684" y="15875"/>
                </a:cubicBezTo>
                <a:cubicBezTo>
                  <a:pt x="59361" y="15875"/>
                  <a:pt x="62895" y="17173"/>
                  <a:pt x="65811" y="18864"/>
                </a:cubicBezTo>
                <a:cubicBezTo>
                  <a:pt x="71333" y="22067"/>
                  <a:pt x="77411" y="23685"/>
                  <a:pt x="83155" y="23685"/>
                </a:cubicBezTo>
                <a:cubicBezTo>
                  <a:pt x="95750" y="23685"/>
                  <a:pt x="106740" y="15906"/>
                  <a:pt x="106740" y="0"/>
                </a:cubicBez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52AEE1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51"/>
          <p:cNvSpPr txBox="1">
            <a:spLocks noGrp="1"/>
          </p:cNvSpPr>
          <p:nvPr>
            <p:ph type="body" idx="1"/>
          </p:nvPr>
        </p:nvSpPr>
        <p:spPr>
          <a:xfrm>
            <a:off x="4632325" y="3242853"/>
            <a:ext cx="7559675" cy="703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9" name="Google Shape;49;p51"/>
          <p:cNvSpPr txBox="1">
            <a:spLocks noGrp="1"/>
          </p:cNvSpPr>
          <p:nvPr>
            <p:ph type="body" idx="2"/>
          </p:nvPr>
        </p:nvSpPr>
        <p:spPr>
          <a:xfrm>
            <a:off x="4632324" y="4074122"/>
            <a:ext cx="7559675" cy="703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0" name="Google Shape;50;p51"/>
          <p:cNvSpPr txBox="1">
            <a:spLocks noGrp="1"/>
          </p:cNvSpPr>
          <p:nvPr>
            <p:ph type="body" idx="3"/>
          </p:nvPr>
        </p:nvSpPr>
        <p:spPr>
          <a:xfrm>
            <a:off x="4632323" y="4910800"/>
            <a:ext cx="7559675" cy="703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1" name="Google Shape;51;p51"/>
          <p:cNvSpPr/>
          <p:nvPr/>
        </p:nvSpPr>
        <p:spPr>
          <a:xfrm>
            <a:off x="10555357" y="5655364"/>
            <a:ext cx="1648441" cy="1209683"/>
          </a:xfrm>
          <a:custGeom>
            <a:avLst/>
            <a:gdLst/>
            <a:ahLst/>
            <a:cxnLst/>
            <a:rect l="l" t="t" r="r" b="b"/>
            <a:pathLst>
              <a:path w="113764" h="66545" extrusionOk="0">
                <a:moveTo>
                  <a:pt x="113763" y="1"/>
                </a:moveTo>
                <a:cubicBezTo>
                  <a:pt x="113763" y="1"/>
                  <a:pt x="94363" y="5103"/>
                  <a:pt x="77775" y="33272"/>
                </a:cubicBezTo>
                <a:cubicBezTo>
                  <a:pt x="67864" y="50104"/>
                  <a:pt x="57286" y="53491"/>
                  <a:pt x="45819" y="53491"/>
                </a:cubicBezTo>
                <a:cubicBezTo>
                  <a:pt x="38095" y="53491"/>
                  <a:pt x="29967" y="51954"/>
                  <a:pt x="21367" y="51954"/>
                </a:cubicBezTo>
                <a:cubicBezTo>
                  <a:pt x="0" y="51954"/>
                  <a:pt x="792" y="66545"/>
                  <a:pt x="792" y="66545"/>
                </a:cubicBezTo>
                <a:lnTo>
                  <a:pt x="113763" y="66545"/>
                </a:lnTo>
                <a:lnTo>
                  <a:pt x="113763" y="1"/>
                </a:ln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4BB0A0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2" name="Google Shape;52;p51"/>
          <p:cNvGrpSpPr/>
          <p:nvPr/>
        </p:nvGrpSpPr>
        <p:grpSpPr>
          <a:xfrm>
            <a:off x="11568567" y="267121"/>
            <a:ext cx="320022" cy="359778"/>
            <a:chOff x="3567553" y="1499912"/>
            <a:chExt cx="320022" cy="359778"/>
          </a:xfrm>
        </p:grpSpPr>
        <p:sp>
          <p:nvSpPr>
            <p:cNvPr id="53" name="Google Shape;53;p51"/>
            <p:cNvSpPr/>
            <p:nvPr/>
          </p:nvSpPr>
          <p:spPr>
            <a:xfrm>
              <a:off x="3567553" y="1502933"/>
              <a:ext cx="263218" cy="356757"/>
            </a:xfrm>
            <a:custGeom>
              <a:avLst/>
              <a:gdLst/>
              <a:ahLst/>
              <a:cxnLst/>
              <a:rect l="l" t="t" r="r" b="b"/>
              <a:pathLst>
                <a:path w="8276" h="11217" extrusionOk="0">
                  <a:moveTo>
                    <a:pt x="1738" y="0"/>
                  </a:moveTo>
                  <a:cubicBezTo>
                    <a:pt x="1718" y="0"/>
                    <a:pt x="1698" y="4"/>
                    <a:pt x="1679" y="12"/>
                  </a:cubicBezTo>
                  <a:cubicBezTo>
                    <a:pt x="1227" y="179"/>
                    <a:pt x="905" y="632"/>
                    <a:pt x="905" y="1120"/>
                  </a:cubicBezTo>
                  <a:lnTo>
                    <a:pt x="905" y="8275"/>
                  </a:lnTo>
                  <a:lnTo>
                    <a:pt x="167" y="8275"/>
                  </a:lnTo>
                  <a:cubicBezTo>
                    <a:pt x="72" y="8275"/>
                    <a:pt x="1" y="8359"/>
                    <a:pt x="1" y="8442"/>
                  </a:cubicBezTo>
                  <a:lnTo>
                    <a:pt x="1" y="10145"/>
                  </a:lnTo>
                  <a:cubicBezTo>
                    <a:pt x="1" y="10716"/>
                    <a:pt x="477" y="11216"/>
                    <a:pt x="1072" y="11216"/>
                  </a:cubicBezTo>
                  <a:lnTo>
                    <a:pt x="7156" y="11216"/>
                  </a:lnTo>
                  <a:cubicBezTo>
                    <a:pt x="7775" y="11216"/>
                    <a:pt x="8275" y="10716"/>
                    <a:pt x="8275" y="10097"/>
                  </a:cubicBezTo>
                  <a:lnTo>
                    <a:pt x="8275" y="4930"/>
                  </a:lnTo>
                  <a:cubicBezTo>
                    <a:pt x="8252" y="4835"/>
                    <a:pt x="8168" y="4751"/>
                    <a:pt x="8073" y="4751"/>
                  </a:cubicBezTo>
                  <a:cubicBezTo>
                    <a:pt x="7978" y="4751"/>
                    <a:pt x="7906" y="4835"/>
                    <a:pt x="7906" y="4918"/>
                  </a:cubicBezTo>
                  <a:lnTo>
                    <a:pt x="7906" y="10085"/>
                  </a:lnTo>
                  <a:cubicBezTo>
                    <a:pt x="7906" y="10514"/>
                    <a:pt x="7561" y="10859"/>
                    <a:pt x="7132" y="10859"/>
                  </a:cubicBezTo>
                  <a:lnTo>
                    <a:pt x="7061" y="10859"/>
                  </a:lnTo>
                  <a:cubicBezTo>
                    <a:pt x="6680" y="10811"/>
                    <a:pt x="6406" y="10502"/>
                    <a:pt x="6406" y="10133"/>
                  </a:cubicBezTo>
                  <a:lnTo>
                    <a:pt x="6406" y="9609"/>
                  </a:lnTo>
                  <a:cubicBezTo>
                    <a:pt x="6406" y="9514"/>
                    <a:pt x="6323" y="9442"/>
                    <a:pt x="6239" y="9442"/>
                  </a:cubicBezTo>
                  <a:cubicBezTo>
                    <a:pt x="6144" y="9442"/>
                    <a:pt x="6073" y="9514"/>
                    <a:pt x="6073" y="9609"/>
                  </a:cubicBezTo>
                  <a:lnTo>
                    <a:pt x="6073" y="10133"/>
                  </a:lnTo>
                  <a:cubicBezTo>
                    <a:pt x="6073" y="10407"/>
                    <a:pt x="6180" y="10680"/>
                    <a:pt x="6370" y="10871"/>
                  </a:cubicBezTo>
                  <a:cubicBezTo>
                    <a:pt x="3459" y="10871"/>
                    <a:pt x="2120" y="10874"/>
                    <a:pt x="1492" y="10874"/>
                  </a:cubicBezTo>
                  <a:cubicBezTo>
                    <a:pt x="864" y="10874"/>
                    <a:pt x="947" y="10871"/>
                    <a:pt x="882" y="10859"/>
                  </a:cubicBezTo>
                  <a:cubicBezTo>
                    <a:pt x="548" y="10788"/>
                    <a:pt x="298" y="10490"/>
                    <a:pt x="298" y="10145"/>
                  </a:cubicBezTo>
                  <a:lnTo>
                    <a:pt x="298" y="8609"/>
                  </a:lnTo>
                  <a:lnTo>
                    <a:pt x="6073" y="8609"/>
                  </a:lnTo>
                  <a:lnTo>
                    <a:pt x="6073" y="8954"/>
                  </a:lnTo>
                  <a:cubicBezTo>
                    <a:pt x="6073" y="9037"/>
                    <a:pt x="6144" y="9121"/>
                    <a:pt x="6239" y="9121"/>
                  </a:cubicBezTo>
                  <a:cubicBezTo>
                    <a:pt x="6323" y="9121"/>
                    <a:pt x="6406" y="9037"/>
                    <a:pt x="6406" y="8954"/>
                  </a:cubicBezTo>
                  <a:lnTo>
                    <a:pt x="6406" y="8442"/>
                  </a:lnTo>
                  <a:cubicBezTo>
                    <a:pt x="6406" y="8359"/>
                    <a:pt x="6323" y="8275"/>
                    <a:pt x="6239" y="8275"/>
                  </a:cubicBezTo>
                  <a:lnTo>
                    <a:pt x="1227" y="8275"/>
                  </a:lnTo>
                  <a:lnTo>
                    <a:pt x="1227" y="1120"/>
                  </a:lnTo>
                  <a:cubicBezTo>
                    <a:pt x="1227" y="763"/>
                    <a:pt x="1441" y="441"/>
                    <a:pt x="1786" y="322"/>
                  </a:cubicBezTo>
                  <a:cubicBezTo>
                    <a:pt x="1882" y="286"/>
                    <a:pt x="1917" y="179"/>
                    <a:pt x="1894" y="108"/>
                  </a:cubicBezTo>
                  <a:cubicBezTo>
                    <a:pt x="1866" y="44"/>
                    <a:pt x="1803" y="0"/>
                    <a:pt x="1738" y="0"/>
                  </a:cubicBezTo>
                  <a:close/>
                </a:path>
              </a:pathLst>
            </a:custGeom>
            <a:solidFill>
              <a:srgbClr val="4BB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4" name="Google Shape;54;p51"/>
            <p:cNvSpPr/>
            <p:nvPr/>
          </p:nvSpPr>
          <p:spPr>
            <a:xfrm>
              <a:off x="3638001" y="1499912"/>
              <a:ext cx="249574" cy="142773"/>
            </a:xfrm>
            <a:custGeom>
              <a:avLst/>
              <a:gdLst/>
              <a:ahLst/>
              <a:cxnLst/>
              <a:rect l="l" t="t" r="r" b="b"/>
              <a:pathLst>
                <a:path w="7847" h="4489" extrusionOk="0">
                  <a:moveTo>
                    <a:pt x="6787" y="322"/>
                  </a:moveTo>
                  <a:cubicBezTo>
                    <a:pt x="7191" y="322"/>
                    <a:pt x="7537" y="655"/>
                    <a:pt x="7537" y="1072"/>
                  </a:cubicBezTo>
                  <a:lnTo>
                    <a:pt x="7525" y="2608"/>
                  </a:lnTo>
                  <a:lnTo>
                    <a:pt x="6037" y="2608"/>
                  </a:lnTo>
                  <a:lnTo>
                    <a:pt x="6037" y="1417"/>
                  </a:lnTo>
                  <a:lnTo>
                    <a:pt x="6037" y="1072"/>
                  </a:lnTo>
                  <a:cubicBezTo>
                    <a:pt x="6037" y="643"/>
                    <a:pt x="6370" y="322"/>
                    <a:pt x="6775" y="322"/>
                  </a:cubicBezTo>
                  <a:close/>
                  <a:moveTo>
                    <a:pt x="167" y="0"/>
                  </a:moveTo>
                  <a:cubicBezTo>
                    <a:pt x="83" y="0"/>
                    <a:pt x="0" y="72"/>
                    <a:pt x="0" y="167"/>
                  </a:cubicBezTo>
                  <a:cubicBezTo>
                    <a:pt x="0" y="250"/>
                    <a:pt x="83" y="322"/>
                    <a:pt x="167" y="322"/>
                  </a:cubicBezTo>
                  <a:lnTo>
                    <a:pt x="5989" y="322"/>
                  </a:lnTo>
                  <a:cubicBezTo>
                    <a:pt x="5894" y="417"/>
                    <a:pt x="5810" y="548"/>
                    <a:pt x="5763" y="667"/>
                  </a:cubicBezTo>
                  <a:cubicBezTo>
                    <a:pt x="5715" y="798"/>
                    <a:pt x="5691" y="917"/>
                    <a:pt x="5691" y="1060"/>
                  </a:cubicBezTo>
                  <a:lnTo>
                    <a:pt x="5691" y="1393"/>
                  </a:lnTo>
                  <a:lnTo>
                    <a:pt x="5691" y="4334"/>
                  </a:lnTo>
                  <a:cubicBezTo>
                    <a:pt x="5691" y="4418"/>
                    <a:pt x="5763" y="4489"/>
                    <a:pt x="5858" y="4489"/>
                  </a:cubicBezTo>
                  <a:cubicBezTo>
                    <a:pt x="5941" y="4489"/>
                    <a:pt x="6013" y="4418"/>
                    <a:pt x="6013" y="4334"/>
                  </a:cubicBezTo>
                  <a:lnTo>
                    <a:pt x="6013" y="2929"/>
                  </a:lnTo>
                  <a:lnTo>
                    <a:pt x="7668" y="2929"/>
                  </a:lnTo>
                  <a:cubicBezTo>
                    <a:pt x="7763" y="2929"/>
                    <a:pt x="7834" y="2858"/>
                    <a:pt x="7834" y="2763"/>
                  </a:cubicBezTo>
                  <a:lnTo>
                    <a:pt x="7834" y="1072"/>
                  </a:lnTo>
                  <a:cubicBezTo>
                    <a:pt x="7846" y="488"/>
                    <a:pt x="7370" y="0"/>
                    <a:pt x="6775" y="0"/>
                  </a:cubicBezTo>
                  <a:close/>
                </a:path>
              </a:pathLst>
            </a:custGeom>
            <a:solidFill>
              <a:srgbClr val="4BB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5" name="Google Shape;55;p51"/>
            <p:cNvSpPr/>
            <p:nvPr/>
          </p:nvSpPr>
          <p:spPr>
            <a:xfrm>
              <a:off x="3641786" y="1594563"/>
              <a:ext cx="141659" cy="10273"/>
            </a:xfrm>
            <a:custGeom>
              <a:avLst/>
              <a:gdLst/>
              <a:ahLst/>
              <a:cxnLst/>
              <a:rect l="l" t="t" r="r" b="b"/>
              <a:pathLst>
                <a:path w="4454" h="323" extrusionOk="0"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251"/>
                    <a:pt x="72" y="322"/>
                    <a:pt x="167" y="322"/>
                  </a:cubicBezTo>
                  <a:lnTo>
                    <a:pt x="4286" y="322"/>
                  </a:lnTo>
                  <a:cubicBezTo>
                    <a:pt x="4382" y="322"/>
                    <a:pt x="4453" y="251"/>
                    <a:pt x="4453" y="168"/>
                  </a:cubicBezTo>
                  <a:cubicBezTo>
                    <a:pt x="4453" y="72"/>
                    <a:pt x="4382" y="1"/>
                    <a:pt x="4286" y="1"/>
                  </a:cubicBezTo>
                  <a:close/>
                </a:path>
              </a:pathLst>
            </a:custGeom>
            <a:solidFill>
              <a:srgbClr val="4BB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6" name="Google Shape;56;p51"/>
            <p:cNvSpPr/>
            <p:nvPr/>
          </p:nvSpPr>
          <p:spPr>
            <a:xfrm>
              <a:off x="3641786" y="1638136"/>
              <a:ext cx="141659" cy="10241"/>
            </a:xfrm>
            <a:custGeom>
              <a:avLst/>
              <a:gdLst/>
              <a:ahLst/>
              <a:cxnLst/>
              <a:rect l="l" t="t" r="r" b="b"/>
              <a:pathLst>
                <a:path w="4454" h="322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22"/>
                    <a:pt x="167" y="322"/>
                  </a:cubicBezTo>
                  <a:lnTo>
                    <a:pt x="4286" y="322"/>
                  </a:lnTo>
                  <a:cubicBezTo>
                    <a:pt x="4382" y="322"/>
                    <a:pt x="4453" y="250"/>
                    <a:pt x="4453" y="167"/>
                  </a:cubicBezTo>
                  <a:cubicBezTo>
                    <a:pt x="4453" y="72"/>
                    <a:pt x="4382" y="0"/>
                    <a:pt x="4286" y="0"/>
                  </a:cubicBezTo>
                  <a:close/>
                </a:path>
              </a:pathLst>
            </a:custGeom>
            <a:solidFill>
              <a:srgbClr val="4BB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7" name="Google Shape;57;p51"/>
            <p:cNvSpPr/>
            <p:nvPr/>
          </p:nvSpPr>
          <p:spPr>
            <a:xfrm>
              <a:off x="3641786" y="1682059"/>
              <a:ext cx="141659" cy="10623"/>
            </a:xfrm>
            <a:custGeom>
              <a:avLst/>
              <a:gdLst/>
              <a:ahLst/>
              <a:cxnLst/>
              <a:rect l="l" t="t" r="r" b="b"/>
              <a:pathLst>
                <a:path w="4454" h="334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34"/>
                    <a:pt x="167" y="334"/>
                  </a:cubicBezTo>
                  <a:lnTo>
                    <a:pt x="4286" y="334"/>
                  </a:lnTo>
                  <a:cubicBezTo>
                    <a:pt x="4382" y="334"/>
                    <a:pt x="4453" y="250"/>
                    <a:pt x="4453" y="167"/>
                  </a:cubicBezTo>
                  <a:cubicBezTo>
                    <a:pt x="4453" y="72"/>
                    <a:pt x="4382" y="0"/>
                    <a:pt x="4286" y="0"/>
                  </a:cubicBezTo>
                  <a:close/>
                </a:path>
              </a:pathLst>
            </a:custGeom>
            <a:solidFill>
              <a:srgbClr val="4BB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8" name="Google Shape;58;p51"/>
            <p:cNvSpPr/>
            <p:nvPr/>
          </p:nvSpPr>
          <p:spPr>
            <a:xfrm>
              <a:off x="3641786" y="1725600"/>
              <a:ext cx="141659" cy="10623"/>
            </a:xfrm>
            <a:custGeom>
              <a:avLst/>
              <a:gdLst/>
              <a:ahLst/>
              <a:cxnLst/>
              <a:rect l="l" t="t" r="r" b="b"/>
              <a:pathLst>
                <a:path w="4454" h="334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34"/>
                    <a:pt x="167" y="334"/>
                  </a:cubicBezTo>
                  <a:lnTo>
                    <a:pt x="4286" y="334"/>
                  </a:lnTo>
                  <a:cubicBezTo>
                    <a:pt x="4382" y="334"/>
                    <a:pt x="4453" y="250"/>
                    <a:pt x="4453" y="167"/>
                  </a:cubicBezTo>
                  <a:cubicBezTo>
                    <a:pt x="4453" y="72"/>
                    <a:pt x="4382" y="0"/>
                    <a:pt x="4286" y="0"/>
                  </a:cubicBezTo>
                  <a:close/>
                </a:path>
              </a:pathLst>
            </a:custGeom>
            <a:solidFill>
              <a:srgbClr val="4BB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59" name="Google Shape;59;p51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  <a:defRPr sz="3000" b="1">
                <a:solidFill>
                  <a:srgbClr val="F0643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사용자 지정 레이아웃">
  <p:cSld name="2_사용자 지정 레이아웃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52"/>
          <p:cNvSpPr/>
          <p:nvPr/>
        </p:nvSpPr>
        <p:spPr>
          <a:xfrm>
            <a:off x="-9939" y="-19878"/>
            <a:ext cx="1402629" cy="671349"/>
          </a:xfrm>
          <a:custGeom>
            <a:avLst/>
            <a:gdLst/>
            <a:ahLst/>
            <a:cxnLst/>
            <a:rect l="l" t="t" r="r" b="b"/>
            <a:pathLst>
              <a:path w="106741" h="62325" extrusionOk="0">
                <a:moveTo>
                  <a:pt x="106740" y="0"/>
                </a:moveTo>
                <a:lnTo>
                  <a:pt x="1" y="83"/>
                </a:lnTo>
                <a:lnTo>
                  <a:pt x="1" y="61346"/>
                </a:lnTo>
                <a:cubicBezTo>
                  <a:pt x="1" y="61346"/>
                  <a:pt x="3546" y="62324"/>
                  <a:pt x="8431" y="62324"/>
                </a:cubicBezTo>
                <a:cubicBezTo>
                  <a:pt x="17345" y="62324"/>
                  <a:pt x="30721" y="59067"/>
                  <a:pt x="35169" y="40668"/>
                </a:cubicBezTo>
                <a:cubicBezTo>
                  <a:pt x="39815" y="21454"/>
                  <a:pt x="48059" y="15875"/>
                  <a:pt x="55684" y="15875"/>
                </a:cubicBezTo>
                <a:cubicBezTo>
                  <a:pt x="59361" y="15875"/>
                  <a:pt x="62895" y="17173"/>
                  <a:pt x="65811" y="18864"/>
                </a:cubicBezTo>
                <a:cubicBezTo>
                  <a:pt x="71333" y="22067"/>
                  <a:pt x="77411" y="23685"/>
                  <a:pt x="83155" y="23685"/>
                </a:cubicBezTo>
                <a:cubicBezTo>
                  <a:pt x="95750" y="23685"/>
                  <a:pt x="106740" y="15906"/>
                  <a:pt x="106740" y="0"/>
                </a:cubicBez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52AEE1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52"/>
          <p:cNvSpPr/>
          <p:nvPr/>
        </p:nvSpPr>
        <p:spPr>
          <a:xfrm>
            <a:off x="10555357" y="5655364"/>
            <a:ext cx="1648441" cy="1209683"/>
          </a:xfrm>
          <a:custGeom>
            <a:avLst/>
            <a:gdLst/>
            <a:ahLst/>
            <a:cxnLst/>
            <a:rect l="l" t="t" r="r" b="b"/>
            <a:pathLst>
              <a:path w="113764" h="66545" extrusionOk="0">
                <a:moveTo>
                  <a:pt x="113763" y="1"/>
                </a:moveTo>
                <a:cubicBezTo>
                  <a:pt x="113763" y="1"/>
                  <a:pt x="94363" y="5103"/>
                  <a:pt x="77775" y="33272"/>
                </a:cubicBezTo>
                <a:cubicBezTo>
                  <a:pt x="67864" y="50104"/>
                  <a:pt x="57286" y="53491"/>
                  <a:pt x="45819" y="53491"/>
                </a:cubicBezTo>
                <a:cubicBezTo>
                  <a:pt x="38095" y="53491"/>
                  <a:pt x="29967" y="51954"/>
                  <a:pt x="21367" y="51954"/>
                </a:cubicBezTo>
                <a:cubicBezTo>
                  <a:pt x="0" y="51954"/>
                  <a:pt x="792" y="66545"/>
                  <a:pt x="792" y="66545"/>
                </a:cubicBezTo>
                <a:lnTo>
                  <a:pt x="113763" y="66545"/>
                </a:lnTo>
                <a:lnTo>
                  <a:pt x="113763" y="1"/>
                </a:ln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4BB0A0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52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  <a:defRPr sz="3000" b="1">
                <a:solidFill>
                  <a:srgbClr val="F0643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52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  <p:sp>
        <p:nvSpPr>
          <p:cNvPr id="65" name="Google Shape;65;p52"/>
          <p:cNvSpPr txBox="1">
            <a:spLocks noGrp="1"/>
          </p:cNvSpPr>
          <p:nvPr>
            <p:ph type="body" idx="1"/>
          </p:nvPr>
        </p:nvSpPr>
        <p:spPr>
          <a:xfrm>
            <a:off x="487015" y="815009"/>
            <a:ext cx="11281052" cy="7812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55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4BB0A0"/>
              </a:buClr>
              <a:buSzPts val="2000"/>
              <a:buFont typeface="Arial"/>
              <a:buChar char="◦"/>
              <a:defRPr sz="2000"/>
            </a:lvl1pPr>
            <a:lvl2pPr marL="914400" lvl="1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⁃"/>
              <a:defRPr sz="1800"/>
            </a:lvl2pPr>
            <a:lvl3pPr marL="1371600" lvl="2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3pPr>
            <a:lvl4pPr marL="1828800" lvl="3" indent="-3175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4pPr>
            <a:lvl5pPr marL="2286000" lvl="4" indent="-3175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6" name="Google Shape;66;p52"/>
          <p:cNvSpPr txBox="1">
            <a:spLocks noGrp="1"/>
          </p:cNvSpPr>
          <p:nvPr>
            <p:ph type="body" idx="2"/>
          </p:nvPr>
        </p:nvSpPr>
        <p:spPr>
          <a:xfrm>
            <a:off x="691375" y="2233552"/>
            <a:ext cx="5254625" cy="31956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▪"/>
              <a:defRPr sz="1800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7" name="Google Shape;67;p52"/>
          <p:cNvSpPr txBox="1">
            <a:spLocks noGrp="1"/>
          </p:cNvSpPr>
          <p:nvPr>
            <p:ph type="body" idx="3"/>
          </p:nvPr>
        </p:nvSpPr>
        <p:spPr>
          <a:xfrm>
            <a:off x="6437106" y="2233552"/>
            <a:ext cx="5254625" cy="31956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▪"/>
              <a:defRPr sz="1800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8" name="Google Shape;68;p52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>
                <a:solidFill>
                  <a:schemeClr val="dk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4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4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4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4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3" r:id="rId4"/>
    <p:sldLayoutId id="2147483654" r:id="rId5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mailto:sangdon.park@dju.kr" TargetMode="Externa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"/>
          <p:cNvSpPr txBox="1">
            <a:spLocks noGrp="1"/>
          </p:cNvSpPr>
          <p:nvPr>
            <p:ph type="ctrTitle"/>
          </p:nvPr>
        </p:nvSpPr>
        <p:spPr>
          <a:xfrm>
            <a:off x="3147600" y="2777284"/>
            <a:ext cx="7291312" cy="35918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algun Gothic"/>
              <a:buNone/>
            </a:pPr>
            <a:r>
              <a:rPr lang="ko-KR" altLang="en-US" b="1" dirty="0"/>
              <a:t>인공지능</a:t>
            </a:r>
            <a:br>
              <a:rPr lang="en-US" altLang="ko-KR" b="1" dirty="0"/>
            </a:br>
            <a:endParaRPr b="1" dirty="0"/>
          </a:p>
        </p:txBody>
      </p:sp>
      <p:sp>
        <p:nvSpPr>
          <p:cNvPr id="82" name="Google Shape;82;p1"/>
          <p:cNvSpPr txBox="1">
            <a:spLocks noGrp="1"/>
          </p:cNvSpPr>
          <p:nvPr>
            <p:ph type="subTitle" idx="1"/>
          </p:nvPr>
        </p:nvSpPr>
        <p:spPr>
          <a:xfrm>
            <a:off x="8053710" y="5222914"/>
            <a:ext cx="3268457" cy="10724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28600" lvl="0" indent="-228600" algn="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ko-KR" altLang="en-US" b="1" dirty="0"/>
              <a:t>대전대학교 컴퓨터공학과</a:t>
            </a:r>
            <a:endParaRPr lang="en-US" altLang="ko-KR" b="1" dirty="0"/>
          </a:p>
          <a:p>
            <a:pPr marL="228600" lvl="0" indent="-228600" algn="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lang="en-US" altLang="ko-KR" b="1" dirty="0"/>
          </a:p>
          <a:p>
            <a:pPr marL="228600" lvl="0" indent="-228600" algn="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ko-KR" altLang="en-US" b="1" dirty="0"/>
              <a:t>조교수 박상돈</a:t>
            </a:r>
            <a:endParaRPr b="1" dirty="0"/>
          </a:p>
        </p:txBody>
      </p:sp>
      <p:sp>
        <p:nvSpPr>
          <p:cNvPr id="84" name="Google Shape;84;p1"/>
          <p:cNvSpPr txBox="1"/>
          <p:nvPr/>
        </p:nvSpPr>
        <p:spPr>
          <a:xfrm>
            <a:off x="1020350" y="851445"/>
            <a:ext cx="881600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CHAPTER 0 </a:t>
            </a:r>
            <a:r>
              <a:rPr lang="en-US" altLang="ko-KR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– PREVIEW:</a:t>
            </a:r>
            <a:r>
              <a:rPr lang="ko-KR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강의 소개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Title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 dirty="0"/>
              <a:t>강의 개요</a:t>
            </a:r>
            <a:endParaRPr dirty="0"/>
          </a:p>
        </p:txBody>
      </p:sp>
      <p:sp>
        <p:nvSpPr>
          <p:cNvPr id="902" name="SlideNum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2</a:t>
            </a:fld>
            <a:endParaRPr/>
          </a:p>
        </p:txBody>
      </p:sp>
      <p:sp>
        <p:nvSpPr>
          <p:cNvPr id="903" name="Body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624609" cy="50748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 lnSpcReduction="10000"/>
          </a:bodyPr>
          <a:lstStyle/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2000" dirty="0" err="1"/>
              <a:t>강의명</a:t>
            </a:r>
            <a:r>
              <a:rPr lang="ko-KR" sz="2000" dirty="0"/>
              <a:t>: </a:t>
            </a:r>
            <a:r>
              <a:rPr lang="ko-KR" altLang="en-US" sz="2000" dirty="0"/>
              <a:t>인공지능</a:t>
            </a:r>
            <a:endParaRPr sz="20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 err="1"/>
              <a:t>머신러닝의</a:t>
            </a:r>
            <a:r>
              <a:rPr lang="ko-KR" sz="1700" dirty="0"/>
              <a:t> 핵심 개념과 실습을 다루는 입문 강의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 err="1"/>
              <a:t>파이썬과</a:t>
            </a:r>
            <a:r>
              <a:rPr lang="ko-KR" sz="1700" dirty="0"/>
              <a:t> 구글 </a:t>
            </a:r>
            <a:r>
              <a:rPr lang="ko-KR" sz="1700" dirty="0" err="1"/>
              <a:t>코랩을</a:t>
            </a:r>
            <a:r>
              <a:rPr lang="ko-KR" sz="1700" dirty="0"/>
              <a:t> 활용한 실습 중심 수업</a:t>
            </a:r>
            <a:endParaRPr sz="17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2000" dirty="0"/>
              <a:t>강의 목표</a:t>
            </a:r>
            <a:endParaRPr sz="20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인공지능과 </a:t>
            </a:r>
            <a:r>
              <a:rPr lang="ko-KR" sz="1700" dirty="0" err="1"/>
              <a:t>머신러닝의</a:t>
            </a:r>
            <a:r>
              <a:rPr lang="ko-KR" sz="1700" dirty="0"/>
              <a:t> 개념과 차이를 이해한다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주요 </a:t>
            </a:r>
            <a:r>
              <a:rPr lang="ko-KR" sz="1700" dirty="0" err="1"/>
              <a:t>머신러닝</a:t>
            </a:r>
            <a:r>
              <a:rPr lang="ko-KR" sz="1700" dirty="0"/>
              <a:t> 알고리즘의 원리를 이해하고 구현할 수 있다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 err="1"/>
              <a:t>사이킷런을</a:t>
            </a:r>
            <a:r>
              <a:rPr lang="ko-KR" sz="1700" dirty="0"/>
              <a:t> 활용하여 데이터 분석 문제를 해결할 수 있다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비지도 학습의 원리를 이해하고 활용할 수 있다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바이브코딩을 활용하여 AI 프로젝트를 기획하고 구현할 수 있다</a:t>
            </a:r>
            <a:endParaRPr sz="17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2000" dirty="0"/>
              <a:t>선수 과목</a:t>
            </a:r>
            <a:endParaRPr sz="20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 err="1"/>
              <a:t>파이썬</a:t>
            </a:r>
            <a:r>
              <a:rPr lang="ko-KR" sz="1700" dirty="0"/>
              <a:t> 프로그래밍 기초 (변수, </a:t>
            </a:r>
            <a:r>
              <a:rPr lang="ko-KR" sz="1700" dirty="0" err="1"/>
              <a:t>조건문</a:t>
            </a:r>
            <a:r>
              <a:rPr lang="ko-KR" sz="1700" dirty="0"/>
              <a:t>, </a:t>
            </a:r>
            <a:r>
              <a:rPr lang="ko-KR" sz="1700" dirty="0" err="1"/>
              <a:t>반복문</a:t>
            </a:r>
            <a:r>
              <a:rPr lang="ko-KR" sz="1700" dirty="0"/>
              <a:t>, 함수)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기초 수학 (행렬, 미분 개념 수준)</a:t>
            </a:r>
            <a:endParaRPr sz="17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2000" dirty="0"/>
              <a:t>실습 환경</a:t>
            </a:r>
            <a:endParaRPr sz="20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구글 </a:t>
            </a:r>
            <a:r>
              <a:rPr lang="ko-KR" sz="1700" dirty="0" err="1"/>
              <a:t>코랩</a:t>
            </a:r>
            <a:r>
              <a:rPr lang="ko-KR" sz="1700" dirty="0"/>
              <a:t>(</a:t>
            </a:r>
            <a:r>
              <a:rPr lang="ko-KR" sz="1700" dirty="0" err="1"/>
              <a:t>Colab</a:t>
            </a:r>
            <a:r>
              <a:rPr lang="ko-KR" sz="1700" dirty="0"/>
              <a:t>): 웹 브라우저에서 </a:t>
            </a:r>
            <a:r>
              <a:rPr lang="ko-KR" sz="1700" dirty="0" err="1"/>
              <a:t>파이썬</a:t>
            </a:r>
            <a:r>
              <a:rPr lang="ko-KR" sz="1700" dirty="0"/>
              <a:t> 코드를 실행할 수 있는 무료 환경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준비물: 네트워크에 연결된 컴퓨터 + 구글 계정</a:t>
            </a:r>
            <a:endParaRPr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4"/>
          <p:cNvSpPr txBox="1">
            <a:spLocks noGrp="1"/>
          </p:cNvSpPr>
          <p:nvPr>
            <p:ph type="sldNum" idx="12"/>
          </p:nvPr>
        </p:nvSpPr>
        <p:spPr>
          <a:xfrm>
            <a:off x="11691731" y="6483194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3</a:t>
            </a:fld>
            <a:endParaRPr/>
          </a:p>
        </p:txBody>
      </p:sp>
      <p:sp>
        <p:nvSpPr>
          <p:cNvPr id="200" name="Google Shape;200;p4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 altLang="en-US"/>
              <a:t>인공지능 강의</a:t>
            </a:r>
            <a:r>
              <a:rPr lang="ko-KR"/>
              <a:t> </a:t>
            </a:r>
            <a:r>
              <a:rPr lang="ko-KR" dirty="0"/>
              <a:t>학습 목표</a:t>
            </a:r>
            <a:endParaRPr dirty="0"/>
          </a:p>
        </p:txBody>
      </p:sp>
      <p:sp>
        <p:nvSpPr>
          <p:cNvPr id="202" name="Google Shape;202;p4"/>
          <p:cNvSpPr txBox="1"/>
          <p:nvPr/>
        </p:nvSpPr>
        <p:spPr>
          <a:xfrm>
            <a:off x="487015" y="908845"/>
            <a:ext cx="5183535" cy="5402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marR="0" lvl="0" indent="-22860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sz="18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CHAPTER 01: </a:t>
            </a:r>
            <a:r>
              <a:rPr lang="ko-KR" altLang="en-US" sz="18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인공지능 개요</a:t>
            </a:r>
            <a:endParaRPr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인공지능, </a:t>
            </a:r>
            <a:r>
              <a:rPr lang="ko-KR" sz="1400" b="0" i="0" u="none" strike="noStrike" cap="none" dirty="0" err="1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머신러닝</a:t>
            </a:r>
            <a:r>
              <a:rPr 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, </a:t>
            </a:r>
            <a:r>
              <a:rPr lang="ko-KR" sz="1400" b="0" i="0" u="none" strike="noStrike" cap="none" dirty="0" err="1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딥러닝의</a:t>
            </a:r>
            <a:r>
              <a:rPr 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 차이점을 이해합니다.</a:t>
            </a:r>
            <a:endParaRPr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구글 </a:t>
            </a:r>
            <a:r>
              <a:rPr lang="ko-KR" sz="1400" b="0" i="0" u="none" strike="noStrike" cap="none" dirty="0" err="1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코랩</a:t>
            </a:r>
            <a:r>
              <a:rPr 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 사용법을 배웁니다.</a:t>
            </a:r>
            <a:endParaRPr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첫 번째 </a:t>
            </a:r>
            <a:r>
              <a:rPr lang="ko-KR" sz="1400" b="0" i="0" u="none" strike="noStrike" cap="none" dirty="0" err="1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머신러닝</a:t>
            </a:r>
            <a:r>
              <a:rPr 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 프로그램을 만들고 </a:t>
            </a:r>
            <a:r>
              <a:rPr lang="ko-KR" sz="1400" b="0" i="0" u="none" strike="noStrike" cap="none" dirty="0" err="1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머신러닝의</a:t>
            </a:r>
            <a:r>
              <a:rPr 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 기본 작동 원리를 이해합니다.</a:t>
            </a:r>
            <a:endParaRPr sz="1400" b="0" i="0" u="none" strike="noStrike" cap="none" dirty="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228600" marR="0" lvl="0" indent="-228600" algn="l" rtl="0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sz="18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CHAPTER 02: 데이터 다루기</a:t>
            </a:r>
            <a:endParaRPr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sz="1400" b="0" i="0" u="none" strike="noStrike" cap="none" dirty="0" err="1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머신러닝</a:t>
            </a:r>
            <a:r>
              <a:rPr 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 알고리즘에 주입할 데이터를 준비하는 방법을 배웁니다.</a:t>
            </a:r>
            <a:endParaRPr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데이터 형태가 알고리즘에 미치는 영향을 이해합니다.</a:t>
            </a:r>
            <a:endParaRPr dirty="0"/>
          </a:p>
          <a:p>
            <a:pPr marL="228600" marR="0" lvl="0" indent="-228600" algn="l" rtl="0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sz="18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CHAPTER 03: 회귀 알고리즘과 모델 규제</a:t>
            </a:r>
            <a:endParaRPr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지도 학습 알고리즘의 한 종류인 회귀 알고리즘에 대해 배웁니다.</a:t>
            </a:r>
            <a:endParaRPr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다양한 선형 회귀 알고리즘의 장단점을 이해합니다.</a:t>
            </a:r>
            <a:endParaRPr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56182C9-5E73-6EC9-86FE-1C47E2395F81}"/>
              </a:ext>
            </a:extLst>
          </p:cNvPr>
          <p:cNvSpPr txBox="1"/>
          <p:nvPr/>
        </p:nvSpPr>
        <p:spPr>
          <a:xfrm>
            <a:off x="5875959" y="652214"/>
            <a:ext cx="6108700" cy="55535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marR="0" lvl="0" indent="-228600" algn="l" rtl="0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en-US" altLang="ko-KR" sz="18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CHAPTER 04: </a:t>
            </a:r>
            <a:r>
              <a:rPr lang="ko-KR" altLang="en-US" sz="18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다양한 분류 알고리즘</a:t>
            </a:r>
            <a:endParaRPr lang="ko-KR" altLang="en-US"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altLang="en-US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로지스틱 회귀</a:t>
            </a:r>
            <a:r>
              <a:rPr lang="en-US" alt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, </a:t>
            </a:r>
            <a:r>
              <a:rPr lang="ko-KR" altLang="en-US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확률적 경사 하강법과 같은 분류 알고리즘을 배웁니다</a:t>
            </a:r>
            <a:r>
              <a:rPr lang="en-US" alt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.</a:t>
            </a:r>
            <a:endParaRPr lang="ko-KR" altLang="en-US"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altLang="en-US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이진 분류와 다중 분류의 차이를 이해하고 클래스별 확률을 예측합니다</a:t>
            </a:r>
            <a:r>
              <a:rPr lang="en-US" alt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.</a:t>
            </a:r>
            <a:endParaRPr lang="ko-KR" altLang="en-US" dirty="0"/>
          </a:p>
          <a:p>
            <a:pPr marL="228600" marR="0" lvl="0" indent="-228600" algn="l" rtl="0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en-US" altLang="ko-KR" sz="18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CHAPTER 05: </a:t>
            </a:r>
            <a:r>
              <a:rPr lang="ko-KR" altLang="en-US" sz="18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트리 알고리즘</a:t>
            </a:r>
            <a:endParaRPr lang="ko-KR" altLang="en-US"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altLang="en-US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성능이 좋고 이해하기 쉬운 트리 알고리즘에 대해 배웁니다</a:t>
            </a:r>
            <a:r>
              <a:rPr lang="en-US" alt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.</a:t>
            </a:r>
            <a:endParaRPr lang="ko-KR" altLang="en-US"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altLang="en-US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알고리즘의 성능을 최대화하기 위한 </a:t>
            </a:r>
            <a:r>
              <a:rPr lang="ko-KR" altLang="en-US" sz="1400" b="0" i="0" u="none" strike="noStrike" cap="none" dirty="0" err="1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하이퍼파라미터</a:t>
            </a:r>
            <a:r>
              <a:rPr lang="ko-KR" altLang="en-US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 튜닝을 실습합니다</a:t>
            </a:r>
            <a:r>
              <a:rPr lang="en-US" alt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.</a:t>
            </a:r>
            <a:endParaRPr lang="ko-KR" altLang="en-US"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altLang="en-US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여러 트리를 합쳐 일반화 성능을 높일 수 있는 앙상블 모델을 배웁니다</a:t>
            </a:r>
            <a:r>
              <a:rPr lang="en-US" alt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.</a:t>
            </a:r>
            <a:endParaRPr lang="ko-KR" altLang="en-US" dirty="0"/>
          </a:p>
          <a:p>
            <a:pPr marL="228600" marR="0" lvl="0" indent="-228600" algn="l" rtl="0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en-US" altLang="ko-KR" sz="18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CHAPTER 06: </a:t>
            </a:r>
            <a:r>
              <a:rPr lang="ko-KR" altLang="en-US" sz="18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비지도 학습</a:t>
            </a:r>
            <a:endParaRPr lang="ko-KR" altLang="en-US"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altLang="en-US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타깃이 없는 </a:t>
            </a:r>
            <a:r>
              <a:rPr lang="ko-KR" altLang="en-US" sz="1400" b="0" i="0" dirty="0">
                <a:solidFill>
                  <a:srgbClr val="00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  <a:cs typeface="Malgun Gothic" panose="020B0503020000020004" pitchFamily="50" charset="-127"/>
              </a:rPr>
              <a:t>데이터를 사용하는 비지도 학습과 대표적인 알고리즘을 소개합니다</a:t>
            </a:r>
            <a:r>
              <a:rPr lang="en-US" altLang="ko-KR" sz="1400" b="0" i="0" dirty="0">
                <a:solidFill>
                  <a:srgbClr val="00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  <a:cs typeface="Malgun Gothic" panose="020B0503020000020004" pitchFamily="50" charset="-127"/>
              </a:rPr>
              <a:t>. </a:t>
            </a:r>
            <a:endParaRPr lang="ko-KR" altLang="en-US" sz="1400" b="0" i="0" dirty="0">
              <a:solidFill>
                <a:srgbClr val="000000"/>
              </a:solidFill>
              <a:effectLst/>
              <a:latin typeface="Malgun Gothic" panose="020B0503020000020004" pitchFamily="50" charset="-127"/>
              <a:ea typeface="Malgun Gothic" panose="020B0503020000020004" pitchFamily="50" charset="-127"/>
              <a:cs typeface="Malgun Gothic" panose="020B0503020000020004" pitchFamily="50" charset="-127"/>
            </a:endParaRPr>
          </a:p>
          <a:p>
            <a:pPr marL="685800" lvl="1" indent="-228600">
              <a:lnSpc>
                <a:spcPct val="130000"/>
              </a:lnSpc>
              <a:spcBef>
                <a:spcPts val="500"/>
              </a:spcBef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altLang="en-US" sz="1400" b="0" i="0" dirty="0">
                <a:solidFill>
                  <a:srgbClr val="00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  <a:cs typeface="Malgun Gothic" panose="020B0503020000020004" pitchFamily="50" charset="-127"/>
              </a:rPr>
              <a:t>대표적인 군집 알고리즘인 </a:t>
            </a:r>
            <a:r>
              <a:rPr lang="en-US" altLang="ko-KR" sz="1400" b="0" i="0" dirty="0">
                <a:solidFill>
                  <a:srgbClr val="00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  <a:cs typeface="Malgun Gothic" panose="020B0503020000020004" pitchFamily="50" charset="-127"/>
              </a:rPr>
              <a:t>k-</a:t>
            </a:r>
            <a:r>
              <a:rPr lang="ko-KR" altLang="en-US" sz="1400" b="0" i="0" dirty="0">
                <a:solidFill>
                  <a:srgbClr val="00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  <a:cs typeface="Malgun Gothic" panose="020B0503020000020004" pitchFamily="50" charset="-127"/>
              </a:rPr>
              <a:t>평균과 </a:t>
            </a:r>
            <a:r>
              <a:rPr lang="en-US" altLang="ko-KR" sz="1400" b="0" i="0" dirty="0">
                <a:solidFill>
                  <a:srgbClr val="00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  <a:cs typeface="Malgun Gothic" panose="020B0503020000020004" pitchFamily="50" charset="-127"/>
              </a:rPr>
              <a:t>DBSCAN</a:t>
            </a:r>
            <a:r>
              <a:rPr lang="ko-KR" altLang="en-US" sz="1400" b="0" i="0" dirty="0">
                <a:solidFill>
                  <a:srgbClr val="00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  <a:cs typeface="Malgun Gothic" panose="020B0503020000020004" pitchFamily="50" charset="-127"/>
              </a:rPr>
              <a:t>을 배웁니다</a:t>
            </a:r>
            <a:r>
              <a:rPr lang="en-US" altLang="ko-KR" sz="1400" b="0" i="0" dirty="0">
                <a:solidFill>
                  <a:srgbClr val="00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  <a:cs typeface="Malgun Gothic" panose="020B0503020000020004" pitchFamily="50" charset="-127"/>
              </a:rPr>
              <a:t>.</a:t>
            </a:r>
            <a:endParaRPr lang="ko-KR" altLang="en-US" dirty="0">
              <a:effectLst/>
            </a:endParaRPr>
          </a:p>
          <a:p>
            <a:pPr marL="685800" lvl="1" indent="-228600">
              <a:lnSpc>
                <a:spcPct val="130000"/>
              </a:lnSpc>
              <a:spcBef>
                <a:spcPts val="500"/>
              </a:spcBef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altLang="en-US" sz="1400" b="0" i="0" dirty="0">
                <a:solidFill>
                  <a:srgbClr val="00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  <a:cs typeface="Malgun Gothic" panose="020B0503020000020004" pitchFamily="50" charset="-127"/>
              </a:rPr>
              <a:t>대표적인 차원 축소 알고리즘인 주성분 분석</a:t>
            </a:r>
            <a:r>
              <a:rPr lang="en-US" altLang="ko-KR" sz="1400" b="0" i="0" dirty="0">
                <a:solidFill>
                  <a:srgbClr val="00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  <a:cs typeface="Malgun Gothic" panose="020B0503020000020004" pitchFamily="50" charset="-127"/>
              </a:rPr>
              <a:t>(PCA)</a:t>
            </a:r>
            <a:r>
              <a:rPr lang="ko-KR" altLang="en-US" sz="1400" b="0" i="0" dirty="0">
                <a:solidFill>
                  <a:srgbClr val="00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  <a:cs typeface="Malgun Gothic" panose="020B0503020000020004" pitchFamily="50" charset="-127"/>
              </a:rPr>
              <a:t>을 배웁니다</a:t>
            </a:r>
            <a:r>
              <a:rPr lang="en-US" altLang="ko-KR" sz="1400" b="0" i="0" dirty="0">
                <a:solidFill>
                  <a:srgbClr val="00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  <a:cs typeface="Malgun Gothic" panose="020B0503020000020004" pitchFamily="50" charset="-127"/>
              </a:rPr>
              <a:t>.</a:t>
            </a:r>
            <a:endParaRPr lang="ko-KR" altLang="en-US" dirty="0">
              <a:effectLst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Title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 dirty="0"/>
              <a:t>교재 소개</a:t>
            </a:r>
            <a:endParaRPr dirty="0"/>
          </a:p>
        </p:txBody>
      </p:sp>
      <p:sp>
        <p:nvSpPr>
          <p:cNvPr id="902" name="SlideNum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4</a:t>
            </a:fld>
            <a:endParaRPr/>
          </a:p>
        </p:txBody>
      </p:sp>
      <p:sp>
        <p:nvSpPr>
          <p:cNvPr id="903" name="Body"/>
          <p:cNvSpPr txBox="1">
            <a:spLocks noGrp="1"/>
          </p:cNvSpPr>
          <p:nvPr>
            <p:ph type="body" idx="1"/>
          </p:nvPr>
        </p:nvSpPr>
        <p:spPr>
          <a:xfrm>
            <a:off x="468000" y="973467"/>
            <a:ext cx="11624609" cy="56048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2000" dirty="0"/>
              <a:t>교재</a:t>
            </a:r>
            <a:endParaRPr sz="20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혼자 공부하는 </a:t>
            </a:r>
            <a:r>
              <a:rPr lang="ko-KR" sz="1700" dirty="0" err="1"/>
              <a:t>머신러닝+딥러닝</a:t>
            </a:r>
            <a:r>
              <a:rPr lang="ko-KR" sz="1700" dirty="0"/>
              <a:t> (개정판)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지은이: 박해선 / 출판사: </a:t>
            </a:r>
            <a:r>
              <a:rPr lang="ko-KR" sz="1700" dirty="0" err="1"/>
              <a:t>한빛미디어</a:t>
            </a:r>
            <a:endParaRPr sz="17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2000" dirty="0"/>
              <a:t>교재 구성</a:t>
            </a:r>
            <a:endParaRPr sz="20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 err="1"/>
              <a:t>머신러닝편</a:t>
            </a:r>
            <a:r>
              <a:rPr lang="ko-KR" sz="1700" dirty="0"/>
              <a:t> (CHAPTER 01~06)</a:t>
            </a:r>
            <a:endParaRPr lang="en-US" altLang="ko-KR" sz="1700" dirty="0"/>
          </a:p>
          <a:p>
            <a:pPr marL="1143000" lvl="2" indent="-228631">
              <a:lnSpc>
                <a:spcPct val="125000"/>
              </a:lnSpc>
              <a:spcBef>
                <a:spcPts val="200"/>
              </a:spcBef>
              <a:buSzPct val="100000"/>
              <a:buChar char="⁃"/>
            </a:pPr>
            <a:r>
              <a:rPr lang="ko-KR" altLang="en-US" sz="1500" dirty="0"/>
              <a:t>이번 학기 인공지능 수업에서 다룸</a:t>
            </a:r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 err="1"/>
              <a:t>딥러닝편</a:t>
            </a:r>
            <a:r>
              <a:rPr lang="ko-KR" sz="1700" dirty="0"/>
              <a:t> (CHAPTER 07~10)</a:t>
            </a:r>
            <a:endParaRPr lang="en-US" altLang="ko-KR" sz="1700" dirty="0"/>
          </a:p>
          <a:p>
            <a:pPr marL="1143000" lvl="2" indent="-228631">
              <a:lnSpc>
                <a:spcPct val="125000"/>
              </a:lnSpc>
              <a:spcBef>
                <a:spcPts val="200"/>
              </a:spcBef>
              <a:buSzPct val="100000"/>
              <a:buChar char="⁃"/>
            </a:pPr>
            <a:r>
              <a:rPr lang="en-US" altLang="ko-KR" sz="1500" dirty="0"/>
              <a:t>2</a:t>
            </a:r>
            <a:r>
              <a:rPr lang="ko-KR" altLang="en-US" sz="1500" dirty="0"/>
              <a:t>학기</a:t>
            </a:r>
            <a:r>
              <a:rPr lang="en-US" altLang="ko-KR" sz="1500" dirty="0"/>
              <a:t> </a:t>
            </a:r>
            <a:r>
              <a:rPr lang="ko-KR" altLang="en-US" sz="1500" dirty="0" err="1"/>
              <a:t>딥러닝</a:t>
            </a:r>
            <a:r>
              <a:rPr lang="ko-KR" altLang="en-US" sz="1500" dirty="0"/>
              <a:t> 교과에서 다루는 범위</a:t>
            </a:r>
            <a:endParaRPr sz="15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2000" dirty="0"/>
              <a:t>본 강의 범위: CHAPTER 01~06</a:t>
            </a:r>
            <a:endParaRPr sz="20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CHAPTER 01: </a:t>
            </a:r>
            <a:r>
              <a:rPr lang="ko-KR" altLang="en-US" sz="1700" dirty="0"/>
              <a:t>인공지능 개요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CHAPTER 02: 데이터 다루기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CHAPTER 03: 회귀 알고리즘과 모델 규제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CHAPTER 04: 다양한 분류 알고리즘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CHAPTER 05: 트리 알고리즘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CHAPTER 06: 비지도 학습</a:t>
            </a:r>
            <a:endParaRPr sz="1700" dirty="0"/>
          </a:p>
        </p:txBody>
      </p:sp>
      <p:pic>
        <p:nvPicPr>
          <p:cNvPr id="5" name="Google Shape;79;p1">
            <a:extLst>
              <a:ext uri="{FF2B5EF4-FFF2-40B4-BE49-F238E27FC236}">
                <a16:creationId xmlns:a16="http://schemas.microsoft.com/office/drawing/2014/main" id="{F8E4EB9B-4011-42F8-A5C6-56DFDE7C8B41}"/>
              </a:ext>
            </a:extLst>
          </p:cNvPr>
          <p:cNvPicPr preferRelativeResize="0"/>
          <p:nvPr/>
        </p:nvPicPr>
        <p:blipFill>
          <a:blip r:embed="rId2"/>
          <a:srcRect/>
          <a:stretch/>
        </p:blipFill>
        <p:spPr>
          <a:xfrm>
            <a:off x="7127572" y="633545"/>
            <a:ext cx="3955211" cy="5590909"/>
          </a:xfrm>
          <a:prstGeom prst="rect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Title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 dirty="0" err="1"/>
              <a:t>주차별</a:t>
            </a:r>
            <a:r>
              <a:rPr lang="ko-KR" dirty="0"/>
              <a:t> </a:t>
            </a:r>
            <a:r>
              <a:rPr lang="ko-KR"/>
              <a:t>강의 계</a:t>
            </a:r>
            <a:r>
              <a:rPr lang="ko-KR" altLang="en-US"/>
              <a:t>획</a:t>
            </a:r>
            <a:endParaRPr dirty="0"/>
          </a:p>
        </p:txBody>
      </p:sp>
      <p:sp>
        <p:nvSpPr>
          <p:cNvPr id="902" name="SlideNum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5</a:t>
            </a:fld>
            <a:endParaRPr/>
          </a:p>
        </p:txBody>
      </p:sp>
      <p:sp>
        <p:nvSpPr>
          <p:cNvPr id="903" name="Body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6021577" cy="50748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1600" dirty="0"/>
              <a:t>1주차: 강의 소개 및 환경 설정</a:t>
            </a:r>
            <a:endParaRPr sz="16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400" dirty="0"/>
              <a:t>강의 개요, 평가 방법 안내, 구글 </a:t>
            </a:r>
            <a:r>
              <a:rPr lang="ko-KR" sz="1400" dirty="0" err="1"/>
              <a:t>코랩</a:t>
            </a:r>
            <a:r>
              <a:rPr lang="ko-KR" sz="1400" dirty="0"/>
              <a:t> 실습 환경 설정</a:t>
            </a:r>
            <a:endParaRPr sz="14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1600" dirty="0"/>
              <a:t>2주차: CHAPTER 01 </a:t>
            </a:r>
            <a:r>
              <a:rPr lang="ko-KR" altLang="en-US" sz="1600" dirty="0"/>
              <a:t>인공지능 개요</a:t>
            </a:r>
            <a:endParaRPr sz="1600" dirty="0"/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sz="1400" dirty="0"/>
              <a:t>인공지능과 </a:t>
            </a:r>
            <a:r>
              <a:rPr lang="ko-KR" sz="1400" dirty="0" err="1"/>
              <a:t>머신러닝</a:t>
            </a:r>
            <a:r>
              <a:rPr lang="ko-KR" sz="1400" dirty="0"/>
              <a:t> 개념 / </a:t>
            </a:r>
            <a:r>
              <a:rPr lang="ko-KR" sz="1400" dirty="0" err="1"/>
              <a:t>코랩과</a:t>
            </a:r>
            <a:r>
              <a:rPr lang="ko-KR" sz="1400" dirty="0"/>
              <a:t> 주피터 노트북</a:t>
            </a:r>
            <a:endParaRPr lang="ko-KR" altLang="en-US" sz="1400" dirty="0"/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en-US" altLang="ko-KR" sz="1400" dirty="0"/>
              <a:t>GitHub </a:t>
            </a:r>
            <a:r>
              <a:rPr lang="ko-KR" altLang="en-US" sz="1400" dirty="0"/>
              <a:t>가입</a:t>
            </a:r>
            <a:r>
              <a:rPr lang="en-US" altLang="ko-KR" sz="1400" dirty="0"/>
              <a:t>, Git </a:t>
            </a:r>
            <a:r>
              <a:rPr lang="ko-KR" altLang="en-US" sz="1400" dirty="0"/>
              <a:t>설정</a:t>
            </a:r>
            <a:r>
              <a:rPr lang="en-US" altLang="ko-KR" sz="1400" dirty="0"/>
              <a:t>, GitHub Classroom </a:t>
            </a:r>
            <a:r>
              <a:rPr lang="ko-KR" altLang="en-US" sz="1400" dirty="0"/>
              <a:t>과제 제출 실습</a:t>
            </a:r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en-US" altLang="ko-KR" sz="1600" dirty="0"/>
              <a:t>3</a:t>
            </a:r>
            <a:r>
              <a:rPr lang="ko-KR" sz="1600" dirty="0"/>
              <a:t>주차: CHAPTER 02 데이터 다루기</a:t>
            </a:r>
            <a:endParaRPr sz="16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400" dirty="0"/>
              <a:t>훈련 세트와 테스트 세트 / 데이터 </a:t>
            </a:r>
            <a:r>
              <a:rPr lang="ko-KR" sz="1400" dirty="0" err="1"/>
              <a:t>전처리</a:t>
            </a:r>
            <a:endParaRPr sz="14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en-US" altLang="ko-KR" sz="1600" dirty="0"/>
              <a:t>4</a:t>
            </a:r>
            <a:r>
              <a:rPr lang="ko-KR" sz="1600" dirty="0"/>
              <a:t>주차: CHAPTER 03 회귀 알고리즘과 모델 규제 (1)</a:t>
            </a:r>
            <a:endParaRPr sz="16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400" dirty="0"/>
              <a:t>k-최근접 이웃 회귀 / 선형 회귀</a:t>
            </a:r>
            <a:endParaRPr sz="14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en-US" altLang="ko-KR" sz="1600" dirty="0"/>
              <a:t>5</a:t>
            </a:r>
            <a:r>
              <a:rPr lang="ko-KR" sz="1600" dirty="0"/>
              <a:t>주차: CHAPTER 03 회귀 알고리즘과 모델 규제 (2)</a:t>
            </a:r>
            <a:endParaRPr sz="16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400" dirty="0"/>
              <a:t>특성 공학과 규제</a:t>
            </a:r>
            <a:endParaRPr sz="14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en-US" altLang="ko-KR" sz="1600" dirty="0"/>
              <a:t>6</a:t>
            </a:r>
            <a:r>
              <a:rPr lang="ko-KR" sz="1600" dirty="0"/>
              <a:t>주차: CHAPTER 04 다양한 분류 알고리즘</a:t>
            </a:r>
            <a:r>
              <a:rPr lang="en-US" altLang="ko-KR" sz="1600" dirty="0"/>
              <a:t> (1)</a:t>
            </a:r>
            <a:endParaRPr sz="1600" dirty="0"/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ko-KR" sz="1400" dirty="0"/>
              <a:t>로지스틱 회귀</a:t>
            </a:r>
            <a:endParaRPr lang="en-US" altLang="ko-KR" sz="1400" dirty="0"/>
          </a:p>
          <a:p>
            <a:pPr marL="228600" lvl="0" indent="-228600">
              <a:lnSpc>
                <a:spcPct val="125000"/>
              </a:lnSpc>
              <a:spcBef>
                <a:spcPts val="300"/>
              </a:spcBef>
              <a:buSzPct val="100000"/>
            </a:pPr>
            <a:r>
              <a:rPr lang="en-US" altLang="ko-KR" sz="1600" dirty="0"/>
              <a:t>7</a:t>
            </a:r>
            <a:r>
              <a:rPr lang="ko-KR" altLang="en-US" sz="1600" dirty="0"/>
              <a:t>주차</a:t>
            </a:r>
            <a:r>
              <a:rPr lang="en-US" altLang="ko-KR" sz="1600" dirty="0"/>
              <a:t>: CHAPTER 04 </a:t>
            </a:r>
            <a:r>
              <a:rPr lang="ko-KR" altLang="en-US" sz="1600" dirty="0"/>
              <a:t>다양한 분류 알고리즘 </a:t>
            </a:r>
            <a:r>
              <a:rPr lang="en-US" altLang="ko-KR" sz="1600" dirty="0"/>
              <a:t>(2)</a:t>
            </a:r>
            <a:endParaRPr lang="ko-KR" altLang="en-US" sz="1600" dirty="0"/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400" dirty="0"/>
              <a:t>확률적 경사 </a:t>
            </a:r>
            <a:r>
              <a:rPr lang="ko-KR" altLang="en-US" sz="1400" dirty="0" err="1"/>
              <a:t>하강법</a:t>
            </a:r>
            <a:endParaRPr sz="14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1600" dirty="0"/>
              <a:t>8주차: 중간고사</a:t>
            </a:r>
            <a:endParaRPr sz="1600" dirty="0"/>
          </a:p>
        </p:txBody>
      </p:sp>
      <p:sp>
        <p:nvSpPr>
          <p:cNvPr id="5" name="Body">
            <a:extLst>
              <a:ext uri="{FF2B5EF4-FFF2-40B4-BE49-F238E27FC236}">
                <a16:creationId xmlns:a16="http://schemas.microsoft.com/office/drawing/2014/main" id="{DB813456-0909-4479-8924-7461D7B7FEAB}"/>
              </a:ext>
            </a:extLst>
          </p:cNvPr>
          <p:cNvSpPr txBox="1">
            <a:spLocks/>
          </p:cNvSpPr>
          <p:nvPr/>
        </p:nvSpPr>
        <p:spPr>
          <a:xfrm>
            <a:off x="6811787" y="1079999"/>
            <a:ext cx="5080383" cy="50748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5560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4BB0A0"/>
              </a:buClr>
              <a:buSzPts val="2000"/>
              <a:buFont typeface="Arial"/>
              <a:buChar char="◦"/>
              <a:defRPr sz="2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3429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⁃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3302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3175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3175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228600" indent="-228600">
              <a:lnSpc>
                <a:spcPct val="125000"/>
              </a:lnSpc>
              <a:spcBef>
                <a:spcPts val="300"/>
              </a:spcBef>
              <a:buSzPct val="100000"/>
            </a:pPr>
            <a:r>
              <a:rPr lang="en-US" altLang="ko-KR" sz="1600" dirty="0"/>
              <a:t>9</a:t>
            </a:r>
            <a:r>
              <a:rPr lang="ko-KR" altLang="en-US" sz="1600" dirty="0"/>
              <a:t>주차</a:t>
            </a:r>
            <a:r>
              <a:rPr lang="en-US" altLang="ko-KR" sz="1600" dirty="0"/>
              <a:t>: CHAPTER 05 </a:t>
            </a:r>
            <a:r>
              <a:rPr lang="ko-KR" altLang="en-US" sz="1600" dirty="0"/>
              <a:t>트리 알고리즘 </a:t>
            </a:r>
            <a:r>
              <a:rPr lang="en-US" altLang="ko-KR" sz="1600" dirty="0"/>
              <a:t>(1)</a:t>
            </a:r>
            <a:endParaRPr lang="ko-KR" altLang="en-US" sz="1600" dirty="0"/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400" dirty="0"/>
              <a:t>결정 트리</a:t>
            </a:r>
          </a:p>
          <a:p>
            <a:pPr marL="228600" indent="-228600">
              <a:lnSpc>
                <a:spcPct val="125000"/>
              </a:lnSpc>
              <a:spcBef>
                <a:spcPts val="300"/>
              </a:spcBef>
              <a:buSzPct val="100000"/>
            </a:pPr>
            <a:r>
              <a:rPr lang="en-US" altLang="ko-KR" sz="1600" dirty="0"/>
              <a:t>10</a:t>
            </a:r>
            <a:r>
              <a:rPr lang="ko-KR" altLang="en-US" sz="1600" dirty="0"/>
              <a:t>주차</a:t>
            </a:r>
            <a:r>
              <a:rPr lang="en-US" altLang="ko-KR" sz="1600" dirty="0"/>
              <a:t>: CHAPTER 05 </a:t>
            </a:r>
            <a:r>
              <a:rPr lang="ko-KR" altLang="en-US" sz="1600" dirty="0"/>
              <a:t>트리 알고리즘 </a:t>
            </a:r>
            <a:r>
              <a:rPr lang="en-US" altLang="ko-KR" sz="1600" dirty="0"/>
              <a:t>(2)</a:t>
            </a:r>
            <a:endParaRPr lang="ko-KR" altLang="en-US" sz="1600" dirty="0"/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400" dirty="0"/>
              <a:t>교차 검증과 그리드 </a:t>
            </a:r>
            <a:r>
              <a:rPr lang="ko-KR" altLang="en-US" sz="1400" dirty="0" err="1"/>
              <a:t>서치</a:t>
            </a:r>
            <a:r>
              <a:rPr lang="ko-KR" altLang="en-US" sz="1400" dirty="0"/>
              <a:t> </a:t>
            </a:r>
            <a:r>
              <a:rPr lang="en-US" altLang="ko-KR" sz="1400" dirty="0"/>
              <a:t>/ </a:t>
            </a:r>
            <a:r>
              <a:rPr lang="ko-KR" altLang="en-US" sz="1400" dirty="0"/>
              <a:t>트리의 앙상블</a:t>
            </a:r>
          </a:p>
          <a:p>
            <a:pPr marL="228600" indent="-228600">
              <a:lnSpc>
                <a:spcPct val="125000"/>
              </a:lnSpc>
              <a:spcBef>
                <a:spcPts val="300"/>
              </a:spcBef>
              <a:buSzPct val="100000"/>
            </a:pPr>
            <a:r>
              <a:rPr lang="en-US" altLang="ko-KR" sz="1600" dirty="0"/>
              <a:t>11</a:t>
            </a:r>
            <a:r>
              <a:rPr lang="ko-KR" altLang="en-US" sz="1600" dirty="0"/>
              <a:t>주차</a:t>
            </a:r>
            <a:r>
              <a:rPr lang="en-US" altLang="ko-KR" sz="1600" dirty="0"/>
              <a:t>: CHAPTER 06 </a:t>
            </a:r>
            <a:r>
              <a:rPr lang="ko-KR" altLang="en-US" sz="1600" dirty="0"/>
              <a:t>비지도 학습 </a:t>
            </a:r>
            <a:r>
              <a:rPr lang="en-US" altLang="ko-KR" sz="1600" dirty="0"/>
              <a:t>(1)</a:t>
            </a:r>
            <a:endParaRPr lang="ko-KR" altLang="en-US" sz="1600" dirty="0"/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400" dirty="0"/>
              <a:t>군집 알고리즘 </a:t>
            </a:r>
            <a:r>
              <a:rPr lang="en-US" altLang="ko-KR" sz="1400" dirty="0"/>
              <a:t>/ k-</a:t>
            </a:r>
            <a:r>
              <a:rPr lang="ko-KR" altLang="en-US" sz="1400" dirty="0"/>
              <a:t>평균</a:t>
            </a:r>
          </a:p>
          <a:p>
            <a:pPr marL="228600" indent="-228600">
              <a:lnSpc>
                <a:spcPct val="125000"/>
              </a:lnSpc>
              <a:spcBef>
                <a:spcPts val="300"/>
              </a:spcBef>
              <a:buSzPct val="100000"/>
            </a:pPr>
            <a:r>
              <a:rPr lang="en-US" altLang="ko-KR" sz="1600" dirty="0"/>
              <a:t>12</a:t>
            </a:r>
            <a:r>
              <a:rPr lang="ko-KR" altLang="en-US" sz="1600" dirty="0"/>
              <a:t>주차</a:t>
            </a:r>
            <a:r>
              <a:rPr lang="en-US" altLang="ko-KR" sz="1600" dirty="0"/>
              <a:t>: CHAPTER 06 </a:t>
            </a:r>
            <a:r>
              <a:rPr lang="ko-KR" altLang="en-US" sz="1600" dirty="0"/>
              <a:t>비지도 학습 </a:t>
            </a:r>
            <a:r>
              <a:rPr lang="en-US" altLang="ko-KR" sz="1600" dirty="0"/>
              <a:t>(2)</a:t>
            </a:r>
            <a:endParaRPr lang="ko-KR" altLang="en-US" sz="1600" dirty="0"/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400" dirty="0"/>
              <a:t>주성분 분석</a:t>
            </a:r>
          </a:p>
          <a:p>
            <a:pPr marL="228600" indent="-228600">
              <a:lnSpc>
                <a:spcPct val="125000"/>
              </a:lnSpc>
              <a:spcBef>
                <a:spcPts val="300"/>
              </a:spcBef>
              <a:buSzPct val="100000"/>
            </a:pPr>
            <a:r>
              <a:rPr lang="en-US" altLang="ko-KR" sz="1600" dirty="0"/>
              <a:t>13</a:t>
            </a:r>
            <a:r>
              <a:rPr lang="ko-KR" altLang="en-US" sz="1600" dirty="0"/>
              <a:t>주차</a:t>
            </a:r>
            <a:r>
              <a:rPr lang="en-US" altLang="ko-KR" sz="1600" dirty="0"/>
              <a:t>: LLM </a:t>
            </a:r>
            <a:r>
              <a:rPr lang="ko-KR" altLang="en-US" sz="1600" dirty="0" err="1"/>
              <a:t>바이브코딩을</a:t>
            </a:r>
            <a:r>
              <a:rPr lang="ko-KR" altLang="en-US" sz="1600" dirty="0"/>
              <a:t> 통한 기말 프로젝트 </a:t>
            </a:r>
            <a:r>
              <a:rPr lang="en-US" altLang="ko-KR" sz="1600" dirty="0"/>
              <a:t>(1)</a:t>
            </a:r>
            <a:endParaRPr lang="ko-KR" altLang="en-US" sz="1600" dirty="0"/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400" dirty="0"/>
              <a:t>프로젝트 주제 선정 및 기획 </a:t>
            </a:r>
            <a:r>
              <a:rPr lang="en-US" altLang="ko-KR" sz="1400" dirty="0"/>
              <a:t>/ AI </a:t>
            </a:r>
            <a:r>
              <a:rPr lang="ko-KR" altLang="en-US" sz="1400" dirty="0"/>
              <a:t>도구 활용 실습</a:t>
            </a:r>
          </a:p>
          <a:p>
            <a:pPr marL="228600" indent="-228600">
              <a:lnSpc>
                <a:spcPct val="125000"/>
              </a:lnSpc>
              <a:spcBef>
                <a:spcPts val="300"/>
              </a:spcBef>
              <a:buSzPct val="100000"/>
            </a:pPr>
            <a:r>
              <a:rPr lang="en-US" altLang="ko-KR" sz="1600" dirty="0"/>
              <a:t>14</a:t>
            </a:r>
            <a:r>
              <a:rPr lang="ko-KR" altLang="en-US" sz="1600" dirty="0"/>
              <a:t>주차</a:t>
            </a:r>
            <a:r>
              <a:rPr lang="en-US" altLang="ko-KR" sz="1600" dirty="0"/>
              <a:t>: LLM </a:t>
            </a:r>
            <a:r>
              <a:rPr lang="ko-KR" altLang="en-US" sz="1600" dirty="0" err="1"/>
              <a:t>바이브코딩을</a:t>
            </a:r>
            <a:r>
              <a:rPr lang="ko-KR" altLang="en-US" sz="1600" dirty="0"/>
              <a:t> 통한 기말 프로젝트 </a:t>
            </a:r>
            <a:r>
              <a:rPr lang="en-US" altLang="ko-KR" sz="1600" dirty="0"/>
              <a:t>(2)</a:t>
            </a:r>
            <a:endParaRPr lang="ko-KR" altLang="en-US" sz="1600" dirty="0"/>
          </a:p>
          <a:p>
            <a:pPr marL="685800" lvl="1" indent="-228600">
              <a:lnSpc>
                <a:spcPct val="125000"/>
              </a:lnSpc>
              <a:spcBef>
                <a:spcPts val="300"/>
              </a:spcBef>
              <a:buSzPct val="100000"/>
            </a:pPr>
            <a:r>
              <a:rPr lang="ko-KR" altLang="en-US" sz="1400" dirty="0"/>
              <a:t>프로젝트 수행</a:t>
            </a:r>
          </a:p>
          <a:p>
            <a:pPr marL="228600" indent="-228600">
              <a:lnSpc>
                <a:spcPct val="125000"/>
              </a:lnSpc>
              <a:spcBef>
                <a:spcPts val="300"/>
              </a:spcBef>
              <a:buSzPct val="100000"/>
            </a:pPr>
            <a:r>
              <a:rPr lang="en-US" altLang="ko-KR" sz="1600" dirty="0"/>
              <a:t>15</a:t>
            </a:r>
            <a:r>
              <a:rPr lang="ko-KR" altLang="en-US" sz="1600" dirty="0"/>
              <a:t>주차</a:t>
            </a:r>
            <a:r>
              <a:rPr lang="en-US" altLang="ko-KR" sz="1600" dirty="0"/>
              <a:t>: </a:t>
            </a:r>
            <a:r>
              <a:rPr lang="ko-KR" altLang="en-US" sz="1600" dirty="0"/>
              <a:t>보강 및 기말 프로젝트 </a:t>
            </a:r>
            <a:r>
              <a:rPr lang="en-US" altLang="ko-KR" sz="1600" dirty="0"/>
              <a:t>(3)</a:t>
            </a:r>
            <a:r>
              <a:rPr lang="ko-KR" altLang="en-US" sz="1600" dirty="0"/>
              <a:t> 수행</a:t>
            </a:r>
          </a:p>
          <a:p>
            <a:pPr marL="685800" lvl="1" indent="-228600">
              <a:lnSpc>
                <a:spcPct val="125000"/>
              </a:lnSpc>
              <a:spcBef>
                <a:spcPts val="300"/>
              </a:spcBef>
              <a:buSzPct val="100000"/>
            </a:pPr>
            <a:r>
              <a:rPr lang="ko-KR" altLang="en-US" sz="1400" dirty="0"/>
              <a:t>프로젝트 제출</a:t>
            </a:r>
          </a:p>
          <a:p>
            <a:pPr marL="228600" indent="-228600">
              <a:lnSpc>
                <a:spcPct val="125000"/>
              </a:lnSpc>
              <a:spcBef>
                <a:spcPts val="300"/>
              </a:spcBef>
              <a:buSzPct val="100000"/>
            </a:pPr>
            <a:r>
              <a:rPr lang="en-US" altLang="ko-KR" sz="1600" dirty="0"/>
              <a:t>16</a:t>
            </a:r>
            <a:r>
              <a:rPr lang="ko-KR" altLang="en-US" sz="1600" dirty="0"/>
              <a:t>주차</a:t>
            </a:r>
            <a:r>
              <a:rPr lang="en-US" altLang="ko-KR" sz="1600" dirty="0"/>
              <a:t>: </a:t>
            </a:r>
            <a:r>
              <a:rPr lang="ko-KR" altLang="en-US" sz="1600" dirty="0"/>
              <a:t>기말고사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Title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 dirty="0"/>
              <a:t>평가 방법</a:t>
            </a:r>
            <a:endParaRPr dirty="0"/>
          </a:p>
        </p:txBody>
      </p:sp>
      <p:sp>
        <p:nvSpPr>
          <p:cNvPr id="902" name="SlideNum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6</a:t>
            </a:fld>
            <a:endParaRPr/>
          </a:p>
        </p:txBody>
      </p:sp>
      <p:sp>
        <p:nvSpPr>
          <p:cNvPr id="903" name="Body"/>
          <p:cNvSpPr txBox="1">
            <a:spLocks noGrp="1"/>
          </p:cNvSpPr>
          <p:nvPr>
            <p:ph type="body" idx="1"/>
          </p:nvPr>
        </p:nvSpPr>
        <p:spPr>
          <a:xfrm>
            <a:off x="468000" y="1079999"/>
            <a:ext cx="11624609" cy="56700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 lnSpcReduction="10000"/>
          </a:bodyPr>
          <a:lstStyle/>
          <a:p>
            <a:pPr marL="228600" lvl="0" indent="-228600">
              <a:lnSpc>
                <a:spcPct val="125000"/>
              </a:lnSpc>
              <a:spcBef>
                <a:spcPts val="300"/>
              </a:spcBef>
              <a:buSzPct val="100000"/>
            </a:pPr>
            <a:r>
              <a:rPr lang="ko-KR" altLang="en-US" dirty="0"/>
              <a:t>평가 항목 및 배점</a:t>
            </a:r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700" dirty="0"/>
              <a:t>중간고사</a:t>
            </a:r>
            <a:r>
              <a:rPr lang="en-US" altLang="ko-KR" sz="1700" dirty="0"/>
              <a:t>: 30</a:t>
            </a:r>
            <a:r>
              <a:rPr lang="ko-KR" altLang="en-US" sz="1700" dirty="0"/>
              <a:t>점</a:t>
            </a:r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700" dirty="0"/>
              <a:t>기말고사</a:t>
            </a:r>
            <a:r>
              <a:rPr lang="en-US" altLang="ko-KR" sz="1700" dirty="0"/>
              <a:t>: 30</a:t>
            </a:r>
            <a:r>
              <a:rPr lang="ko-KR" altLang="en-US" sz="1700" dirty="0"/>
              <a:t>점</a:t>
            </a:r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700" dirty="0"/>
              <a:t>퀴즈</a:t>
            </a:r>
            <a:r>
              <a:rPr lang="en-US" altLang="ko-KR" sz="1700" dirty="0"/>
              <a:t>: 10</a:t>
            </a:r>
            <a:r>
              <a:rPr lang="ko-KR" altLang="en-US" sz="1700" dirty="0"/>
              <a:t>점 </a:t>
            </a:r>
            <a:endParaRPr lang="en-US" altLang="ko-KR" sz="1700" dirty="0"/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700" dirty="0"/>
              <a:t>기말 프로젝트</a:t>
            </a:r>
            <a:r>
              <a:rPr lang="en-US" altLang="ko-KR" sz="1700" dirty="0"/>
              <a:t>: 20</a:t>
            </a:r>
            <a:r>
              <a:rPr lang="ko-KR" altLang="en-US" sz="1700" dirty="0"/>
              <a:t>점</a:t>
            </a:r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700" dirty="0"/>
              <a:t>출석 </a:t>
            </a:r>
            <a:r>
              <a:rPr lang="en-US" altLang="ko-KR" sz="1700" dirty="0"/>
              <a:t>+ </a:t>
            </a:r>
            <a:r>
              <a:rPr lang="ko-KR" altLang="en-US" sz="1700" dirty="0"/>
              <a:t>핵심역량평가</a:t>
            </a:r>
            <a:r>
              <a:rPr lang="en-US" altLang="ko-KR" sz="1700" dirty="0"/>
              <a:t>: 10</a:t>
            </a:r>
            <a:r>
              <a:rPr lang="ko-KR" altLang="en-US" sz="1700" dirty="0"/>
              <a:t>점</a:t>
            </a:r>
          </a:p>
          <a:p>
            <a:pPr marL="228600" lvl="0" indent="-228600">
              <a:lnSpc>
                <a:spcPct val="125000"/>
              </a:lnSpc>
              <a:spcBef>
                <a:spcPts val="300"/>
              </a:spcBef>
              <a:buSzPct val="100000"/>
            </a:pPr>
            <a:r>
              <a:rPr lang="ko-KR" altLang="en-US" dirty="0"/>
              <a:t>시험</a:t>
            </a:r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700" dirty="0"/>
              <a:t>중간고사</a:t>
            </a:r>
            <a:r>
              <a:rPr lang="en-US" altLang="ko-KR" sz="1700" dirty="0"/>
              <a:t>: CHAPTER 01~04 </a:t>
            </a:r>
            <a:r>
              <a:rPr lang="ko-KR" altLang="en-US" sz="1700" dirty="0"/>
              <a:t>범위 </a:t>
            </a:r>
            <a:r>
              <a:rPr lang="en-US" altLang="ko-KR" sz="1700" dirty="0"/>
              <a:t>(8</a:t>
            </a:r>
            <a:r>
              <a:rPr lang="ko-KR" altLang="en-US" sz="1700" dirty="0"/>
              <a:t>주차</a:t>
            </a:r>
            <a:r>
              <a:rPr lang="en-US" altLang="ko-KR" sz="1700" dirty="0"/>
              <a:t>)</a:t>
            </a:r>
            <a:endParaRPr lang="ko-KR" altLang="en-US" sz="1700" dirty="0"/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700" dirty="0"/>
              <a:t>기말고사</a:t>
            </a:r>
            <a:r>
              <a:rPr lang="en-US" altLang="ko-KR" sz="1700" dirty="0"/>
              <a:t>: CHAPTER 05~06 (50%) + </a:t>
            </a:r>
            <a:r>
              <a:rPr lang="ko-KR" altLang="en-US" sz="1700" dirty="0"/>
              <a:t>바이브코딩 </a:t>
            </a:r>
            <a:r>
              <a:rPr lang="en-US" altLang="ko-KR" sz="1700" dirty="0"/>
              <a:t>(50%)</a:t>
            </a:r>
            <a:endParaRPr lang="ko-KR" altLang="en-US" sz="1700" dirty="0"/>
          </a:p>
          <a:p>
            <a:pPr marL="228600" lvl="0" indent="-228600">
              <a:lnSpc>
                <a:spcPct val="125000"/>
              </a:lnSpc>
              <a:spcBef>
                <a:spcPts val="300"/>
              </a:spcBef>
              <a:buSzPct val="100000"/>
            </a:pPr>
            <a:r>
              <a:rPr lang="ko-KR" altLang="en-US" dirty="0"/>
              <a:t>과제</a:t>
            </a:r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700" dirty="0"/>
              <a:t>매 </a:t>
            </a:r>
            <a:r>
              <a:rPr lang="en-US" altLang="ko-KR" sz="1700" dirty="0"/>
              <a:t>CHAPTER </a:t>
            </a:r>
            <a:r>
              <a:rPr lang="ko-KR" altLang="en-US" sz="1700" dirty="0"/>
              <a:t>종료 후 코딩 과제 제출 </a:t>
            </a:r>
            <a:r>
              <a:rPr lang="en-US" altLang="ko-KR" sz="1700" dirty="0"/>
              <a:t>(GitHub Classroom)</a:t>
            </a:r>
            <a:endParaRPr lang="ko-KR" altLang="en-US" sz="1700" dirty="0"/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700" dirty="0"/>
              <a:t>과제 제출 기한</a:t>
            </a:r>
            <a:r>
              <a:rPr lang="en-US" altLang="ko-KR" sz="1700" dirty="0"/>
              <a:t>: </a:t>
            </a:r>
            <a:r>
              <a:rPr lang="ko-KR" altLang="en-US" sz="1700" dirty="0"/>
              <a:t>해당 주차 종료 후 </a:t>
            </a:r>
            <a:r>
              <a:rPr lang="en-US" altLang="ko-KR" sz="1700" dirty="0"/>
              <a:t>1</a:t>
            </a:r>
            <a:r>
              <a:rPr lang="ko-KR" altLang="en-US" sz="1700" dirty="0"/>
              <a:t>주일 이내</a:t>
            </a:r>
          </a:p>
          <a:p>
            <a:pPr marL="228600" lvl="0" indent="-228600">
              <a:lnSpc>
                <a:spcPct val="125000"/>
              </a:lnSpc>
              <a:spcBef>
                <a:spcPts val="300"/>
              </a:spcBef>
              <a:buSzPct val="100000"/>
            </a:pPr>
            <a:r>
              <a:rPr lang="ko-KR" altLang="en-US" dirty="0"/>
              <a:t>기말</a:t>
            </a:r>
            <a:r>
              <a:rPr lang="en-US" altLang="ko-KR" dirty="0"/>
              <a:t> </a:t>
            </a:r>
            <a:r>
              <a:rPr lang="ko-KR" altLang="en-US" dirty="0"/>
              <a:t>프로젝트</a:t>
            </a:r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700" dirty="0"/>
              <a:t>기말 프로젝트 (13~14주차)</a:t>
            </a:r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700" dirty="0"/>
              <a:t>결과물 제출 및 발표 (14주차)</a:t>
            </a:r>
          </a:p>
          <a:p>
            <a:pPr marL="228600" lvl="0" indent="-228600">
              <a:lnSpc>
                <a:spcPct val="125000"/>
              </a:lnSpc>
              <a:spcBef>
                <a:spcPts val="300"/>
              </a:spcBef>
              <a:buSzPct val="100000"/>
            </a:pPr>
            <a:r>
              <a:rPr lang="ko-KR" altLang="en-US" dirty="0"/>
              <a:t>출석</a:t>
            </a:r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700" dirty="0"/>
              <a:t>지각 </a:t>
            </a:r>
            <a:r>
              <a:rPr lang="en-US" altLang="ko-KR" sz="1700" dirty="0"/>
              <a:t>3</a:t>
            </a:r>
            <a:r>
              <a:rPr lang="ko-KR" altLang="en-US" sz="1700" dirty="0"/>
              <a:t>회 </a:t>
            </a:r>
            <a:r>
              <a:rPr lang="en-US" altLang="ko-KR" sz="1700" dirty="0"/>
              <a:t>= </a:t>
            </a:r>
            <a:r>
              <a:rPr lang="ko-KR" altLang="en-US" sz="1700" dirty="0"/>
              <a:t>결석 </a:t>
            </a:r>
            <a:r>
              <a:rPr lang="en-US" altLang="ko-KR" sz="1700" dirty="0"/>
              <a:t>1</a:t>
            </a:r>
            <a:r>
              <a:rPr lang="ko-KR" altLang="en-US" sz="1700" dirty="0"/>
              <a:t>회</a:t>
            </a:r>
            <a:r>
              <a:rPr lang="en-US" altLang="ko-KR" sz="1700" dirty="0"/>
              <a:t>, </a:t>
            </a:r>
            <a:r>
              <a:rPr lang="ko-KR" altLang="en-US" sz="1700" dirty="0"/>
              <a:t>결석 </a:t>
            </a:r>
            <a:r>
              <a:rPr lang="en-US" altLang="ko-KR" sz="1700" dirty="0"/>
              <a:t>2</a:t>
            </a:r>
            <a:r>
              <a:rPr lang="ko-KR" altLang="en-US" sz="1700" dirty="0"/>
              <a:t>회까지는 </a:t>
            </a:r>
            <a:r>
              <a:rPr lang="en-US" altLang="ko-KR" sz="1700" dirty="0"/>
              <a:t>5</a:t>
            </a:r>
            <a:r>
              <a:rPr lang="ko-KR" altLang="en-US" sz="1700" dirty="0"/>
              <a:t>점 만점</a:t>
            </a:r>
            <a:r>
              <a:rPr lang="en-US" altLang="ko-KR" sz="1700" dirty="0"/>
              <a:t>, </a:t>
            </a:r>
            <a:r>
              <a:rPr lang="ko-KR" altLang="en-US" sz="1700" dirty="0"/>
              <a:t>결석 </a:t>
            </a:r>
            <a:r>
              <a:rPr lang="en-US" altLang="ko-KR" sz="1700" dirty="0"/>
              <a:t>3</a:t>
            </a:r>
            <a:r>
              <a:rPr lang="ko-KR" altLang="en-US" sz="1700" dirty="0"/>
              <a:t>회부터 결석 </a:t>
            </a:r>
            <a:r>
              <a:rPr lang="en-US" altLang="ko-KR" sz="1700" dirty="0"/>
              <a:t>2</a:t>
            </a:r>
            <a:r>
              <a:rPr lang="ko-KR" altLang="en-US" sz="1700" dirty="0"/>
              <a:t>회마다 </a:t>
            </a:r>
            <a:r>
              <a:rPr lang="en-US" altLang="ko-KR" sz="1700" dirty="0"/>
              <a:t>1</a:t>
            </a:r>
            <a:r>
              <a:rPr lang="ko-KR" altLang="en-US" sz="1700" dirty="0" err="1"/>
              <a:t>점씩</a:t>
            </a:r>
            <a:r>
              <a:rPr lang="ko-KR" altLang="en-US" sz="1700" dirty="0"/>
              <a:t> 차감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Title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 dirty="0"/>
              <a:t>수업 규칙 및 유의사항</a:t>
            </a:r>
            <a:endParaRPr dirty="0"/>
          </a:p>
        </p:txBody>
      </p:sp>
      <p:sp>
        <p:nvSpPr>
          <p:cNvPr id="902" name="SlideNum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7</a:t>
            </a:fld>
            <a:endParaRPr/>
          </a:p>
        </p:txBody>
      </p:sp>
      <p:sp>
        <p:nvSpPr>
          <p:cNvPr id="903" name="Body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624609" cy="50748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2000" dirty="0"/>
              <a:t>수업 방식</a:t>
            </a:r>
            <a:endParaRPr sz="20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이론 강의 + 실습 (구글 </a:t>
            </a:r>
            <a:r>
              <a:rPr lang="ko-KR" sz="1700" dirty="0" err="1"/>
              <a:t>코랩</a:t>
            </a:r>
            <a:r>
              <a:rPr lang="ko-KR" sz="1700" dirty="0"/>
              <a:t>)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개인 노트북 지참 권장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교재 코드는 구글 </a:t>
            </a:r>
            <a:r>
              <a:rPr lang="ko-KR" sz="1700" dirty="0" err="1"/>
              <a:t>코랩에서</a:t>
            </a:r>
            <a:r>
              <a:rPr lang="ko-KR" sz="1700" dirty="0"/>
              <a:t> 직접 실행하며 학습</a:t>
            </a:r>
            <a:endParaRPr sz="17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2000" dirty="0"/>
              <a:t>수업 규칙</a:t>
            </a:r>
            <a:endParaRPr sz="20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질문은 언제든 환영합니다</a:t>
            </a:r>
            <a:endParaRPr sz="17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2000" dirty="0"/>
              <a:t>질문 및 소통 채널</a:t>
            </a:r>
            <a:endParaRPr sz="20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수업 중: 직접 질문 / 수업 외: 이메일 또는 LMS 게시판 활용</a:t>
            </a:r>
            <a:r>
              <a:rPr lang="en-US" altLang="ko-KR" sz="1700" dirty="0"/>
              <a:t>, </a:t>
            </a:r>
            <a:r>
              <a:rPr lang="ko-KR" altLang="en-US" sz="1700" dirty="0" err="1"/>
              <a:t>단톡방</a:t>
            </a:r>
            <a:r>
              <a:rPr lang="en-US" altLang="ko-KR" sz="1700" dirty="0"/>
              <a:t> </a:t>
            </a:r>
            <a:r>
              <a:rPr lang="ko-KR" altLang="en-US" sz="1700" dirty="0"/>
              <a:t>운영</a:t>
            </a:r>
            <a:endParaRPr lang="en-US" altLang="ko-KR"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en-US" altLang="ko-KR" sz="1700" dirty="0"/>
              <a:t>e-mail: </a:t>
            </a:r>
            <a:r>
              <a:rPr lang="en-US" sz="1700" dirty="0">
                <a:hlinkClick r:id="rId2"/>
              </a:rPr>
              <a:t>sangdon.park@dju.kr</a:t>
            </a:r>
            <a:endParaRPr lang="en-US" sz="17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2000" dirty="0"/>
              <a:t>참고 사항</a:t>
            </a:r>
            <a:endParaRPr sz="20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교재 소스 코드: https://github.com/rickiepark/hg-mldl</a:t>
            </a:r>
            <a:endParaRPr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한빛미디어">
      <a:dk1>
        <a:srgbClr val="000000"/>
      </a:dk1>
      <a:lt1>
        <a:srgbClr val="FFFFFF"/>
      </a:lt1>
      <a:dk2>
        <a:srgbClr val="1FAEB6"/>
      </a:dk2>
      <a:lt2>
        <a:srgbClr val="919191"/>
      </a:lt2>
      <a:accent1>
        <a:srgbClr val="39B54A"/>
      </a:accent1>
      <a:accent2>
        <a:srgbClr val="F15A31"/>
      </a:accent2>
      <a:accent3>
        <a:srgbClr val="FA9D1C"/>
      </a:accent3>
      <a:accent4>
        <a:srgbClr val="41B50A"/>
      </a:accent4>
      <a:accent5>
        <a:srgbClr val="55AAEA"/>
      </a:accent5>
      <a:accent6>
        <a:srgbClr val="4D2702"/>
      </a:accent6>
      <a:hlink>
        <a:srgbClr val="39B54A"/>
      </a:hlink>
      <a:folHlink>
        <a:srgbClr val="91919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511</TotalTime>
  <Words>801</Words>
  <Application>Microsoft Office PowerPoint</Application>
  <PresentationFormat>와이드스크린</PresentationFormat>
  <Paragraphs>127</Paragraphs>
  <Slides>7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2" baseType="lpstr">
      <vt:lpstr>Arial</vt:lpstr>
      <vt:lpstr>Calibri</vt:lpstr>
      <vt:lpstr>Malgun Gothic</vt:lpstr>
      <vt:lpstr>Noto Sans Symbols</vt:lpstr>
      <vt:lpstr>Office 테마</vt:lpstr>
      <vt:lpstr>인공지능 </vt:lpstr>
      <vt:lpstr>강의 개요</vt:lpstr>
      <vt:lpstr>인공지능 강의 학습 목표</vt:lpstr>
      <vt:lpstr>교재 소개</vt:lpstr>
      <vt:lpstr>주차별 강의 계획</vt:lpstr>
      <vt:lpstr>평가 방법</vt:lpstr>
      <vt:lpstr>수업 규칙 및 유의사항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혼자 공부하는 머신러닝+딥러닝 (개정판)</dc:title>
  <dc:creator>마케팅팀</dc:creator>
  <cp:lastModifiedBy>USER</cp:lastModifiedBy>
  <cp:revision>67</cp:revision>
  <dcterms:created xsi:type="dcterms:W3CDTF">2020-01-31T07:25:46Z</dcterms:created>
  <dcterms:modified xsi:type="dcterms:W3CDTF">2026-03-01T11:09:10Z</dcterms:modified>
</cp:coreProperties>
</file>