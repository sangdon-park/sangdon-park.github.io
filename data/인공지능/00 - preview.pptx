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303" r:id="rId3"/>
    <p:sldId id="260" r:id="rId4"/>
    <p:sldId id="304" r:id="rId5"/>
    <p:sldId id="305" r:id="rId6"/>
    <p:sldId id="306" r:id="rId7"/>
    <p:sldId id="307" r:id="rId8"/>
    <p:sldId id="308" r:id="rId9"/>
  </p:sldIdLst>
  <p:sldSz cx="12192000" cy="6858000"/>
  <p:notesSz cx="6858000" cy="9144000"/>
  <p:embeddedFontLst>
    <p:embeddedFont>
      <p:font typeface="Malgun Gothic" panose="020B0503020000020004" pitchFamily="50" charset="-127"/>
      <p:regular r:id="rId11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Noto Sans Symbols" pitchFamily="2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41">
          <p15:clr>
            <a:srgbClr val="A4A3A4"/>
          </p15:clr>
        </p15:guide>
        <p15:guide id="2" pos="3840">
          <p15:clr>
            <a:srgbClr val="A4A3A4"/>
          </p15:clr>
        </p15:guide>
        <p15:guide id="3" pos="3999">
          <p15:clr>
            <a:srgbClr val="A4A3A4"/>
          </p15:clr>
        </p15:guide>
        <p15:guide id="4" orient="horz" pos="2591">
          <p15:clr>
            <a:srgbClr val="A4A3A4"/>
          </p15:clr>
        </p15:guide>
        <p15:guide id="5" pos="960">
          <p15:clr>
            <a:srgbClr val="A4A3A4"/>
          </p15:clr>
        </p15:guide>
        <p15:guide id="6" orient="horz" pos="1797">
          <p15:clr>
            <a:srgbClr val="A4A3A4"/>
          </p15:clr>
        </p15:guide>
        <p15:guide id="7" orient="horz" pos="504">
          <p15:clr>
            <a:srgbClr val="A4A3A4"/>
          </p15:clr>
        </p15:guide>
        <p15:guide id="8" pos="506">
          <p15:clr>
            <a:srgbClr val="A4A3A4"/>
          </p15:clr>
        </p15:guide>
        <p15:guide id="9" pos="71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1" roundtripDataSignature="AMtx7mgQh/JTZB+tcnoesXfhZuEldfv5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C014BDC-B06A-43B6-9D0A-1BB114C4A0B7}">
  <a:tblStyle styleId="{FC014BDC-B06A-43B6-9D0A-1BB114C4A0B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2E8"/>
          </a:solidFill>
        </a:fill>
      </a:tcStyle>
    </a:wholeTbl>
    <a:band1H>
      <a:tcTxStyle/>
      <a:tcStyle>
        <a:tcBdr/>
        <a:fill>
          <a:solidFill>
            <a:srgbClr val="CCE5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E5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B367915-EC1C-4A17-8A3B-353DF648912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>
        <p:guide orient="horz" pos="2341"/>
        <p:guide pos="3840"/>
        <p:guide pos="3999"/>
        <p:guide orient="horz" pos="2591"/>
        <p:guide pos="960"/>
        <p:guide orient="horz" pos="1797"/>
        <p:guide orient="horz" pos="504"/>
        <p:guide pos="506"/>
        <p:guide pos="717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61" Type="http://customschemas.google.com/relationships/presentationmetadata" Target="metadata"/><Relationship Id="rId1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6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4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4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7"/>
          <p:cNvSpPr/>
          <p:nvPr/>
        </p:nvSpPr>
        <p:spPr>
          <a:xfrm rot="10800000">
            <a:off x="-3" y="-3"/>
            <a:ext cx="8697688" cy="5529945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7"/>
          <p:cNvSpPr/>
          <p:nvPr/>
        </p:nvSpPr>
        <p:spPr>
          <a:xfrm rot="10800000">
            <a:off x="3799114" y="2286000"/>
            <a:ext cx="8392886" cy="4572000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7"/>
          <p:cNvSpPr txBox="1">
            <a:spLocks noGrp="1"/>
          </p:cNvSpPr>
          <p:nvPr>
            <p:ph type="ctrTitle"/>
          </p:nvPr>
        </p:nvSpPr>
        <p:spPr>
          <a:xfrm>
            <a:off x="703254" y="1780334"/>
            <a:ext cx="7009510" cy="359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  <a:defRPr sz="5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47"/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20" name="Google Shape;20;p47"/>
          <p:cNvCxnSpPr/>
          <p:nvPr/>
        </p:nvCxnSpPr>
        <p:spPr>
          <a:xfrm>
            <a:off x="708848" y="662121"/>
            <a:ext cx="0" cy="8721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지1">
  <p:cSld name="내지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8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8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8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5" name="Google Shape;25;p4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8"/>
          <p:cNvSpPr txBox="1">
            <a:spLocks noGrp="1"/>
          </p:cNvSpPr>
          <p:nvPr>
            <p:ph type="body" idx="1"/>
          </p:nvPr>
        </p:nvSpPr>
        <p:spPr>
          <a:xfrm>
            <a:off x="1030287" y="1415600"/>
            <a:ext cx="10080625" cy="463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사용자 지정 레이아웃">
  <p:cSld name="1_사용자 지정 레이아웃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0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0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0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0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44" name="Google Shape;44;p50"/>
          <p:cNvSpPr txBox="1">
            <a:spLocks noGrp="1"/>
          </p:cNvSpPr>
          <p:nvPr>
            <p:ph type="body" idx="1"/>
          </p:nvPr>
        </p:nvSpPr>
        <p:spPr>
          <a:xfrm>
            <a:off x="487015" y="815008"/>
            <a:ext cx="11281052" cy="2186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50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목차">
  <p:cSld name="목차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1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1"/>
          <p:cNvSpPr txBox="1">
            <a:spLocks noGrp="1"/>
          </p:cNvSpPr>
          <p:nvPr>
            <p:ph type="body" idx="1"/>
          </p:nvPr>
        </p:nvSpPr>
        <p:spPr>
          <a:xfrm>
            <a:off x="4632325" y="3242853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1"/>
          <p:cNvSpPr txBox="1">
            <a:spLocks noGrp="1"/>
          </p:cNvSpPr>
          <p:nvPr>
            <p:ph type="body" idx="2"/>
          </p:nvPr>
        </p:nvSpPr>
        <p:spPr>
          <a:xfrm>
            <a:off x="4632324" y="4074122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1"/>
          <p:cNvSpPr txBox="1">
            <a:spLocks noGrp="1"/>
          </p:cNvSpPr>
          <p:nvPr>
            <p:ph type="body" idx="3"/>
          </p:nvPr>
        </p:nvSpPr>
        <p:spPr>
          <a:xfrm>
            <a:off x="4632323" y="4910800"/>
            <a:ext cx="7559675" cy="70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51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51"/>
          <p:cNvGrpSpPr/>
          <p:nvPr/>
        </p:nvGrpSpPr>
        <p:grpSpPr>
          <a:xfrm>
            <a:off x="11568567" y="267121"/>
            <a:ext cx="320022" cy="359778"/>
            <a:chOff x="3567553" y="1499912"/>
            <a:chExt cx="320022" cy="359778"/>
          </a:xfrm>
        </p:grpSpPr>
        <p:sp>
          <p:nvSpPr>
            <p:cNvPr id="53" name="Google Shape;53;p51"/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51"/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51"/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51"/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51"/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51"/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solidFill>
              <a:srgbClr val="4BB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51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>
  <p:cSld name="2_사용자 지정 레이아웃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2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2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2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2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65" name="Google Shape;65;p52"/>
          <p:cNvSpPr txBox="1">
            <a:spLocks noGrp="1"/>
          </p:cNvSpPr>
          <p:nvPr>
            <p:ph type="body" idx="1"/>
          </p:nvPr>
        </p:nvSpPr>
        <p:spPr>
          <a:xfrm>
            <a:off x="487015" y="815009"/>
            <a:ext cx="11281052" cy="781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4BB0A0"/>
              </a:buClr>
              <a:buSzPts val="2000"/>
              <a:buFont typeface="Arial"/>
              <a:buChar char="◦"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⁃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body" idx="2"/>
          </p:nvPr>
        </p:nvSpPr>
        <p:spPr>
          <a:xfrm>
            <a:off x="691375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52"/>
          <p:cNvSpPr txBox="1">
            <a:spLocks noGrp="1"/>
          </p:cNvSpPr>
          <p:nvPr>
            <p:ph type="body" idx="3"/>
          </p:nvPr>
        </p:nvSpPr>
        <p:spPr>
          <a:xfrm>
            <a:off x="6437106" y="2233552"/>
            <a:ext cx="5254625" cy="3195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52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sangdon.park@dju.k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>
            <a:spLocks noGrp="1"/>
          </p:cNvSpPr>
          <p:nvPr>
            <p:ph type="ctrTitle"/>
          </p:nvPr>
        </p:nvSpPr>
        <p:spPr>
          <a:xfrm>
            <a:off x="3147600" y="2777284"/>
            <a:ext cx="7291312" cy="359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algun Gothic"/>
              <a:buNone/>
            </a:pPr>
            <a:r>
              <a:rPr lang="ko-KR" altLang="en-US" b="1" dirty="0"/>
              <a:t>인공지능</a:t>
            </a:r>
            <a:br>
              <a:rPr lang="en-US" altLang="ko-KR" b="1" dirty="0"/>
            </a:br>
            <a:endParaRPr b="1" dirty="0"/>
          </a:p>
        </p:txBody>
      </p:sp>
      <p:sp>
        <p:nvSpPr>
          <p:cNvPr id="82" name="Google Shape;82;p1"/>
          <p:cNvSpPr txBox="1">
            <a:spLocks noGrp="1"/>
          </p:cNvSpPr>
          <p:nvPr>
            <p:ph type="subTitle" idx="1"/>
          </p:nvPr>
        </p:nvSpPr>
        <p:spPr>
          <a:xfrm>
            <a:off x="8053710" y="5222914"/>
            <a:ext cx="3268457" cy="1072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b="1" dirty="0"/>
              <a:t>대전대학교 컴퓨터공학과</a:t>
            </a:r>
            <a:endParaRPr lang="en-US" altLang="ko-KR" b="1" dirty="0"/>
          </a:p>
          <a:p>
            <a:pPr marL="2286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ko-KR" b="1" dirty="0"/>
          </a:p>
          <a:p>
            <a:pPr marL="228600" lvl="0" indent="-22860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b="1" dirty="0"/>
              <a:t>조교수 박상돈</a:t>
            </a:r>
            <a:endParaRPr b="1" dirty="0"/>
          </a:p>
        </p:txBody>
      </p:sp>
      <p:sp>
        <p:nvSpPr>
          <p:cNvPr id="84" name="Google Shape;84;p1"/>
          <p:cNvSpPr txBox="1"/>
          <p:nvPr/>
        </p:nvSpPr>
        <p:spPr>
          <a:xfrm>
            <a:off x="1020350" y="851445"/>
            <a:ext cx="88160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0 </a:t>
            </a:r>
            <a:r>
              <a:rPr lang="en-US" altLang="ko-K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PREVIEW:</a:t>
            </a:r>
            <a:r>
              <a:rPr lang="ko-K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 소개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itle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 dirty="0"/>
              <a:t>강의 개요</a:t>
            </a:r>
            <a:endParaRPr dirty="0"/>
          </a:p>
        </p:txBody>
      </p:sp>
      <p:sp>
        <p:nvSpPr>
          <p:cNvPr id="902" name="SlideNum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</a:t>
            </a:fld>
            <a:endParaRPr/>
          </a:p>
        </p:txBody>
      </p:sp>
      <p:sp>
        <p:nvSpPr>
          <p:cNvPr id="903" name="Body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24609" cy="507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2000" dirty="0" err="1"/>
              <a:t>강의명</a:t>
            </a:r>
            <a:r>
              <a:rPr lang="ko-KR" sz="2000" dirty="0"/>
              <a:t>: </a:t>
            </a:r>
            <a:r>
              <a:rPr lang="ko-KR" altLang="en-US" sz="2000" dirty="0"/>
              <a:t>인공지능</a:t>
            </a:r>
            <a:endParaRPr sz="20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 err="1"/>
              <a:t>머신러닝의</a:t>
            </a:r>
            <a:r>
              <a:rPr lang="ko-KR" sz="1700" dirty="0"/>
              <a:t> 핵심 개념과 실습을 다루는 입문 강의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 err="1"/>
              <a:t>파이썬과</a:t>
            </a:r>
            <a:r>
              <a:rPr lang="ko-KR" sz="1700" dirty="0"/>
              <a:t> 구글 </a:t>
            </a:r>
            <a:r>
              <a:rPr lang="ko-KR" sz="1700" dirty="0" err="1"/>
              <a:t>코랩을</a:t>
            </a:r>
            <a:r>
              <a:rPr lang="ko-KR" sz="1700" dirty="0"/>
              <a:t> 활용한 실습 중심 수업</a:t>
            </a:r>
            <a:endParaRPr sz="17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2000" dirty="0"/>
              <a:t>강의 목표</a:t>
            </a:r>
            <a:endParaRPr sz="20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인공지능과 </a:t>
            </a:r>
            <a:r>
              <a:rPr lang="ko-KR" sz="1700" dirty="0" err="1"/>
              <a:t>머신러닝의</a:t>
            </a:r>
            <a:r>
              <a:rPr lang="ko-KR" sz="1700" dirty="0"/>
              <a:t> 개념과 차이를 이해한다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주요 </a:t>
            </a:r>
            <a:r>
              <a:rPr lang="ko-KR" sz="1700" dirty="0" err="1"/>
              <a:t>머신러닝</a:t>
            </a:r>
            <a:r>
              <a:rPr lang="ko-KR" sz="1700" dirty="0"/>
              <a:t> 알고리즘의 원리를 이해하고 구현할 수 있다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 err="1"/>
              <a:t>사이킷런을</a:t>
            </a:r>
            <a:r>
              <a:rPr lang="ko-KR" sz="1700" dirty="0"/>
              <a:t> 활용하여 데이터 분석 문제를 해결할 수 있다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비지도 학습의 원리를 이해하고 활용할 수 있다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바이브코딩을 활용하여 AI 프로젝트를 기획하고 구현할 수 있다</a:t>
            </a:r>
            <a:endParaRPr sz="17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2000" dirty="0"/>
              <a:t>선수 과목</a:t>
            </a:r>
            <a:endParaRPr sz="20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 err="1"/>
              <a:t>파이썬</a:t>
            </a:r>
            <a:r>
              <a:rPr lang="ko-KR" sz="1700" dirty="0"/>
              <a:t> 프로그래밍 기초 (변수, </a:t>
            </a:r>
            <a:r>
              <a:rPr lang="ko-KR" sz="1700" dirty="0" err="1"/>
              <a:t>조건문</a:t>
            </a:r>
            <a:r>
              <a:rPr lang="ko-KR" sz="1700" dirty="0"/>
              <a:t>, </a:t>
            </a:r>
            <a:r>
              <a:rPr lang="ko-KR" sz="1700" dirty="0" err="1"/>
              <a:t>반복문</a:t>
            </a:r>
            <a:r>
              <a:rPr lang="ko-KR" sz="1700" dirty="0"/>
              <a:t>, 함수)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기초 수학 (행렬, 미분 개념 수준)</a:t>
            </a:r>
            <a:endParaRPr sz="17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2000" dirty="0"/>
              <a:t>실습 환경</a:t>
            </a:r>
            <a:endParaRPr sz="20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구글 </a:t>
            </a:r>
            <a:r>
              <a:rPr lang="ko-KR" sz="1700" dirty="0" err="1"/>
              <a:t>코랩</a:t>
            </a:r>
            <a:r>
              <a:rPr lang="ko-KR" sz="1700" dirty="0"/>
              <a:t>(</a:t>
            </a:r>
            <a:r>
              <a:rPr lang="ko-KR" sz="1700" dirty="0" err="1"/>
              <a:t>Colab</a:t>
            </a:r>
            <a:r>
              <a:rPr lang="ko-KR" sz="1700" dirty="0"/>
              <a:t>): 웹 브라우저에서 </a:t>
            </a:r>
            <a:r>
              <a:rPr lang="ko-KR" sz="1700" dirty="0" err="1"/>
              <a:t>파이썬</a:t>
            </a:r>
            <a:r>
              <a:rPr lang="ko-KR" sz="1700" dirty="0"/>
              <a:t> 코드를 실행할 수 있는 무료 환경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준비물: 네트워크에 연결된 컴퓨터 + 구글 계정</a:t>
            </a:r>
            <a:endParaRPr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</a:t>
            </a:fld>
            <a:endParaRPr/>
          </a:p>
        </p:txBody>
      </p:sp>
      <p:sp>
        <p:nvSpPr>
          <p:cNvPr id="200" name="Google Shape;200;p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 altLang="en-US"/>
              <a:t>인공지능 강의</a:t>
            </a:r>
            <a:r>
              <a:rPr lang="ko-KR"/>
              <a:t> </a:t>
            </a:r>
            <a:r>
              <a:rPr lang="ko-KR" dirty="0"/>
              <a:t>학습 목표</a:t>
            </a:r>
            <a:endParaRPr dirty="0"/>
          </a:p>
        </p:txBody>
      </p:sp>
      <p:sp>
        <p:nvSpPr>
          <p:cNvPr id="202" name="Google Shape;202;p4"/>
          <p:cNvSpPr txBox="1"/>
          <p:nvPr/>
        </p:nvSpPr>
        <p:spPr>
          <a:xfrm>
            <a:off x="487015" y="908845"/>
            <a:ext cx="5183535" cy="540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01: </a:t>
            </a:r>
            <a:r>
              <a:rPr lang="ko-KR" alt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인공지능 개요</a:t>
            </a:r>
            <a:endParaRPr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인공지능, </a:t>
            </a:r>
            <a:r>
              <a:rPr lang="ko-KR" sz="1400" b="0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머신러닝</a:t>
            </a: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sz="1400" b="0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딥러닝의</a:t>
            </a: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차이점을 이해합니다.</a:t>
            </a:r>
            <a:endParaRPr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구글 </a:t>
            </a:r>
            <a:r>
              <a:rPr lang="ko-KR" sz="1400" b="0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코랩</a:t>
            </a: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사용법을 배웁니다.</a:t>
            </a:r>
            <a:endParaRPr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첫 번째 </a:t>
            </a:r>
            <a:r>
              <a:rPr lang="ko-KR" sz="1400" b="0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머신러닝</a:t>
            </a: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프로그램을 만들고 </a:t>
            </a:r>
            <a:r>
              <a:rPr lang="ko-KR" sz="1400" b="0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머신러닝의</a:t>
            </a: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기본 작동 원리를 이해합니다.</a:t>
            </a:r>
            <a:endParaRPr sz="14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02: 데이터 다루기</a:t>
            </a:r>
            <a:endParaRPr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머신러닝</a:t>
            </a: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알고리즘에 주입할 데이터를 준비하는 방법을 배웁니다.</a:t>
            </a:r>
            <a:endParaRPr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형태가 알고리즘에 미치는 영향을 이해합니다.</a:t>
            </a:r>
            <a:endParaRPr dirty="0"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03: 회귀 알고리즘과 모델 규제</a:t>
            </a:r>
            <a:endParaRPr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지도 학습 알고리즘의 한 종류인 회귀 알고리즘에 대해 배웁니다.</a:t>
            </a:r>
            <a:endParaRPr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선형 회귀 알고리즘의 장단점을 이해합니다.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182C9-5E73-6EC9-86FE-1C47E2395F81}"/>
              </a:ext>
            </a:extLst>
          </p:cNvPr>
          <p:cNvSpPr txBox="1"/>
          <p:nvPr/>
        </p:nvSpPr>
        <p:spPr>
          <a:xfrm>
            <a:off x="5875959" y="652214"/>
            <a:ext cx="6108700" cy="555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alt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04: </a:t>
            </a:r>
            <a:r>
              <a:rPr lang="ko-KR" alt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분류 알고리즘</a:t>
            </a:r>
            <a:endParaRPr lang="ko-KR" altLang="en-US"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altLang="en-US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로지스틱 회귀</a:t>
            </a:r>
            <a:r>
              <a:rPr lang="en-US" alt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확률적 경사 하강법과 같은 분류 알고리즘을 배웁니다</a:t>
            </a:r>
            <a:r>
              <a:rPr lang="en-US" alt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ko-KR" altLang="en-US"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altLang="en-US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이진 분류와 다중 분류의 차이를 이해하고 클래스별 확률을 예측합니다</a:t>
            </a:r>
            <a:r>
              <a:rPr lang="en-US" alt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ko-KR" altLang="en-US" dirty="0"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alt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05: </a:t>
            </a:r>
            <a:r>
              <a:rPr lang="ko-KR" alt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트리 알고리즘</a:t>
            </a:r>
            <a:endParaRPr lang="ko-KR" altLang="en-US"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altLang="en-US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성능이 좋고 이해하기 쉬운 트리 알고리즘에 대해 배웁니다</a:t>
            </a:r>
            <a:r>
              <a:rPr lang="en-US" alt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ko-KR" altLang="en-US"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altLang="en-US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알고리즘의 성능을 최대화하기 위한 </a:t>
            </a:r>
            <a:r>
              <a:rPr lang="ko-KR" altLang="en-US" sz="1400" b="0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하이퍼파라미터</a:t>
            </a:r>
            <a:r>
              <a:rPr lang="ko-KR" altLang="en-US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튜닝을 실습합니다</a:t>
            </a:r>
            <a:r>
              <a:rPr lang="en-US" alt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ko-KR" altLang="en-US"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altLang="en-US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트리를 합쳐 일반화 성능을 높일 수 있는 앙상블 모델을 배웁니다</a:t>
            </a:r>
            <a:r>
              <a:rPr lang="en-US" altLang="ko-KR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ko-KR" altLang="en-US" dirty="0"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alt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06: </a:t>
            </a:r>
            <a:r>
              <a:rPr lang="ko-KR" alt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비지도 학습</a:t>
            </a:r>
            <a:endParaRPr lang="ko-KR" altLang="en-US" dirty="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altLang="en-US" sz="14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타깃이 없는 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데이터를 사용하는 비지도 학습과 대표적인 알고리즘을 소개합니다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. </a:t>
            </a:r>
            <a:endParaRPr lang="ko-KR" altLang="en-US" sz="1400" b="0" i="0" dirty="0">
              <a:solidFill>
                <a:srgbClr val="000000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  <a:cs typeface="Malgun Gothic" panose="020B0503020000020004" pitchFamily="50" charset="-127"/>
            </a:endParaRPr>
          </a:p>
          <a:p>
            <a:pPr marL="685800" lvl="1" indent="-228600">
              <a:lnSpc>
                <a:spcPct val="13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altLang="en-US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대표적인 군집 알고리즘인 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k-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평균과 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DBSCAN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을 배웁니다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.</a:t>
            </a:r>
            <a:endParaRPr lang="ko-KR" altLang="en-US" dirty="0">
              <a:effectLst/>
            </a:endParaRPr>
          </a:p>
          <a:p>
            <a:pPr marL="685800" lvl="1" indent="-228600">
              <a:lnSpc>
                <a:spcPct val="13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altLang="en-US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대표적인 차원 축소 알고리즘인 주성분 분석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(PCA)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을 배웁니다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  <a:cs typeface="Malgun Gothic" panose="020B0503020000020004" pitchFamily="50" charset="-127"/>
              </a:rPr>
              <a:t>.</a:t>
            </a:r>
            <a:endParaRPr lang="ko-KR" altLang="en-US" dirty="0"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itle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 dirty="0"/>
              <a:t>교재 소개</a:t>
            </a:r>
            <a:endParaRPr dirty="0"/>
          </a:p>
        </p:txBody>
      </p:sp>
      <p:sp>
        <p:nvSpPr>
          <p:cNvPr id="902" name="SlideNum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  <p:sp>
        <p:nvSpPr>
          <p:cNvPr id="903" name="Body"/>
          <p:cNvSpPr txBox="1">
            <a:spLocks noGrp="1"/>
          </p:cNvSpPr>
          <p:nvPr>
            <p:ph type="body" idx="1"/>
          </p:nvPr>
        </p:nvSpPr>
        <p:spPr>
          <a:xfrm>
            <a:off x="468000" y="973467"/>
            <a:ext cx="11624609" cy="560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2000" dirty="0"/>
              <a:t>교재</a:t>
            </a:r>
            <a:endParaRPr sz="20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혼자 공부하는 </a:t>
            </a:r>
            <a:r>
              <a:rPr lang="ko-KR" sz="1700" dirty="0" err="1"/>
              <a:t>머신러닝+딥러닝</a:t>
            </a:r>
            <a:r>
              <a:rPr lang="ko-KR" sz="1700" dirty="0"/>
              <a:t> (개정판)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지은이: 박해선 / 출판사: </a:t>
            </a:r>
            <a:r>
              <a:rPr lang="ko-KR" sz="1700" dirty="0" err="1"/>
              <a:t>한빛미디어</a:t>
            </a:r>
            <a:endParaRPr sz="17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2000" dirty="0"/>
              <a:t>교재 구성</a:t>
            </a:r>
            <a:endParaRPr sz="20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 err="1"/>
              <a:t>머신러닝편</a:t>
            </a:r>
            <a:r>
              <a:rPr lang="ko-KR" sz="1700" dirty="0"/>
              <a:t> (CHAPTER 01~06)</a:t>
            </a:r>
            <a:endParaRPr lang="en-US" altLang="ko-KR" sz="1700" dirty="0"/>
          </a:p>
          <a:p>
            <a:pPr marL="1143000" lvl="2" indent="-228631">
              <a:lnSpc>
                <a:spcPct val="125000"/>
              </a:lnSpc>
              <a:spcBef>
                <a:spcPts val="200"/>
              </a:spcBef>
              <a:buSzPct val="100000"/>
              <a:buChar char="⁃"/>
            </a:pPr>
            <a:r>
              <a:rPr lang="ko-KR" altLang="en-US" sz="1500" dirty="0"/>
              <a:t>이번 학기 인공지능 수업에서 다룸</a:t>
            </a:r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 err="1"/>
              <a:t>딥러닝편</a:t>
            </a:r>
            <a:r>
              <a:rPr lang="ko-KR" sz="1700" dirty="0"/>
              <a:t> (CHAPTER 07~10)</a:t>
            </a:r>
            <a:endParaRPr lang="en-US" altLang="ko-KR" sz="1700" dirty="0"/>
          </a:p>
          <a:p>
            <a:pPr marL="1143000" lvl="2" indent="-228631">
              <a:lnSpc>
                <a:spcPct val="125000"/>
              </a:lnSpc>
              <a:spcBef>
                <a:spcPts val="200"/>
              </a:spcBef>
              <a:buSzPct val="100000"/>
              <a:buChar char="⁃"/>
            </a:pPr>
            <a:r>
              <a:rPr lang="en-US" altLang="ko-KR" sz="1500" dirty="0"/>
              <a:t>2</a:t>
            </a:r>
            <a:r>
              <a:rPr lang="ko-KR" altLang="en-US" sz="1500" dirty="0"/>
              <a:t>학기</a:t>
            </a:r>
            <a:r>
              <a:rPr lang="en-US" altLang="ko-KR" sz="1500" dirty="0"/>
              <a:t> </a:t>
            </a:r>
            <a:r>
              <a:rPr lang="ko-KR" altLang="en-US" sz="1500" dirty="0" err="1"/>
              <a:t>딥러닝</a:t>
            </a:r>
            <a:r>
              <a:rPr lang="ko-KR" altLang="en-US" sz="1500" dirty="0"/>
              <a:t> 교과에서 다루는 범위</a:t>
            </a:r>
            <a:endParaRPr sz="15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2000" dirty="0"/>
              <a:t>본 강의 범위: CHAPTER 01~06</a:t>
            </a:r>
            <a:endParaRPr sz="20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CHAPTER 01: </a:t>
            </a:r>
            <a:r>
              <a:rPr lang="ko-KR" altLang="en-US" sz="1700" dirty="0"/>
              <a:t>인공지능 개요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CHAPTER 02: 데이터 다루기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CHAPTER 03: 회귀 알고리즘과 모델 규제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CHAPTER 04: 다양한 분류 알고리즘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CHAPTER 05: 트리 알고리즘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CHAPTER 06: 비지도 학습</a:t>
            </a:r>
            <a:endParaRPr sz="1700" dirty="0"/>
          </a:p>
        </p:txBody>
      </p:sp>
      <p:pic>
        <p:nvPicPr>
          <p:cNvPr id="5" name="Google Shape;79;p1">
            <a:extLst>
              <a:ext uri="{FF2B5EF4-FFF2-40B4-BE49-F238E27FC236}">
                <a16:creationId xmlns:a16="http://schemas.microsoft.com/office/drawing/2014/main" id="{F8E4EB9B-4011-42F8-A5C6-56DFDE7C8B41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7127572" y="633545"/>
            <a:ext cx="3955211" cy="559090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itle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 dirty="0" err="1"/>
              <a:t>주차별</a:t>
            </a:r>
            <a:r>
              <a:rPr lang="ko-KR" dirty="0"/>
              <a:t> 강의 계획 (1)</a:t>
            </a:r>
            <a:endParaRPr dirty="0"/>
          </a:p>
        </p:txBody>
      </p:sp>
      <p:sp>
        <p:nvSpPr>
          <p:cNvPr id="902" name="SlideNum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  <p:sp>
        <p:nvSpPr>
          <p:cNvPr id="903" name="Body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24609" cy="507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1800" dirty="0"/>
              <a:t>1주차: 강의 소개 및 환경 설정</a:t>
            </a:r>
            <a:endParaRPr sz="18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600" dirty="0"/>
              <a:t>강의 개요, 평가 방법 안내, 구글 </a:t>
            </a:r>
            <a:r>
              <a:rPr lang="ko-KR" sz="1600" dirty="0" err="1"/>
              <a:t>코랩</a:t>
            </a:r>
            <a:r>
              <a:rPr lang="ko-KR" sz="1600" dirty="0"/>
              <a:t> 실습 환경 설정</a:t>
            </a:r>
            <a:endParaRPr sz="16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1800" dirty="0"/>
              <a:t>2주차: CHAPTER 01 </a:t>
            </a:r>
            <a:r>
              <a:rPr lang="ko-KR" altLang="en-US" sz="1800" dirty="0"/>
              <a:t>인공지능 개요</a:t>
            </a:r>
            <a:endParaRPr sz="18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600" dirty="0"/>
              <a:t>인공지능과 </a:t>
            </a:r>
            <a:r>
              <a:rPr lang="ko-KR" sz="1600" dirty="0" err="1"/>
              <a:t>머신러닝</a:t>
            </a:r>
            <a:r>
              <a:rPr lang="ko-KR" sz="1600" dirty="0"/>
              <a:t> 개념 / </a:t>
            </a:r>
            <a:r>
              <a:rPr lang="ko-KR" sz="1600" dirty="0" err="1"/>
              <a:t>코랩과</a:t>
            </a:r>
            <a:r>
              <a:rPr lang="ko-KR" sz="1600" dirty="0"/>
              <a:t> 주피터 노트북</a:t>
            </a:r>
            <a:endParaRPr sz="16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en-US" altLang="ko-KR" sz="1800" dirty="0"/>
              <a:t>3</a:t>
            </a:r>
            <a:r>
              <a:rPr lang="ko-KR" sz="1800" dirty="0"/>
              <a:t>주차: CHAPTER 02 데이터 다루기</a:t>
            </a:r>
            <a:endParaRPr sz="18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600" dirty="0"/>
              <a:t>훈련 세트와 테스트 세트 / 데이터 </a:t>
            </a:r>
            <a:r>
              <a:rPr lang="ko-KR" sz="1600" dirty="0" err="1"/>
              <a:t>전처리</a:t>
            </a:r>
            <a:endParaRPr sz="16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en-US" altLang="ko-KR" sz="1800" dirty="0"/>
              <a:t>4</a:t>
            </a:r>
            <a:r>
              <a:rPr lang="ko-KR" sz="1800" dirty="0"/>
              <a:t>주차: CHAPTER 03 회귀 알고리즘과 모델 규제 (1)</a:t>
            </a:r>
            <a:endParaRPr sz="18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600" dirty="0"/>
              <a:t>k-최근접 이웃 회귀 / 선형 회귀</a:t>
            </a:r>
            <a:endParaRPr sz="16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en-US" altLang="ko-KR" sz="1800" dirty="0"/>
              <a:t>5</a:t>
            </a:r>
            <a:r>
              <a:rPr lang="ko-KR" sz="1800" dirty="0"/>
              <a:t>주차: CHAPTER 03 회귀 알고리즘과 모델 규제 (2)</a:t>
            </a:r>
            <a:endParaRPr sz="18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600" dirty="0"/>
              <a:t>특성 공학과 규제</a:t>
            </a:r>
            <a:endParaRPr sz="16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en-US" altLang="ko-KR" sz="1800" dirty="0"/>
              <a:t>6</a:t>
            </a:r>
            <a:r>
              <a:rPr lang="ko-KR" sz="1800" dirty="0"/>
              <a:t>주차: CHAPTER 04 다양한 분류 알고리즘</a:t>
            </a:r>
            <a:r>
              <a:rPr lang="en-US" altLang="ko-KR" sz="1800" dirty="0"/>
              <a:t> (1)</a:t>
            </a:r>
            <a:endParaRPr sz="18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600" dirty="0"/>
              <a:t> 확률적 경사 </a:t>
            </a:r>
            <a:r>
              <a:rPr lang="ko-KR" sz="1600" dirty="0" err="1"/>
              <a:t>하강법</a:t>
            </a:r>
            <a:endParaRPr lang="en-US" altLang="ko-KR" sz="1600" dirty="0"/>
          </a:p>
          <a:p>
            <a:pPr marL="228600" lvl="0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en-US" altLang="ko-KR" sz="1800" dirty="0"/>
              <a:t>7</a:t>
            </a:r>
            <a:r>
              <a:rPr lang="ko-KR" altLang="en-US" sz="1800" dirty="0"/>
              <a:t>주차</a:t>
            </a:r>
            <a:r>
              <a:rPr lang="en-US" altLang="ko-KR" sz="1800" dirty="0"/>
              <a:t>: CHAPTER 04 </a:t>
            </a:r>
            <a:r>
              <a:rPr lang="ko-KR" altLang="en-US" sz="1800" dirty="0"/>
              <a:t>다양한 분류 알고리즘 </a:t>
            </a:r>
            <a:r>
              <a:rPr lang="en-US" altLang="ko-KR" sz="1800" dirty="0"/>
              <a:t>(2)</a:t>
            </a:r>
            <a:endParaRPr lang="ko-KR" altLang="en-US" sz="1800" dirty="0"/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600" dirty="0"/>
              <a:t>확률적 경사 </a:t>
            </a:r>
            <a:r>
              <a:rPr lang="ko-KR" altLang="en-US" sz="1600" dirty="0" err="1"/>
              <a:t>하강법</a:t>
            </a:r>
            <a:endParaRPr sz="16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1800" dirty="0"/>
              <a:t>8주차: 중간고사</a:t>
            </a:r>
            <a:endParaRPr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itle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 dirty="0" err="1"/>
              <a:t>주차별</a:t>
            </a:r>
            <a:r>
              <a:rPr lang="ko-KR" dirty="0"/>
              <a:t> 강의 계획 (2)</a:t>
            </a:r>
            <a:endParaRPr dirty="0"/>
          </a:p>
        </p:txBody>
      </p:sp>
      <p:sp>
        <p:nvSpPr>
          <p:cNvPr id="902" name="SlideNum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  <p:sp>
        <p:nvSpPr>
          <p:cNvPr id="903" name="Body"/>
          <p:cNvSpPr txBox="1">
            <a:spLocks noGrp="1"/>
          </p:cNvSpPr>
          <p:nvPr>
            <p:ph type="body" idx="1"/>
          </p:nvPr>
        </p:nvSpPr>
        <p:spPr>
          <a:xfrm>
            <a:off x="468000" y="1079999"/>
            <a:ext cx="11624609" cy="5757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1800" dirty="0"/>
              <a:t>9주차: CHAPTER 05 트리 알고리즘 (1)</a:t>
            </a:r>
            <a:endParaRPr sz="18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600" dirty="0"/>
              <a:t>결정 트리</a:t>
            </a:r>
            <a:endParaRPr sz="16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1800" dirty="0"/>
              <a:t>10주차: CHAPTER 05 트리 알고리즘 (2)</a:t>
            </a:r>
            <a:endParaRPr sz="18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600" dirty="0"/>
              <a:t>교차 검증과 그리드 서치 / 트리의 앙상블</a:t>
            </a:r>
            <a:endParaRPr sz="16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1800" dirty="0"/>
              <a:t>11주차: CHAPTER 06 비지도 학습 (1)</a:t>
            </a:r>
            <a:endParaRPr sz="18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600" dirty="0"/>
              <a:t>군집 알고리즘 / k-평균</a:t>
            </a:r>
            <a:endParaRPr sz="16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1800" dirty="0"/>
              <a:t>12주차: CHAPTER 06 비지도 학습 (2)</a:t>
            </a:r>
            <a:endParaRPr sz="18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600" dirty="0"/>
              <a:t>주성분 분석</a:t>
            </a:r>
            <a:endParaRPr sz="16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1800" dirty="0"/>
              <a:t>13주차: </a:t>
            </a:r>
            <a:r>
              <a:rPr lang="en-US" altLang="ko-KR" sz="1800" dirty="0"/>
              <a:t>LLM </a:t>
            </a:r>
            <a:r>
              <a:rPr lang="ko-KR" altLang="en-US" sz="1800" dirty="0" err="1"/>
              <a:t>바이브코딩을</a:t>
            </a:r>
            <a:r>
              <a:rPr lang="ko-KR" altLang="en-US" sz="1800" dirty="0"/>
              <a:t> 통한 기말</a:t>
            </a:r>
            <a:r>
              <a:rPr lang="en-US" altLang="ko-KR" sz="1800" dirty="0"/>
              <a:t> </a:t>
            </a:r>
            <a:r>
              <a:rPr lang="ko-KR" altLang="en-US" sz="1800" dirty="0"/>
              <a:t>프로젝트</a:t>
            </a:r>
            <a:r>
              <a:rPr lang="ko-KR" sz="1800" dirty="0"/>
              <a:t> (1)</a:t>
            </a:r>
            <a:endParaRPr sz="18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600" dirty="0"/>
              <a:t>프로젝트 주제 선정 및 기획 / AI 도구 활용 실습</a:t>
            </a:r>
            <a:endParaRPr sz="1600" dirty="0"/>
          </a:p>
          <a:p>
            <a:pPr marL="228600" lvl="0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ko-KR" sz="1800" dirty="0"/>
              <a:t>14주차: </a:t>
            </a:r>
            <a:r>
              <a:rPr lang="en-US" altLang="ko-KR" sz="1800" dirty="0"/>
              <a:t>LLM </a:t>
            </a:r>
            <a:r>
              <a:rPr lang="ko-KR" altLang="en-US" sz="1800" dirty="0" err="1"/>
              <a:t>바이브코딩을</a:t>
            </a:r>
            <a:r>
              <a:rPr lang="ko-KR" altLang="en-US" sz="1800" dirty="0"/>
              <a:t> 통한 기말</a:t>
            </a:r>
            <a:r>
              <a:rPr lang="en-US" altLang="ko-KR" sz="1800" dirty="0"/>
              <a:t> </a:t>
            </a:r>
            <a:r>
              <a:rPr lang="ko-KR" altLang="en-US" sz="1800" dirty="0"/>
              <a:t>프로젝트</a:t>
            </a:r>
            <a:r>
              <a:rPr lang="ko-KR" sz="1800" dirty="0"/>
              <a:t> (2)</a:t>
            </a:r>
            <a:endParaRPr lang="en-US" altLang="ko-KR" sz="1800" dirty="0"/>
          </a:p>
          <a:p>
            <a:pPr marL="685800" lvl="1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ko-KR" altLang="en-US" sz="1600" dirty="0"/>
              <a:t>프로젝트 수행</a:t>
            </a:r>
            <a:endParaRPr lang="en-US" altLang="ko-KR" sz="16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1800" dirty="0"/>
              <a:t>15주차: </a:t>
            </a:r>
            <a:r>
              <a:rPr lang="ko-KR" altLang="en-US" sz="1800" dirty="0"/>
              <a:t>보강 및 기말 프로젝트 </a:t>
            </a:r>
            <a:r>
              <a:rPr lang="en-US" altLang="ko-KR" sz="1800" dirty="0"/>
              <a:t>(3)</a:t>
            </a:r>
            <a:r>
              <a:rPr lang="ko-KR" altLang="en-US" sz="1800" dirty="0"/>
              <a:t> 수행</a:t>
            </a:r>
            <a:endParaRPr lang="en-US" altLang="ko-KR" sz="1800" dirty="0"/>
          </a:p>
          <a:p>
            <a:pPr marL="685800" lvl="1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ko-KR" altLang="en-US" sz="1600" dirty="0"/>
              <a:t>프로젝트 제출</a:t>
            </a:r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en-US" altLang="ko-KR" sz="1800" dirty="0"/>
              <a:t>16</a:t>
            </a:r>
            <a:r>
              <a:rPr lang="ko-KR" altLang="en-US" sz="1800" dirty="0"/>
              <a:t>주차</a:t>
            </a:r>
            <a:r>
              <a:rPr lang="en-US" altLang="ko-KR" sz="1800" dirty="0"/>
              <a:t>: </a:t>
            </a:r>
            <a:r>
              <a:rPr lang="ko-KR" altLang="en-US" sz="1800" dirty="0"/>
              <a:t>기말고사</a:t>
            </a:r>
            <a:endParaRPr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itle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 dirty="0"/>
              <a:t>평가 방법</a:t>
            </a:r>
            <a:endParaRPr dirty="0"/>
          </a:p>
        </p:txBody>
      </p:sp>
      <p:sp>
        <p:nvSpPr>
          <p:cNvPr id="902" name="SlideNum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7</a:t>
            </a:fld>
            <a:endParaRPr/>
          </a:p>
        </p:txBody>
      </p:sp>
      <p:sp>
        <p:nvSpPr>
          <p:cNvPr id="903" name="Body"/>
          <p:cNvSpPr txBox="1">
            <a:spLocks noGrp="1"/>
          </p:cNvSpPr>
          <p:nvPr>
            <p:ph type="body" idx="1"/>
          </p:nvPr>
        </p:nvSpPr>
        <p:spPr>
          <a:xfrm>
            <a:off x="468000" y="1079999"/>
            <a:ext cx="11624609" cy="5670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ko-KR" altLang="en-US" dirty="0"/>
              <a:t>평가 항목 및 배점</a:t>
            </a:r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중간고사</a:t>
            </a:r>
            <a:r>
              <a:rPr lang="en-US" altLang="ko-KR" sz="1700" dirty="0"/>
              <a:t>: 30</a:t>
            </a:r>
            <a:r>
              <a:rPr lang="ko-KR" altLang="en-US" sz="1700" dirty="0"/>
              <a:t>점</a:t>
            </a:r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기말고사</a:t>
            </a:r>
            <a:r>
              <a:rPr lang="en-US" altLang="ko-KR" sz="1700" dirty="0"/>
              <a:t>: 30</a:t>
            </a:r>
            <a:r>
              <a:rPr lang="ko-KR" altLang="en-US" sz="1700" dirty="0"/>
              <a:t>점</a:t>
            </a:r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퀴즈</a:t>
            </a:r>
            <a:r>
              <a:rPr lang="en-US" altLang="ko-KR" sz="1700" dirty="0"/>
              <a:t>: 10</a:t>
            </a:r>
            <a:r>
              <a:rPr lang="ko-KR" altLang="en-US" sz="1700" dirty="0"/>
              <a:t>점 </a:t>
            </a:r>
            <a:r>
              <a:rPr lang="en-US" altLang="ko-KR" sz="1700" dirty="0"/>
              <a:t>(</a:t>
            </a:r>
            <a:r>
              <a:rPr lang="ko-KR" altLang="en-US" sz="1700" dirty="0"/>
              <a:t>총 </a:t>
            </a:r>
            <a:r>
              <a:rPr lang="en-US" altLang="ko-KR" sz="1700" dirty="0"/>
              <a:t>3</a:t>
            </a:r>
            <a:r>
              <a:rPr lang="ko-KR" altLang="en-US" sz="1700" dirty="0"/>
              <a:t>번</a:t>
            </a:r>
            <a:r>
              <a:rPr lang="en-US" altLang="ko-KR" sz="1700" dirty="0"/>
              <a:t>, </a:t>
            </a:r>
            <a:r>
              <a:rPr lang="ko-KR" altLang="en-US" sz="1700" dirty="0"/>
              <a:t>각 </a:t>
            </a:r>
            <a:r>
              <a:rPr lang="en-US" altLang="ko-KR" sz="1700" dirty="0"/>
              <a:t>5</a:t>
            </a:r>
            <a:r>
              <a:rPr lang="ko-KR" altLang="en-US" sz="1700" dirty="0"/>
              <a:t>점</a:t>
            </a:r>
            <a:r>
              <a:rPr lang="en-US" altLang="ko-KR" sz="1700" dirty="0"/>
              <a:t>×3</a:t>
            </a:r>
            <a:r>
              <a:rPr lang="ko-KR" altLang="en-US" sz="1700" dirty="0"/>
              <a:t>회</a:t>
            </a:r>
            <a:r>
              <a:rPr lang="en-US" altLang="ko-KR" sz="1700" dirty="0"/>
              <a:t>)</a:t>
            </a:r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기말 프로젝트</a:t>
            </a:r>
            <a:r>
              <a:rPr lang="en-US" altLang="ko-KR" sz="1700" dirty="0"/>
              <a:t>: 20</a:t>
            </a:r>
            <a:r>
              <a:rPr lang="ko-KR" altLang="en-US" sz="1700" dirty="0"/>
              <a:t>점</a:t>
            </a:r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출석 </a:t>
            </a:r>
            <a:r>
              <a:rPr lang="en-US" altLang="ko-KR" sz="1700" dirty="0"/>
              <a:t>+ </a:t>
            </a:r>
            <a:r>
              <a:rPr lang="ko-KR" altLang="en-US" sz="1700" dirty="0"/>
              <a:t>핵심역량평가</a:t>
            </a:r>
            <a:r>
              <a:rPr lang="en-US" altLang="ko-KR" sz="1700" dirty="0"/>
              <a:t>: 10</a:t>
            </a:r>
            <a:r>
              <a:rPr lang="ko-KR" altLang="en-US" sz="1700" dirty="0"/>
              <a:t>점</a:t>
            </a:r>
          </a:p>
          <a:p>
            <a:pPr marL="228600" lvl="0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ko-KR" altLang="en-US" dirty="0"/>
              <a:t>시험</a:t>
            </a:r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중간고사</a:t>
            </a:r>
            <a:r>
              <a:rPr lang="en-US" altLang="ko-KR" sz="1700" dirty="0"/>
              <a:t>: CHAPTER 01~04 </a:t>
            </a:r>
            <a:r>
              <a:rPr lang="ko-KR" altLang="en-US" sz="1700" dirty="0"/>
              <a:t>범위 </a:t>
            </a:r>
            <a:r>
              <a:rPr lang="en-US" altLang="ko-KR" sz="1700" dirty="0"/>
              <a:t>(8</a:t>
            </a:r>
            <a:r>
              <a:rPr lang="ko-KR" altLang="en-US" sz="1700" dirty="0"/>
              <a:t>주차</a:t>
            </a:r>
            <a:r>
              <a:rPr lang="en-US" altLang="ko-KR" sz="1700" dirty="0"/>
              <a:t>)</a:t>
            </a:r>
            <a:endParaRPr lang="ko-KR" altLang="en-US" sz="1700" dirty="0"/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기말고사</a:t>
            </a:r>
            <a:r>
              <a:rPr lang="en-US" altLang="ko-KR" sz="1700" dirty="0"/>
              <a:t>: CHAPTER 05~06 (50%) + </a:t>
            </a:r>
            <a:r>
              <a:rPr lang="ko-KR" altLang="en-US" sz="1700" dirty="0"/>
              <a:t>바이브코딩 </a:t>
            </a:r>
            <a:r>
              <a:rPr lang="en-US" altLang="ko-KR" sz="1700" dirty="0"/>
              <a:t>(50%)</a:t>
            </a:r>
            <a:endParaRPr lang="ko-KR" altLang="en-US" sz="1700" dirty="0"/>
          </a:p>
          <a:p>
            <a:pPr marL="228600" lvl="0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ko-KR" altLang="en-US" dirty="0"/>
              <a:t>과제</a:t>
            </a:r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매 </a:t>
            </a:r>
            <a:r>
              <a:rPr lang="en-US" altLang="ko-KR" sz="1700" dirty="0"/>
              <a:t>CHAPTER </a:t>
            </a:r>
            <a:r>
              <a:rPr lang="ko-KR" altLang="en-US" sz="1700" dirty="0"/>
              <a:t>종료 후 코딩 과제 제출 </a:t>
            </a:r>
            <a:r>
              <a:rPr lang="en-US" altLang="ko-KR" sz="1700" dirty="0"/>
              <a:t>(GitHub Classroom)</a:t>
            </a:r>
            <a:endParaRPr lang="ko-KR" altLang="en-US" sz="1700" dirty="0"/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과제 제출 기한</a:t>
            </a:r>
            <a:r>
              <a:rPr lang="en-US" altLang="ko-KR" sz="1700" dirty="0"/>
              <a:t>: </a:t>
            </a:r>
            <a:r>
              <a:rPr lang="ko-KR" altLang="en-US" sz="1700" dirty="0"/>
              <a:t>해당 주차 종료 후 </a:t>
            </a:r>
            <a:r>
              <a:rPr lang="en-US" altLang="ko-KR" sz="1700" dirty="0"/>
              <a:t>1</a:t>
            </a:r>
            <a:r>
              <a:rPr lang="ko-KR" altLang="en-US" sz="1700" dirty="0"/>
              <a:t>주일 이내</a:t>
            </a:r>
          </a:p>
          <a:p>
            <a:pPr marL="228600" lvl="0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ko-KR" altLang="en-US" dirty="0"/>
              <a:t>기말</a:t>
            </a:r>
            <a:r>
              <a:rPr lang="en-US" altLang="ko-KR" dirty="0"/>
              <a:t> </a:t>
            </a:r>
            <a:r>
              <a:rPr lang="ko-KR" altLang="en-US" dirty="0"/>
              <a:t>프로젝트</a:t>
            </a:r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기말 프로젝트 (13~14주차)</a:t>
            </a:r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결과물 제출 및 발표 (14주차)</a:t>
            </a:r>
          </a:p>
          <a:p>
            <a:pPr marL="228600" lvl="0" indent="-228600">
              <a:lnSpc>
                <a:spcPct val="125000"/>
              </a:lnSpc>
              <a:spcBef>
                <a:spcPts val="300"/>
              </a:spcBef>
              <a:buSzPct val="100000"/>
            </a:pPr>
            <a:r>
              <a:rPr lang="ko-KR" altLang="en-US" dirty="0"/>
              <a:t>출석</a:t>
            </a:r>
          </a:p>
          <a:p>
            <a:pPr marL="685800" lvl="1" indent="-228631">
              <a:lnSpc>
                <a:spcPct val="125000"/>
              </a:lnSpc>
              <a:spcBef>
                <a:spcPts val="200"/>
              </a:spcBef>
              <a:buSzPct val="100000"/>
            </a:pPr>
            <a:r>
              <a:rPr lang="ko-KR" altLang="en-US" sz="1700" dirty="0"/>
              <a:t>지각 </a:t>
            </a:r>
            <a:r>
              <a:rPr lang="en-US" altLang="ko-KR" sz="1700" dirty="0"/>
              <a:t>3</a:t>
            </a:r>
            <a:r>
              <a:rPr lang="ko-KR" altLang="en-US" sz="1700" dirty="0"/>
              <a:t>회 </a:t>
            </a:r>
            <a:r>
              <a:rPr lang="en-US" altLang="ko-KR" sz="1700" dirty="0"/>
              <a:t>= </a:t>
            </a:r>
            <a:r>
              <a:rPr lang="ko-KR" altLang="en-US" sz="1700" dirty="0"/>
              <a:t>결석 </a:t>
            </a:r>
            <a:r>
              <a:rPr lang="en-US" altLang="ko-KR" sz="1700" dirty="0"/>
              <a:t>1</a:t>
            </a:r>
            <a:r>
              <a:rPr lang="ko-KR" altLang="en-US" sz="1700" dirty="0"/>
              <a:t>회</a:t>
            </a:r>
            <a:r>
              <a:rPr lang="en-US" altLang="ko-KR" sz="1700" dirty="0"/>
              <a:t>, </a:t>
            </a:r>
            <a:r>
              <a:rPr lang="ko-KR" altLang="en-US" sz="1700" dirty="0"/>
              <a:t>결석 </a:t>
            </a:r>
            <a:r>
              <a:rPr lang="en-US" altLang="ko-KR" sz="1700" dirty="0"/>
              <a:t>2</a:t>
            </a:r>
            <a:r>
              <a:rPr lang="ko-KR" altLang="en-US" sz="1700" dirty="0"/>
              <a:t>회까지는 </a:t>
            </a:r>
            <a:r>
              <a:rPr lang="en-US" altLang="ko-KR" sz="1700" dirty="0"/>
              <a:t>5</a:t>
            </a:r>
            <a:r>
              <a:rPr lang="ko-KR" altLang="en-US" sz="1700" dirty="0"/>
              <a:t>점 만점</a:t>
            </a:r>
            <a:r>
              <a:rPr lang="en-US" altLang="ko-KR" sz="1700" dirty="0"/>
              <a:t>, </a:t>
            </a:r>
            <a:r>
              <a:rPr lang="ko-KR" altLang="en-US" sz="1700" dirty="0"/>
              <a:t>결석 </a:t>
            </a:r>
            <a:r>
              <a:rPr lang="en-US" altLang="ko-KR" sz="1700" dirty="0"/>
              <a:t>3</a:t>
            </a:r>
            <a:r>
              <a:rPr lang="ko-KR" altLang="en-US" sz="1700" dirty="0"/>
              <a:t>회부터 결석 </a:t>
            </a:r>
            <a:r>
              <a:rPr lang="en-US" altLang="ko-KR" sz="1700" dirty="0"/>
              <a:t>2</a:t>
            </a:r>
            <a:r>
              <a:rPr lang="ko-KR" altLang="en-US" sz="1700" dirty="0"/>
              <a:t>회마다 </a:t>
            </a:r>
            <a:r>
              <a:rPr lang="en-US" altLang="ko-KR" sz="1700" dirty="0"/>
              <a:t>1</a:t>
            </a:r>
            <a:r>
              <a:rPr lang="ko-KR" altLang="en-US" sz="1700" dirty="0" err="1"/>
              <a:t>점씩</a:t>
            </a:r>
            <a:r>
              <a:rPr lang="ko-KR" altLang="en-US" sz="1700" dirty="0"/>
              <a:t> 차감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Title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 dirty="0"/>
              <a:t>수업 규칙 및 유의사항</a:t>
            </a:r>
            <a:endParaRPr dirty="0"/>
          </a:p>
        </p:txBody>
      </p:sp>
      <p:sp>
        <p:nvSpPr>
          <p:cNvPr id="902" name="SlideNum"/>
          <p:cNvSpPr txBox="1">
            <a:spLocks noGrp="1"/>
          </p:cNvSpPr>
          <p:nvPr>
            <p:ph type="sldNum" idx="12"/>
          </p:nvPr>
        </p:nvSpPr>
        <p:spPr>
          <a:xfrm>
            <a:off x="11691731" y="6472308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8</a:t>
            </a:fld>
            <a:endParaRPr/>
          </a:p>
        </p:txBody>
      </p:sp>
      <p:sp>
        <p:nvSpPr>
          <p:cNvPr id="903" name="Body"/>
          <p:cNvSpPr txBox="1">
            <a:spLocks noGrp="1"/>
          </p:cNvSpPr>
          <p:nvPr>
            <p:ph type="body" idx="1"/>
          </p:nvPr>
        </p:nvSpPr>
        <p:spPr>
          <a:xfrm>
            <a:off x="468000" y="1080000"/>
            <a:ext cx="11624609" cy="507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2000" dirty="0"/>
              <a:t>수업 방식</a:t>
            </a:r>
            <a:endParaRPr sz="20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이론 강의 + 실습 (구글 </a:t>
            </a:r>
            <a:r>
              <a:rPr lang="ko-KR" sz="1700" dirty="0" err="1"/>
              <a:t>코랩</a:t>
            </a:r>
            <a:r>
              <a:rPr lang="ko-KR" sz="1700" dirty="0"/>
              <a:t>)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개인 노트북 지참 권장</a:t>
            </a:r>
            <a:endParaRPr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교재 코드는 구글 </a:t>
            </a:r>
            <a:r>
              <a:rPr lang="ko-KR" sz="1700" dirty="0" err="1"/>
              <a:t>코랩에서</a:t>
            </a:r>
            <a:r>
              <a:rPr lang="ko-KR" sz="1700" dirty="0"/>
              <a:t> 직접 실행하며 학습</a:t>
            </a:r>
            <a:endParaRPr sz="17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2000" dirty="0"/>
              <a:t>수업 규칙</a:t>
            </a:r>
            <a:endParaRPr sz="20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질문은 언제든 환영합니다</a:t>
            </a:r>
            <a:endParaRPr sz="17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2000" dirty="0"/>
              <a:t>질문 및 소통 채널</a:t>
            </a:r>
            <a:endParaRPr sz="20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수업 중: 직접 질문 / 수업 외: 이메일 또는 LMS 게시판 활용</a:t>
            </a:r>
            <a:r>
              <a:rPr lang="en-US" altLang="ko-KR" sz="1700" dirty="0"/>
              <a:t>, </a:t>
            </a:r>
            <a:r>
              <a:rPr lang="ko-KR" altLang="en-US" sz="1700" dirty="0" err="1"/>
              <a:t>단톡방</a:t>
            </a:r>
            <a:r>
              <a:rPr lang="en-US" altLang="ko-KR" sz="1700" dirty="0"/>
              <a:t> </a:t>
            </a:r>
            <a:r>
              <a:rPr lang="ko-KR" altLang="en-US" sz="1700" dirty="0"/>
              <a:t>운영</a:t>
            </a:r>
            <a:endParaRPr lang="en-US" altLang="ko-KR" sz="17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en-US" altLang="ko-KR" sz="1700" dirty="0"/>
              <a:t>e-mail: </a:t>
            </a:r>
            <a:r>
              <a:rPr lang="en-US" sz="1700" dirty="0">
                <a:hlinkClick r:id="rId2"/>
              </a:rPr>
              <a:t>sangdon.park@dju.kr</a:t>
            </a:r>
            <a:endParaRPr lang="en-US" sz="1700" dirty="0"/>
          </a:p>
          <a:p>
            <a:pPr marL="228600" lvl="0" indent="-228600" algn="l" rtl="0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SzPct val="100000"/>
              <a:buChar char="◦"/>
            </a:pPr>
            <a:r>
              <a:rPr lang="ko-KR" sz="2000" dirty="0"/>
              <a:t>참고 사항</a:t>
            </a:r>
            <a:endParaRPr sz="2000" dirty="0"/>
          </a:p>
          <a:p>
            <a:pPr marL="685800" lvl="1" indent="-228631" algn="l" rtl="0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⁃"/>
            </a:pPr>
            <a:r>
              <a:rPr lang="ko-KR" sz="1700" dirty="0"/>
              <a:t>교재 소스 코드: https://github.com/rickiepark/hg-mldl</a:t>
            </a:r>
            <a:endParaRPr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한빛미디어">
      <a:dk1>
        <a:srgbClr val="000000"/>
      </a:dk1>
      <a:lt1>
        <a:srgbClr val="FFFFFF"/>
      </a:lt1>
      <a:dk2>
        <a:srgbClr val="1FAEB6"/>
      </a:dk2>
      <a:lt2>
        <a:srgbClr val="919191"/>
      </a:lt2>
      <a:accent1>
        <a:srgbClr val="39B54A"/>
      </a:accent1>
      <a:accent2>
        <a:srgbClr val="F15A31"/>
      </a:accent2>
      <a:accent3>
        <a:srgbClr val="FA9D1C"/>
      </a:accent3>
      <a:accent4>
        <a:srgbClr val="41B50A"/>
      </a:accent4>
      <a:accent5>
        <a:srgbClr val="55AAEA"/>
      </a:accent5>
      <a:accent6>
        <a:srgbClr val="4D2702"/>
      </a:accent6>
      <a:hlink>
        <a:srgbClr val="39B54A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814</Words>
  <Application>Microsoft Office PowerPoint</Application>
  <PresentationFormat>와이드스크린</PresentationFormat>
  <Paragraphs>128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Arial</vt:lpstr>
      <vt:lpstr>Noto Sans Symbols</vt:lpstr>
      <vt:lpstr>Calibri</vt:lpstr>
      <vt:lpstr>Malgun Gothic</vt:lpstr>
      <vt:lpstr>Office 테마</vt:lpstr>
      <vt:lpstr>인공지능 </vt:lpstr>
      <vt:lpstr>강의 개요</vt:lpstr>
      <vt:lpstr>인공지능 강의 학습 목표</vt:lpstr>
      <vt:lpstr>교재 소개</vt:lpstr>
      <vt:lpstr>주차별 강의 계획 (1)</vt:lpstr>
      <vt:lpstr>주차별 강의 계획 (2)</vt:lpstr>
      <vt:lpstr>평가 방법</vt:lpstr>
      <vt:lpstr>수업 규칙 및 유의사항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혼자 공부하는 머신러닝+딥러닝 (개정판)</dc:title>
  <dc:creator>마케팅팀</dc:creator>
  <cp:lastModifiedBy>USER</cp:lastModifiedBy>
  <cp:revision>58</cp:revision>
  <dcterms:created xsi:type="dcterms:W3CDTF">2020-01-31T07:25:46Z</dcterms:created>
  <dcterms:modified xsi:type="dcterms:W3CDTF">2026-03-01T03:19:30Z</dcterms:modified>
</cp:coreProperties>
</file>