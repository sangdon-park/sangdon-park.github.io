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303" r:id="rId3"/>
    <p:sldId id="260" r:id="rId4"/>
    <p:sldId id="304" r:id="rId5"/>
    <p:sldId id="305" r:id="rId6"/>
    <p:sldId id="306" r:id="rId7"/>
    <p:sldId id="307" r:id="rId8"/>
    <p:sldId id="308" r:id="rId9"/>
  </p:sldIdLst>
  <p:sldSz cx="12192000" cy="6858000"/>
  <p:notesSz cx="6858000" cy="9144000"/>
  <p:embeddedFontLst>
    <p:embeddedFont>
      <p:font typeface="Malgun Gothic" panose="020B0503020000020004" pitchFamily="50" charset="-127"/>
      <p:regular r:id="rId11"/>
      <p:bold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Noto Sans Symbols" pitchFamily="2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1">
          <p15:clr>
            <a:srgbClr val="A4A3A4"/>
          </p15:clr>
        </p15:guide>
        <p15:guide id="2" pos="3840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97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1" roundtripDataSignature="AMtx7mgQh/JTZB+tcnoesXfhZuEldfv5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014BDC-B06A-43B6-9D0A-1BB114C4A0B7}">
  <a:tblStyle styleId="{FC014BDC-B06A-43B6-9D0A-1BB114C4A0B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B367915-EC1C-4A17-8A3B-353DF648912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>
        <p:guide orient="horz" pos="2341"/>
        <p:guide pos="3840"/>
        <p:guide pos="3999"/>
        <p:guide orient="horz" pos="2591"/>
        <p:guide pos="960"/>
        <p:guide orient="horz" pos="1797"/>
        <p:guide orient="horz" pos="504"/>
        <p:guide pos="506"/>
        <p:guide pos="717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61" Type="http://customschemas.google.com/relationships/presentationmetadata" Target="metadata"/><Relationship Id="rId1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64" Type="http://schemas.openxmlformats.org/officeDocument/2006/relationships/theme" Target="theme/theme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4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4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7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47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7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47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47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8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8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8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8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0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0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1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1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1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1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51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5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5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5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2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2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65" name="Google Shape;65;p52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hyperlink" Target="mailto:sangdon.park@dju.k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"/>
          <p:cNvSpPr txBox="1">
            <a:spLocks noGrp="1"/>
          </p:cNvSpPr>
          <p:nvPr>
            <p:ph type="ctrTitle"/>
          </p:nvPr>
        </p:nvSpPr>
        <p:spPr>
          <a:xfrm>
            <a:off x="3147600" y="2777284"/>
            <a:ext cx="7291312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  <p:sp>
        <p:nvSpPr>
          <p:cNvPr id="82" name="Google Shape;82;p1"/>
          <p:cNvSpPr txBox="1">
            <a:spLocks noGrp="1"/>
          </p:cNvSpPr>
          <p:nvPr>
            <p:ph type="subTitle" idx="1"/>
          </p:nvPr>
        </p:nvSpPr>
        <p:spPr>
          <a:xfrm>
            <a:off x="8053710" y="5222914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조교수 박상돈</a:t>
            </a:r>
            <a:endParaRPr b="1" dirty="0"/>
          </a:p>
        </p:txBody>
      </p:sp>
      <p:sp>
        <p:nvSpPr>
          <p:cNvPr id="84" name="Google Shape;84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 xml:space="preserve">CHAPTER 0 </a:t>
            </a:r>
            <a:r>
              <a:rPr lang="en-US" alt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PREVIEW:</a:t>
            </a: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 소개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강의 개요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 err="1"/>
              <a:t>강의명</a:t>
            </a:r>
            <a:r>
              <a:rPr lang="ko-KR" sz="2000" dirty="0"/>
              <a:t xml:space="preserve">: </a:t>
            </a:r>
            <a:r>
              <a:rPr lang="ko-KR" altLang="en-US" sz="2000" dirty="0"/>
              <a:t>인공지능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머신러닝의</a:t>
            </a:r>
            <a:r>
              <a:rPr lang="ko-KR" sz="1700" dirty="0"/>
              <a:t xml:space="preserve"> 핵심 개념과 실습을 다루는 입문 강의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파이썬과</a:t>
            </a:r>
            <a:r>
              <a:rPr lang="ko-KR" sz="1700" dirty="0"/>
              <a:t xml:space="preserve"> 구글 </a:t>
            </a:r>
            <a:r>
              <a:rPr lang="ko-KR" sz="1700" dirty="0" err="1"/>
              <a:t>코랩을</a:t>
            </a:r>
            <a:r>
              <a:rPr lang="ko-KR" sz="1700" dirty="0"/>
              <a:t xml:space="preserve"> 활용한 실습 중심 수업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강의 목표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 xml:space="preserve">인공지능과 </a:t>
            </a:r>
            <a:r>
              <a:rPr lang="ko-KR" sz="1700" dirty="0" err="1"/>
              <a:t>머신러닝의</a:t>
            </a:r>
            <a:r>
              <a:rPr lang="ko-KR" sz="1700" dirty="0"/>
              <a:t xml:space="preserve"> 개념과 차이를 이해한다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 xml:space="preserve">주요 </a:t>
            </a:r>
            <a:r>
              <a:rPr lang="ko-KR" sz="1700" dirty="0" err="1"/>
              <a:t>머신러닝</a:t>
            </a:r>
            <a:r>
              <a:rPr lang="ko-KR" sz="1700" dirty="0"/>
              <a:t xml:space="preserve"> 알고리즘의 원리를 이해하고 구현할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사이킷런을</a:t>
            </a:r>
            <a:r>
              <a:rPr lang="ko-KR" sz="1700" dirty="0"/>
              <a:t xml:space="preserve"> 활용하여 데이터 분석 문제를 해결할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비지도 학습의 원리를 이해하고 활용할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바이브코딩을 활용하여 AI 프로젝트를 기획하고 구현할 수 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선수 과목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</a:t>
            </a:r>
            <a:r>
              <a:rPr lang="ko-KR" sz="1700" dirty="0"/>
              <a:t xml:space="preserve"> 프로그래밍 기초 (변수, </a:t>
            </a:r>
            <a:r>
              <a:rPr lang="ko-KR" sz="1700" dirty="0" err="1"/>
              <a:t>조건문</a:t>
            </a:r>
            <a:r>
              <a:rPr lang="ko-KR" sz="1700" dirty="0"/>
              <a:t xml:space="preserve">, </a:t>
            </a:r>
            <a:r>
              <a:rPr lang="ko-KR" sz="1700" dirty="0" err="1"/>
              <a:t>반복문</a:t>
            </a:r>
            <a:r>
              <a:rPr lang="ko-KR" sz="1700" dirty="0"/>
              <a:t>, 함수)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기초 수학 (행렬, 미분 개념 수준)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실습 환경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 xml:space="preserve">구글 </a:t>
            </a:r>
            <a:r>
              <a:rPr lang="ko-KR" sz="1700" dirty="0" err="1"/>
              <a:t>코랩</a:t>
            </a:r>
            <a:r>
              <a:rPr lang="ko-KR" sz="1700" dirty="0"/>
              <a:t>(</a:t>
            </a:r>
            <a:r>
              <a:rPr lang="ko-KR" sz="1700" dirty="0" err="1"/>
              <a:t>Colab</a:t>
            </a:r>
            <a:r>
              <a:rPr lang="ko-KR" sz="1700" dirty="0"/>
              <a:t xml:space="preserve">): 웹 브라우저에서 </a:t>
            </a:r>
            <a:r>
              <a:rPr lang="ko-KR" sz="1700" dirty="0" err="1"/>
              <a:t>파이썬</a:t>
            </a:r>
            <a:r>
              <a:rPr lang="ko-KR" sz="1700" dirty="0"/>
              <a:t xml:space="preserve"> 코드를 실행할 수 있는 무료 환경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준비물: 네트워크에 연결된 컴퓨터 + 구글 계정</a:t>
            </a:r>
            <a:endParaRPr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</a:t>
            </a:fld>
            <a:endParaRPr/>
          </a:p>
        </p:txBody>
      </p:sp>
      <p:sp>
        <p:nvSpPr>
          <p:cNvPr id="200" name="Google Shape;200;p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altLang="en-US"/>
              <a:t>인공지능 강의</a:t>
            </a:r>
            <a:r>
              <a:rPr lang="ko-KR"/>
              <a:t xml:space="preserve"> </a:t>
            </a:r>
            <a:r>
              <a:rPr lang="ko-KR" dirty="0"/>
              <a:t>학습 목표</a:t>
            </a:r>
            <a:endParaRPr dirty="0"/>
          </a:p>
        </p:txBody>
      </p:sp>
      <p:sp>
        <p:nvSpPr>
          <p:cNvPr id="202" name="Google Shape;202;p4"/>
          <p:cNvSpPr txBox="1"/>
          <p:nvPr/>
        </p:nvSpPr>
        <p:spPr>
          <a:xfrm>
            <a:off x="487015" y="908845"/>
            <a:ext cx="5183535" cy="5402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CHAPTER 01: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 개요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인공지능,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딥러닝의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 차이점을 이해합니다.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구글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코랩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 사용법을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첫 번째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 프로그램을 만들고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 기본 작동 원리를 이해합니다.</a:t>
            </a:r>
            <a:endParaRPr sz="14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02: 데이터 다루기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 알고리즘에 주입할 데이터를 준비하는 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형태가 알고리즘에 미치는 영향을 이해합니다.</a:t>
            </a:r>
            <a:endParaRPr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03: 회귀 알고리즘과 모델 규제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지도 학습 알고리즘의 한 종류인 회귀 알고리즘에 대해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선형 회귀 알고리즘의 장단점을 이해합니다.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182C9-5E73-6EC9-86FE-1C47E2395F81}"/>
              </a:ext>
            </a:extLst>
          </p:cNvPr>
          <p:cNvSpPr txBox="1"/>
          <p:nvPr/>
        </p:nvSpPr>
        <p:spPr>
          <a:xfrm>
            <a:off x="5875959" y="652214"/>
            <a:ext cx="6108700" cy="555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CHAPTER 04: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분류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로지스틱 회귀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, 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확률적 경사 하강법과 같은 분류 알고리즘을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이진 분류와 다중 분류의 차이를 이해하고 클래스별 확률을 예측합니다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CHAPTER 05: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트리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성능이 좋고 이해하기 쉬운 트리 알고리즘에 대해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알고리즘의 성능을 최대화하기 위한 </a:t>
            </a:r>
            <a:r>
              <a:rPr lang="ko-KR" altLang="en-US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하이퍼파라미터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 튜닝을 실습합니다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트리를 합쳐 일반화 성능을 높일 수 있는 앙상블 모델을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CHAPTER 06: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비지도 학습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 xml:space="preserve">타깃이 없는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데이터를 사용하는 비지도 학습과 대표적인 알고리즘을 소개합니다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 xml:space="preserve">. </a:t>
            </a:r>
            <a:endParaRPr lang="ko-KR" altLang="en-US" sz="1400" b="0" i="0" dirty="0">
              <a:solidFill>
                <a:srgbClr val="000000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  <a:cs typeface="Malgun Gothic" panose="020B0503020000020004" pitchFamily="50" charset="-127"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 xml:space="preserve">대표적인 군집 알고리즘인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k-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 xml:space="preserve">평균과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DBSCAN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차원 축소 알고리즘인 주성분 분석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(PCA)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교재 소개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973467"/>
            <a:ext cx="11624609" cy="560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 xml:space="preserve">혼자 공부하는 </a:t>
            </a:r>
            <a:r>
              <a:rPr lang="ko-KR" sz="1700" dirty="0" err="1"/>
              <a:t>머신러닝+딥러닝</a:t>
            </a:r>
            <a:r>
              <a:rPr lang="ko-KR" sz="1700" dirty="0"/>
              <a:t xml:space="preserve"> (개정판)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 xml:space="preserve">지은이: 박해선 / 출판사: </a:t>
            </a:r>
            <a:r>
              <a:rPr lang="ko-KR" sz="1700" dirty="0" err="1"/>
              <a:t>한빛미디어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 구성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머신러닝편</a:t>
            </a:r>
            <a:r>
              <a:rPr lang="ko-KR" sz="1700" dirty="0"/>
              <a:t xml:space="preserve"> (CHAPTER 01~06)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ko-KR" altLang="en-US" sz="1500" dirty="0"/>
              <a:t>이번 학기 인공지능 수업에서 다룸</a:t>
            </a:r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딥러닝편</a:t>
            </a:r>
            <a:r>
              <a:rPr lang="ko-KR" sz="1700" dirty="0"/>
              <a:t xml:space="preserve"> (CHAPTER 07~10)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en-US" altLang="ko-KR" sz="1500" dirty="0"/>
              <a:t>2</a:t>
            </a:r>
            <a:r>
              <a:rPr lang="ko-KR" altLang="en-US" sz="1500" dirty="0"/>
              <a:t>학기</a:t>
            </a:r>
            <a:r>
              <a:rPr lang="en-US" altLang="ko-KR" sz="1500" dirty="0"/>
              <a:t xml:space="preserve"> </a:t>
            </a:r>
            <a:r>
              <a:rPr lang="ko-KR" altLang="en-US" sz="1500" dirty="0" err="1"/>
              <a:t>딥러닝</a:t>
            </a:r>
            <a:r>
              <a:rPr lang="ko-KR" altLang="en-US" sz="1500" dirty="0"/>
              <a:t xml:space="preserve"> 교과에서 다루는 범위</a:t>
            </a:r>
            <a:endParaRPr sz="15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본 강의 범위: CHAPTER 01~06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 xml:space="preserve">CHAPTER 01: </a:t>
            </a:r>
            <a:r>
              <a:rPr lang="ko-KR" altLang="en-US" sz="1700" dirty="0"/>
              <a:t>인공지능 개요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02: 데이터 다루기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03: 회귀 알고리즘과 모델 규제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04: 다양한 분류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05: 트리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06: 비지도 학습</a:t>
            </a:r>
            <a:endParaRPr sz="1700" dirty="0"/>
          </a:p>
        </p:txBody>
      </p:sp>
      <p:pic>
        <p:nvPicPr>
          <p:cNvPr id="5" name="Google Shape;79;p1">
            <a:extLst>
              <a:ext uri="{FF2B5EF4-FFF2-40B4-BE49-F238E27FC236}">
                <a16:creationId xmlns:a16="http://schemas.microsoft.com/office/drawing/2014/main" id="{F8E4EB9B-4011-42F8-A5C6-56DFDE7C8B41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7127572" y="633545"/>
            <a:ext cx="3955211" cy="5590909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 xml:space="preserve"> 강의 계획 (1)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5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1주차: 강의 소개 및 환경 설정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 xml:space="preserve">강의 개요, 평가 방법 안내, 구글 </a:t>
            </a:r>
            <a:r>
              <a:rPr lang="ko-KR" sz="1600" dirty="0" err="1"/>
              <a:t>코랩</a:t>
            </a:r>
            <a:r>
              <a:rPr lang="ko-KR" sz="1600" dirty="0"/>
              <a:t xml:space="preserve"> 실습 환경 설정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 xml:space="preserve">2주차: CHAPTER 01 </a:t>
            </a:r>
            <a:r>
              <a:rPr lang="ko-KR" altLang="en-US" sz="1800" dirty="0"/>
              <a:t>인공지능 개요</a:t>
            </a:r>
            <a:r>
              <a:rPr lang="ko-KR" sz="1800" dirty="0"/>
              <a:t xml:space="preserve">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 xml:space="preserve">인공지능과 </a:t>
            </a:r>
            <a:r>
              <a:rPr lang="ko-KR" sz="1600" dirty="0" err="1"/>
              <a:t>머신러닝</a:t>
            </a:r>
            <a:r>
              <a:rPr lang="ko-KR" sz="1600" dirty="0"/>
              <a:t xml:space="preserve"> 개념 / </a:t>
            </a:r>
            <a:r>
              <a:rPr lang="ko-KR" sz="1600" dirty="0" err="1"/>
              <a:t>코랩과</a:t>
            </a:r>
            <a:r>
              <a:rPr lang="ko-KR" sz="1600" dirty="0"/>
              <a:t xml:space="preserve"> 주피터 노트북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 xml:space="preserve">3주차: CHAPTER 01 </a:t>
            </a:r>
            <a:r>
              <a:rPr lang="ko-KR" altLang="en-US" sz="1800" dirty="0"/>
              <a:t>인공지능 개요</a:t>
            </a:r>
            <a:r>
              <a:rPr lang="ko-KR" sz="1800" dirty="0"/>
              <a:t xml:space="preserve">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 xml:space="preserve">마켓과 </a:t>
            </a:r>
            <a:r>
              <a:rPr lang="ko-KR" sz="1600" dirty="0" err="1"/>
              <a:t>머신러닝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4주차: CHAPTER 02 데이터 다루기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 xml:space="preserve">훈련 세트와 테스트 세트 / 데이터 </a:t>
            </a:r>
            <a:r>
              <a:rPr lang="ko-KR" sz="1600" dirty="0" err="1"/>
              <a:t>전처리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5주차: CHAPTER 03 회귀 알고리즘과 모델 규제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k-최근접 이웃 회귀 / 선형 회귀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6주차: CHAPTER 03 회귀 알고리즘과 모델 규제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특성 공학과 규제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7주차: CHAPTER 04 다양한 분류 알고리즘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로지스틱 회귀 / 확률적 경사 하강법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8주차: 중간고사</a:t>
            </a:r>
            <a:endParaRPr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 xml:space="preserve"> 강의 계획 (2)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6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9주차: CHAPTER 05 트리 알고리즘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결정 트리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10주차: CHAPTER 05 트리 알고리즘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교차 검증과 그리드 서치 / 트리의 앙상블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11주차: CHAPTER 06 비지도 학습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군집 알고리즘 / k-평균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12주차: CHAPTER 06 비지도 학습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주성분 분석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13주차: 바이브코딩 AI 프로젝트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프로젝트 주제 선정 및 기획 / AI 도구 활용 실습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14주차: 바이브코딩 AI 프로젝트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프로젝트 구현 및 발표 / 결과물 제출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15주차: 기말고사</a:t>
            </a:r>
            <a:endParaRPr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평가 방법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7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평가 항목 및 배점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20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en-US" altLang="ko-KR" sz="1700" dirty="0"/>
              <a:t xml:space="preserve">AI </a:t>
            </a:r>
            <a:r>
              <a:rPr lang="ko-KR" altLang="en-US" sz="1700" dirty="0"/>
              <a:t>프로젝트</a:t>
            </a:r>
            <a:r>
              <a:rPr lang="en-US" altLang="ko-KR" sz="1700" dirty="0"/>
              <a:t>: 15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퀴즈 및 과제</a:t>
            </a:r>
            <a:r>
              <a:rPr lang="en-US" altLang="ko-KR" sz="1700" dirty="0"/>
              <a:t>: 20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출석</a:t>
            </a:r>
            <a:r>
              <a:rPr lang="en-US" altLang="ko-KR" sz="1700" dirty="0"/>
              <a:t>: 10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핵심역량평가</a:t>
            </a:r>
            <a:r>
              <a:rPr lang="en-US" altLang="ko-KR" sz="1700" dirty="0"/>
              <a:t>: 5</a:t>
            </a:r>
            <a:r>
              <a:rPr lang="ko-KR" altLang="en-US" sz="1700" dirty="0"/>
              <a:t>점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시험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 xml:space="preserve">: CHAPTER 01~04 </a:t>
            </a:r>
            <a:r>
              <a:rPr lang="ko-KR" altLang="en-US" sz="1700" dirty="0"/>
              <a:t xml:space="preserve">범위 </a:t>
            </a:r>
            <a:r>
              <a:rPr lang="en-US" altLang="ko-KR" sz="1700" dirty="0"/>
              <a:t>(8</a:t>
            </a:r>
            <a:r>
              <a:rPr lang="ko-KR" altLang="en-US" sz="1700" dirty="0"/>
              <a:t>주차</a:t>
            </a:r>
            <a:r>
              <a:rPr lang="en-US" altLang="ko-KR" sz="1700" dirty="0"/>
              <a:t>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 xml:space="preserve">: CHAPTER 05~06 (50%) + </a:t>
            </a:r>
            <a:r>
              <a:rPr lang="ko-KR" altLang="en-US" sz="1700" dirty="0"/>
              <a:t xml:space="preserve">바이브코딩 </a:t>
            </a:r>
            <a:r>
              <a:rPr lang="en-US" altLang="ko-KR" sz="1700" dirty="0"/>
              <a:t>(50%) (15</a:t>
            </a:r>
            <a:r>
              <a:rPr lang="ko-KR" altLang="en-US" sz="1700" dirty="0"/>
              <a:t>주차</a:t>
            </a:r>
            <a:r>
              <a:rPr lang="en-US" altLang="ko-KR" sz="1700" dirty="0"/>
              <a:t>)</a:t>
            </a:r>
            <a:endParaRPr lang="ko-KR" altLang="en-US" sz="17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과제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 xml:space="preserve">매 </a:t>
            </a:r>
            <a:r>
              <a:rPr lang="en-US" altLang="ko-KR" sz="1700" dirty="0"/>
              <a:t xml:space="preserve">CHAPTER </a:t>
            </a:r>
            <a:r>
              <a:rPr lang="ko-KR" altLang="en-US" sz="1700" dirty="0"/>
              <a:t xml:space="preserve">종료 후 코딩 과제 제출 </a:t>
            </a:r>
            <a:r>
              <a:rPr lang="en-US" altLang="ko-KR" sz="1700" dirty="0"/>
              <a:t>(GitHub Classroom)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과제 제출 기한</a:t>
            </a:r>
            <a:r>
              <a:rPr lang="en-US" altLang="ko-KR" sz="1700" dirty="0"/>
              <a:t xml:space="preserve">: </a:t>
            </a:r>
            <a:r>
              <a:rPr lang="ko-KR" altLang="en-US" sz="1700" dirty="0"/>
              <a:t xml:space="preserve">해당 주차 종료 후 </a:t>
            </a:r>
            <a:r>
              <a:rPr lang="en-US" altLang="ko-KR" sz="1700" dirty="0"/>
              <a:t>1</a:t>
            </a:r>
            <a:r>
              <a:rPr lang="ko-KR" altLang="en-US" sz="1700" dirty="0"/>
              <a:t>주일 이내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dirty="0"/>
              <a:t xml:space="preserve">AI </a:t>
            </a:r>
            <a:r>
              <a:rPr lang="ko-KR" altLang="en-US" dirty="0"/>
              <a:t>프로젝트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바이브코딩을 활용한 AI 프로젝트 (13~14주차)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결과물 제출 및 발표 (14주차)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출석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 xml:space="preserve">지각 </a:t>
            </a:r>
            <a:r>
              <a:rPr lang="en-US" altLang="ko-KR" sz="1700" dirty="0"/>
              <a:t>3</a:t>
            </a:r>
            <a:r>
              <a:rPr lang="ko-KR" altLang="en-US" sz="1700" dirty="0"/>
              <a:t xml:space="preserve">회 </a:t>
            </a:r>
            <a:r>
              <a:rPr lang="en-US" altLang="ko-KR" sz="1700" dirty="0"/>
              <a:t xml:space="preserve">= </a:t>
            </a:r>
            <a:r>
              <a:rPr lang="ko-KR" altLang="en-US" sz="1700" dirty="0"/>
              <a:t xml:space="preserve">결석 </a:t>
            </a:r>
            <a:r>
              <a:rPr lang="en-US" altLang="ko-KR" sz="1700" dirty="0"/>
              <a:t>1</a:t>
            </a:r>
            <a:r>
              <a:rPr lang="ko-KR" altLang="en-US" sz="1700" dirty="0"/>
              <a:t>회</a:t>
            </a:r>
            <a:r>
              <a:rPr lang="en-US" altLang="ko-KR" sz="1700" dirty="0"/>
              <a:t xml:space="preserve">, </a:t>
            </a:r>
            <a:r>
              <a:rPr lang="ko-KR" altLang="en-US" sz="1700" dirty="0"/>
              <a:t xml:space="preserve">결석 </a:t>
            </a:r>
            <a:r>
              <a:rPr lang="en-US" altLang="ko-KR" sz="1700" dirty="0"/>
              <a:t>2</a:t>
            </a:r>
            <a:r>
              <a:rPr lang="ko-KR" altLang="en-US" sz="1700" dirty="0"/>
              <a:t xml:space="preserve">회까지 </a:t>
            </a:r>
            <a:r>
              <a:rPr lang="en-US" altLang="ko-KR" sz="1700" dirty="0"/>
              <a:t>10</a:t>
            </a:r>
            <a:r>
              <a:rPr lang="ko-KR" altLang="en-US" sz="1700" dirty="0"/>
              <a:t>점</a:t>
            </a:r>
            <a:r>
              <a:rPr lang="en-US" altLang="ko-KR" sz="1700" dirty="0"/>
              <a:t xml:space="preserve">, </a:t>
            </a:r>
            <a:r>
              <a:rPr lang="ko-KR" altLang="en-US" sz="1700" dirty="0"/>
              <a:t xml:space="preserve">결석 </a:t>
            </a:r>
            <a:r>
              <a:rPr lang="en-US" altLang="ko-KR" sz="1700" dirty="0"/>
              <a:t>3</a:t>
            </a:r>
            <a:r>
              <a:rPr lang="ko-KR" altLang="en-US" sz="1700" dirty="0"/>
              <a:t xml:space="preserve">회부터 결석 </a:t>
            </a:r>
            <a:r>
              <a:rPr lang="en-US" altLang="ko-KR" sz="1700" dirty="0"/>
              <a:t>1</a:t>
            </a:r>
            <a:r>
              <a:rPr lang="ko-KR" altLang="en-US" sz="1700" dirty="0"/>
              <a:t xml:space="preserve">회마다 </a:t>
            </a:r>
            <a:r>
              <a:rPr lang="en-US" altLang="ko-KR" sz="1700" dirty="0"/>
              <a:t>1</a:t>
            </a:r>
            <a:r>
              <a:rPr lang="ko-KR" altLang="en-US" sz="1700" dirty="0" err="1"/>
              <a:t>점씩</a:t>
            </a:r>
            <a:r>
              <a:rPr lang="ko-KR" altLang="en-US" sz="1700" dirty="0"/>
              <a:t xml:space="preserve"> 차감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수업 규칙 및 유의사항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8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방식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 xml:space="preserve">이론 강의 + 실습 (구글 </a:t>
            </a:r>
            <a:r>
              <a:rPr lang="ko-KR" sz="1700" dirty="0" err="1"/>
              <a:t>코랩</a:t>
            </a:r>
            <a:r>
              <a:rPr lang="ko-KR" sz="1700" dirty="0"/>
              <a:t>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개인 노트북 지참 권장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 xml:space="preserve">교재 코드는 구글 </a:t>
            </a:r>
            <a:r>
              <a:rPr lang="ko-KR" sz="1700" dirty="0" err="1"/>
              <a:t>코랩에서</a:t>
            </a:r>
            <a:r>
              <a:rPr lang="ko-KR" sz="1700" dirty="0"/>
              <a:t xml:space="preserve"> 직접 실행하며 학습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규칙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질문은 언제든 환영합니다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질문 및 소통 채널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수업 중: 직접 질문 / 수업 외: 이메일 또는 LMS 게시판 활용</a:t>
            </a:r>
            <a:r>
              <a:rPr lang="en-US" altLang="ko-KR" sz="1700" dirty="0"/>
              <a:t xml:space="preserve">, </a:t>
            </a:r>
            <a:r>
              <a:rPr lang="ko-KR" altLang="en-US" sz="1700" dirty="0" err="1"/>
              <a:t>단톡방</a:t>
            </a:r>
            <a:r>
              <a:rPr lang="en-US" altLang="ko-KR" sz="1700" dirty="0"/>
              <a:t xml:space="preserve"> </a:t>
            </a:r>
            <a:r>
              <a:rPr lang="ko-KR" altLang="en-US" sz="1700" dirty="0"/>
              <a:t>운영</a:t>
            </a:r>
            <a:endParaRPr lang="en-US" altLang="ko-KR"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en-US" altLang="ko-KR" sz="1700" dirty="0"/>
              <a:t xml:space="preserve">e-mail: </a:t>
            </a:r>
            <a:r>
              <a:rPr lang="en-US" sz="1700" dirty="0">
                <a:hlinkClick r:id="rId2"/>
              </a:rPr>
              <a:t>sangdon.park@dju.kr</a:t>
            </a:r>
            <a:r>
              <a:rPr lang="en-US" sz="1700" dirty="0"/>
              <a:t xml:space="preserve">, </a:t>
            </a:r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참고 사항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소스 코드: https://github.com/rickiepark/hg-mldl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749</Words>
  <Application>Microsoft Office PowerPoint</Application>
  <PresentationFormat>와이드스크린</PresentationFormat>
  <Paragraphs>122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Noto Sans Symbols</vt:lpstr>
      <vt:lpstr>Arial</vt:lpstr>
      <vt:lpstr>Calibri</vt:lpstr>
      <vt:lpstr>Malgun Gothic</vt:lpstr>
      <vt:lpstr>Office 테마</vt:lpstr>
      <vt:lpstr>인공지능 </vt:lpstr>
      <vt:lpstr>강의 개요</vt:lpstr>
      <vt:lpstr>인공지능 강의 학습 목표</vt:lpstr>
      <vt:lpstr>교재 소개</vt:lpstr>
      <vt:lpstr>주차별 강의 계획 (1)</vt:lpstr>
      <vt:lpstr>주차별 강의 계획 (2)</vt:lpstr>
      <vt:lpstr>평가 방법</vt:lpstr>
      <vt:lpstr>수업 규칙 및 유의사항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USER</cp:lastModifiedBy>
  <cp:revision>41</cp:revision>
  <dcterms:created xsi:type="dcterms:W3CDTF">2020-01-31T07:25:46Z</dcterms:created>
  <dcterms:modified xsi:type="dcterms:W3CDTF">2026-02-28T12:46:09Z</dcterms:modified>
</cp:coreProperties>
</file>