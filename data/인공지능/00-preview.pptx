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303" r:id="rId3"/>
    <p:sldId id="260" r:id="rId4"/>
    <p:sldId id="304" r:id="rId5"/>
    <p:sldId id="305" r:id="rId6"/>
    <p:sldId id="307" r:id="rId7"/>
    <p:sldId id="308" r:id="rId8"/>
  </p:sldIdLst>
  <p:sldSz cx="12192000" cy="6858000"/>
  <p:notesSz cx="6858000" cy="9144000"/>
  <p:embeddedFontLst>
    <p:embeddedFont>
      <p:font typeface="Malgun Gothic" panose="020B0503020000020004" pitchFamily="50" charset="-127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Noto Sans Symbols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41">
          <p15:clr>
            <a:srgbClr val="A4A3A4"/>
          </p15:clr>
        </p15:guide>
        <p15:guide id="2" pos="3840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97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gQh/JTZB+tcnoesXfhZuEldfv5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7605"/>
    <a:srgbClr val="0342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014BDC-B06A-43B6-9D0A-1BB114C4A0B7}">
  <a:tblStyle styleId="{FC014BDC-B06A-43B6-9D0A-1BB114C4A0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367915-EC1C-4A17-8A3B-353DF648912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341"/>
        <p:guide pos="3840"/>
        <p:guide pos="3999"/>
        <p:guide orient="horz" pos="2591"/>
        <p:guide pos="960"/>
        <p:guide orient="horz" pos="1797"/>
        <p:guide orient="horz" pos="504"/>
        <p:guide pos="506"/>
        <p:guide pos="717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61" Type="http://customschemas.google.com/relationships/presentationmetadata" Target="metadata"/><Relationship Id="rId1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6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B53A62B-0119-430B-82FE-D03910B655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AE823F-FA38-4333-87AC-535E0D4C63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E9E9F-7079-4910-908C-9BA5352E9677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886587-21D4-47D6-A830-4F9CDD5129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96394F-E017-43D0-B920-8CE1F50B66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2E39A-8D9F-4650-848F-D32267EFF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399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4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4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solidFill>
            <a:srgbClr val="0342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7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solidFill>
            <a:srgbClr val="FD76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7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47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solidFill>
            <a:srgbClr val="0342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solidFill>
            <a:srgbClr val="FD76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8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title"/>
          </p:nvPr>
        </p:nvSpPr>
        <p:spPr>
          <a:xfrm>
            <a:off x="487015" y="315796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0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solidFill>
            <a:srgbClr val="0342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0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solidFill>
            <a:srgbClr val="FD76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0"/>
          <p:cNvSpPr txBox="1">
            <a:spLocks noGrp="1"/>
          </p:cNvSpPr>
          <p:nvPr>
            <p:ph type="title"/>
          </p:nvPr>
        </p:nvSpPr>
        <p:spPr>
          <a:xfrm>
            <a:off x="487015" y="315796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1"/>
          </p:nvPr>
        </p:nvSpPr>
        <p:spPr>
          <a:xfrm>
            <a:off x="487015" y="1022847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solidFill>
            <a:srgbClr val="0342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solidFill>
            <a:srgbClr val="FD76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51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51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1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1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1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1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1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487015" y="311876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solidFill>
            <a:srgbClr val="0342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2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solidFill>
            <a:srgbClr val="FD76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2"/>
          <p:cNvSpPr txBox="1">
            <a:spLocks noGrp="1"/>
          </p:cNvSpPr>
          <p:nvPr>
            <p:ph type="title"/>
          </p:nvPr>
        </p:nvSpPr>
        <p:spPr>
          <a:xfrm>
            <a:off x="487015" y="315796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body" idx="1"/>
          </p:nvPr>
        </p:nvSpPr>
        <p:spPr>
          <a:xfrm>
            <a:off x="487015" y="1022848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D3643E-C6E2-4268-93FA-5F5FA201213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829239" y="104349"/>
            <a:ext cx="2173371" cy="747096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sangdon.park@dju.k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>
            <a:spLocks noGrp="1"/>
          </p:cNvSpPr>
          <p:nvPr>
            <p:ph type="ctrTitle"/>
          </p:nvPr>
        </p:nvSpPr>
        <p:spPr>
          <a:xfrm>
            <a:off x="3147600" y="2777284"/>
            <a:ext cx="7291312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ko-KR" altLang="en-US" b="1" dirty="0"/>
              <a:t>인공지능</a:t>
            </a:r>
            <a:br>
              <a:rPr lang="en-US" altLang="ko-KR" b="1" dirty="0"/>
            </a:br>
            <a:endParaRPr b="1" dirty="0"/>
          </a:p>
        </p:txBody>
      </p:sp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8053710" y="5222914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대전대학교 컴퓨터공학과</a:t>
            </a:r>
            <a:endParaRPr lang="en-US" altLang="ko-KR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조교수 박상돈</a:t>
            </a:r>
            <a:endParaRPr b="1" dirty="0"/>
          </a:p>
        </p:txBody>
      </p:sp>
      <p:sp>
        <p:nvSpPr>
          <p:cNvPr id="84" name="Google Shape;84;p1"/>
          <p:cNvSpPr txBox="1"/>
          <p:nvPr/>
        </p:nvSpPr>
        <p:spPr>
          <a:xfrm>
            <a:off x="871933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CHAPTER 0 </a:t>
            </a:r>
            <a:r>
              <a:rPr lang="en-US" altLang="ko-KR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– PREVIEW:</a:t>
            </a:r>
            <a:r>
              <a:rPr lang="ko-KR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강의 소개</a:t>
            </a:r>
            <a:endParaRPr sz="18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367513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/>
              <a:t>강의 개요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24609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 err="1"/>
              <a:t>강의명</a:t>
            </a:r>
            <a:r>
              <a:rPr lang="ko-KR" sz="2000" dirty="0"/>
              <a:t>: </a:t>
            </a:r>
            <a:r>
              <a:rPr lang="ko-KR" altLang="en-US" sz="2000" dirty="0"/>
              <a:t>인공지능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머신러닝의</a:t>
            </a:r>
            <a:r>
              <a:rPr lang="ko-KR" sz="1700" dirty="0"/>
              <a:t> 핵심 개념과 실습을 다루는 입문 강의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파이썬과</a:t>
            </a:r>
            <a:r>
              <a:rPr lang="ko-KR" sz="1700" dirty="0"/>
              <a:t> 구글 </a:t>
            </a:r>
            <a:r>
              <a:rPr lang="ko-KR" sz="1700" dirty="0" err="1"/>
              <a:t>코랩을</a:t>
            </a:r>
            <a:r>
              <a:rPr lang="ko-KR" sz="1700" dirty="0"/>
              <a:t> 활용한 실습 중심 수업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강의 목표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인공지능과 </a:t>
            </a:r>
            <a:r>
              <a:rPr lang="ko-KR" sz="1700" dirty="0" err="1"/>
              <a:t>머신러닝의</a:t>
            </a:r>
            <a:r>
              <a:rPr lang="ko-KR" sz="1700" dirty="0"/>
              <a:t> 개념과 차이를 이해한다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주요 </a:t>
            </a:r>
            <a:r>
              <a:rPr lang="ko-KR" sz="1700" dirty="0" err="1"/>
              <a:t>머신러닝</a:t>
            </a:r>
            <a:r>
              <a:rPr lang="ko-KR" sz="1700" dirty="0"/>
              <a:t> 알고리즘의 원리를 이해하고 구현할 수 있다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사이킷런을</a:t>
            </a:r>
            <a:r>
              <a:rPr lang="ko-KR" sz="1700" dirty="0"/>
              <a:t> 활용하여 데이터 분석 문제를 해결할 수 있다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비지도 학습의 원리를 이해하고 활용할 수 있다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바이브코딩을 활용하여 AI 프로젝트를 기획하고 구현할 수 있다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선수 과목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파이썬</a:t>
            </a:r>
            <a:r>
              <a:rPr lang="ko-KR" sz="1700" dirty="0"/>
              <a:t> 프로그래밍 기초 (변수, </a:t>
            </a:r>
            <a:r>
              <a:rPr lang="ko-KR" sz="1700" dirty="0" err="1"/>
              <a:t>조건문</a:t>
            </a:r>
            <a:r>
              <a:rPr lang="ko-KR" sz="1700" dirty="0"/>
              <a:t>, </a:t>
            </a:r>
            <a:r>
              <a:rPr lang="ko-KR" sz="1700" dirty="0" err="1"/>
              <a:t>반복문</a:t>
            </a:r>
            <a:r>
              <a:rPr lang="ko-KR" sz="1700" dirty="0"/>
              <a:t>, 함수)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기초 수학 (행렬, 미분 개념 수준)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실습 환경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구글 </a:t>
            </a:r>
            <a:r>
              <a:rPr lang="ko-KR" sz="1700" dirty="0" err="1"/>
              <a:t>코랩</a:t>
            </a:r>
            <a:r>
              <a:rPr lang="ko-KR" sz="1700" dirty="0"/>
              <a:t>(</a:t>
            </a:r>
            <a:r>
              <a:rPr lang="ko-KR" sz="1700" dirty="0" err="1"/>
              <a:t>Colab</a:t>
            </a:r>
            <a:r>
              <a:rPr lang="ko-KR" sz="1700" dirty="0"/>
              <a:t>): 웹 브라우저에서 </a:t>
            </a:r>
            <a:r>
              <a:rPr lang="ko-KR" sz="1700" dirty="0" err="1"/>
              <a:t>파이썬</a:t>
            </a:r>
            <a:r>
              <a:rPr lang="ko-KR" sz="1700" dirty="0"/>
              <a:t> 코드를 실행할 수 있는 무료 환경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준비물: 네트워크에 연결된 컴퓨터 + 구글 계정</a:t>
            </a:r>
            <a:endParaRPr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  <p:sp>
        <p:nvSpPr>
          <p:cNvPr id="200" name="Google Shape;200;p4"/>
          <p:cNvSpPr txBox="1">
            <a:spLocks noGrp="1"/>
          </p:cNvSpPr>
          <p:nvPr>
            <p:ph type="title"/>
          </p:nvPr>
        </p:nvSpPr>
        <p:spPr>
          <a:xfrm>
            <a:off x="487015" y="316539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altLang="en-US" dirty="0"/>
              <a:t>인공지능 강의</a:t>
            </a:r>
            <a:r>
              <a:rPr lang="ko-KR" dirty="0"/>
              <a:t> 학습 목표</a:t>
            </a:r>
            <a:endParaRPr dirty="0"/>
          </a:p>
        </p:txBody>
      </p:sp>
      <p:sp>
        <p:nvSpPr>
          <p:cNvPr id="202" name="Google Shape;202;p4"/>
          <p:cNvSpPr txBox="1"/>
          <p:nvPr/>
        </p:nvSpPr>
        <p:spPr>
          <a:xfrm>
            <a:off x="487015" y="1080282"/>
            <a:ext cx="5183535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</a:t>
            </a: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 개요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차이점을 이해합니다.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코랩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사용법을 배웁니다.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프로그램을 만들고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머신러닝의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기본 작동 원리를 이해합니다.</a:t>
            </a:r>
            <a:endParaRPr sz="14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알고리즘에 주입할 데이터를 준비하는 방법을 배웁니다.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 dirty="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182C9-5E73-6EC9-86FE-1C47E2395F81}"/>
              </a:ext>
            </a:extLst>
          </p:cNvPr>
          <p:cNvSpPr txBox="1"/>
          <p:nvPr/>
        </p:nvSpPr>
        <p:spPr>
          <a:xfrm>
            <a:off x="5875959" y="823651"/>
            <a:ext cx="6108700" cy="555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</a:t>
            </a: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분류 알고리즘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확률적 경사 하강법과 같은 분류 알고리즘을 배웁니다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</a:t>
            </a: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 알고리즘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</a:t>
            </a:r>
            <a:r>
              <a:rPr lang="ko-KR" altLang="en-US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</a:t>
            </a: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튜닝을 실습합니다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</a:t>
            </a: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비지도 학습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데이터를 사용하는 비지도 학습과 대표적인 알고리즘을 소개합니다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. </a:t>
            </a:r>
            <a:endParaRPr lang="ko-KR" altLang="en-US" sz="1400" b="0" i="0" dirty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  <a:cs typeface="Malgun Gothic" panose="020B0503020000020004" pitchFamily="50" charset="-127"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대표적인 군집 알고리즘인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k-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평균과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DBSCAN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을 배웁니다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.</a:t>
            </a:r>
            <a:endParaRPr lang="ko-KR" altLang="en-US" dirty="0">
              <a:effectLst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대표적인 차원 축소 알고리즘인 주성분 분석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(PCA)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을 배웁니다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.</a:t>
            </a:r>
            <a:endParaRPr lang="ko-KR" altLang="en-US" dirty="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378711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/>
              <a:t>교재 소개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973467"/>
            <a:ext cx="11624609" cy="560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교재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혼자 공부하는 </a:t>
            </a:r>
            <a:r>
              <a:rPr lang="ko-KR" sz="1700" dirty="0" err="1"/>
              <a:t>머신러닝+딥러닝</a:t>
            </a:r>
            <a:r>
              <a:rPr lang="ko-KR" sz="1700" dirty="0"/>
              <a:t> (개정판)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지은이: 박해선 / 출판사: </a:t>
            </a:r>
            <a:r>
              <a:rPr lang="ko-KR" sz="1700" dirty="0" err="1"/>
              <a:t>한빛미디어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교재 구성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머신러닝편</a:t>
            </a:r>
            <a:r>
              <a:rPr lang="ko-KR" sz="1700" dirty="0"/>
              <a:t> (CHAPTER 01~06)</a:t>
            </a:r>
            <a:endParaRPr lang="en-US" altLang="ko-KR" sz="1700" dirty="0"/>
          </a:p>
          <a:p>
            <a:pPr marL="1143000" lvl="2" indent="-228631">
              <a:lnSpc>
                <a:spcPct val="125000"/>
              </a:lnSpc>
              <a:spcBef>
                <a:spcPts val="200"/>
              </a:spcBef>
              <a:buSzPct val="100000"/>
              <a:buChar char="⁃"/>
            </a:pPr>
            <a:r>
              <a:rPr lang="ko-KR" altLang="en-US" sz="1500" dirty="0"/>
              <a:t>이번 학기 인공지능 수업에서 다룸</a:t>
            </a:r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딥러닝편</a:t>
            </a:r>
            <a:r>
              <a:rPr lang="ko-KR" sz="1700" dirty="0"/>
              <a:t> (CHAPTER 07~10)</a:t>
            </a:r>
            <a:endParaRPr lang="en-US" altLang="ko-KR" sz="1700" dirty="0"/>
          </a:p>
          <a:p>
            <a:pPr marL="1143000" lvl="2" indent="-228631">
              <a:lnSpc>
                <a:spcPct val="125000"/>
              </a:lnSpc>
              <a:spcBef>
                <a:spcPts val="200"/>
              </a:spcBef>
              <a:buSzPct val="100000"/>
              <a:buChar char="⁃"/>
            </a:pPr>
            <a:r>
              <a:rPr lang="en-US" altLang="ko-KR" sz="1500" dirty="0"/>
              <a:t>2</a:t>
            </a:r>
            <a:r>
              <a:rPr lang="ko-KR" altLang="en-US" sz="1500" dirty="0"/>
              <a:t>학기</a:t>
            </a:r>
            <a:r>
              <a:rPr lang="en-US" altLang="ko-KR" sz="1500" dirty="0"/>
              <a:t> </a:t>
            </a:r>
            <a:r>
              <a:rPr lang="ko-KR" altLang="en-US" sz="1500" dirty="0" err="1"/>
              <a:t>딥러닝</a:t>
            </a:r>
            <a:r>
              <a:rPr lang="ko-KR" altLang="en-US" sz="1500" dirty="0"/>
              <a:t> 교과에서 다루는 범위</a:t>
            </a:r>
            <a:endParaRPr sz="15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본 강의 범위: CHAPTER 01~06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01: </a:t>
            </a:r>
            <a:r>
              <a:rPr lang="ko-KR" altLang="en-US" sz="1700" dirty="0"/>
              <a:t>인공지능 개요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02: 데이터 다루기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03: 회귀 알고리즘과 모델 규제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04: 다양한 분류 알고리즘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05: 트리 알고리즘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06: 비지도 학습</a:t>
            </a:r>
            <a:endParaRPr sz="1700" dirty="0"/>
          </a:p>
        </p:txBody>
      </p:sp>
      <p:pic>
        <p:nvPicPr>
          <p:cNvPr id="5" name="Google Shape;79;p1">
            <a:extLst>
              <a:ext uri="{FF2B5EF4-FFF2-40B4-BE49-F238E27FC236}">
                <a16:creationId xmlns:a16="http://schemas.microsoft.com/office/drawing/2014/main" id="{F8E4EB9B-4011-42F8-A5C6-56DFDE7C8B41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5689390" y="881399"/>
            <a:ext cx="3955211" cy="559090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367513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 err="1"/>
              <a:t>주차별</a:t>
            </a:r>
            <a:r>
              <a:rPr lang="ko-KR" dirty="0"/>
              <a:t> </a:t>
            </a:r>
            <a:r>
              <a:rPr lang="ko-KR"/>
              <a:t>강의 계</a:t>
            </a:r>
            <a:r>
              <a:rPr lang="ko-KR" altLang="en-US"/>
              <a:t>획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6021577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600" dirty="0"/>
              <a:t>1주차: 강의 소개 및 환경 설정</a:t>
            </a:r>
            <a:endParaRPr sz="16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400" dirty="0"/>
              <a:t>강의 개요, 평가 방법 안내, 구글 </a:t>
            </a:r>
            <a:r>
              <a:rPr lang="ko-KR" sz="1400" dirty="0" err="1"/>
              <a:t>코랩</a:t>
            </a:r>
            <a:r>
              <a:rPr lang="ko-KR" sz="1400" dirty="0"/>
              <a:t> 실습 환경 설정</a:t>
            </a:r>
            <a:endParaRPr sz="14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600" dirty="0"/>
              <a:t>2주차: CHAPTER 01 </a:t>
            </a:r>
            <a:r>
              <a:rPr lang="ko-KR" altLang="en-US" sz="1600" dirty="0"/>
              <a:t>인공지능 개요</a:t>
            </a:r>
            <a:endParaRPr sz="16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sz="1400" dirty="0"/>
              <a:t>인공지능과 </a:t>
            </a:r>
            <a:r>
              <a:rPr lang="ko-KR" sz="1400" dirty="0" err="1"/>
              <a:t>머신러닝</a:t>
            </a:r>
            <a:r>
              <a:rPr lang="ko-KR" sz="1400" dirty="0"/>
              <a:t> 개념 / </a:t>
            </a:r>
            <a:r>
              <a:rPr lang="ko-KR" sz="1400" dirty="0" err="1"/>
              <a:t>코랩과</a:t>
            </a:r>
            <a:r>
              <a:rPr lang="ko-KR" sz="1400" dirty="0"/>
              <a:t> 주피터 노트북</a:t>
            </a:r>
            <a:endParaRPr lang="ko-KR" altLang="en-US" sz="14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en-US" altLang="ko-KR" sz="1400" dirty="0"/>
              <a:t>GitHub </a:t>
            </a:r>
            <a:r>
              <a:rPr lang="ko-KR" altLang="en-US" sz="1400" dirty="0"/>
              <a:t>가입</a:t>
            </a:r>
            <a:r>
              <a:rPr lang="en-US" altLang="ko-KR" sz="1400" dirty="0"/>
              <a:t>, Git </a:t>
            </a:r>
            <a:r>
              <a:rPr lang="ko-KR" altLang="en-US" sz="1400" dirty="0"/>
              <a:t>설정</a:t>
            </a:r>
            <a:r>
              <a:rPr lang="en-US" altLang="ko-KR" sz="1400" dirty="0"/>
              <a:t>, GitHub Classroom </a:t>
            </a:r>
            <a:r>
              <a:rPr lang="ko-KR" altLang="en-US" sz="1400" dirty="0"/>
              <a:t>과제 제출 실습</a:t>
            </a:r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600" dirty="0"/>
              <a:t>3</a:t>
            </a:r>
            <a:r>
              <a:rPr lang="ko-KR" sz="1600" dirty="0"/>
              <a:t>주차: CHAPTER 02 데이터 다루기</a:t>
            </a:r>
            <a:endParaRPr sz="16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400" dirty="0"/>
              <a:t>훈련 세트와 테스트 세트 / 데이터 </a:t>
            </a:r>
            <a:r>
              <a:rPr lang="ko-KR" sz="1400" dirty="0" err="1"/>
              <a:t>전처리</a:t>
            </a:r>
            <a:endParaRPr sz="14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600" dirty="0"/>
              <a:t>4</a:t>
            </a:r>
            <a:r>
              <a:rPr lang="ko-KR" sz="1600" dirty="0"/>
              <a:t>주차: CHAPTER 03 회귀 알고리즘과 모델 규제 (1)</a:t>
            </a:r>
            <a:endParaRPr sz="16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400" dirty="0"/>
              <a:t>k-최근접 이웃 회귀 / 선형 회귀</a:t>
            </a:r>
            <a:endParaRPr sz="14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600" dirty="0"/>
              <a:t>5</a:t>
            </a:r>
            <a:r>
              <a:rPr lang="ko-KR" sz="1600" dirty="0"/>
              <a:t>주차: CHAPTER 03 회귀 알고리즘과 모델 규제 (2)</a:t>
            </a:r>
            <a:endParaRPr sz="16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400" dirty="0"/>
              <a:t>특성 공학과 규제</a:t>
            </a:r>
            <a:endParaRPr sz="14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600" dirty="0"/>
              <a:t>6</a:t>
            </a:r>
            <a:r>
              <a:rPr lang="ko-KR" sz="1600" dirty="0"/>
              <a:t>주차: CHAPTER 04 다양한 분류 알고리즘</a:t>
            </a:r>
            <a:r>
              <a:rPr lang="en-US" altLang="ko-KR" sz="1600" dirty="0"/>
              <a:t> (1)</a:t>
            </a:r>
            <a:endParaRPr sz="16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ko-KR" sz="1400" dirty="0"/>
              <a:t>로지스틱 회귀</a:t>
            </a:r>
            <a:endParaRPr lang="en-US" altLang="ko-KR" sz="1400" dirty="0"/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7</a:t>
            </a:r>
            <a:r>
              <a:rPr lang="ko-KR" altLang="en-US" sz="1600" dirty="0"/>
              <a:t>주차</a:t>
            </a:r>
            <a:r>
              <a:rPr lang="en-US" altLang="ko-KR" sz="1600" dirty="0"/>
              <a:t>: CHAPTER 04 </a:t>
            </a:r>
            <a:r>
              <a:rPr lang="ko-KR" altLang="en-US" sz="1600" dirty="0"/>
              <a:t>다양한 분류 알고리즘 </a:t>
            </a:r>
            <a:r>
              <a:rPr lang="en-US" altLang="ko-KR" sz="1600" dirty="0"/>
              <a:t>(2)</a:t>
            </a:r>
            <a:endParaRPr lang="ko-KR" altLang="en-US" sz="16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400" dirty="0"/>
              <a:t>확률적 경사 </a:t>
            </a:r>
            <a:r>
              <a:rPr lang="ko-KR" altLang="en-US" sz="1400" dirty="0" err="1"/>
              <a:t>하강법</a:t>
            </a:r>
            <a:endParaRPr sz="14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600" dirty="0"/>
              <a:t>8주차: 중간고사</a:t>
            </a:r>
            <a:endParaRPr sz="1600" dirty="0"/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B813456-0909-4479-8924-7461D7B7FEAB}"/>
              </a:ext>
            </a:extLst>
          </p:cNvPr>
          <p:cNvSpPr txBox="1">
            <a:spLocks/>
          </p:cNvSpPr>
          <p:nvPr/>
        </p:nvSpPr>
        <p:spPr>
          <a:xfrm>
            <a:off x="6811787" y="1079999"/>
            <a:ext cx="5080383" cy="507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9</a:t>
            </a:r>
            <a:r>
              <a:rPr lang="ko-KR" altLang="en-US" sz="1600" dirty="0"/>
              <a:t>주차</a:t>
            </a:r>
            <a:r>
              <a:rPr lang="en-US" altLang="ko-KR" sz="1600" dirty="0"/>
              <a:t>: CHAPTER 05 </a:t>
            </a:r>
            <a:r>
              <a:rPr lang="ko-KR" altLang="en-US" sz="1600" dirty="0"/>
              <a:t>트리 알고리즘 </a:t>
            </a:r>
            <a:r>
              <a:rPr lang="en-US" altLang="ko-KR" sz="1600" dirty="0"/>
              <a:t>(1)</a:t>
            </a:r>
            <a:endParaRPr lang="ko-KR" altLang="en-US" sz="16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400" dirty="0"/>
              <a:t>결정 트리</a:t>
            </a:r>
          </a:p>
          <a:p>
            <a:pPr marL="22860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10</a:t>
            </a:r>
            <a:r>
              <a:rPr lang="ko-KR" altLang="en-US" sz="1600" dirty="0"/>
              <a:t>주차</a:t>
            </a:r>
            <a:r>
              <a:rPr lang="en-US" altLang="ko-KR" sz="1600" dirty="0"/>
              <a:t>: CHAPTER 05 </a:t>
            </a:r>
            <a:r>
              <a:rPr lang="ko-KR" altLang="en-US" sz="1600" dirty="0"/>
              <a:t>트리 알고리즘 </a:t>
            </a:r>
            <a:r>
              <a:rPr lang="en-US" altLang="ko-KR" sz="1600" dirty="0"/>
              <a:t>(2)</a:t>
            </a:r>
            <a:endParaRPr lang="ko-KR" altLang="en-US" sz="16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400" dirty="0"/>
              <a:t>교차 검증과 그리드 </a:t>
            </a:r>
            <a:r>
              <a:rPr lang="ko-KR" altLang="en-US" sz="1400" dirty="0" err="1"/>
              <a:t>서치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/>
              <a:t>트리의 앙상블</a:t>
            </a:r>
          </a:p>
          <a:p>
            <a:pPr marL="22860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11</a:t>
            </a:r>
            <a:r>
              <a:rPr lang="ko-KR" altLang="en-US" sz="1600" dirty="0"/>
              <a:t>주차</a:t>
            </a:r>
            <a:r>
              <a:rPr lang="en-US" altLang="ko-KR" sz="1600" dirty="0"/>
              <a:t>: CHAPTER 06 </a:t>
            </a:r>
            <a:r>
              <a:rPr lang="ko-KR" altLang="en-US" sz="1600" dirty="0"/>
              <a:t>비지도 학습 </a:t>
            </a:r>
            <a:r>
              <a:rPr lang="en-US" altLang="ko-KR" sz="1600" dirty="0"/>
              <a:t>(1)</a:t>
            </a:r>
            <a:endParaRPr lang="ko-KR" altLang="en-US" sz="16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400" dirty="0"/>
              <a:t>군집 알고리즘 </a:t>
            </a:r>
            <a:r>
              <a:rPr lang="en-US" altLang="ko-KR" sz="1400" dirty="0"/>
              <a:t>/ k-</a:t>
            </a:r>
            <a:r>
              <a:rPr lang="ko-KR" altLang="en-US" sz="1400" dirty="0"/>
              <a:t>평균</a:t>
            </a:r>
          </a:p>
          <a:p>
            <a:pPr marL="22860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12</a:t>
            </a:r>
            <a:r>
              <a:rPr lang="ko-KR" altLang="en-US" sz="1600" dirty="0"/>
              <a:t>주차</a:t>
            </a:r>
            <a:r>
              <a:rPr lang="en-US" altLang="ko-KR" sz="1600" dirty="0"/>
              <a:t>: CHAPTER 06 </a:t>
            </a:r>
            <a:r>
              <a:rPr lang="ko-KR" altLang="en-US" sz="1600" dirty="0"/>
              <a:t>비지도 학습 </a:t>
            </a:r>
            <a:r>
              <a:rPr lang="en-US" altLang="ko-KR" sz="1600" dirty="0"/>
              <a:t>(2)</a:t>
            </a:r>
            <a:endParaRPr lang="ko-KR" altLang="en-US" sz="16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400" dirty="0"/>
              <a:t>주성분 분석</a:t>
            </a:r>
          </a:p>
          <a:p>
            <a:pPr marL="22860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13</a:t>
            </a:r>
            <a:r>
              <a:rPr lang="ko-KR" altLang="en-US" sz="1600" dirty="0"/>
              <a:t>주차</a:t>
            </a:r>
            <a:r>
              <a:rPr lang="en-US" altLang="ko-KR" sz="1600" dirty="0"/>
              <a:t>: LLM </a:t>
            </a:r>
            <a:r>
              <a:rPr lang="ko-KR" altLang="en-US" sz="1600" dirty="0" err="1"/>
              <a:t>바이브코딩을</a:t>
            </a:r>
            <a:r>
              <a:rPr lang="ko-KR" altLang="en-US" sz="1600" dirty="0"/>
              <a:t> 통한 </a:t>
            </a:r>
            <a:r>
              <a:rPr lang="en-US" altLang="ko-KR" sz="1600" dirty="0"/>
              <a:t>AI</a:t>
            </a:r>
            <a:r>
              <a:rPr lang="ko-KR" altLang="en-US" sz="1600" dirty="0"/>
              <a:t> 프로젝트 </a:t>
            </a:r>
            <a:r>
              <a:rPr lang="en-US" altLang="ko-KR" sz="1600" dirty="0"/>
              <a:t>(1)</a:t>
            </a:r>
            <a:endParaRPr lang="ko-KR" altLang="en-US" sz="16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400" dirty="0"/>
              <a:t>프로젝트 주제 선정 및 기획 </a:t>
            </a:r>
            <a:r>
              <a:rPr lang="en-US" altLang="ko-KR" sz="1400" dirty="0"/>
              <a:t>/ AI </a:t>
            </a:r>
            <a:r>
              <a:rPr lang="ko-KR" altLang="en-US" sz="1400" dirty="0"/>
              <a:t>도구 활용 실습</a:t>
            </a:r>
          </a:p>
          <a:p>
            <a:pPr marL="22860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14</a:t>
            </a:r>
            <a:r>
              <a:rPr lang="ko-KR" altLang="en-US" sz="1600" dirty="0"/>
              <a:t>주차</a:t>
            </a:r>
            <a:r>
              <a:rPr lang="en-US" altLang="ko-KR" sz="1600" dirty="0"/>
              <a:t>: LLM </a:t>
            </a:r>
            <a:r>
              <a:rPr lang="ko-KR" altLang="en-US" sz="1600" dirty="0" err="1"/>
              <a:t>바이브코딩을</a:t>
            </a:r>
            <a:r>
              <a:rPr lang="ko-KR" altLang="en-US" sz="1600" dirty="0"/>
              <a:t> 통한 </a:t>
            </a:r>
            <a:r>
              <a:rPr lang="en-US" altLang="ko-KR" sz="1600" dirty="0"/>
              <a:t>AI</a:t>
            </a:r>
            <a:r>
              <a:rPr lang="ko-KR" altLang="en-US" sz="1600" dirty="0"/>
              <a:t> 프로젝트 </a:t>
            </a:r>
            <a:r>
              <a:rPr lang="en-US" altLang="ko-KR" sz="1600" dirty="0"/>
              <a:t>(2)</a:t>
            </a:r>
            <a:endParaRPr lang="ko-KR" altLang="en-US" sz="1600" dirty="0"/>
          </a:p>
          <a:p>
            <a:pPr marL="685800" lvl="1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sz="1400" dirty="0"/>
              <a:t>프로젝트 수행</a:t>
            </a:r>
          </a:p>
          <a:p>
            <a:pPr marL="22860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15</a:t>
            </a:r>
            <a:r>
              <a:rPr lang="ko-KR" altLang="en-US" sz="1600" dirty="0"/>
              <a:t>주차</a:t>
            </a:r>
            <a:r>
              <a:rPr lang="en-US" altLang="ko-KR" sz="1600" dirty="0"/>
              <a:t>: </a:t>
            </a:r>
            <a:r>
              <a:rPr lang="ko-KR" altLang="en-US" sz="1600" dirty="0"/>
              <a:t>보강 및 </a:t>
            </a:r>
            <a:r>
              <a:rPr lang="en-US" altLang="ko-KR" sz="1600" dirty="0"/>
              <a:t>AI</a:t>
            </a:r>
            <a:r>
              <a:rPr lang="ko-KR" altLang="en-US" sz="1600"/>
              <a:t> 프로젝트 </a:t>
            </a:r>
            <a:r>
              <a:rPr lang="ko-KR" altLang="en-US" sz="1600" dirty="0"/>
              <a:t>수행</a:t>
            </a:r>
          </a:p>
          <a:p>
            <a:pPr marL="685800" lvl="1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sz="1400" dirty="0"/>
              <a:t>프로젝트 제출</a:t>
            </a:r>
          </a:p>
          <a:p>
            <a:pPr marL="22860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600" dirty="0"/>
              <a:t>16</a:t>
            </a:r>
            <a:r>
              <a:rPr lang="ko-KR" altLang="en-US" sz="1600" dirty="0"/>
              <a:t>주차</a:t>
            </a:r>
            <a:r>
              <a:rPr lang="en-US" altLang="ko-KR" sz="1600" dirty="0"/>
              <a:t>: </a:t>
            </a:r>
            <a:r>
              <a:rPr lang="ko-KR" altLang="en-US" sz="1600" dirty="0"/>
              <a:t>기말고사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408650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/>
              <a:t>평가 방법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079999"/>
            <a:ext cx="11624609" cy="5670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평가 항목 및 배점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중간고사</a:t>
            </a:r>
            <a:r>
              <a:rPr lang="en-US" altLang="ko-KR" sz="1700" dirty="0"/>
              <a:t>: 30</a:t>
            </a:r>
            <a:r>
              <a:rPr lang="ko-KR" altLang="en-US" sz="1700" dirty="0"/>
              <a:t>점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기말고사</a:t>
            </a:r>
            <a:r>
              <a:rPr lang="en-US" altLang="ko-KR" sz="1700" dirty="0"/>
              <a:t>: 30</a:t>
            </a:r>
            <a:r>
              <a:rPr lang="ko-KR" altLang="en-US" sz="1700" dirty="0"/>
              <a:t>점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퀴즈</a:t>
            </a:r>
            <a:r>
              <a:rPr lang="en-US" altLang="ko-KR" sz="1700" dirty="0"/>
              <a:t>: 10</a:t>
            </a:r>
            <a:r>
              <a:rPr lang="ko-KR" altLang="en-US" sz="1700" dirty="0"/>
              <a:t>점 </a:t>
            </a:r>
            <a:endParaRPr lang="en-US" altLang="ko-KR" sz="17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기말 프로젝트</a:t>
            </a:r>
            <a:r>
              <a:rPr lang="en-US" altLang="ko-KR" sz="1700" dirty="0"/>
              <a:t>: 20</a:t>
            </a:r>
            <a:r>
              <a:rPr lang="ko-KR" altLang="en-US" sz="1700" dirty="0"/>
              <a:t>점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출석 </a:t>
            </a:r>
            <a:r>
              <a:rPr lang="en-US" altLang="ko-KR" sz="1700" dirty="0"/>
              <a:t>+ </a:t>
            </a:r>
            <a:r>
              <a:rPr lang="ko-KR" altLang="en-US" sz="1700" dirty="0"/>
              <a:t>핵심역량평가</a:t>
            </a:r>
            <a:r>
              <a:rPr lang="en-US" altLang="ko-KR" sz="1700" dirty="0"/>
              <a:t>: 10</a:t>
            </a:r>
            <a:r>
              <a:rPr lang="ko-KR" altLang="en-US" sz="1700" dirty="0"/>
              <a:t>점</a:t>
            </a:r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시험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중간고사</a:t>
            </a:r>
            <a:r>
              <a:rPr lang="en-US" altLang="ko-KR" sz="1700" dirty="0"/>
              <a:t>: CHAPTER 01~04 </a:t>
            </a:r>
            <a:r>
              <a:rPr lang="ko-KR" altLang="en-US" sz="1700" dirty="0"/>
              <a:t>범위 </a:t>
            </a:r>
            <a:r>
              <a:rPr lang="en-US" altLang="ko-KR" sz="1700" dirty="0"/>
              <a:t>(8</a:t>
            </a:r>
            <a:r>
              <a:rPr lang="ko-KR" altLang="en-US" sz="1700" dirty="0"/>
              <a:t>주차</a:t>
            </a:r>
            <a:r>
              <a:rPr lang="en-US" altLang="ko-KR" sz="1700" dirty="0"/>
              <a:t>)</a:t>
            </a:r>
            <a:endParaRPr lang="ko-KR" altLang="en-US" sz="17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기말고사</a:t>
            </a:r>
            <a:r>
              <a:rPr lang="en-US" altLang="ko-KR" sz="1700" dirty="0"/>
              <a:t>: CHAPTER 05~06 (50%) + </a:t>
            </a:r>
            <a:r>
              <a:rPr lang="ko-KR" altLang="en-US" sz="1700" dirty="0"/>
              <a:t>바이브코딩 </a:t>
            </a:r>
            <a:r>
              <a:rPr lang="en-US" altLang="ko-KR" sz="1700" dirty="0"/>
              <a:t>(50%)</a:t>
            </a:r>
            <a:endParaRPr lang="ko-KR" altLang="en-US" sz="1700" dirty="0"/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과제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매 </a:t>
            </a:r>
            <a:r>
              <a:rPr lang="en-US" altLang="ko-KR" sz="1700" dirty="0"/>
              <a:t>CHAPTER </a:t>
            </a:r>
            <a:r>
              <a:rPr lang="ko-KR" altLang="en-US" sz="1700" dirty="0"/>
              <a:t>종료 후 코딩 과제 제출 </a:t>
            </a:r>
            <a:r>
              <a:rPr lang="en-US" altLang="ko-KR" sz="1700" dirty="0"/>
              <a:t>(GitHub Classroom)</a:t>
            </a:r>
            <a:endParaRPr lang="ko-KR" altLang="en-US" sz="17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과제 제출 기한</a:t>
            </a:r>
            <a:r>
              <a:rPr lang="en-US" altLang="ko-KR" sz="1700" dirty="0"/>
              <a:t>: </a:t>
            </a:r>
            <a:r>
              <a:rPr lang="ko-KR" altLang="en-US" sz="1700" dirty="0"/>
              <a:t>해당 주차 종료 후 </a:t>
            </a:r>
            <a:r>
              <a:rPr lang="en-US" altLang="ko-KR" sz="1700" dirty="0"/>
              <a:t>1</a:t>
            </a:r>
            <a:r>
              <a:rPr lang="ko-KR" altLang="en-US" sz="1700" dirty="0"/>
              <a:t>주일 이내</a:t>
            </a:r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기말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기말 프로젝트 (13~14주차)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결과물 제출 및 발표 (14주차)</a:t>
            </a:r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출석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지각 </a:t>
            </a:r>
            <a:r>
              <a:rPr lang="en-US" altLang="ko-KR" sz="1700" dirty="0"/>
              <a:t>3</a:t>
            </a:r>
            <a:r>
              <a:rPr lang="ko-KR" altLang="en-US" sz="1700" dirty="0"/>
              <a:t>회 </a:t>
            </a:r>
            <a:r>
              <a:rPr lang="en-US" altLang="ko-KR" sz="1700" dirty="0"/>
              <a:t>= </a:t>
            </a:r>
            <a:r>
              <a:rPr lang="ko-KR" altLang="en-US" sz="1700" dirty="0"/>
              <a:t>결석 </a:t>
            </a:r>
            <a:r>
              <a:rPr lang="en-US" altLang="ko-KR" sz="1700" dirty="0"/>
              <a:t>1</a:t>
            </a:r>
            <a:r>
              <a:rPr lang="ko-KR" altLang="en-US" sz="1700" dirty="0"/>
              <a:t>회</a:t>
            </a:r>
            <a:r>
              <a:rPr lang="en-US" altLang="ko-KR" sz="1700" dirty="0"/>
              <a:t>, </a:t>
            </a:r>
            <a:r>
              <a:rPr lang="ko-KR" altLang="en-US" sz="1700" dirty="0"/>
              <a:t>결석 </a:t>
            </a:r>
            <a:r>
              <a:rPr lang="en-US" altLang="ko-KR" sz="1700" dirty="0"/>
              <a:t>2</a:t>
            </a:r>
            <a:r>
              <a:rPr lang="ko-KR" altLang="en-US" sz="1700" dirty="0"/>
              <a:t>회까지는 </a:t>
            </a:r>
            <a:r>
              <a:rPr lang="en-US" altLang="ko-KR" sz="1700" dirty="0"/>
              <a:t>5</a:t>
            </a:r>
            <a:r>
              <a:rPr lang="ko-KR" altLang="en-US" sz="1700" dirty="0"/>
              <a:t>점 만점</a:t>
            </a:r>
            <a:r>
              <a:rPr lang="en-US" altLang="ko-KR" sz="1700" dirty="0"/>
              <a:t>, </a:t>
            </a:r>
            <a:r>
              <a:rPr lang="ko-KR" altLang="en-US" sz="1700" dirty="0"/>
              <a:t>결석 </a:t>
            </a:r>
            <a:r>
              <a:rPr lang="en-US" altLang="ko-KR" sz="1700" dirty="0"/>
              <a:t>3</a:t>
            </a:r>
            <a:r>
              <a:rPr lang="ko-KR" altLang="en-US" sz="1700" dirty="0"/>
              <a:t>회부터 결석 </a:t>
            </a:r>
            <a:r>
              <a:rPr lang="en-US" altLang="ko-KR" sz="1700" dirty="0"/>
              <a:t>2</a:t>
            </a:r>
            <a:r>
              <a:rPr lang="ko-KR" altLang="en-US" sz="1700" dirty="0"/>
              <a:t>회마다 </a:t>
            </a:r>
            <a:r>
              <a:rPr lang="en-US" altLang="ko-KR" sz="1700" dirty="0"/>
              <a:t>1</a:t>
            </a:r>
            <a:r>
              <a:rPr lang="ko-KR" altLang="en-US" sz="1700" dirty="0" err="1"/>
              <a:t>점씩</a:t>
            </a:r>
            <a:r>
              <a:rPr lang="ko-KR" altLang="en-US" sz="1700" dirty="0"/>
              <a:t> 차감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408651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/>
              <a:t>수업 규칙 및 유의사항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168777"/>
            <a:ext cx="11624609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수업 방식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이론 강의 + 실습 (구글 </a:t>
            </a:r>
            <a:r>
              <a:rPr lang="ko-KR" sz="1700" dirty="0" err="1"/>
              <a:t>코랩</a:t>
            </a:r>
            <a:r>
              <a:rPr lang="ko-KR" sz="1700" dirty="0"/>
              <a:t>)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개인 노트북 지참 권장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교재 코드는 구글 </a:t>
            </a:r>
            <a:r>
              <a:rPr lang="ko-KR" sz="1700" dirty="0" err="1"/>
              <a:t>코랩에서</a:t>
            </a:r>
            <a:r>
              <a:rPr lang="ko-KR" sz="1700" dirty="0"/>
              <a:t> 직접 실행하며 학습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수업 규칙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질문은 언제든 환영합니다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질문 및 소통 채널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수업 중: 직접 질문 / 수업 외: 이메일 또는 LMS 게시판 활용</a:t>
            </a:r>
            <a:r>
              <a:rPr lang="en-US" altLang="ko-KR" sz="1700" dirty="0"/>
              <a:t>, </a:t>
            </a:r>
            <a:r>
              <a:rPr lang="ko-KR" altLang="en-US" sz="1700" dirty="0" err="1"/>
              <a:t>단톡방</a:t>
            </a:r>
            <a:r>
              <a:rPr lang="en-US" altLang="ko-KR" sz="1700" dirty="0"/>
              <a:t> </a:t>
            </a:r>
            <a:r>
              <a:rPr lang="ko-KR" altLang="en-US" sz="1700" dirty="0"/>
              <a:t>운영</a:t>
            </a:r>
            <a:endParaRPr lang="en-US" altLang="ko-KR"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 altLang="ko-KR" sz="1700" dirty="0"/>
              <a:t>e-mail: </a:t>
            </a:r>
            <a:r>
              <a:rPr lang="en-US" sz="1700" dirty="0">
                <a:hlinkClick r:id="rId2"/>
              </a:rPr>
              <a:t>sangdon.park@dju.kr</a:t>
            </a:r>
            <a:endParaRPr lang="en-US"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참고 사항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교재 소스 코드: https://github.com/rickiepark/hg-mldl</a:t>
            </a:r>
            <a:endParaRPr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798</Words>
  <Application>Microsoft Office PowerPoint</Application>
  <PresentationFormat>와이드스크린</PresentationFormat>
  <Paragraphs>127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Symbols</vt:lpstr>
      <vt:lpstr>Arial</vt:lpstr>
      <vt:lpstr>Calibri</vt:lpstr>
      <vt:lpstr>Malgun Gothic</vt:lpstr>
      <vt:lpstr>Office 테마</vt:lpstr>
      <vt:lpstr>인공지능 </vt:lpstr>
      <vt:lpstr>강의 개요</vt:lpstr>
      <vt:lpstr>인공지능 강의 학습 목표</vt:lpstr>
      <vt:lpstr>교재 소개</vt:lpstr>
      <vt:lpstr>주차별 강의 계획</vt:lpstr>
      <vt:lpstr>평가 방법</vt:lpstr>
      <vt:lpstr>수업 규칙 및 유의사항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혼자 공부하는 머신러닝+딥러닝 (개정판)</dc:title>
  <dc:creator>마케팅팀</dc:creator>
  <cp:lastModifiedBy>USER</cp:lastModifiedBy>
  <cp:revision>74</cp:revision>
  <dcterms:created xsi:type="dcterms:W3CDTF">2020-01-31T07:25:46Z</dcterms:created>
  <dcterms:modified xsi:type="dcterms:W3CDTF">2026-03-02T07:39:38Z</dcterms:modified>
</cp:coreProperties>
</file>