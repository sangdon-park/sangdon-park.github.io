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5"/>
  </p:notesMasterIdLst>
  <p:sldIdLst>
    <p:sldId id="257" r:id="rId2"/>
    <p:sldId id="259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</p:sldIdLst>
  <p:sldSz cx="12192000" cy="6858000"/>
  <p:notesSz cx="6858000" cy="9144000"/>
  <p:embeddedFontLst>
    <p:embeddedFont>
      <p:font typeface="Malgun Gothic" panose="020B0503020000020004" pitchFamily="50" charset="-127"/>
      <p:regular r:id="rId46"/>
      <p:bold r:id="rId47"/>
    </p:embeddedFont>
    <p:embeddedFont>
      <p:font typeface="Malgun Gothic" panose="020B0503020000020004" pitchFamily="50" charset="-127"/>
      <p:regular r:id="rId46"/>
      <p:bold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Helvetica Neue Light" panose="020B0600000101010101" charset="0"/>
      <p:regular r:id="rId52"/>
      <p:bold r:id="rId53"/>
      <p:italic r:id="rId54"/>
      <p:boldItalic r:id="rId55"/>
    </p:embeddedFont>
    <p:embeddedFont>
      <p:font typeface="Noto Sans Symbols" pitchFamily="2" charset="0"/>
      <p:regular r:id="rId56"/>
      <p:bold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41">
          <p15:clr>
            <a:srgbClr val="A4A3A4"/>
          </p15:clr>
        </p15:guide>
        <p15:guide id="2" pos="3840">
          <p15:clr>
            <a:srgbClr val="A4A3A4"/>
          </p15:clr>
        </p15:guide>
        <p15:guide id="3" pos="3999">
          <p15:clr>
            <a:srgbClr val="A4A3A4"/>
          </p15:clr>
        </p15:guide>
        <p15:guide id="4" orient="horz" pos="2591">
          <p15:clr>
            <a:srgbClr val="A4A3A4"/>
          </p15:clr>
        </p15:guide>
        <p15:guide id="5" pos="960">
          <p15:clr>
            <a:srgbClr val="A4A3A4"/>
          </p15:clr>
        </p15:guide>
        <p15:guide id="6" orient="horz" pos="1797">
          <p15:clr>
            <a:srgbClr val="A4A3A4"/>
          </p15:clr>
        </p15:guide>
        <p15:guide id="7" orient="horz" pos="504">
          <p15:clr>
            <a:srgbClr val="A4A3A4"/>
          </p15:clr>
        </p15:guide>
        <p15:guide id="8" pos="506">
          <p15:clr>
            <a:srgbClr val="A4A3A4"/>
          </p15:clr>
        </p15:guide>
        <p15:guide id="9" pos="71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1" roundtripDataSignature="AMtx7mgQh/JTZB+tcnoesXfhZuEldfv5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014BDC-B06A-43B6-9D0A-1BB114C4A0B7}">
  <a:tblStyle styleId="{FC014BDC-B06A-43B6-9D0A-1BB114C4A0B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8"/>
          </a:solidFill>
        </a:fill>
      </a:tcStyle>
    </a:wholeTbl>
    <a:band1H>
      <a:tcTxStyle/>
      <a:tcStyle>
        <a:tcBdr/>
        <a:fill>
          <a:solidFill>
            <a:srgbClr val="CCE5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5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B367915-EC1C-4A17-8A3B-353DF648912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5188" autoAdjust="0"/>
  </p:normalViewPr>
  <p:slideViewPr>
    <p:cSldViewPr snapToGrid="0">
      <p:cViewPr varScale="1">
        <p:scale>
          <a:sx n="51" d="100"/>
          <a:sy n="51" d="100"/>
        </p:scale>
        <p:origin x="438" y="78"/>
      </p:cViewPr>
      <p:guideLst>
        <p:guide orient="horz" pos="2341"/>
        <p:guide pos="3840"/>
        <p:guide pos="3999"/>
        <p:guide orient="horz" pos="2591"/>
        <p:guide pos="960"/>
        <p:guide orient="horz" pos="1797"/>
        <p:guide orient="horz" pos="504"/>
        <p:guide pos="506"/>
        <p:guide pos="7174"/>
      </p:guideLst>
    </p:cSldViewPr>
  </p:slideViewPr>
  <p:notesTextViewPr>
    <p:cViewPr>
      <p:scale>
        <a:sx n="1" d="1"/>
        <a:sy n="1" d="1"/>
      </p:scale>
      <p:origin x="0" y="-8418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" Type="http://schemas.openxmlformats.org/officeDocument/2006/relationships/slide" Target="slides/slide4.xml"/><Relationship Id="rId61" Type="http://customschemas.google.com/relationships/presentationmetadata" Target="meta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4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4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여러분 안녕하세요</a:t>
            </a:r>
            <a:r>
              <a:rPr lang="en-US" altLang="ko-KR" dirty="0"/>
              <a:t>, </a:t>
            </a:r>
            <a:r>
              <a:rPr lang="ko-KR" altLang="en-US" dirty="0"/>
              <a:t>대전대학교 컴퓨터공학과 박상돈입니다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지난 시간에 강의 소개를 </a:t>
            </a:r>
            <a:r>
              <a:rPr lang="ko-KR" altLang="en-US" dirty="0" err="1"/>
              <a:t>했었죠</a:t>
            </a:r>
            <a:r>
              <a:rPr lang="en-US" altLang="ko-KR" dirty="0"/>
              <a:t>. </a:t>
            </a:r>
            <a:r>
              <a:rPr lang="ko-KR" altLang="en-US" dirty="0"/>
              <a:t>오늘부터 본격적으로 수업 내용에 들어갑니다</a:t>
            </a:r>
            <a:r>
              <a:rPr lang="en-US" altLang="ko-KR" dirty="0"/>
              <a:t>. </a:t>
            </a:r>
            <a:r>
              <a:rPr lang="ko-KR" altLang="en-US" dirty="0"/>
              <a:t>오늘 시작하는 챕터는 </a:t>
            </a:r>
            <a:r>
              <a:rPr lang="en-US" altLang="ko-KR" dirty="0"/>
              <a:t>CHAPTER 1, "</a:t>
            </a:r>
            <a:r>
              <a:rPr lang="ko-KR" altLang="en-US" dirty="0"/>
              <a:t>인공지능 개요</a:t>
            </a:r>
            <a:r>
              <a:rPr lang="en-US" altLang="ko-KR" dirty="0"/>
              <a:t>"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챕터에서는 인공지능이 </a:t>
            </a:r>
            <a:r>
              <a:rPr lang="ko-KR" altLang="en-US" dirty="0" err="1"/>
              <a:t>뭔지</a:t>
            </a:r>
            <a:r>
              <a:rPr lang="en-US" altLang="ko-KR" dirty="0"/>
              <a:t>, </a:t>
            </a:r>
            <a:r>
              <a:rPr lang="ko-KR" altLang="en-US" dirty="0" err="1"/>
              <a:t>머신러닝이</a:t>
            </a:r>
            <a:r>
              <a:rPr lang="ko-KR" altLang="en-US" dirty="0"/>
              <a:t> </a:t>
            </a:r>
            <a:r>
              <a:rPr lang="ko-KR" altLang="en-US" dirty="0" err="1"/>
              <a:t>뭔지</a:t>
            </a:r>
            <a:r>
              <a:rPr lang="en-US" altLang="ko-KR" dirty="0"/>
              <a:t>, </a:t>
            </a:r>
            <a:r>
              <a:rPr lang="ko-KR" altLang="en-US" dirty="0" err="1"/>
              <a:t>딥러닝이</a:t>
            </a:r>
            <a:r>
              <a:rPr lang="ko-KR" altLang="en-US" dirty="0"/>
              <a:t> </a:t>
            </a:r>
            <a:r>
              <a:rPr lang="ko-KR" altLang="en-US" dirty="0" err="1"/>
              <a:t>뭔지</a:t>
            </a:r>
            <a:r>
              <a:rPr lang="en-US" altLang="ko-KR" dirty="0"/>
              <a:t>, </a:t>
            </a:r>
            <a:r>
              <a:rPr lang="ko-KR" altLang="en-US" dirty="0"/>
              <a:t>이 세 가지의 관계를 먼저 정리하고요</a:t>
            </a:r>
            <a:r>
              <a:rPr lang="en-US" altLang="ko-KR" dirty="0"/>
              <a:t>. </a:t>
            </a:r>
            <a:r>
              <a:rPr lang="ko-KR" altLang="en-US" dirty="0" err="1"/>
              <a:t>그다음에</a:t>
            </a:r>
            <a:r>
              <a:rPr lang="ko-KR" altLang="en-US" dirty="0"/>
              <a:t> 우리가 앞으로 계속 쓸 구글 </a:t>
            </a:r>
            <a:r>
              <a:rPr lang="ko-KR" altLang="en-US" dirty="0" err="1"/>
              <a:t>코랩이라는</a:t>
            </a:r>
            <a:r>
              <a:rPr lang="ko-KR" altLang="en-US" dirty="0"/>
              <a:t> 실습 환경을 세팅하고 사용법을 익히겠습니다</a:t>
            </a:r>
            <a:r>
              <a:rPr lang="en-US" altLang="ko-KR" dirty="0"/>
              <a:t>. </a:t>
            </a:r>
            <a:r>
              <a:rPr lang="ko-KR" altLang="en-US" dirty="0"/>
              <a:t>마지막으로 실제로 첫 번째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프로그램을 만들어 볼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지난 시간에 말씀드렸듯이 이 수업은 이론 </a:t>
            </a:r>
            <a:r>
              <a:rPr lang="en-US" altLang="ko-KR" dirty="0"/>
              <a:t>2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실습 </a:t>
            </a:r>
            <a:r>
              <a:rPr lang="en-US" altLang="ko-KR" dirty="0"/>
              <a:t>2</a:t>
            </a:r>
            <a:r>
              <a:rPr lang="ko-KR" altLang="en-US" dirty="0"/>
              <a:t>시간으로 구성됩니다</a:t>
            </a:r>
            <a:r>
              <a:rPr lang="en-US" altLang="ko-KR" dirty="0"/>
              <a:t>. </a:t>
            </a:r>
            <a:r>
              <a:rPr lang="ko-KR" altLang="en-US" dirty="0"/>
              <a:t>이론 시간에 개념을 배우고</a:t>
            </a:r>
            <a:r>
              <a:rPr lang="en-US" altLang="ko-KR" dirty="0"/>
              <a:t>, </a:t>
            </a:r>
            <a:r>
              <a:rPr lang="ko-KR" altLang="en-US" dirty="0"/>
              <a:t>실습 시간에 </a:t>
            </a:r>
            <a:r>
              <a:rPr lang="ko-KR" altLang="en-US" dirty="0" err="1"/>
              <a:t>코랩에서</a:t>
            </a:r>
            <a:r>
              <a:rPr lang="ko-KR" altLang="en-US" dirty="0"/>
              <a:t> 직접 코드를 돌려보는 형태로 진행하겠습니다</a:t>
            </a:r>
            <a:r>
              <a:rPr lang="en-US" altLang="ko-KR" dirty="0"/>
              <a:t>. </a:t>
            </a:r>
            <a:r>
              <a:rPr lang="ko-KR" altLang="en-US" dirty="0"/>
              <a:t>과제는 </a:t>
            </a:r>
            <a:r>
              <a:rPr lang="en-US" altLang="ko-KR" dirty="0"/>
              <a:t>GitHub Classroom</a:t>
            </a:r>
            <a:r>
              <a:rPr lang="ko-KR" altLang="en-US" dirty="0"/>
              <a:t>으로 제출하는 거</a:t>
            </a:r>
            <a:r>
              <a:rPr lang="en-US" altLang="ko-KR" dirty="0"/>
              <a:t>, </a:t>
            </a:r>
            <a:r>
              <a:rPr lang="ko-KR" altLang="en-US" dirty="0"/>
              <a:t>기억나시죠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그러면 시작해 보겠습니다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슬라이드는 교재의 전체 로드맵입니다</a:t>
            </a:r>
            <a:r>
              <a:rPr lang="en-US" altLang="ko-KR" dirty="0"/>
              <a:t>. </a:t>
            </a:r>
            <a:r>
              <a:rPr lang="ko-KR" altLang="en-US" dirty="0"/>
              <a:t>지난 시간 강의 소개에서도 잠깐 봤었는데</a:t>
            </a:r>
            <a:r>
              <a:rPr lang="en-US" altLang="ko-KR" dirty="0"/>
              <a:t>, </a:t>
            </a:r>
            <a:r>
              <a:rPr lang="ko-KR" altLang="en-US" dirty="0"/>
              <a:t>다시 한번 짚고 넘어가겠습니다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교재는 크게 </a:t>
            </a:r>
            <a:r>
              <a:rPr lang="ko-KR" altLang="en-US" dirty="0" err="1"/>
              <a:t>머신러닝편과</a:t>
            </a:r>
            <a:r>
              <a:rPr lang="ko-KR" altLang="en-US" dirty="0"/>
              <a:t> </a:t>
            </a:r>
            <a:r>
              <a:rPr lang="ko-KR" altLang="en-US" dirty="0" err="1"/>
              <a:t>딥러닝편으로</a:t>
            </a:r>
            <a:r>
              <a:rPr lang="ko-KR" altLang="en-US" dirty="0"/>
              <a:t> 나뉘어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머신러닝편은</a:t>
            </a:r>
            <a:r>
              <a:rPr lang="ko-KR" altLang="en-US" dirty="0"/>
              <a:t> </a:t>
            </a:r>
            <a:r>
              <a:rPr lang="en-US" altLang="ko-KR" dirty="0"/>
              <a:t>CHAPTER 01</a:t>
            </a:r>
            <a:r>
              <a:rPr lang="ko-KR" altLang="en-US" dirty="0"/>
              <a:t>부터 </a:t>
            </a:r>
            <a:r>
              <a:rPr lang="en-US" altLang="ko-KR" dirty="0"/>
              <a:t>06</a:t>
            </a:r>
            <a:r>
              <a:rPr lang="ko-KR" altLang="en-US" dirty="0" err="1"/>
              <a:t>까지입니다</a:t>
            </a:r>
            <a:r>
              <a:rPr lang="en-US" altLang="ko-KR" dirty="0"/>
              <a:t>. </a:t>
            </a:r>
            <a:r>
              <a:rPr lang="ko-KR" altLang="en-US" dirty="0"/>
              <a:t>우리 수업에서 다루는 범위가 바로 이 부분입니다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CHAPTER 01: </a:t>
            </a:r>
            <a:r>
              <a:rPr lang="ko-KR" altLang="en-US" dirty="0"/>
              <a:t>지금 하고 있는 인공지능 개요</a:t>
            </a:r>
            <a:r>
              <a:rPr lang="en-US" altLang="ko-KR" dirty="0"/>
              <a:t>. </a:t>
            </a:r>
            <a:r>
              <a:rPr lang="ko-KR" altLang="en-US" dirty="0"/>
              <a:t>인공지능이 </a:t>
            </a:r>
            <a:r>
              <a:rPr lang="ko-KR" altLang="en-US" dirty="0" err="1"/>
              <a:t>뭔지</a:t>
            </a:r>
            <a:r>
              <a:rPr lang="ko-KR" altLang="en-US" dirty="0"/>
              <a:t> 큰 그림을 잡고</a:t>
            </a:r>
            <a:r>
              <a:rPr lang="en-US" altLang="ko-KR" dirty="0"/>
              <a:t>, </a:t>
            </a:r>
            <a:r>
              <a:rPr lang="ko-KR" altLang="en-US" dirty="0" err="1"/>
              <a:t>코랩</a:t>
            </a:r>
            <a:r>
              <a:rPr lang="ko-KR" altLang="en-US" dirty="0"/>
              <a:t> 세팅하고</a:t>
            </a:r>
            <a:r>
              <a:rPr lang="en-US" altLang="ko-KR" dirty="0"/>
              <a:t>, </a:t>
            </a:r>
            <a:r>
              <a:rPr lang="ko-KR" altLang="en-US" dirty="0"/>
              <a:t>첫 번째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프로그램을 만들어 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CHAPTER 02: </a:t>
            </a:r>
            <a:r>
              <a:rPr lang="ko-KR" altLang="en-US" dirty="0"/>
              <a:t>데이터 다루기</a:t>
            </a:r>
            <a:r>
              <a:rPr lang="en-US" altLang="ko-KR" dirty="0"/>
              <a:t>. </a:t>
            </a:r>
            <a:r>
              <a:rPr lang="ko-KR" altLang="en-US" dirty="0" err="1"/>
              <a:t>머신러닝에</a:t>
            </a:r>
            <a:r>
              <a:rPr lang="ko-KR" altLang="en-US" dirty="0"/>
              <a:t> 넣을 데이터를 어떻게 준비하는지 배웁니다</a:t>
            </a:r>
            <a:r>
              <a:rPr lang="en-US" altLang="ko-KR" dirty="0"/>
              <a:t>. </a:t>
            </a:r>
            <a:r>
              <a:rPr lang="ko-KR" altLang="en-US" dirty="0"/>
              <a:t>훈련 세트와 테스트 세트를 나누는 방법</a:t>
            </a:r>
            <a:r>
              <a:rPr lang="en-US" altLang="ko-KR" dirty="0"/>
              <a:t>,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같은 것들이요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CHAPTER 03: </a:t>
            </a:r>
            <a:r>
              <a:rPr lang="ko-KR" altLang="en-US" dirty="0"/>
              <a:t>회귀 알고리즘과 모델 규제</a:t>
            </a:r>
            <a:r>
              <a:rPr lang="en-US" altLang="ko-KR" dirty="0"/>
              <a:t>. </a:t>
            </a:r>
            <a:r>
              <a:rPr lang="ko-KR" altLang="en-US" dirty="0"/>
              <a:t>지도 학습 중에서 숫자를 예측하는 회귀를 배웁니다</a:t>
            </a:r>
            <a:r>
              <a:rPr lang="en-US" altLang="ko-KR" dirty="0"/>
              <a:t>. </a:t>
            </a:r>
            <a:r>
              <a:rPr lang="ko-KR" altLang="en-US" dirty="0"/>
              <a:t>선형 회귀</a:t>
            </a:r>
            <a:r>
              <a:rPr lang="en-US" altLang="ko-KR" dirty="0"/>
              <a:t>, </a:t>
            </a:r>
            <a:r>
              <a:rPr lang="ko-KR" altLang="en-US" dirty="0" err="1"/>
              <a:t>릿지</a:t>
            </a:r>
            <a:r>
              <a:rPr lang="en-US" altLang="ko-KR" dirty="0"/>
              <a:t>, </a:t>
            </a:r>
            <a:r>
              <a:rPr lang="ko-KR" altLang="en-US" dirty="0" err="1"/>
              <a:t>라쏘</a:t>
            </a:r>
            <a:r>
              <a:rPr lang="ko-KR" altLang="en-US" dirty="0"/>
              <a:t> 같은 게 나옵니다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CHAPTER 04: </a:t>
            </a:r>
            <a:r>
              <a:rPr lang="ko-KR" altLang="en-US" dirty="0"/>
              <a:t>다양한 분류 알고리즘</a:t>
            </a:r>
            <a:r>
              <a:rPr lang="en-US" altLang="ko-KR" dirty="0"/>
              <a:t>. </a:t>
            </a:r>
            <a:r>
              <a:rPr lang="ko-KR" altLang="en-US" dirty="0"/>
              <a:t>로지스틱 회귀와 확률적 경사 하강법을 다룹니다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CHAPTER 05: </a:t>
            </a:r>
            <a:r>
              <a:rPr lang="ko-KR" altLang="en-US" dirty="0"/>
              <a:t>트리 알고리즘</a:t>
            </a:r>
            <a:r>
              <a:rPr lang="en-US" altLang="ko-KR" dirty="0"/>
              <a:t>. </a:t>
            </a:r>
            <a:r>
              <a:rPr lang="ko-KR" altLang="en-US" dirty="0"/>
              <a:t>결정 트리</a:t>
            </a:r>
            <a:r>
              <a:rPr lang="en-US" altLang="ko-KR" dirty="0"/>
              <a:t>, </a:t>
            </a:r>
            <a:r>
              <a:rPr lang="ko-KR" altLang="en-US" dirty="0"/>
              <a:t>랜덤 </a:t>
            </a:r>
            <a:r>
              <a:rPr lang="ko-KR" altLang="en-US" dirty="0" err="1"/>
              <a:t>포레스트</a:t>
            </a:r>
            <a:r>
              <a:rPr lang="en-US" altLang="ko-KR" dirty="0"/>
              <a:t>, </a:t>
            </a:r>
            <a:r>
              <a:rPr lang="ko-KR" altLang="en-US" dirty="0" err="1"/>
              <a:t>그래디언트</a:t>
            </a:r>
            <a:r>
              <a:rPr lang="ko-KR" altLang="en-US" dirty="0"/>
              <a:t> </a:t>
            </a:r>
            <a:r>
              <a:rPr lang="ko-KR" altLang="en-US" dirty="0" err="1"/>
              <a:t>부스팅</a:t>
            </a:r>
            <a:r>
              <a:rPr lang="ko-KR" altLang="en-US" dirty="0"/>
              <a:t> 같은 앙상블 모델들을 배웁니다</a:t>
            </a:r>
            <a:r>
              <a:rPr lang="en-US" altLang="ko-KR" dirty="0"/>
              <a:t>. </a:t>
            </a:r>
            <a:r>
              <a:rPr lang="ko-KR" altLang="en-US" dirty="0"/>
              <a:t>실무에서 가장 많이 쓰이는 </a:t>
            </a:r>
            <a:r>
              <a:rPr lang="ko-KR" altLang="en-US" dirty="0" err="1"/>
              <a:t>알고리즘들이에요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CHAPTER 06: </a:t>
            </a:r>
            <a:r>
              <a:rPr lang="ko-KR" altLang="en-US" dirty="0"/>
              <a:t>비지도 학습</a:t>
            </a:r>
            <a:r>
              <a:rPr lang="en-US" altLang="ko-KR" dirty="0"/>
              <a:t>. </a:t>
            </a:r>
            <a:r>
              <a:rPr lang="ko-KR" altLang="en-US" dirty="0"/>
              <a:t>정답 없이 데이터의 패턴을 찾는 방법을 배웁니다</a:t>
            </a:r>
            <a:r>
              <a:rPr lang="en-US" altLang="ko-KR" dirty="0"/>
              <a:t>. </a:t>
            </a:r>
            <a:r>
              <a:rPr lang="ko-KR" altLang="en-US" dirty="0"/>
              <a:t>군집</a:t>
            </a:r>
            <a:r>
              <a:rPr lang="en-US" altLang="ko-KR" dirty="0"/>
              <a:t>, </a:t>
            </a:r>
            <a:r>
              <a:rPr lang="ko-KR" altLang="en-US" dirty="0"/>
              <a:t>차원 축소 같은 것들이요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오른쪽의 </a:t>
            </a:r>
            <a:r>
              <a:rPr lang="ko-KR" altLang="en-US" dirty="0" err="1"/>
              <a:t>딥러닝편</a:t>
            </a:r>
            <a:r>
              <a:rPr lang="ko-KR" altLang="en-US" dirty="0"/>
              <a:t> </a:t>
            </a:r>
            <a:r>
              <a:rPr lang="en-US" altLang="ko-KR" dirty="0"/>
              <a:t>CHAPTER 07~10</a:t>
            </a:r>
            <a:r>
              <a:rPr lang="ko-KR" altLang="en-US" dirty="0"/>
              <a:t>은 이 수업에서는 다루지 않습니다</a:t>
            </a:r>
            <a:r>
              <a:rPr lang="en-US" altLang="ko-KR" dirty="0"/>
              <a:t>. </a:t>
            </a:r>
            <a:r>
              <a:rPr lang="ko-KR" altLang="en-US" dirty="0" err="1"/>
              <a:t>딥러닝을</a:t>
            </a:r>
            <a:r>
              <a:rPr lang="ko-KR" altLang="en-US" dirty="0"/>
              <a:t> 더 공부하고 싶은 분은 교재를 활용해서 </a:t>
            </a:r>
            <a:r>
              <a:rPr lang="ko-KR" altLang="en-US" dirty="0" err="1"/>
              <a:t>독학하셔도</a:t>
            </a:r>
            <a:r>
              <a:rPr lang="ko-KR" altLang="en-US" dirty="0"/>
              <a:t> 좋고</a:t>
            </a:r>
            <a:r>
              <a:rPr lang="en-US" altLang="ko-KR" dirty="0"/>
              <a:t>, </a:t>
            </a:r>
            <a:r>
              <a:rPr lang="ko-KR" altLang="en-US" dirty="0"/>
              <a:t>상위 과목을 수강하시면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로드맵에서 중요한 건</a:t>
            </a:r>
            <a:r>
              <a:rPr lang="en-US" altLang="ko-KR" dirty="0"/>
              <a:t>, </a:t>
            </a:r>
            <a:r>
              <a:rPr lang="ko-KR" altLang="en-US" dirty="0"/>
              <a:t>이 순서대로 쌓아 올라간다는 점입니다</a:t>
            </a:r>
            <a:r>
              <a:rPr lang="en-US" altLang="ko-KR" dirty="0"/>
              <a:t>. 01</a:t>
            </a:r>
            <a:r>
              <a:rPr lang="ko-KR" altLang="en-US" dirty="0"/>
              <a:t>장을 제대로 이해해야 </a:t>
            </a:r>
            <a:r>
              <a:rPr lang="en-US" altLang="ko-KR" dirty="0"/>
              <a:t>02</a:t>
            </a:r>
            <a:r>
              <a:rPr lang="ko-KR" altLang="en-US" dirty="0"/>
              <a:t>장이 쉽고</a:t>
            </a:r>
            <a:r>
              <a:rPr lang="en-US" altLang="ko-KR" dirty="0"/>
              <a:t>, 02</a:t>
            </a:r>
            <a:r>
              <a:rPr lang="ko-KR" altLang="en-US" dirty="0"/>
              <a:t>장이 되어야 </a:t>
            </a:r>
            <a:r>
              <a:rPr lang="en-US" altLang="ko-KR" dirty="0"/>
              <a:t>03</a:t>
            </a:r>
            <a:r>
              <a:rPr lang="ko-KR" altLang="en-US" dirty="0"/>
              <a:t>장이 가능합니다</a:t>
            </a:r>
            <a:r>
              <a:rPr lang="en-US" altLang="ko-KR" dirty="0"/>
              <a:t>. </a:t>
            </a:r>
            <a:r>
              <a:rPr lang="ko-KR" altLang="en-US" dirty="0"/>
              <a:t>그러니까 초반에 기초를 잘 </a:t>
            </a:r>
            <a:r>
              <a:rPr lang="ko-KR" altLang="en-US" dirty="0" err="1"/>
              <a:t>잡아두는</a:t>
            </a:r>
            <a:r>
              <a:rPr lang="ko-KR" altLang="en-US" dirty="0"/>
              <a:t> 게 핵심입니다</a:t>
            </a:r>
            <a:r>
              <a:rPr lang="en-US" altLang="ko-KR" dirty="0"/>
              <a:t>. </a:t>
            </a:r>
            <a:r>
              <a:rPr lang="ko-KR" altLang="en-US" dirty="0"/>
              <a:t>오늘 배우는 내용이 그 기초 중의 기초예요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CHAPTER 01</a:t>
            </a:r>
            <a:r>
              <a:rPr lang="ko-KR" altLang="en-US" dirty="0"/>
              <a:t>은 세 개의 </a:t>
            </a:r>
            <a:r>
              <a:rPr lang="ko-KR" altLang="en-US" dirty="0" err="1"/>
              <a:t>섹션으로</a:t>
            </a:r>
            <a:r>
              <a:rPr lang="ko-KR" altLang="en-US" dirty="0"/>
              <a:t> 구성됩니다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SECTION 1-1: </a:t>
            </a:r>
            <a:r>
              <a:rPr lang="ko-KR" altLang="en-US" dirty="0"/>
              <a:t>인공지능과 </a:t>
            </a:r>
            <a:r>
              <a:rPr lang="ko-KR" altLang="en-US" dirty="0" err="1"/>
              <a:t>머신러닝</a:t>
            </a:r>
            <a:r>
              <a:rPr lang="en-US" altLang="ko-KR" dirty="0"/>
              <a:t>, </a:t>
            </a:r>
            <a:r>
              <a:rPr lang="ko-KR" altLang="en-US" dirty="0" err="1"/>
              <a:t>딥러닝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인공지능이 </a:t>
            </a:r>
            <a:r>
              <a:rPr lang="ko-KR" altLang="en-US" dirty="0" err="1"/>
              <a:t>뭔지</a:t>
            </a:r>
            <a:r>
              <a:rPr lang="en-US" altLang="ko-KR" dirty="0"/>
              <a:t>, </a:t>
            </a:r>
            <a:r>
              <a:rPr lang="ko-KR" altLang="en-US" dirty="0" err="1"/>
              <a:t>머신러닝이</a:t>
            </a:r>
            <a:r>
              <a:rPr lang="ko-KR" altLang="en-US" dirty="0"/>
              <a:t> </a:t>
            </a:r>
            <a:r>
              <a:rPr lang="ko-KR" altLang="en-US" dirty="0" err="1"/>
              <a:t>뭔지</a:t>
            </a:r>
            <a:r>
              <a:rPr lang="en-US" altLang="ko-KR" dirty="0"/>
              <a:t>, </a:t>
            </a:r>
            <a:r>
              <a:rPr lang="ko-KR" altLang="en-US" dirty="0" err="1"/>
              <a:t>딥러닝이</a:t>
            </a:r>
            <a:r>
              <a:rPr lang="ko-KR" altLang="en-US" dirty="0"/>
              <a:t> </a:t>
            </a:r>
            <a:r>
              <a:rPr lang="ko-KR" altLang="en-US" dirty="0" err="1"/>
              <a:t>뭔지</a:t>
            </a:r>
            <a:r>
              <a:rPr lang="en-US" altLang="ko-KR" dirty="0"/>
              <a:t>. </a:t>
            </a:r>
            <a:r>
              <a:rPr lang="ko-KR" altLang="en-US" dirty="0"/>
              <a:t>이 세 용어가 어떤 관계인지 정리합니다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요즘은 </a:t>
            </a:r>
            <a:r>
              <a:rPr lang="en-US" altLang="ko-KR" dirty="0"/>
              <a:t>"AI"</a:t>
            </a:r>
            <a:r>
              <a:rPr lang="ko-KR" altLang="en-US" dirty="0"/>
              <a:t>라는 말을 워낙 많이 쓰니까</a:t>
            </a:r>
            <a:r>
              <a:rPr lang="en-US" altLang="ko-KR" dirty="0"/>
              <a:t>, </a:t>
            </a:r>
            <a:r>
              <a:rPr lang="ko-KR" altLang="en-US" dirty="0"/>
              <a:t>정확한 개념을 </a:t>
            </a:r>
            <a:r>
              <a:rPr lang="ko-KR" altLang="en-US" dirty="0" err="1"/>
              <a:t>잡아두는</a:t>
            </a:r>
            <a:r>
              <a:rPr lang="ko-KR" altLang="en-US" dirty="0"/>
              <a:t> 게 중요합니다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SECTION 1-2: </a:t>
            </a:r>
            <a:r>
              <a:rPr lang="ko-KR" altLang="en-US" dirty="0" err="1"/>
              <a:t>코랩과</a:t>
            </a:r>
            <a:r>
              <a:rPr lang="ko-KR" altLang="en-US" dirty="0"/>
              <a:t> 주피터 노트북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실습 환경을 세팅합니다</a:t>
            </a:r>
            <a:r>
              <a:rPr lang="en-US" altLang="ko-KR" dirty="0"/>
              <a:t>. </a:t>
            </a:r>
            <a:r>
              <a:rPr lang="ko-KR" altLang="en-US" dirty="0"/>
              <a:t>구글 </a:t>
            </a:r>
            <a:r>
              <a:rPr lang="ko-KR" altLang="en-US" dirty="0" err="1"/>
              <a:t>코랩이라는</a:t>
            </a:r>
            <a:r>
              <a:rPr lang="ko-KR" altLang="en-US" dirty="0"/>
              <a:t> 서비스를 사용할 건데</a:t>
            </a:r>
            <a:r>
              <a:rPr lang="en-US" altLang="ko-KR" dirty="0"/>
              <a:t>, </a:t>
            </a:r>
            <a:r>
              <a:rPr lang="ko-KR" altLang="en-US" dirty="0"/>
              <a:t>웹 브라우저만 있으면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별도의 설치 없이 바로 </a:t>
            </a:r>
            <a:r>
              <a:rPr lang="ko-KR" altLang="en-US" dirty="0" err="1"/>
              <a:t>파이썬</a:t>
            </a:r>
            <a:r>
              <a:rPr lang="ko-KR" altLang="en-US" dirty="0"/>
              <a:t> 코드를 실행할 수 있어서 굉장히 편리합니다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SECTION 1-3: </a:t>
            </a:r>
            <a:r>
              <a:rPr lang="ko-KR" altLang="en-US" dirty="0"/>
              <a:t>마켓과 </a:t>
            </a:r>
            <a:r>
              <a:rPr lang="ko-KR" altLang="en-US" dirty="0" err="1"/>
              <a:t>머신러닝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드디어 첫 번째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프로그램을 만들어 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생선 데이터를 가지고 도미와 빙어를 분류하는 </a:t>
            </a:r>
            <a:r>
              <a:rPr lang="en-US" altLang="ko-KR" dirty="0"/>
              <a:t>k-</a:t>
            </a:r>
            <a:r>
              <a:rPr lang="ko-KR" altLang="en-US" dirty="0" err="1"/>
              <a:t>최근접</a:t>
            </a:r>
            <a:r>
              <a:rPr lang="ko-KR" altLang="en-US" dirty="0"/>
              <a:t> 이웃 알고리즘을 직접 돌려봅니다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오늘 수업에서 </a:t>
            </a:r>
            <a:r>
              <a:rPr lang="en-US" altLang="ko-KR" dirty="0"/>
              <a:t>Section 1-1</a:t>
            </a:r>
            <a:r>
              <a:rPr lang="ko-KR" altLang="en-US" dirty="0"/>
              <a:t>과 </a:t>
            </a:r>
            <a:r>
              <a:rPr lang="en-US" altLang="ko-KR" dirty="0"/>
              <a:t>1-2</a:t>
            </a:r>
            <a:r>
              <a:rPr lang="ko-KR" altLang="en-US" dirty="0"/>
              <a:t>까지 다루고</a:t>
            </a:r>
            <a:r>
              <a:rPr lang="en-US" altLang="ko-KR" dirty="0"/>
              <a:t>, Section 1-3</a:t>
            </a:r>
            <a:r>
              <a:rPr lang="ko-KR" altLang="en-US" dirty="0"/>
              <a:t>은 다음 시간에 진행합니다</a:t>
            </a:r>
            <a:r>
              <a:rPr lang="en-US" altLang="ko-KR" dirty="0"/>
              <a:t>. </a:t>
            </a:r>
            <a:r>
              <a:rPr lang="ko-KR" altLang="en-US" dirty="0"/>
              <a:t>코드가 많이 들어가는 </a:t>
            </a:r>
            <a:r>
              <a:rPr lang="en-US" altLang="ko-KR" dirty="0"/>
              <a:t>Section 1-3</a:t>
            </a:r>
            <a:r>
              <a:rPr lang="ko-KR" altLang="en-US" dirty="0"/>
              <a:t>은 실습 시간과 병행해서 충분히 시간을 가지고 하겠습니다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213" name="Google Shape;2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이 챕터의 학습목표를 보겠습니다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슬라이드 중앙에 재미있는 질문이 하나 있죠</a:t>
            </a:r>
            <a:r>
              <a:rPr lang="en-US" altLang="ko-KR" dirty="0"/>
              <a:t>? "</a:t>
            </a:r>
            <a:r>
              <a:rPr lang="ko-KR" altLang="en-US" dirty="0"/>
              <a:t>이 생선의 이름은 무엇인가요</a:t>
            </a:r>
            <a:r>
              <a:rPr lang="en-US" altLang="ko-KR" dirty="0"/>
              <a:t>?"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이게 왜 여기 </a:t>
            </a:r>
            <a:r>
              <a:rPr lang="ko-KR" altLang="en-US" dirty="0" err="1"/>
              <a:t>있냐면</a:t>
            </a:r>
            <a:r>
              <a:rPr lang="en-US" altLang="ko-KR" dirty="0"/>
              <a:t>, </a:t>
            </a:r>
            <a:r>
              <a:rPr lang="ko-KR" altLang="en-US" dirty="0"/>
              <a:t>이번 챕터에서 만들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프로그램이 바로 이 질문에 답하는 프로그램이기 때문입니다</a:t>
            </a:r>
            <a:r>
              <a:rPr lang="en-US" altLang="ko-KR" dirty="0"/>
              <a:t>. </a:t>
            </a:r>
            <a:r>
              <a:rPr lang="ko-KR" altLang="en-US" dirty="0"/>
              <a:t>물류 센터 직원이 생선 이름을 모른다</a:t>
            </a:r>
            <a:r>
              <a:rPr lang="en-US" altLang="ko-KR" dirty="0"/>
              <a:t>, </a:t>
            </a:r>
            <a:r>
              <a:rPr lang="ko-KR" altLang="en-US" dirty="0"/>
              <a:t>그래서 </a:t>
            </a:r>
            <a:r>
              <a:rPr lang="ko-KR" altLang="en-US" dirty="0" err="1"/>
              <a:t>머신러닝한테</a:t>
            </a:r>
            <a:r>
              <a:rPr lang="ko-KR" altLang="en-US" dirty="0"/>
              <a:t> 물어보자</a:t>
            </a:r>
            <a:r>
              <a:rPr lang="en-US" altLang="ko-KR" dirty="0"/>
              <a:t>, </a:t>
            </a:r>
            <a:r>
              <a:rPr lang="ko-KR" altLang="en-US" dirty="0"/>
              <a:t>이런 시나리오입니다</a:t>
            </a:r>
            <a:r>
              <a:rPr lang="en-US" altLang="ko-KR" dirty="0"/>
              <a:t>. </a:t>
            </a:r>
            <a:r>
              <a:rPr lang="ko-KR" altLang="en-US" dirty="0"/>
              <a:t>나중에 자세히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학습목표를 하나씩 보겠습니다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첫 번째</a:t>
            </a:r>
            <a:r>
              <a:rPr lang="en-US" altLang="ko-KR" dirty="0"/>
              <a:t>, </a:t>
            </a:r>
            <a:r>
              <a:rPr lang="ko-KR" altLang="en-US" dirty="0"/>
              <a:t>인공지능</a:t>
            </a:r>
            <a:r>
              <a:rPr lang="en-US" altLang="ko-KR" dirty="0"/>
              <a:t>, </a:t>
            </a:r>
            <a:r>
              <a:rPr lang="ko-KR" altLang="en-US" dirty="0" err="1"/>
              <a:t>머신러닝</a:t>
            </a:r>
            <a:r>
              <a:rPr lang="en-US" altLang="ko-KR" dirty="0"/>
              <a:t>, </a:t>
            </a:r>
            <a:r>
              <a:rPr lang="ko-KR" altLang="en-US" dirty="0" err="1"/>
              <a:t>딥러닝의</a:t>
            </a:r>
            <a:r>
              <a:rPr lang="ko-KR" altLang="en-US" dirty="0"/>
              <a:t> 차이점을 이해합니다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세 용어를 혼용하는 경우가 많은데요</a:t>
            </a:r>
            <a:r>
              <a:rPr lang="en-US" altLang="ko-KR" dirty="0"/>
              <a:t>, </a:t>
            </a:r>
            <a:r>
              <a:rPr lang="ko-KR" altLang="en-US" dirty="0"/>
              <a:t>사실 이 세 가지는 포함 관계입니다</a:t>
            </a:r>
            <a:r>
              <a:rPr lang="en-US" altLang="ko-KR" dirty="0"/>
              <a:t>. </a:t>
            </a:r>
            <a:r>
              <a:rPr lang="ko-KR" altLang="en-US" dirty="0"/>
              <a:t>인공지능이 가장 큰 개념이고</a:t>
            </a:r>
            <a:r>
              <a:rPr lang="en-US" altLang="ko-KR" dirty="0"/>
              <a:t>, </a:t>
            </a:r>
            <a:r>
              <a:rPr lang="ko-KR" altLang="en-US" dirty="0"/>
              <a:t>그 안에 </a:t>
            </a:r>
            <a:r>
              <a:rPr lang="ko-KR" altLang="en-US" dirty="0" err="1"/>
              <a:t>머신러닝이</a:t>
            </a:r>
            <a:r>
              <a:rPr lang="ko-KR" altLang="en-US" dirty="0"/>
              <a:t> 있고</a:t>
            </a:r>
            <a:r>
              <a:rPr lang="en-US" altLang="ko-KR" dirty="0"/>
              <a:t>, </a:t>
            </a:r>
            <a:r>
              <a:rPr lang="ko-KR" altLang="en-US" dirty="0" err="1"/>
              <a:t>머신러닝</a:t>
            </a:r>
            <a:r>
              <a:rPr lang="ko-KR" altLang="en-US" dirty="0"/>
              <a:t> 안에 </a:t>
            </a:r>
            <a:r>
              <a:rPr lang="ko-KR" altLang="en-US" dirty="0" err="1"/>
              <a:t>딥러닝이</a:t>
            </a:r>
            <a:r>
              <a:rPr lang="ko-KR" altLang="en-US" dirty="0"/>
              <a:t> 있습니다</a:t>
            </a:r>
            <a:r>
              <a:rPr lang="en-US" altLang="ko-KR" dirty="0"/>
              <a:t>. </a:t>
            </a:r>
            <a:r>
              <a:rPr lang="ko-KR" altLang="en-US" dirty="0"/>
              <a:t>이 관계를 정확히 알아야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두 번째</a:t>
            </a:r>
            <a:r>
              <a:rPr lang="en-US" altLang="ko-KR" dirty="0"/>
              <a:t>, </a:t>
            </a:r>
            <a:r>
              <a:rPr lang="ko-KR" altLang="en-US" dirty="0"/>
              <a:t>구글 </a:t>
            </a:r>
            <a:r>
              <a:rPr lang="ko-KR" altLang="en-US" dirty="0" err="1"/>
              <a:t>코랩</a:t>
            </a:r>
            <a:r>
              <a:rPr lang="ko-KR" altLang="en-US" dirty="0"/>
              <a:t> 사용법을 배웁니다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앞으로 한 학기 내내 쓸 도구입니다</a:t>
            </a:r>
            <a:r>
              <a:rPr lang="en-US" altLang="ko-KR" dirty="0"/>
              <a:t>. </a:t>
            </a:r>
            <a:r>
              <a:rPr lang="ko-KR" altLang="en-US" dirty="0" err="1"/>
              <a:t>코랩은</a:t>
            </a:r>
            <a:r>
              <a:rPr lang="ko-KR" altLang="en-US" dirty="0"/>
              <a:t> 구글이 무료로 제공하는 클라우드 기반 </a:t>
            </a:r>
            <a:r>
              <a:rPr lang="ko-KR" altLang="en-US" dirty="0" err="1"/>
              <a:t>파이썬</a:t>
            </a:r>
            <a:r>
              <a:rPr lang="ko-KR" altLang="en-US" dirty="0"/>
              <a:t> 실행 </a:t>
            </a:r>
            <a:r>
              <a:rPr lang="ko-KR" altLang="en-US" dirty="0" err="1"/>
              <a:t>환경이에요</a:t>
            </a:r>
            <a:r>
              <a:rPr lang="en-US" altLang="ko-KR" dirty="0"/>
              <a:t>. </a:t>
            </a:r>
            <a:r>
              <a:rPr lang="ko-KR" altLang="en-US" dirty="0"/>
              <a:t>여러분 컴퓨터에 </a:t>
            </a:r>
            <a:r>
              <a:rPr lang="ko-KR" altLang="en-US" dirty="0" err="1"/>
              <a:t>파이썬을</a:t>
            </a:r>
            <a:r>
              <a:rPr lang="ko-KR" altLang="en-US" dirty="0"/>
              <a:t> 설치할 필요가 없습니다</a:t>
            </a:r>
            <a:r>
              <a:rPr lang="en-US" altLang="ko-KR" dirty="0"/>
              <a:t>. </a:t>
            </a:r>
            <a:r>
              <a:rPr lang="ko-KR" altLang="en-US" dirty="0"/>
              <a:t>웹 브라우저에서 바로 코드를 짜고 실행할 수 있어요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혹시 </a:t>
            </a:r>
            <a:r>
              <a:rPr lang="ko-KR" altLang="en-US" dirty="0" err="1"/>
              <a:t>파이썬이</a:t>
            </a:r>
            <a:r>
              <a:rPr lang="ko-KR" altLang="en-US" dirty="0"/>
              <a:t> </a:t>
            </a:r>
            <a:r>
              <a:rPr lang="ko-KR" altLang="en-US" dirty="0" err="1"/>
              <a:t>뭔지</a:t>
            </a:r>
            <a:r>
              <a:rPr lang="ko-KR" altLang="en-US" dirty="0"/>
              <a:t> 모르는 분이 계시나요</a:t>
            </a:r>
            <a:r>
              <a:rPr lang="en-US" altLang="ko-KR" dirty="0"/>
              <a:t>? </a:t>
            </a:r>
            <a:r>
              <a:rPr lang="ko-KR" altLang="en-US" dirty="0"/>
              <a:t>이 수업의 선수 과목이 </a:t>
            </a:r>
            <a:r>
              <a:rPr lang="ko-KR" altLang="en-US" dirty="0" err="1"/>
              <a:t>파이썬</a:t>
            </a:r>
            <a:r>
              <a:rPr lang="ko-KR" altLang="en-US" dirty="0"/>
              <a:t> 프로그래밍 기초인데</a:t>
            </a:r>
            <a:r>
              <a:rPr lang="en-US" altLang="ko-KR" dirty="0"/>
              <a:t>, </a:t>
            </a:r>
            <a:r>
              <a:rPr lang="ko-KR" altLang="en-US" dirty="0"/>
              <a:t>변수</a:t>
            </a:r>
            <a:r>
              <a:rPr lang="en-US" altLang="ko-KR" dirty="0"/>
              <a:t>, </a:t>
            </a:r>
            <a:r>
              <a:rPr lang="ko-KR" altLang="en-US" dirty="0" err="1"/>
              <a:t>조건문</a:t>
            </a:r>
            <a:r>
              <a:rPr lang="en-US" altLang="ko-KR" dirty="0"/>
              <a:t>, </a:t>
            </a:r>
            <a:r>
              <a:rPr lang="ko-KR" altLang="en-US" dirty="0" err="1"/>
              <a:t>반복문</a:t>
            </a:r>
            <a:r>
              <a:rPr lang="en-US" altLang="ko-KR" dirty="0"/>
              <a:t>, </a:t>
            </a:r>
            <a:r>
              <a:rPr lang="ko-KR" altLang="en-US" dirty="0"/>
              <a:t>함수 정도는 알고 있어야 합니다</a:t>
            </a:r>
            <a:r>
              <a:rPr lang="en-US" altLang="ko-KR" dirty="0"/>
              <a:t>. </a:t>
            </a:r>
            <a:r>
              <a:rPr lang="ko-KR" altLang="en-US" dirty="0"/>
              <a:t>만약 </a:t>
            </a:r>
            <a:r>
              <a:rPr lang="ko-KR" altLang="en-US" dirty="0" err="1"/>
              <a:t>파이썬</a:t>
            </a:r>
            <a:r>
              <a:rPr lang="ko-KR" altLang="en-US" dirty="0"/>
              <a:t> 기초가 부족하다면</a:t>
            </a:r>
            <a:r>
              <a:rPr lang="en-US" altLang="ko-KR" dirty="0"/>
              <a:t>, </a:t>
            </a:r>
            <a:r>
              <a:rPr lang="ko-KR" altLang="en-US" dirty="0"/>
              <a:t>교재 부록이나 온라인 자료를 통해서 빠르게 보충하시길 권합니다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세 번째</a:t>
            </a:r>
            <a:r>
              <a:rPr lang="en-US" altLang="ko-KR" dirty="0"/>
              <a:t>, </a:t>
            </a:r>
            <a:r>
              <a:rPr lang="ko-KR" altLang="en-US" dirty="0"/>
              <a:t>첫 번째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프로그램을 만들고 </a:t>
            </a:r>
            <a:r>
              <a:rPr lang="ko-KR" altLang="en-US" dirty="0" err="1"/>
              <a:t>머신러닝의</a:t>
            </a:r>
            <a:r>
              <a:rPr lang="ko-KR" altLang="en-US" dirty="0"/>
              <a:t> 기본 작동 원리를 이해합니다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이론만 하면 </a:t>
            </a:r>
            <a:r>
              <a:rPr lang="ko-KR" altLang="en-US" dirty="0" err="1"/>
              <a:t>지루하잖아요</a:t>
            </a:r>
            <a:r>
              <a:rPr lang="en-US" altLang="ko-KR" dirty="0"/>
              <a:t>. </a:t>
            </a:r>
            <a:r>
              <a:rPr lang="ko-KR" altLang="en-US" dirty="0"/>
              <a:t>이번 챕터 끝에서 실제로 돌아가는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프로그램을 만들어 봅니다</a:t>
            </a:r>
            <a:r>
              <a:rPr lang="en-US" altLang="ko-KR" dirty="0"/>
              <a:t>. </a:t>
            </a:r>
            <a:r>
              <a:rPr lang="ko-KR" altLang="en-US" dirty="0"/>
              <a:t>코드가 총 </a:t>
            </a:r>
            <a:r>
              <a:rPr lang="en-US" altLang="ko-KR" dirty="0"/>
              <a:t>10</a:t>
            </a:r>
            <a:r>
              <a:rPr lang="ko-KR" altLang="en-US" dirty="0"/>
              <a:t>줄도 안 됩니다</a:t>
            </a:r>
            <a:r>
              <a:rPr lang="en-US" altLang="ko-KR" dirty="0"/>
              <a:t>. </a:t>
            </a:r>
            <a:r>
              <a:rPr lang="ko-KR" altLang="en-US" dirty="0"/>
              <a:t>그런데 이 </a:t>
            </a:r>
            <a:r>
              <a:rPr lang="en-US" altLang="ko-KR" dirty="0"/>
              <a:t>10</a:t>
            </a:r>
            <a:r>
              <a:rPr lang="ko-KR" altLang="en-US" dirty="0"/>
              <a:t>줄 안에 </a:t>
            </a:r>
            <a:r>
              <a:rPr lang="ko-KR" altLang="en-US" dirty="0" err="1"/>
              <a:t>머신러닝의</a:t>
            </a:r>
            <a:r>
              <a:rPr lang="ko-KR" altLang="en-US" dirty="0"/>
              <a:t> 핵심 원리가 다 들어 있어요</a:t>
            </a:r>
            <a:r>
              <a:rPr lang="en-US" altLang="ko-KR" dirty="0"/>
              <a:t>. </a:t>
            </a:r>
            <a:r>
              <a:rPr lang="ko-KR" altLang="en-US" dirty="0"/>
              <a:t>데이터를 준비하고</a:t>
            </a:r>
            <a:r>
              <a:rPr lang="en-US" altLang="ko-KR" dirty="0"/>
              <a:t>, </a:t>
            </a:r>
            <a:r>
              <a:rPr lang="ko-KR" altLang="en-US" dirty="0"/>
              <a:t>모델을 훈련하고</a:t>
            </a:r>
            <a:r>
              <a:rPr lang="en-US" altLang="ko-KR" dirty="0"/>
              <a:t>, </a:t>
            </a:r>
            <a:r>
              <a:rPr lang="ko-KR" altLang="en-US" dirty="0"/>
              <a:t>예측하고</a:t>
            </a:r>
            <a:r>
              <a:rPr lang="en-US" altLang="ko-KR" dirty="0"/>
              <a:t>, </a:t>
            </a:r>
            <a:r>
              <a:rPr lang="ko-KR" altLang="en-US" dirty="0"/>
              <a:t>평가하는 과정</a:t>
            </a:r>
            <a:r>
              <a:rPr lang="en-US" altLang="ko-KR" dirty="0"/>
              <a:t>, </a:t>
            </a:r>
            <a:r>
              <a:rPr lang="ko-KR" altLang="en-US" dirty="0"/>
              <a:t>이 네 단계를 직접 체험하게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여러분</a:t>
            </a:r>
            <a:r>
              <a:rPr lang="en-US" altLang="ko-KR" dirty="0"/>
              <a:t>, </a:t>
            </a:r>
            <a:r>
              <a:rPr lang="ko-KR" altLang="en-US" dirty="0"/>
              <a:t>이번 챕터가 끝나면 </a:t>
            </a:r>
            <a:r>
              <a:rPr lang="en-US" altLang="ko-KR" dirty="0"/>
              <a:t>"</a:t>
            </a:r>
            <a:r>
              <a:rPr lang="ko-KR" altLang="en-US" dirty="0"/>
              <a:t>나 </a:t>
            </a:r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ko-KR" altLang="en-US" dirty="0" err="1"/>
              <a:t>해봤어</a:t>
            </a:r>
            <a:r>
              <a:rPr lang="en-US" altLang="ko-KR" dirty="0"/>
              <a:t>"</a:t>
            </a:r>
            <a:r>
              <a:rPr lang="ko-KR" altLang="en-US" dirty="0"/>
              <a:t>라고 말할 수 있게 됩니다</a:t>
            </a:r>
            <a:r>
              <a:rPr lang="en-US" altLang="ko-KR" dirty="0"/>
              <a:t>. </a:t>
            </a:r>
            <a:r>
              <a:rPr lang="ko-KR" altLang="en-US" dirty="0"/>
              <a:t>기대되시죠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223" name="Google Shape;2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타임라인을 같이 보겠습니다</a:t>
            </a:r>
            <a:r>
              <a:rPr lang="en-US" altLang="ko-KR" dirty="0"/>
              <a:t>. </a:t>
            </a:r>
            <a:r>
              <a:rPr lang="ko-KR" altLang="en-US" dirty="0"/>
              <a:t>굉장히 중요한 사건들이 정리되어 있어요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1943</a:t>
            </a:r>
            <a:r>
              <a:rPr lang="ko-KR" altLang="en-US" dirty="0"/>
              <a:t>년 </a:t>
            </a:r>
            <a:r>
              <a:rPr lang="en-US" altLang="ko-KR" dirty="0"/>
              <a:t>— MCP </a:t>
            </a:r>
            <a:r>
              <a:rPr lang="ko-KR" altLang="en-US" dirty="0"/>
              <a:t>뉴런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인공지능의 역사를 거슬러 올라가면</a:t>
            </a:r>
            <a:r>
              <a:rPr lang="en-US" altLang="ko-KR" dirty="0"/>
              <a:t>, 1943</a:t>
            </a:r>
            <a:r>
              <a:rPr lang="ko-KR" altLang="en-US" dirty="0"/>
              <a:t>년에 월터 </a:t>
            </a:r>
            <a:r>
              <a:rPr lang="ko-KR" altLang="en-US" dirty="0" err="1"/>
              <a:t>피츠와</a:t>
            </a:r>
            <a:r>
              <a:rPr lang="ko-KR" altLang="en-US" dirty="0"/>
              <a:t> </a:t>
            </a:r>
            <a:r>
              <a:rPr lang="ko-KR" altLang="en-US" dirty="0" err="1"/>
              <a:t>워런</a:t>
            </a:r>
            <a:r>
              <a:rPr lang="ko-KR" altLang="en-US" dirty="0"/>
              <a:t> 매컬러가 </a:t>
            </a:r>
            <a:r>
              <a:rPr lang="en-US" altLang="ko-KR" dirty="0"/>
              <a:t>MCP </a:t>
            </a:r>
            <a:r>
              <a:rPr lang="ko-KR" altLang="en-US" dirty="0"/>
              <a:t>뉴런 모델을 제안합니다</a:t>
            </a:r>
            <a:r>
              <a:rPr lang="en-US" altLang="ko-KR" dirty="0"/>
              <a:t>. </a:t>
            </a:r>
            <a:r>
              <a:rPr lang="ko-KR" altLang="en-US" dirty="0"/>
              <a:t>이게 </a:t>
            </a:r>
            <a:r>
              <a:rPr lang="ko-KR" altLang="en-US" dirty="0" err="1"/>
              <a:t>뭐냐면</a:t>
            </a:r>
            <a:r>
              <a:rPr lang="en-US" altLang="ko-KR" dirty="0"/>
              <a:t>, </a:t>
            </a:r>
            <a:r>
              <a:rPr lang="ko-KR" altLang="en-US" dirty="0"/>
              <a:t>사람의 뇌에 있는 뉴런을 수학적으로 모델링한 겁니다</a:t>
            </a:r>
            <a:r>
              <a:rPr lang="en-US" altLang="ko-KR" dirty="0"/>
              <a:t>. </a:t>
            </a:r>
            <a:r>
              <a:rPr lang="ko-KR" altLang="en-US" dirty="0"/>
              <a:t>뉴런이 입력 신호를 받아서 일정 </a:t>
            </a:r>
            <a:r>
              <a:rPr lang="ko-KR" altLang="en-US" dirty="0" err="1"/>
              <a:t>임계값을</a:t>
            </a:r>
            <a:r>
              <a:rPr lang="ko-KR" altLang="en-US" dirty="0"/>
              <a:t> 넘으면 출력을 내보내는 것처럼</a:t>
            </a:r>
            <a:r>
              <a:rPr lang="en-US" altLang="ko-KR" dirty="0"/>
              <a:t>, </a:t>
            </a:r>
            <a:r>
              <a:rPr lang="ko-KR" altLang="en-US" dirty="0"/>
              <a:t>수학적 함수로 이걸 표현한 거예요</a:t>
            </a:r>
            <a:r>
              <a:rPr lang="en-US" altLang="ko-KR" dirty="0"/>
              <a:t>. </a:t>
            </a:r>
            <a:r>
              <a:rPr lang="ko-KR" altLang="en-US" dirty="0"/>
              <a:t>이게 신경망의 출발점입니다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1950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ko-KR" altLang="en-US" dirty="0"/>
              <a:t>튜링 테스트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앨런 튜링이라는 분을 아시나요</a:t>
            </a:r>
            <a:r>
              <a:rPr lang="en-US" altLang="ko-KR" dirty="0"/>
              <a:t>? </a:t>
            </a:r>
            <a:r>
              <a:rPr lang="ko-KR" altLang="en-US" dirty="0"/>
              <a:t>영화 </a:t>
            </a:r>
            <a:r>
              <a:rPr lang="en-US" altLang="ko-KR" dirty="0"/>
              <a:t>"</a:t>
            </a:r>
            <a:r>
              <a:rPr lang="ko-KR" altLang="en-US" dirty="0"/>
              <a:t>이미테이션 게임</a:t>
            </a:r>
            <a:r>
              <a:rPr lang="en-US" altLang="ko-KR" dirty="0"/>
              <a:t>"</a:t>
            </a:r>
            <a:r>
              <a:rPr lang="ko-KR" altLang="en-US" dirty="0"/>
              <a:t>에도 나오는 그분입니다</a:t>
            </a:r>
            <a:r>
              <a:rPr lang="en-US" altLang="ko-KR" dirty="0"/>
              <a:t>. 2</a:t>
            </a:r>
            <a:r>
              <a:rPr lang="ko-KR" altLang="en-US" dirty="0"/>
              <a:t>차 세계대전 때 </a:t>
            </a:r>
            <a:r>
              <a:rPr lang="ko-KR" altLang="en-US" dirty="0" err="1"/>
              <a:t>에니그마</a:t>
            </a:r>
            <a:r>
              <a:rPr lang="ko-KR" altLang="en-US" dirty="0"/>
              <a:t> 암호를 해독한 것으로 유명하죠</a:t>
            </a:r>
            <a:r>
              <a:rPr lang="en-US" altLang="ko-KR" dirty="0"/>
              <a:t>. </a:t>
            </a:r>
            <a:r>
              <a:rPr lang="ko-KR" altLang="en-US" dirty="0"/>
              <a:t>이 분이 </a:t>
            </a:r>
            <a:r>
              <a:rPr lang="en-US" altLang="ko-KR" dirty="0"/>
              <a:t>1950</a:t>
            </a:r>
            <a:r>
              <a:rPr lang="ko-KR" altLang="en-US" dirty="0"/>
              <a:t>년에 </a:t>
            </a:r>
            <a:r>
              <a:rPr lang="en-US" altLang="ko-KR" dirty="0"/>
              <a:t>"</a:t>
            </a:r>
            <a:r>
              <a:rPr lang="ko-KR" altLang="en-US" dirty="0"/>
              <a:t>기계가 생각할 수 있는가</a:t>
            </a:r>
            <a:r>
              <a:rPr lang="en-US" altLang="ko-KR" dirty="0"/>
              <a:t>?"</a:t>
            </a:r>
            <a:r>
              <a:rPr lang="ko-KR" altLang="en-US" dirty="0"/>
              <a:t>라는 논문을 발표합니다</a:t>
            </a:r>
            <a:r>
              <a:rPr lang="en-US" altLang="ko-KR" dirty="0"/>
              <a:t>. </a:t>
            </a:r>
            <a:r>
              <a:rPr lang="ko-KR" altLang="en-US" dirty="0"/>
              <a:t>여기서 튜링 테스트라는 개념을 제안하는데요</a:t>
            </a:r>
            <a:r>
              <a:rPr lang="en-US" altLang="ko-KR" dirty="0"/>
              <a:t>, </a:t>
            </a:r>
            <a:r>
              <a:rPr lang="ko-KR" altLang="en-US" dirty="0"/>
              <a:t>사람이 기계와 대화했을 때 상대가 기계인지 사람인지 구분할 수 없다면</a:t>
            </a:r>
            <a:r>
              <a:rPr lang="en-US" altLang="ko-KR" dirty="0"/>
              <a:t>, </a:t>
            </a:r>
            <a:r>
              <a:rPr lang="ko-KR" altLang="en-US" dirty="0"/>
              <a:t>그 기계는 지능이 있다고 볼 수 있다는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요즘 </a:t>
            </a:r>
            <a:r>
              <a:rPr lang="en-US" altLang="ko-KR" dirty="0" err="1"/>
              <a:t>ChatGPT</a:t>
            </a:r>
            <a:r>
              <a:rPr lang="ko-KR" altLang="en-US" dirty="0"/>
              <a:t>를 써보면</a:t>
            </a:r>
            <a:r>
              <a:rPr lang="en-US" altLang="ko-KR" dirty="0"/>
              <a:t>, </a:t>
            </a:r>
            <a:r>
              <a:rPr lang="ko-KR" altLang="en-US" dirty="0"/>
              <a:t>진짜 사람이랑 대화하는 것 같다는 느낌 받아본 적 있죠</a:t>
            </a:r>
            <a:r>
              <a:rPr lang="en-US" altLang="ko-KR" dirty="0"/>
              <a:t>? </a:t>
            </a:r>
            <a:r>
              <a:rPr lang="ko-KR" altLang="en-US" dirty="0"/>
              <a:t>어떻게 보면 </a:t>
            </a:r>
            <a:r>
              <a:rPr lang="en-US" altLang="ko-KR" dirty="0"/>
              <a:t>70</a:t>
            </a:r>
            <a:r>
              <a:rPr lang="ko-KR" altLang="en-US" dirty="0"/>
              <a:t>년 전 튜링이 상상한 것이 현실이 된 </a:t>
            </a:r>
            <a:r>
              <a:rPr lang="ko-KR" altLang="en-US" dirty="0" err="1"/>
              <a:t>셈이에요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1956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ko-KR" altLang="en-US" dirty="0" err="1"/>
              <a:t>다트머스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컨퍼런스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1956</a:t>
            </a:r>
            <a:r>
              <a:rPr lang="ko-KR" altLang="en-US" dirty="0"/>
              <a:t>년에 미국 </a:t>
            </a:r>
            <a:r>
              <a:rPr lang="ko-KR" altLang="en-US" dirty="0" err="1"/>
              <a:t>다트머스</a:t>
            </a:r>
            <a:r>
              <a:rPr lang="ko-KR" altLang="en-US" dirty="0"/>
              <a:t> 대학에서 열린 컨퍼런스에서 </a:t>
            </a:r>
            <a:r>
              <a:rPr lang="en-US" altLang="ko-KR" dirty="0"/>
              <a:t>"Artificial Intelligence"</a:t>
            </a:r>
            <a:r>
              <a:rPr lang="ko-KR" altLang="en-US" dirty="0"/>
              <a:t>라는 용어가 공식적으로 처음 사용됩니다</a:t>
            </a:r>
            <a:r>
              <a:rPr lang="en-US" altLang="ko-KR" dirty="0"/>
              <a:t>. </a:t>
            </a:r>
            <a:r>
              <a:rPr lang="ko-KR" altLang="en-US" dirty="0"/>
              <a:t>이게 인공지능의 공식적인 출발점이라고 볼 수 있습니다</a:t>
            </a:r>
            <a:r>
              <a:rPr lang="en-US" altLang="ko-KR" dirty="0"/>
              <a:t>. </a:t>
            </a:r>
            <a:r>
              <a:rPr lang="ko-KR" altLang="en-US" dirty="0"/>
              <a:t>존 매카시</a:t>
            </a:r>
            <a:r>
              <a:rPr lang="en-US" altLang="ko-KR" dirty="0"/>
              <a:t>, </a:t>
            </a:r>
            <a:r>
              <a:rPr lang="ko-KR" altLang="en-US" dirty="0" err="1"/>
              <a:t>마빈</a:t>
            </a:r>
            <a:r>
              <a:rPr lang="ko-KR" altLang="en-US" dirty="0"/>
              <a:t> </a:t>
            </a:r>
            <a:r>
              <a:rPr lang="ko-KR" altLang="en-US" dirty="0" err="1"/>
              <a:t>민스키</a:t>
            </a:r>
            <a:r>
              <a:rPr lang="ko-KR" altLang="en-US" dirty="0"/>
              <a:t> 같은 학자들이 모여서 </a:t>
            </a:r>
            <a:r>
              <a:rPr lang="en-US" altLang="ko-KR" dirty="0"/>
              <a:t>"</a:t>
            </a:r>
            <a:r>
              <a:rPr lang="ko-KR" altLang="en-US" dirty="0"/>
              <a:t>기계에게 지능을 부여할 수 있다</a:t>
            </a:r>
            <a:r>
              <a:rPr lang="en-US" altLang="ko-KR" dirty="0"/>
              <a:t>"</a:t>
            </a:r>
            <a:r>
              <a:rPr lang="ko-KR" altLang="en-US" dirty="0"/>
              <a:t>는 비전을 제시한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1957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ko-KR" altLang="en-US" dirty="0" err="1"/>
              <a:t>퍼셉트론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프랑크 </a:t>
            </a:r>
            <a:r>
              <a:rPr lang="ko-KR" altLang="en-US" dirty="0" err="1"/>
              <a:t>로젠블라트가</a:t>
            </a:r>
            <a:r>
              <a:rPr lang="ko-KR" altLang="en-US" dirty="0"/>
              <a:t> </a:t>
            </a:r>
            <a:r>
              <a:rPr lang="ko-KR" altLang="en-US" dirty="0" err="1"/>
              <a:t>퍼셉트론을</a:t>
            </a:r>
            <a:r>
              <a:rPr lang="ko-KR" altLang="en-US" dirty="0"/>
              <a:t> 발명합니다</a:t>
            </a:r>
            <a:r>
              <a:rPr lang="en-US" altLang="ko-KR" dirty="0"/>
              <a:t>. </a:t>
            </a:r>
            <a:r>
              <a:rPr lang="ko-KR" altLang="en-US" dirty="0"/>
              <a:t>아까 </a:t>
            </a:r>
            <a:r>
              <a:rPr lang="en-US" altLang="ko-KR" dirty="0"/>
              <a:t>MCP </a:t>
            </a:r>
            <a:r>
              <a:rPr lang="ko-KR" altLang="en-US" dirty="0"/>
              <a:t>뉴런이 수학적 모델이었다면</a:t>
            </a:r>
            <a:r>
              <a:rPr lang="en-US" altLang="ko-KR" dirty="0"/>
              <a:t>, </a:t>
            </a:r>
            <a:r>
              <a:rPr lang="ko-KR" altLang="en-US" dirty="0" err="1"/>
              <a:t>퍼셉트론은</a:t>
            </a:r>
            <a:r>
              <a:rPr lang="ko-KR" altLang="en-US" dirty="0"/>
              <a:t> 이걸 실제로 학습할 수 있게 만든 겁니다</a:t>
            </a:r>
            <a:r>
              <a:rPr lang="en-US" altLang="ko-KR" dirty="0"/>
              <a:t>. </a:t>
            </a:r>
            <a:r>
              <a:rPr lang="ko-KR" altLang="en-US" dirty="0"/>
              <a:t>데이터를 넣으면 가중치를 조절하면서 스스로 학습하는 최초의 인공 신경망 모델이었습니다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그런데 </a:t>
            </a:r>
            <a:r>
              <a:rPr lang="en-US" altLang="ko-KR" dirty="0"/>
              <a:t>1969</a:t>
            </a:r>
            <a:r>
              <a:rPr lang="ko-KR" altLang="en-US" dirty="0"/>
              <a:t>년에 </a:t>
            </a:r>
            <a:r>
              <a:rPr lang="ko-KR" altLang="en-US" dirty="0" err="1"/>
              <a:t>마빈</a:t>
            </a:r>
            <a:r>
              <a:rPr lang="ko-KR" altLang="en-US" dirty="0"/>
              <a:t> 민스키가 </a:t>
            </a:r>
            <a:r>
              <a:rPr lang="ko-KR" altLang="en-US" dirty="0" err="1"/>
              <a:t>퍼셉트론의</a:t>
            </a:r>
            <a:r>
              <a:rPr lang="ko-KR" altLang="en-US" dirty="0"/>
              <a:t> 한계를 수학적으로 증명합니다</a:t>
            </a:r>
            <a:r>
              <a:rPr lang="en-US" altLang="ko-KR" dirty="0"/>
              <a:t>. XOR </a:t>
            </a:r>
            <a:r>
              <a:rPr lang="ko-KR" altLang="en-US" dirty="0"/>
              <a:t>문제</a:t>
            </a:r>
            <a:r>
              <a:rPr lang="en-US" altLang="ko-KR" dirty="0"/>
              <a:t>, </a:t>
            </a:r>
            <a:r>
              <a:rPr lang="ko-KR" altLang="en-US" dirty="0"/>
              <a:t>즉 단순한 배타적 논리합도 풀 수 없다는 걸 보여준 거예요</a:t>
            </a:r>
            <a:r>
              <a:rPr lang="en-US" altLang="ko-KR" dirty="0"/>
              <a:t>. </a:t>
            </a:r>
            <a:r>
              <a:rPr lang="ko-KR" altLang="en-US" dirty="0"/>
              <a:t>이것 때문에 신경망 연구에 큰 타격이 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1974~1980</a:t>
            </a:r>
            <a:r>
              <a:rPr lang="ko-KR" altLang="en-US" dirty="0"/>
              <a:t>년 </a:t>
            </a:r>
            <a:r>
              <a:rPr lang="en-US" altLang="ko-KR" dirty="0"/>
              <a:t>— 1</a:t>
            </a:r>
            <a:r>
              <a:rPr lang="ko-KR" altLang="en-US" dirty="0"/>
              <a:t>차 </a:t>
            </a:r>
            <a:r>
              <a:rPr lang="en-US" altLang="ko-KR" dirty="0"/>
              <a:t>AI </a:t>
            </a:r>
            <a:r>
              <a:rPr lang="ko-KR" altLang="en-US" dirty="0"/>
              <a:t>겨울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기대가 크면 실망도 큰 법이죠</a:t>
            </a:r>
            <a:r>
              <a:rPr lang="en-US" altLang="ko-KR" dirty="0"/>
              <a:t>. </a:t>
            </a:r>
            <a:r>
              <a:rPr lang="ko-KR" altLang="en-US" dirty="0"/>
              <a:t>초기에 </a:t>
            </a:r>
            <a:r>
              <a:rPr lang="en-US" altLang="ko-KR" dirty="0"/>
              <a:t>"</a:t>
            </a:r>
            <a:r>
              <a:rPr lang="ko-KR" altLang="en-US" dirty="0"/>
              <a:t>곧 인간 수준의 </a:t>
            </a:r>
            <a:r>
              <a:rPr lang="en-US" altLang="ko-KR" dirty="0"/>
              <a:t>AI</a:t>
            </a:r>
            <a:r>
              <a:rPr lang="ko-KR" altLang="en-US" dirty="0"/>
              <a:t>가 나온다</a:t>
            </a:r>
            <a:r>
              <a:rPr lang="en-US" altLang="ko-KR" dirty="0"/>
              <a:t>"</a:t>
            </a:r>
            <a:r>
              <a:rPr lang="ko-KR" altLang="en-US" dirty="0"/>
              <a:t>고 장밋빛 전망을 했는데</a:t>
            </a:r>
            <a:r>
              <a:rPr lang="en-US" altLang="ko-KR" dirty="0"/>
              <a:t>, </a:t>
            </a:r>
            <a:r>
              <a:rPr lang="ko-KR" altLang="en-US" dirty="0"/>
              <a:t>실제로는 컴퓨터 성능도 부족하고 이론적 한계도 드러나면서 연구 자금이 뚝 끊깁니다</a:t>
            </a:r>
            <a:r>
              <a:rPr lang="en-US" altLang="ko-KR" dirty="0"/>
              <a:t>. </a:t>
            </a:r>
            <a:r>
              <a:rPr lang="ko-KR" altLang="en-US" dirty="0"/>
              <a:t>이 시기를 </a:t>
            </a:r>
            <a:r>
              <a:rPr lang="en-US" altLang="ko-KR" dirty="0"/>
              <a:t>1</a:t>
            </a:r>
            <a:r>
              <a:rPr lang="ko-KR" altLang="en-US" dirty="0"/>
              <a:t>차 </a:t>
            </a:r>
            <a:r>
              <a:rPr lang="en-US" altLang="ko-KR" dirty="0"/>
              <a:t>AI </a:t>
            </a:r>
            <a:r>
              <a:rPr lang="ko-KR" altLang="en-US" dirty="0"/>
              <a:t>겨울이라고 부릅니다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겨울이라는 표현이 참 적절하죠</a:t>
            </a:r>
            <a:r>
              <a:rPr lang="en-US" altLang="ko-KR" dirty="0"/>
              <a:t>? </a:t>
            </a:r>
            <a:r>
              <a:rPr lang="ko-KR" altLang="en-US" dirty="0"/>
              <a:t>추위 속에서 움츠러드는 것처럼 연구가 위축된 시기입니다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1980~1987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ko-KR" altLang="en-US" dirty="0"/>
              <a:t>전문가 시스템과 </a:t>
            </a:r>
            <a:r>
              <a:rPr lang="en-US" altLang="ko-KR" dirty="0"/>
              <a:t>AI </a:t>
            </a:r>
            <a:r>
              <a:rPr lang="ko-KR" altLang="en-US" dirty="0"/>
              <a:t>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1980</a:t>
            </a:r>
            <a:r>
              <a:rPr lang="ko-KR" altLang="en-US" dirty="0"/>
              <a:t>년대에는 전문가 시스템이라는 것이 유행합니다</a:t>
            </a:r>
            <a:r>
              <a:rPr lang="en-US" altLang="ko-KR" dirty="0"/>
              <a:t>. </a:t>
            </a:r>
            <a:r>
              <a:rPr lang="ko-KR" altLang="en-US" dirty="0"/>
              <a:t>의사의 진단 지식</a:t>
            </a:r>
            <a:r>
              <a:rPr lang="en-US" altLang="ko-KR" dirty="0"/>
              <a:t>, </a:t>
            </a:r>
            <a:r>
              <a:rPr lang="ko-KR" altLang="en-US" dirty="0"/>
              <a:t>법률 전문가의 판단 등을 </a:t>
            </a:r>
            <a:r>
              <a:rPr lang="en-US" altLang="ko-KR" dirty="0"/>
              <a:t>"if-then </a:t>
            </a:r>
            <a:r>
              <a:rPr lang="ko-KR" altLang="en-US" dirty="0"/>
              <a:t>규칙</a:t>
            </a:r>
            <a:r>
              <a:rPr lang="en-US" altLang="ko-KR" dirty="0"/>
              <a:t>"</a:t>
            </a:r>
            <a:r>
              <a:rPr lang="ko-KR" altLang="en-US" dirty="0"/>
              <a:t>으로 프로그래밍한 겁니다</a:t>
            </a:r>
            <a:r>
              <a:rPr lang="en-US" altLang="ko-KR" dirty="0"/>
              <a:t>. </a:t>
            </a:r>
            <a:r>
              <a:rPr lang="ko-KR" altLang="en-US" dirty="0"/>
              <a:t>예를 들어 </a:t>
            </a:r>
            <a:r>
              <a:rPr lang="en-US" altLang="ko-KR" dirty="0"/>
              <a:t>"</a:t>
            </a:r>
            <a:r>
              <a:rPr lang="ko-KR" altLang="en-US" dirty="0"/>
              <a:t>만약 체온이 </a:t>
            </a:r>
            <a:r>
              <a:rPr lang="en-US" altLang="ko-KR" dirty="0"/>
              <a:t>38</a:t>
            </a:r>
            <a:r>
              <a:rPr lang="ko-KR" altLang="en-US" dirty="0"/>
              <a:t>도 이상이고 기침을 한다면</a:t>
            </a:r>
            <a:r>
              <a:rPr lang="en-US" altLang="ko-KR" dirty="0"/>
              <a:t>, </a:t>
            </a:r>
            <a:r>
              <a:rPr lang="ko-KR" altLang="en-US" dirty="0"/>
              <a:t>감기일 확률이 높다</a:t>
            </a:r>
            <a:r>
              <a:rPr lang="en-US" altLang="ko-KR" dirty="0"/>
              <a:t>" </a:t>
            </a:r>
            <a:r>
              <a:rPr lang="ko-KR" altLang="en-US" dirty="0"/>
              <a:t>이런 </a:t>
            </a:r>
            <a:r>
              <a:rPr lang="ko-KR" altLang="en-US" dirty="0" err="1"/>
              <a:t>식으로요</a:t>
            </a:r>
            <a:r>
              <a:rPr lang="en-US" altLang="ko-KR" dirty="0"/>
              <a:t>. </a:t>
            </a:r>
            <a:r>
              <a:rPr lang="ko-KR" altLang="en-US" dirty="0"/>
              <a:t>이게 한때 큰 인기를 끌었습니다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1987~1993</a:t>
            </a:r>
            <a:r>
              <a:rPr lang="ko-KR" altLang="en-US" dirty="0"/>
              <a:t>년 </a:t>
            </a:r>
            <a:r>
              <a:rPr lang="en-US" altLang="ko-KR" dirty="0"/>
              <a:t>— 2</a:t>
            </a:r>
            <a:r>
              <a:rPr lang="ko-KR" altLang="en-US" dirty="0"/>
              <a:t>차 </a:t>
            </a:r>
            <a:r>
              <a:rPr lang="en-US" altLang="ko-KR" dirty="0"/>
              <a:t>AI </a:t>
            </a:r>
            <a:r>
              <a:rPr lang="ko-KR" altLang="en-US" dirty="0"/>
              <a:t>겨울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하지만 전문가 시스템도 결국 한계를 드러냅니다</a:t>
            </a:r>
            <a:r>
              <a:rPr lang="en-US" altLang="ko-KR" dirty="0"/>
              <a:t>. </a:t>
            </a:r>
            <a:r>
              <a:rPr lang="ko-KR" altLang="en-US" dirty="0"/>
              <a:t>규칙을 사람이 일일이 만들어야 하니까</a:t>
            </a:r>
            <a:r>
              <a:rPr lang="en-US" altLang="ko-KR" dirty="0"/>
              <a:t>, </a:t>
            </a:r>
            <a:r>
              <a:rPr lang="ko-KR" altLang="en-US" dirty="0"/>
              <a:t>복잡한 문제에는 대응할 수 없었어요</a:t>
            </a:r>
            <a:r>
              <a:rPr lang="en-US" altLang="ko-KR" dirty="0"/>
              <a:t>. </a:t>
            </a:r>
            <a:r>
              <a:rPr lang="ko-KR" altLang="en-US" dirty="0"/>
              <a:t>규칙이 수만 개가 넘어가면 관리가 불가능해집니다</a:t>
            </a:r>
            <a:r>
              <a:rPr lang="en-US" altLang="ko-KR" dirty="0"/>
              <a:t>. </a:t>
            </a:r>
            <a:r>
              <a:rPr lang="ko-KR" altLang="en-US" dirty="0"/>
              <a:t>다시 한번 </a:t>
            </a:r>
            <a:r>
              <a:rPr lang="en-US" altLang="ko-KR" dirty="0"/>
              <a:t>2</a:t>
            </a:r>
            <a:r>
              <a:rPr lang="ko-KR" altLang="en-US" dirty="0"/>
              <a:t>차 </a:t>
            </a:r>
            <a:r>
              <a:rPr lang="en-US" altLang="ko-KR" dirty="0"/>
              <a:t>AI </a:t>
            </a:r>
            <a:r>
              <a:rPr lang="ko-KR" altLang="en-US" dirty="0"/>
              <a:t>겨울이 찾아옵니다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1998</a:t>
            </a:r>
            <a:r>
              <a:rPr lang="ko-KR" altLang="en-US" dirty="0"/>
              <a:t>년 </a:t>
            </a:r>
            <a:r>
              <a:rPr lang="en-US" altLang="ko-KR" dirty="0"/>
              <a:t>— LeNet-5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그러다가 </a:t>
            </a:r>
            <a:r>
              <a:rPr lang="en-US" altLang="ko-KR" dirty="0"/>
              <a:t>1998</a:t>
            </a:r>
            <a:r>
              <a:rPr lang="ko-KR" altLang="en-US" dirty="0"/>
              <a:t>년에 얀 </a:t>
            </a:r>
            <a:r>
              <a:rPr lang="ko-KR" altLang="en-US" dirty="0" err="1"/>
              <a:t>르쿤</a:t>
            </a:r>
            <a:r>
              <a:rPr lang="en-US" altLang="ko-KR" dirty="0"/>
              <a:t>(Yann </a:t>
            </a:r>
            <a:r>
              <a:rPr lang="en-US" altLang="ko-KR" dirty="0" err="1"/>
              <a:t>LeCun</a:t>
            </a:r>
            <a:r>
              <a:rPr lang="en-US" altLang="ko-KR" dirty="0"/>
              <a:t>)</a:t>
            </a:r>
            <a:r>
              <a:rPr lang="ko-KR" altLang="en-US" dirty="0"/>
              <a:t>이 </a:t>
            </a:r>
            <a:r>
              <a:rPr lang="en-US" altLang="ko-KR" dirty="0"/>
              <a:t>LeNet-5</a:t>
            </a:r>
            <a:r>
              <a:rPr lang="ko-KR" altLang="en-US" dirty="0"/>
              <a:t>라는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  <a:r>
              <a:rPr lang="en-US" altLang="ko-KR" dirty="0"/>
              <a:t>(CNN)</a:t>
            </a:r>
            <a:r>
              <a:rPr lang="ko-KR" altLang="en-US" dirty="0"/>
              <a:t>을 만들어서 </a:t>
            </a:r>
            <a:r>
              <a:rPr lang="ko-KR" altLang="en-US" dirty="0" err="1"/>
              <a:t>손글씨</a:t>
            </a:r>
            <a:r>
              <a:rPr lang="ko-KR" altLang="en-US" dirty="0"/>
              <a:t> 숫자를 인식하는 데 성공합니다</a:t>
            </a:r>
            <a:r>
              <a:rPr lang="en-US" altLang="ko-KR" dirty="0"/>
              <a:t>. </a:t>
            </a:r>
            <a:r>
              <a:rPr lang="ko-KR" altLang="en-US" dirty="0"/>
              <a:t>우리가 우편번호를 손으로 쓰면 기계가 자동으로 읽어내는 </a:t>
            </a:r>
            <a:r>
              <a:rPr lang="ko-KR" altLang="en-US" dirty="0" err="1"/>
              <a:t>기술이에요</a:t>
            </a:r>
            <a:r>
              <a:rPr lang="en-US" altLang="ko-KR" dirty="0"/>
              <a:t>. </a:t>
            </a:r>
            <a:r>
              <a:rPr lang="ko-KR" altLang="en-US" dirty="0"/>
              <a:t>이게 나중에 </a:t>
            </a:r>
            <a:r>
              <a:rPr lang="ko-KR" altLang="en-US" dirty="0" err="1"/>
              <a:t>딥러닝</a:t>
            </a:r>
            <a:r>
              <a:rPr lang="ko-KR" altLang="en-US" dirty="0"/>
              <a:t> 혁명의 씨앗이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2012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en-US" altLang="ko-KR" dirty="0" err="1"/>
              <a:t>AlexNet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그리고 </a:t>
            </a:r>
            <a:r>
              <a:rPr lang="en-US" altLang="ko-KR" dirty="0"/>
              <a:t>2012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역사적인 사건이 일어납니다</a:t>
            </a:r>
            <a:r>
              <a:rPr lang="en-US" altLang="ko-KR" dirty="0"/>
              <a:t>. </a:t>
            </a:r>
            <a:r>
              <a:rPr lang="ko-KR" altLang="en-US" dirty="0" err="1"/>
              <a:t>제프리</a:t>
            </a:r>
            <a:r>
              <a:rPr lang="ko-KR" altLang="en-US" dirty="0"/>
              <a:t> </a:t>
            </a:r>
            <a:r>
              <a:rPr lang="ko-KR" altLang="en-US" dirty="0" err="1"/>
              <a:t>힌턴의</a:t>
            </a:r>
            <a:r>
              <a:rPr lang="ko-KR" altLang="en-US" dirty="0"/>
              <a:t> 팀이 </a:t>
            </a:r>
            <a:r>
              <a:rPr lang="en-US" altLang="ko-KR" dirty="0" err="1"/>
              <a:t>AlexNet</a:t>
            </a:r>
            <a:r>
              <a:rPr lang="ko-KR" altLang="en-US" dirty="0"/>
              <a:t>이라는 </a:t>
            </a:r>
            <a:r>
              <a:rPr lang="ko-KR" altLang="en-US" dirty="0" err="1"/>
              <a:t>딥러닝</a:t>
            </a:r>
            <a:r>
              <a:rPr lang="ko-KR" altLang="en-US" dirty="0"/>
              <a:t> 모델로 이미지 분류 대회 </a:t>
            </a:r>
            <a:r>
              <a:rPr lang="en-US" altLang="ko-KR" dirty="0"/>
              <a:t>ImageNet</a:t>
            </a:r>
            <a:r>
              <a:rPr lang="ko-KR" altLang="en-US" dirty="0"/>
              <a:t>에서 기존 방법을 압도적으로 이깁니다</a:t>
            </a:r>
            <a:r>
              <a:rPr lang="en-US" altLang="ko-KR" dirty="0"/>
              <a:t>. </a:t>
            </a:r>
            <a:r>
              <a:rPr lang="ko-KR" altLang="en-US" dirty="0"/>
              <a:t>오류율을 기존 </a:t>
            </a:r>
            <a:r>
              <a:rPr lang="en-US" altLang="ko-KR" dirty="0"/>
              <a:t>26%</a:t>
            </a:r>
            <a:r>
              <a:rPr lang="ko-KR" altLang="en-US" dirty="0"/>
              <a:t>에서 </a:t>
            </a:r>
            <a:r>
              <a:rPr lang="en-US" altLang="ko-KR" dirty="0"/>
              <a:t>16%</a:t>
            </a:r>
            <a:r>
              <a:rPr lang="ko-KR" altLang="en-US" dirty="0"/>
              <a:t>로 대폭 줄인 겁니다</a:t>
            </a:r>
            <a:r>
              <a:rPr lang="en-US" altLang="ko-KR" dirty="0"/>
              <a:t>. </a:t>
            </a:r>
            <a:r>
              <a:rPr lang="ko-KR" altLang="en-US" dirty="0"/>
              <a:t>이 순간부터 </a:t>
            </a:r>
            <a:r>
              <a:rPr lang="ko-KR" altLang="en-US" dirty="0" err="1"/>
              <a:t>딥러닝에</a:t>
            </a:r>
            <a:r>
              <a:rPr lang="ko-KR" altLang="en-US" dirty="0"/>
              <a:t> 대한 관심이 폭발적으로 늘어납니다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2015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ko-KR" altLang="en-US" dirty="0" err="1"/>
              <a:t>텐서플로</a:t>
            </a:r>
            <a:r>
              <a:rPr lang="ko-KR" altLang="en-US" dirty="0"/>
              <a:t> 공개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구글이 </a:t>
            </a:r>
            <a:r>
              <a:rPr lang="ko-KR" altLang="en-US" dirty="0" err="1"/>
              <a:t>딥러닝</a:t>
            </a:r>
            <a:r>
              <a:rPr lang="ko-KR" altLang="en-US" dirty="0"/>
              <a:t> 라이브러리 </a:t>
            </a:r>
            <a:r>
              <a:rPr lang="ko-KR" altLang="en-US" dirty="0" err="1"/>
              <a:t>텐서플로를</a:t>
            </a:r>
            <a:r>
              <a:rPr lang="ko-KR" altLang="en-US" dirty="0"/>
              <a:t> 오픈소스로 공개합니다</a:t>
            </a:r>
            <a:r>
              <a:rPr lang="en-US" altLang="ko-KR" dirty="0"/>
              <a:t>. </a:t>
            </a:r>
            <a:r>
              <a:rPr lang="ko-KR" altLang="en-US" dirty="0"/>
              <a:t>누구나 무료로 </a:t>
            </a:r>
            <a:r>
              <a:rPr lang="ko-KR" altLang="en-US" dirty="0" err="1"/>
              <a:t>딥러닝을</a:t>
            </a:r>
            <a:r>
              <a:rPr lang="ko-KR" altLang="en-US" dirty="0"/>
              <a:t> 할 수 있게 된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2016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ko-KR" altLang="en-US" dirty="0" err="1"/>
              <a:t>알파고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국내에서 가장 큰 충격을 준 사건이죠</a:t>
            </a:r>
            <a:r>
              <a:rPr lang="en-US" altLang="ko-KR" dirty="0"/>
              <a:t>. </a:t>
            </a:r>
            <a:r>
              <a:rPr lang="ko-KR" altLang="en-US" dirty="0" err="1"/>
              <a:t>이세돌</a:t>
            </a:r>
            <a:r>
              <a:rPr lang="ko-KR" altLang="en-US" dirty="0"/>
              <a:t> </a:t>
            </a:r>
            <a:r>
              <a:rPr lang="en-US" altLang="ko-KR" dirty="0"/>
              <a:t>9</a:t>
            </a:r>
            <a:r>
              <a:rPr lang="ko-KR" altLang="en-US" dirty="0"/>
              <a:t>단과 알파고의 대국</a:t>
            </a:r>
            <a:r>
              <a:rPr lang="en-US" altLang="ko-KR" dirty="0"/>
              <a:t>. </a:t>
            </a:r>
            <a:r>
              <a:rPr lang="ko-KR" altLang="en-US" dirty="0" err="1"/>
              <a:t>딥러닝이</a:t>
            </a:r>
            <a:r>
              <a:rPr lang="ko-KR" altLang="en-US" dirty="0"/>
              <a:t> 바둑이라는 인간의 영역마저 넘어선다는 것을 전 세계에 보여줬습니다</a:t>
            </a:r>
            <a:r>
              <a:rPr lang="en-US" altLang="ko-KR" dirty="0"/>
              <a:t>. </a:t>
            </a:r>
            <a:r>
              <a:rPr lang="ko-KR" altLang="en-US" dirty="0"/>
              <a:t>이 사건 이후로 한국에서도 </a:t>
            </a:r>
            <a:r>
              <a:rPr lang="en-US" altLang="ko-KR" dirty="0"/>
              <a:t>AI</a:t>
            </a:r>
            <a:r>
              <a:rPr lang="ko-KR" altLang="en-US" dirty="0"/>
              <a:t>에 대한 관심과 투자가 급증했습니다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2023</a:t>
            </a:r>
            <a:r>
              <a:rPr lang="ko-KR" altLang="en-US" dirty="0"/>
              <a:t>년 </a:t>
            </a:r>
            <a:r>
              <a:rPr lang="en-US" altLang="ko-KR" dirty="0"/>
              <a:t>— </a:t>
            </a:r>
            <a:r>
              <a:rPr lang="en-US" altLang="ko-KR" dirty="0" err="1"/>
              <a:t>ChatGPT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그리고 </a:t>
            </a:r>
            <a:r>
              <a:rPr lang="en-US" altLang="ko-KR" dirty="0"/>
              <a:t>2022</a:t>
            </a:r>
            <a:r>
              <a:rPr lang="ko-KR" altLang="en-US" dirty="0"/>
              <a:t>년 말에 출시된 </a:t>
            </a:r>
            <a:r>
              <a:rPr lang="en-US" altLang="ko-KR" dirty="0" err="1"/>
              <a:t>ChatGPT</a:t>
            </a:r>
            <a:r>
              <a:rPr lang="en-US" altLang="ko-KR" dirty="0"/>
              <a:t>. </a:t>
            </a:r>
            <a:r>
              <a:rPr lang="ko-KR" altLang="en-US" dirty="0"/>
              <a:t>여러분 다 </a:t>
            </a:r>
            <a:r>
              <a:rPr lang="ko-KR" altLang="en-US" dirty="0" err="1"/>
              <a:t>써봤을</a:t>
            </a:r>
            <a:r>
              <a:rPr lang="ko-KR" altLang="en-US" dirty="0"/>
              <a:t> 거예요</a:t>
            </a:r>
            <a:r>
              <a:rPr lang="en-US" altLang="ko-KR" dirty="0"/>
              <a:t>. </a:t>
            </a:r>
            <a:r>
              <a:rPr lang="ko-KR" altLang="en-US" dirty="0"/>
              <a:t>일반 대중이 인공지능 기술을 직접 활용하는 시대가 열렸습니다</a:t>
            </a:r>
            <a:r>
              <a:rPr lang="en-US" altLang="ko-KR" dirty="0"/>
              <a:t>. </a:t>
            </a:r>
            <a:r>
              <a:rPr lang="ko-KR" altLang="en-US" dirty="0"/>
              <a:t>더 이상 </a:t>
            </a:r>
            <a:r>
              <a:rPr lang="en-US" altLang="ko-KR" dirty="0"/>
              <a:t>AI</a:t>
            </a:r>
            <a:r>
              <a:rPr lang="ko-KR" altLang="en-US" dirty="0"/>
              <a:t>가 연구실 안의 기술이 아니라</a:t>
            </a:r>
            <a:r>
              <a:rPr lang="en-US" altLang="ko-KR" dirty="0"/>
              <a:t>, </a:t>
            </a:r>
            <a:r>
              <a:rPr lang="ko-KR" altLang="en-US" dirty="0"/>
              <a:t>일상에서 쓰는 도구가 된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한 가지 강조하고 싶은 건</a:t>
            </a:r>
            <a:r>
              <a:rPr lang="en-US" altLang="ko-KR" dirty="0"/>
              <a:t>, </a:t>
            </a:r>
            <a:r>
              <a:rPr lang="ko-KR" altLang="en-US" dirty="0"/>
              <a:t>인공지능의 역사를 보면 </a:t>
            </a:r>
            <a:r>
              <a:rPr lang="en-US" altLang="ko-KR" dirty="0"/>
              <a:t>"</a:t>
            </a:r>
            <a:r>
              <a:rPr lang="ko-KR" altLang="en-US" dirty="0"/>
              <a:t>겨울</a:t>
            </a:r>
            <a:r>
              <a:rPr lang="en-US" altLang="ko-KR" dirty="0"/>
              <a:t>"</a:t>
            </a:r>
            <a:r>
              <a:rPr lang="ko-KR" altLang="en-US" dirty="0"/>
              <a:t>과 </a:t>
            </a:r>
            <a:r>
              <a:rPr lang="en-US" altLang="ko-KR" dirty="0"/>
              <a:t>"</a:t>
            </a:r>
            <a:r>
              <a:rPr lang="ko-KR" altLang="en-US" dirty="0"/>
              <a:t>봄</a:t>
            </a:r>
            <a:r>
              <a:rPr lang="en-US" altLang="ko-KR" dirty="0"/>
              <a:t>"</a:t>
            </a:r>
            <a:r>
              <a:rPr lang="ko-KR" altLang="en-US" dirty="0"/>
              <a:t>이 반복된다는 점입니다</a:t>
            </a:r>
            <a:r>
              <a:rPr lang="en-US" altLang="ko-KR" dirty="0"/>
              <a:t>. </a:t>
            </a:r>
            <a:r>
              <a:rPr lang="ko-KR" altLang="en-US" dirty="0"/>
              <a:t>지금은 </a:t>
            </a:r>
            <a:r>
              <a:rPr lang="en-US" altLang="ko-KR" dirty="0"/>
              <a:t>AI</a:t>
            </a:r>
            <a:r>
              <a:rPr lang="ko-KR" altLang="en-US" dirty="0"/>
              <a:t>의 전성기</a:t>
            </a:r>
            <a:r>
              <a:rPr lang="en-US" altLang="ko-KR" dirty="0"/>
              <a:t>, </a:t>
            </a:r>
            <a:r>
              <a:rPr lang="ko-KR" altLang="en-US" dirty="0"/>
              <a:t>어떻게 보면 가장 뜨거운 </a:t>
            </a:r>
            <a:r>
              <a:rPr lang="ko-KR" altLang="en-US" dirty="0" err="1"/>
              <a:t>여름이에요</a:t>
            </a:r>
            <a:r>
              <a:rPr lang="en-US" altLang="ko-KR" dirty="0"/>
              <a:t>. </a:t>
            </a:r>
            <a:r>
              <a:rPr lang="ko-KR" altLang="en-US" dirty="0"/>
              <a:t>하지만 역사는 과도한 기대 뒤에 실망이 올 수 있다는 것도 보여줍니다</a:t>
            </a:r>
            <a:r>
              <a:rPr lang="en-US" altLang="ko-KR" dirty="0"/>
              <a:t>. </a:t>
            </a:r>
            <a:r>
              <a:rPr lang="ko-KR" altLang="en-US" dirty="0"/>
              <a:t>그래서 우리가 </a:t>
            </a:r>
            <a:r>
              <a:rPr lang="en-US" altLang="ko-KR" dirty="0"/>
              <a:t>AI</a:t>
            </a:r>
            <a:r>
              <a:rPr lang="ko-KR" altLang="en-US" dirty="0"/>
              <a:t>의 원리를 제대로 이해하는 게 중요한 겁니다</a:t>
            </a:r>
            <a:r>
              <a:rPr lang="en-US" altLang="ko-KR" dirty="0"/>
              <a:t>. </a:t>
            </a:r>
            <a:r>
              <a:rPr lang="ko-KR" altLang="en-US" dirty="0"/>
              <a:t>원리를 알면 유행에 흔들리지 않고 올바른 판단을 할 수 있으니까요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230" name="Google Shape;2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이제 인공지능을 좀 더 세분해서 보겠습니다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강인공지능 </a:t>
            </a:r>
            <a:r>
              <a:rPr lang="en-US" altLang="ko-KR" dirty="0"/>
              <a:t>(Strong AI) = </a:t>
            </a:r>
            <a:r>
              <a:rPr lang="ko-KR" altLang="en-US" dirty="0"/>
              <a:t>인공일반지능 </a:t>
            </a:r>
            <a:r>
              <a:rPr lang="en-US" altLang="ko-KR" dirty="0"/>
              <a:t>(AGI)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영화에서 보는 </a:t>
            </a:r>
            <a:r>
              <a:rPr lang="en-US" altLang="ko-KR" dirty="0"/>
              <a:t>AI</a:t>
            </a:r>
            <a:r>
              <a:rPr lang="ko-KR" altLang="en-US" dirty="0"/>
              <a:t>가 바로 </a:t>
            </a:r>
            <a:r>
              <a:rPr lang="ko-KR" altLang="en-US" dirty="0" err="1"/>
              <a:t>이겁니다</a:t>
            </a:r>
            <a:r>
              <a:rPr lang="en-US" altLang="ko-KR" dirty="0"/>
              <a:t>. </a:t>
            </a:r>
            <a:r>
              <a:rPr lang="ko-KR" altLang="en-US" dirty="0"/>
              <a:t>사람과 구분하기 어려운 수준의 지능을 가진 컴퓨터 </a:t>
            </a:r>
            <a:r>
              <a:rPr lang="ko-KR" altLang="en-US" dirty="0" err="1"/>
              <a:t>시스템이에요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영화 </a:t>
            </a:r>
            <a:r>
              <a:rPr lang="en-US" altLang="ko-KR" dirty="0"/>
              <a:t>"</a:t>
            </a:r>
            <a:r>
              <a:rPr lang="ko-KR" altLang="en-US" dirty="0"/>
              <a:t>그녀</a:t>
            </a:r>
            <a:r>
              <a:rPr lang="en-US" altLang="ko-KR" dirty="0"/>
              <a:t>(Her)"</a:t>
            </a:r>
            <a:r>
              <a:rPr lang="ko-KR" altLang="en-US" dirty="0"/>
              <a:t>를 보신 분 있나요</a:t>
            </a:r>
            <a:r>
              <a:rPr lang="en-US" altLang="ko-KR" dirty="0"/>
              <a:t>? </a:t>
            </a:r>
            <a:r>
              <a:rPr lang="ko-KR" altLang="en-US" dirty="0"/>
              <a:t>스칼렛 </a:t>
            </a:r>
            <a:r>
              <a:rPr lang="ko-KR" altLang="en-US" dirty="0" err="1"/>
              <a:t>요한슨이</a:t>
            </a:r>
            <a:r>
              <a:rPr lang="ko-KR" altLang="en-US" dirty="0"/>
              <a:t> 목소리 연기를 한 </a:t>
            </a:r>
            <a:r>
              <a:rPr lang="en-US" altLang="ko-KR" dirty="0"/>
              <a:t>AI '</a:t>
            </a:r>
            <a:r>
              <a:rPr lang="ko-KR" altLang="en-US" dirty="0" err="1"/>
              <a:t>사만다</a:t>
            </a:r>
            <a:r>
              <a:rPr lang="en-US" altLang="ko-KR" dirty="0"/>
              <a:t>'</a:t>
            </a:r>
            <a:r>
              <a:rPr lang="ko-KR" altLang="en-US" dirty="0"/>
              <a:t>가 나오는데</a:t>
            </a:r>
            <a:r>
              <a:rPr lang="en-US" altLang="ko-KR" dirty="0"/>
              <a:t>, </a:t>
            </a:r>
            <a:r>
              <a:rPr lang="ko-KR" altLang="en-US" dirty="0"/>
              <a:t>감정을 이해하고</a:t>
            </a:r>
            <a:r>
              <a:rPr lang="en-US" altLang="ko-KR" dirty="0"/>
              <a:t>, </a:t>
            </a:r>
            <a:r>
              <a:rPr lang="ko-KR" altLang="en-US" dirty="0"/>
              <a:t>농담도 하고</a:t>
            </a:r>
            <a:r>
              <a:rPr lang="en-US" altLang="ko-KR" dirty="0"/>
              <a:t>, </a:t>
            </a:r>
            <a:r>
              <a:rPr lang="ko-KR" altLang="en-US" dirty="0"/>
              <a:t>사랑까지 하죠</a:t>
            </a:r>
            <a:r>
              <a:rPr lang="en-US" altLang="ko-KR" dirty="0"/>
              <a:t>. </a:t>
            </a:r>
            <a:r>
              <a:rPr lang="ko-KR" altLang="en-US" dirty="0"/>
              <a:t>아니면 </a:t>
            </a:r>
            <a:r>
              <a:rPr lang="en-US" altLang="ko-KR" dirty="0"/>
              <a:t>"</a:t>
            </a:r>
            <a:r>
              <a:rPr lang="ko-KR" altLang="en-US" dirty="0"/>
              <a:t>터미네이터</a:t>
            </a:r>
            <a:r>
              <a:rPr lang="en-US" altLang="ko-KR" dirty="0"/>
              <a:t>"</a:t>
            </a:r>
            <a:r>
              <a:rPr lang="ko-KR" altLang="en-US" dirty="0"/>
              <a:t>의 </a:t>
            </a:r>
            <a:r>
              <a:rPr lang="ko-KR" altLang="en-US" dirty="0" err="1"/>
              <a:t>스카이넷</a:t>
            </a:r>
            <a:r>
              <a:rPr lang="en-US" altLang="ko-KR" dirty="0"/>
              <a:t>. </a:t>
            </a:r>
            <a:r>
              <a:rPr lang="ko-KR" altLang="en-US" dirty="0"/>
              <a:t>이건 인류를 멸망시키려는 사악한 </a:t>
            </a:r>
            <a:r>
              <a:rPr lang="en-US" altLang="ko-KR" dirty="0"/>
              <a:t>AI</a:t>
            </a:r>
            <a:r>
              <a:rPr lang="ko-KR" altLang="en-US" dirty="0"/>
              <a:t>죠</a:t>
            </a:r>
            <a:r>
              <a:rPr lang="en-US" altLang="ko-KR" dirty="0"/>
              <a:t>. </a:t>
            </a:r>
            <a:r>
              <a:rPr lang="ko-KR" altLang="en-US" dirty="0"/>
              <a:t>이런 것들이 강인공지능</a:t>
            </a:r>
            <a:r>
              <a:rPr lang="en-US" altLang="ko-KR" dirty="0"/>
              <a:t>, </a:t>
            </a:r>
            <a:r>
              <a:rPr lang="ko-KR" altLang="en-US" dirty="0"/>
              <a:t>혹은 인공일반지능</a:t>
            </a:r>
            <a:r>
              <a:rPr lang="en-US" altLang="ko-KR" dirty="0"/>
              <a:t>(AGI)</a:t>
            </a:r>
            <a:r>
              <a:rPr lang="ko-KR" altLang="en-US" dirty="0"/>
              <a:t>의 예시입니다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핵심은 범용적이라는 점입니다</a:t>
            </a:r>
            <a:r>
              <a:rPr lang="en-US" altLang="ko-KR" dirty="0"/>
              <a:t>. </a:t>
            </a:r>
            <a:r>
              <a:rPr lang="ko-KR" altLang="en-US" dirty="0"/>
              <a:t>한 가지만 잘하는 게 아니라</a:t>
            </a:r>
            <a:r>
              <a:rPr lang="en-US" altLang="ko-KR" dirty="0"/>
              <a:t>, </a:t>
            </a:r>
            <a:r>
              <a:rPr lang="ko-KR" altLang="en-US" dirty="0"/>
              <a:t>어떤 </a:t>
            </a:r>
            <a:r>
              <a:rPr lang="ko-KR" altLang="en-US" dirty="0" err="1"/>
              <a:t>상황에서든</a:t>
            </a:r>
            <a:r>
              <a:rPr lang="ko-KR" altLang="en-US" dirty="0"/>
              <a:t> 사람처럼 사고하고 판단할 수 있는 </a:t>
            </a:r>
            <a:r>
              <a:rPr lang="ko-KR" altLang="en-US" dirty="0" err="1"/>
              <a:t>지능이에요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현재 </a:t>
            </a:r>
            <a:r>
              <a:rPr lang="en-US" altLang="ko-KR" dirty="0"/>
              <a:t>AGI</a:t>
            </a:r>
            <a:r>
              <a:rPr lang="ko-KR" altLang="en-US" dirty="0"/>
              <a:t>가 존재하나요</a:t>
            </a:r>
            <a:r>
              <a:rPr lang="en-US" altLang="ko-KR" dirty="0"/>
              <a:t>? </a:t>
            </a:r>
            <a:r>
              <a:rPr lang="ko-KR" altLang="en-US" dirty="0"/>
              <a:t>아직 없습니다</a:t>
            </a:r>
            <a:r>
              <a:rPr lang="en-US" altLang="ko-KR" dirty="0"/>
              <a:t>. </a:t>
            </a:r>
            <a:r>
              <a:rPr lang="en-US" altLang="ko-KR" dirty="0" err="1"/>
              <a:t>ChatGPT</a:t>
            </a:r>
            <a:r>
              <a:rPr lang="ko-KR" altLang="en-US" dirty="0"/>
              <a:t>가 아무리 대화를 잘해도</a:t>
            </a:r>
            <a:r>
              <a:rPr lang="en-US" altLang="ko-KR" dirty="0"/>
              <a:t>, </a:t>
            </a:r>
            <a:r>
              <a:rPr lang="ko-KR" altLang="en-US" dirty="0"/>
              <a:t>그건 텍스트 생성이라는 특정 작업에 최적화된 거지</a:t>
            </a:r>
            <a:r>
              <a:rPr lang="en-US" altLang="ko-KR" dirty="0"/>
              <a:t>, </a:t>
            </a:r>
            <a:r>
              <a:rPr lang="ko-KR" altLang="en-US" dirty="0"/>
              <a:t>진정한 의미의 범용 지능은 아닙니다</a:t>
            </a:r>
            <a:r>
              <a:rPr lang="en-US" altLang="ko-KR" dirty="0"/>
              <a:t>. </a:t>
            </a:r>
            <a:r>
              <a:rPr lang="ko-KR" altLang="en-US" dirty="0"/>
              <a:t>물론 최근 발전 속도를 보면 </a:t>
            </a:r>
            <a:r>
              <a:rPr lang="en-US" altLang="ko-KR" dirty="0"/>
              <a:t>AGI</a:t>
            </a:r>
            <a:r>
              <a:rPr lang="ko-KR" altLang="en-US" dirty="0"/>
              <a:t>에 가까워지고 있다는 의견도 있지만</a:t>
            </a:r>
            <a:r>
              <a:rPr lang="en-US" altLang="ko-KR" dirty="0"/>
              <a:t>, </a:t>
            </a:r>
            <a:r>
              <a:rPr lang="ko-KR" altLang="en-US" dirty="0"/>
              <a:t>아직 학계에서는 의견이 분분합니다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약인공지능 </a:t>
            </a:r>
            <a:r>
              <a:rPr lang="en-US" altLang="ko-KR" dirty="0"/>
              <a:t>(Weak AI)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반면에 현실에서 우리가 실제로 마주하고 있는 </a:t>
            </a:r>
            <a:r>
              <a:rPr lang="en-US" altLang="ko-KR" dirty="0"/>
              <a:t>AI</a:t>
            </a:r>
            <a:r>
              <a:rPr lang="ko-KR" altLang="en-US" dirty="0"/>
              <a:t>는 </a:t>
            </a:r>
            <a:r>
              <a:rPr lang="ko-KR" altLang="en-US" dirty="0" err="1"/>
              <a:t>약인공지능입니다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특정 분야에서 사람의 일을 도와주는 보조 역할을 합니다</a:t>
            </a:r>
            <a:r>
              <a:rPr lang="en-US" altLang="ko-KR" dirty="0"/>
              <a:t>. </a:t>
            </a:r>
            <a:r>
              <a:rPr lang="ko-KR" altLang="en-US" dirty="0"/>
              <a:t>예를 들어보면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음성 비서</a:t>
            </a:r>
            <a:r>
              <a:rPr lang="en-US" altLang="ko-KR" dirty="0"/>
              <a:t>: </a:t>
            </a:r>
            <a:r>
              <a:rPr lang="ko-KR" altLang="en-US" dirty="0"/>
              <a:t>시리</a:t>
            </a:r>
            <a:r>
              <a:rPr lang="en-US" altLang="ko-KR" dirty="0"/>
              <a:t>, </a:t>
            </a:r>
            <a:r>
              <a:rPr lang="ko-KR" altLang="en-US" dirty="0" err="1"/>
              <a:t>빅스비</a:t>
            </a:r>
            <a:r>
              <a:rPr lang="en-US" altLang="ko-KR" dirty="0"/>
              <a:t>, </a:t>
            </a:r>
            <a:r>
              <a:rPr lang="ko-KR" altLang="en-US" dirty="0"/>
              <a:t>구글 </a:t>
            </a:r>
            <a:r>
              <a:rPr lang="ko-KR" altLang="en-US" dirty="0" err="1"/>
              <a:t>어시스턴트</a:t>
            </a:r>
            <a:r>
              <a:rPr lang="en-US" altLang="ko-KR" dirty="0"/>
              <a:t>. "</a:t>
            </a:r>
            <a:r>
              <a:rPr lang="ko-KR" altLang="en-US" dirty="0"/>
              <a:t>내일 날씨 알려줘</a:t>
            </a:r>
            <a:r>
              <a:rPr lang="en-US" altLang="ko-KR" dirty="0"/>
              <a:t>" </a:t>
            </a:r>
            <a:r>
              <a:rPr lang="ko-KR" altLang="en-US" dirty="0"/>
              <a:t>하면 답해주죠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자율 주행 자동차</a:t>
            </a:r>
            <a:r>
              <a:rPr lang="en-US" altLang="ko-KR" dirty="0"/>
              <a:t>: </a:t>
            </a:r>
            <a:r>
              <a:rPr lang="ko-KR" altLang="en-US" dirty="0" err="1"/>
              <a:t>테슬라</a:t>
            </a:r>
            <a:r>
              <a:rPr lang="ko-KR" altLang="en-US" dirty="0"/>
              <a:t> </a:t>
            </a:r>
            <a:r>
              <a:rPr lang="ko-KR" altLang="en-US" dirty="0" err="1"/>
              <a:t>오토파일럿</a:t>
            </a:r>
            <a:r>
              <a:rPr lang="en-US" altLang="ko-KR" dirty="0"/>
              <a:t>. </a:t>
            </a:r>
            <a:r>
              <a:rPr lang="ko-KR" altLang="en-US" dirty="0"/>
              <a:t>운전을 도와주지만</a:t>
            </a:r>
            <a:r>
              <a:rPr lang="en-US" altLang="ko-KR" dirty="0"/>
              <a:t>, </a:t>
            </a:r>
            <a:r>
              <a:rPr lang="ko-KR" altLang="en-US" dirty="0"/>
              <a:t>아직 완전한 자율주행은 </a:t>
            </a:r>
            <a:r>
              <a:rPr lang="ko-KR" altLang="en-US" dirty="0" err="1"/>
              <a:t>아니에요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음악 추천</a:t>
            </a:r>
            <a:r>
              <a:rPr lang="en-US" altLang="ko-KR" dirty="0"/>
              <a:t>: </a:t>
            </a:r>
            <a:r>
              <a:rPr lang="ko-KR" altLang="en-US" dirty="0"/>
              <a:t>스포티파이나 유튜브 뮤직에서 </a:t>
            </a:r>
            <a:r>
              <a:rPr lang="en-US" altLang="ko-KR" dirty="0"/>
              <a:t>"</a:t>
            </a:r>
            <a:r>
              <a:rPr lang="ko-KR" altLang="en-US" dirty="0"/>
              <a:t>너 이거 좋아할 것 같아</a:t>
            </a:r>
            <a:r>
              <a:rPr lang="en-US" altLang="ko-KR" dirty="0"/>
              <a:t>" </a:t>
            </a:r>
            <a:r>
              <a:rPr lang="ko-KR" altLang="en-US" dirty="0"/>
              <a:t>하고 추천해주는 거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기계 번역</a:t>
            </a:r>
            <a:r>
              <a:rPr lang="en-US" altLang="ko-KR" dirty="0"/>
              <a:t>: </a:t>
            </a:r>
            <a:r>
              <a:rPr lang="ko-KR" altLang="en-US" dirty="0"/>
              <a:t>구글 번역</a:t>
            </a:r>
            <a:r>
              <a:rPr lang="en-US" altLang="ko-KR" dirty="0"/>
              <a:t>, </a:t>
            </a:r>
            <a:r>
              <a:rPr lang="ko-KR" altLang="en-US" dirty="0" err="1"/>
              <a:t>파파고</a:t>
            </a:r>
            <a:r>
              <a:rPr lang="en-US" altLang="ko-KR" dirty="0"/>
              <a:t>. </a:t>
            </a:r>
            <a:r>
              <a:rPr lang="ko-KR" altLang="en-US" dirty="0"/>
              <a:t>옛날에 비하면 정말 놀라울 정도로 번역 품질이 좋아졌죠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이세돌과</a:t>
            </a:r>
            <a:r>
              <a:rPr lang="ko-KR" altLang="en-US" dirty="0"/>
              <a:t> 대국한 알파고도 </a:t>
            </a:r>
            <a:r>
              <a:rPr lang="ko-KR" altLang="en-US" dirty="0" err="1"/>
              <a:t>약인공지능입니다</a:t>
            </a:r>
            <a:r>
              <a:rPr lang="en-US" altLang="ko-KR" dirty="0"/>
              <a:t>. </a:t>
            </a:r>
            <a:r>
              <a:rPr lang="ko-KR" altLang="en-US" dirty="0"/>
              <a:t>바둑은 세계 최고 수준으로 두지만</a:t>
            </a:r>
            <a:r>
              <a:rPr lang="en-US" altLang="ko-KR" dirty="0"/>
              <a:t>, </a:t>
            </a:r>
            <a:r>
              <a:rPr lang="ko-KR" altLang="en-US" dirty="0"/>
              <a:t>알파고에게 </a:t>
            </a:r>
            <a:r>
              <a:rPr lang="en-US" altLang="ko-KR" dirty="0"/>
              <a:t>"</a:t>
            </a:r>
            <a:r>
              <a:rPr lang="ko-KR" altLang="en-US" dirty="0"/>
              <a:t>오늘 저녁 뭐 먹을까</a:t>
            </a:r>
            <a:r>
              <a:rPr lang="en-US" altLang="ko-KR" dirty="0"/>
              <a:t>?" </a:t>
            </a:r>
            <a:r>
              <a:rPr lang="ko-KR" altLang="en-US" dirty="0"/>
              <a:t>하면 답을 못합니다</a:t>
            </a:r>
            <a:r>
              <a:rPr lang="en-US" altLang="ko-KR" dirty="0"/>
              <a:t>. </a:t>
            </a:r>
            <a:r>
              <a:rPr lang="ko-KR" altLang="en-US" dirty="0"/>
              <a:t>바둑이라는 특정 영역에서만 뛰어난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우리 수업에서 배우는 </a:t>
            </a:r>
            <a:r>
              <a:rPr lang="ko-KR" altLang="en-US" dirty="0" err="1"/>
              <a:t>머신러닝도</a:t>
            </a:r>
            <a:r>
              <a:rPr lang="ko-KR" altLang="en-US" dirty="0"/>
              <a:t> 바로 이 약인공지능의 영역입니다</a:t>
            </a:r>
            <a:r>
              <a:rPr lang="en-US" altLang="ko-KR" dirty="0"/>
              <a:t>. "</a:t>
            </a:r>
            <a:r>
              <a:rPr lang="ko-KR" altLang="en-US" dirty="0"/>
              <a:t>이 생선이 도미인지 빙어인지 분류해줘</a:t>
            </a:r>
            <a:r>
              <a:rPr lang="en-US" altLang="ko-KR" dirty="0"/>
              <a:t>" </a:t>
            </a:r>
            <a:r>
              <a:rPr lang="ko-KR" altLang="en-US" dirty="0"/>
              <a:t>같은 특정 문제를 해결하는 모델을 만드는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잠깐</a:t>
            </a:r>
            <a:r>
              <a:rPr lang="en-US" altLang="ko-KR" dirty="0"/>
              <a:t>, </a:t>
            </a:r>
            <a:r>
              <a:rPr lang="ko-KR" altLang="en-US" dirty="0"/>
              <a:t>여기서 질문 하나 드리겠습니다</a:t>
            </a:r>
            <a:r>
              <a:rPr lang="en-US" altLang="ko-KR" dirty="0"/>
              <a:t>. </a:t>
            </a:r>
            <a:r>
              <a:rPr lang="ko-KR" altLang="en-US" dirty="0"/>
              <a:t>여러분이 일상에서 사용하는 </a:t>
            </a:r>
            <a:r>
              <a:rPr lang="en-US" altLang="ko-KR" dirty="0"/>
              <a:t>AI </a:t>
            </a:r>
            <a:r>
              <a:rPr lang="ko-KR" altLang="en-US" dirty="0"/>
              <a:t>서비스가 뭐가 있을까요</a:t>
            </a:r>
            <a:r>
              <a:rPr lang="en-US" altLang="ko-KR" dirty="0"/>
              <a:t>? </a:t>
            </a:r>
            <a:r>
              <a:rPr lang="ko-KR" altLang="en-US" dirty="0"/>
              <a:t>한번 생각해 보세요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 반응 기다림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네</a:t>
            </a:r>
            <a:r>
              <a:rPr lang="en-US" altLang="ko-KR" dirty="0"/>
              <a:t>, </a:t>
            </a:r>
            <a:r>
              <a:rPr lang="ko-KR" altLang="en-US" dirty="0" err="1"/>
              <a:t>챗</a:t>
            </a:r>
            <a:r>
              <a:rPr lang="en-US" altLang="ko-KR" dirty="0"/>
              <a:t>GPT, </a:t>
            </a:r>
            <a:r>
              <a:rPr lang="ko-KR" altLang="en-US" dirty="0"/>
              <a:t>유튜브 추천</a:t>
            </a:r>
            <a:r>
              <a:rPr lang="en-US" altLang="ko-KR" dirty="0"/>
              <a:t>, </a:t>
            </a:r>
            <a:r>
              <a:rPr lang="ko-KR" altLang="en-US" dirty="0" err="1"/>
              <a:t>인스타그램</a:t>
            </a:r>
            <a:r>
              <a:rPr lang="ko-KR" altLang="en-US" dirty="0"/>
              <a:t> </a:t>
            </a:r>
            <a:r>
              <a:rPr lang="ko-KR" altLang="en-US" dirty="0" err="1"/>
              <a:t>피드</a:t>
            </a:r>
            <a:r>
              <a:rPr lang="ko-KR" altLang="en-US" dirty="0"/>
              <a:t> 알고리즘</a:t>
            </a:r>
            <a:r>
              <a:rPr lang="en-US" altLang="ko-KR" dirty="0"/>
              <a:t>, </a:t>
            </a:r>
            <a:r>
              <a:rPr lang="ko-KR" altLang="en-US" dirty="0"/>
              <a:t>네이버 검색 자동완성</a:t>
            </a:r>
            <a:r>
              <a:rPr lang="en-US" altLang="ko-KR" dirty="0"/>
              <a:t>... </a:t>
            </a:r>
            <a:r>
              <a:rPr lang="ko-KR" altLang="en-US" dirty="0"/>
              <a:t>이런 것들이 다 약인공지능의 예시입니다</a:t>
            </a:r>
            <a:r>
              <a:rPr lang="en-US" altLang="ko-KR" dirty="0"/>
              <a:t>. </a:t>
            </a:r>
            <a:r>
              <a:rPr lang="ko-KR" altLang="en-US" dirty="0"/>
              <a:t>여러분은 이미 매일매일 </a:t>
            </a:r>
            <a:r>
              <a:rPr lang="en-US" altLang="ko-KR" dirty="0"/>
              <a:t>AI</a:t>
            </a:r>
            <a:r>
              <a:rPr lang="ko-KR" altLang="en-US" dirty="0"/>
              <a:t>를 쓰고 있었던 거예요</a:t>
            </a:r>
            <a:r>
              <a:rPr lang="en-US" altLang="ko-KR" dirty="0"/>
              <a:t>. </a:t>
            </a:r>
            <a:r>
              <a:rPr lang="ko-KR" altLang="en-US" dirty="0"/>
              <a:t>이번 학기에는 이런 기술의 뒤에 어떤 원리가 있는지 알아보는 겁니다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291" name="Google Shape;2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이제 </a:t>
            </a:r>
            <a:r>
              <a:rPr lang="ko-KR" altLang="en-US" dirty="0" err="1"/>
              <a:t>머신러닝에</a:t>
            </a:r>
            <a:r>
              <a:rPr lang="ko-KR" altLang="en-US" dirty="0"/>
              <a:t> 대해 알아보겠습니다</a:t>
            </a:r>
            <a:r>
              <a:rPr lang="en-US" altLang="ko-KR" dirty="0"/>
              <a:t>. </a:t>
            </a:r>
            <a:r>
              <a:rPr lang="ko-KR" altLang="en-US" dirty="0"/>
              <a:t>이 수업의 핵심 </a:t>
            </a:r>
            <a:r>
              <a:rPr lang="ko-KR" altLang="en-US" dirty="0" err="1"/>
              <a:t>주제죠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머신러닝이란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교재 정의를 읽어보겠습니다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&gt; "</a:t>
            </a:r>
            <a:r>
              <a:rPr lang="ko-KR" altLang="en-US" dirty="0"/>
              <a:t>규칙을 일일이 프로그래밍하지 않아도 자동으로 데이터에서 규칙을 학습하는 알고리즘을 연구하는 분야</a:t>
            </a:r>
            <a:r>
              <a:rPr lang="en-US" altLang="ko-KR" dirty="0"/>
              <a:t>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문장을 잘 뜯어보면 </a:t>
            </a:r>
            <a:r>
              <a:rPr lang="ko-KR" altLang="en-US" dirty="0" err="1"/>
              <a:t>머신러닝의</a:t>
            </a:r>
            <a:r>
              <a:rPr lang="ko-KR" altLang="en-US" dirty="0"/>
              <a:t> 본질이 보입니다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핵심 키워드 </a:t>
            </a:r>
            <a:r>
              <a:rPr lang="en-US" altLang="ko-KR" dirty="0"/>
              <a:t>1: "</a:t>
            </a:r>
            <a:r>
              <a:rPr lang="ko-KR" altLang="en-US" dirty="0"/>
              <a:t>규칙을 일일이 프로그래밍하지 않아도</a:t>
            </a:r>
            <a:r>
              <a:rPr lang="en-US" altLang="ko-KR" dirty="0"/>
              <a:t>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전통적인 프로그래밍은 어떻게 하나요</a:t>
            </a:r>
            <a:r>
              <a:rPr lang="en-US" altLang="ko-KR" dirty="0"/>
              <a:t>? </a:t>
            </a:r>
            <a:r>
              <a:rPr lang="ko-KR" altLang="en-US" dirty="0"/>
              <a:t>프로그래머가 규칙을 하나하나 코드로 짭니다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예를 들어 이메일 스팸 필터를 만든다고 해보세요</a:t>
            </a:r>
            <a:r>
              <a:rPr lang="en-US" altLang="ko-KR" dirty="0"/>
              <a:t>. </a:t>
            </a:r>
            <a:r>
              <a:rPr lang="ko-KR" altLang="en-US" dirty="0"/>
              <a:t>전통적 방식이라면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if "</a:t>
            </a:r>
            <a:r>
              <a:rPr lang="ko-KR" altLang="en-US" dirty="0"/>
              <a:t>무료</a:t>
            </a:r>
            <a:r>
              <a:rPr lang="en-US" altLang="ko-KR" dirty="0"/>
              <a:t>" in </a:t>
            </a:r>
            <a:r>
              <a:rPr lang="ko-KR" altLang="en-US" dirty="0"/>
              <a:t>이메일 </a:t>
            </a:r>
            <a:r>
              <a:rPr lang="en-US" altLang="ko-KR" dirty="0"/>
              <a:t>and "</a:t>
            </a:r>
            <a:r>
              <a:rPr lang="ko-KR" altLang="en-US" dirty="0"/>
              <a:t>당첨</a:t>
            </a:r>
            <a:r>
              <a:rPr lang="en-US" altLang="ko-KR" dirty="0"/>
              <a:t>" in </a:t>
            </a:r>
            <a:r>
              <a:rPr lang="ko-KR" altLang="en-US" dirty="0"/>
              <a:t>이메일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</a:t>
            </a:r>
            <a:r>
              <a:rPr lang="ko-KR" altLang="en-US" dirty="0"/>
              <a:t>스팸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elif</a:t>
            </a:r>
            <a:r>
              <a:rPr lang="en-US" altLang="ko-KR" dirty="0"/>
              <a:t> "</a:t>
            </a:r>
            <a:r>
              <a:rPr lang="ko-KR" altLang="en-US" dirty="0"/>
              <a:t>대출</a:t>
            </a:r>
            <a:r>
              <a:rPr lang="en-US" altLang="ko-KR" dirty="0"/>
              <a:t>" in </a:t>
            </a:r>
            <a:r>
              <a:rPr lang="ko-KR" altLang="en-US" dirty="0"/>
              <a:t>이메일 </a:t>
            </a:r>
            <a:r>
              <a:rPr lang="en-US" altLang="ko-KR" dirty="0"/>
              <a:t>and "</a:t>
            </a:r>
            <a:r>
              <a:rPr lang="ko-KR" altLang="en-US" dirty="0"/>
              <a:t>저금리</a:t>
            </a:r>
            <a:r>
              <a:rPr lang="en-US" altLang="ko-KR" dirty="0"/>
              <a:t>" in </a:t>
            </a:r>
            <a:r>
              <a:rPr lang="ko-KR" altLang="en-US" dirty="0"/>
              <a:t>이메일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</a:t>
            </a:r>
            <a:r>
              <a:rPr lang="ko-KR" altLang="en-US" dirty="0"/>
              <a:t>스팸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elif</a:t>
            </a:r>
            <a:r>
              <a:rPr lang="en-US" altLang="ko-KR" dirty="0"/>
              <a:t> ...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이런 식으로 규칙을 수백</a:t>
            </a:r>
            <a:r>
              <a:rPr lang="en-US" altLang="ko-KR" dirty="0"/>
              <a:t>, </a:t>
            </a:r>
            <a:r>
              <a:rPr lang="ko-KR" altLang="en-US" dirty="0"/>
              <a:t>수천 개를 만들어야 합니다</a:t>
            </a:r>
            <a:r>
              <a:rPr lang="en-US" altLang="ko-KR" dirty="0"/>
              <a:t>. </a:t>
            </a:r>
            <a:r>
              <a:rPr lang="ko-KR" altLang="en-US" dirty="0"/>
              <a:t>새로운 스팸 패턴이 나올 때마다 규칙을 추가해야 하고요</a:t>
            </a:r>
            <a:r>
              <a:rPr lang="en-US" altLang="ko-KR" dirty="0"/>
              <a:t>. </a:t>
            </a:r>
            <a:r>
              <a:rPr lang="ko-KR" altLang="en-US" dirty="0"/>
              <a:t>끝이 없죠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핵심 키워드 </a:t>
            </a:r>
            <a:r>
              <a:rPr lang="en-US" altLang="ko-KR" dirty="0"/>
              <a:t>2: "</a:t>
            </a:r>
            <a:r>
              <a:rPr lang="ko-KR" altLang="en-US" dirty="0"/>
              <a:t>자동으로 데이터에서 규칙을 학습</a:t>
            </a:r>
            <a:r>
              <a:rPr lang="en-US" altLang="ko-KR" dirty="0"/>
              <a:t>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머신러닝은</a:t>
            </a:r>
            <a:r>
              <a:rPr lang="ko-KR" altLang="en-US" dirty="0"/>
              <a:t> 다릅니다</a:t>
            </a:r>
            <a:r>
              <a:rPr lang="en-US" altLang="ko-KR" dirty="0"/>
              <a:t>. </a:t>
            </a:r>
            <a:r>
              <a:rPr lang="ko-KR" altLang="en-US" dirty="0"/>
              <a:t>스팸 메일 </a:t>
            </a:r>
            <a:r>
              <a:rPr lang="en-US" altLang="ko-KR" dirty="0"/>
              <a:t>1</a:t>
            </a:r>
            <a:r>
              <a:rPr lang="ko-KR" altLang="en-US" dirty="0"/>
              <a:t>만 개와 정상 메일 </a:t>
            </a:r>
            <a:r>
              <a:rPr lang="en-US" altLang="ko-KR" dirty="0"/>
              <a:t>1</a:t>
            </a:r>
            <a:r>
              <a:rPr lang="ko-KR" altLang="en-US" dirty="0"/>
              <a:t>만 개를 주고 </a:t>
            </a:r>
            <a:r>
              <a:rPr lang="en-US" altLang="ko-KR" dirty="0"/>
              <a:t>"</a:t>
            </a:r>
            <a:r>
              <a:rPr lang="ko-KR" altLang="en-US" dirty="0" err="1"/>
              <a:t>니가</a:t>
            </a:r>
            <a:r>
              <a:rPr lang="ko-KR" altLang="en-US" dirty="0"/>
              <a:t> 알아서 규칙을 찾아</a:t>
            </a:r>
            <a:r>
              <a:rPr lang="en-US" altLang="ko-KR" dirty="0"/>
              <a:t>"</a:t>
            </a:r>
            <a:r>
              <a:rPr lang="ko-KR" altLang="en-US" dirty="0"/>
              <a:t>라고 합니다</a:t>
            </a:r>
            <a:r>
              <a:rPr lang="en-US" altLang="ko-KR" dirty="0"/>
              <a:t>. </a:t>
            </a:r>
            <a:r>
              <a:rPr lang="ko-KR" altLang="en-US" dirty="0"/>
              <a:t>그러면 알고리즘이 데이터를 분석해서 스스로 패턴을 발견합니다</a:t>
            </a:r>
            <a:r>
              <a:rPr lang="en-US" altLang="ko-KR" dirty="0"/>
              <a:t>. "</a:t>
            </a:r>
            <a:r>
              <a:rPr lang="ko-KR" altLang="en-US" dirty="0"/>
              <a:t>이런 단어 조합이 나오면 스팸이더라</a:t>
            </a:r>
            <a:r>
              <a:rPr lang="en-US" altLang="ko-KR" dirty="0"/>
              <a:t>" </a:t>
            </a:r>
            <a:r>
              <a:rPr lang="ko-KR" altLang="en-US" dirty="0"/>
              <a:t>하는 규칙을 자동으로 만들어내는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이것이 </a:t>
            </a:r>
            <a:r>
              <a:rPr lang="ko-KR" altLang="en-US" dirty="0" err="1"/>
              <a:t>머신러닝의</a:t>
            </a:r>
            <a:r>
              <a:rPr lang="ko-KR" altLang="en-US" dirty="0"/>
              <a:t> 핵심입니다</a:t>
            </a:r>
            <a:r>
              <a:rPr lang="en-US" altLang="ko-KR" dirty="0"/>
              <a:t>. </a:t>
            </a:r>
            <a:r>
              <a:rPr lang="ko-KR" altLang="en-US" dirty="0"/>
              <a:t>사람이 규칙을 만드는 게 아니라</a:t>
            </a:r>
            <a:r>
              <a:rPr lang="en-US" altLang="ko-KR" dirty="0"/>
              <a:t>, </a:t>
            </a:r>
            <a:r>
              <a:rPr lang="ko-KR" altLang="en-US" dirty="0"/>
              <a:t>기계가 데이터로부터 규칙을 학습하는 것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머신러닝과</a:t>
            </a:r>
            <a:r>
              <a:rPr lang="ko-KR" altLang="en-US" dirty="0"/>
              <a:t> 통계학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머신러닝은</a:t>
            </a:r>
            <a:r>
              <a:rPr lang="ko-KR" altLang="en-US" dirty="0"/>
              <a:t> 통계학과 깊은 관련이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사실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알고리즘의 상당수가 통계학에서 유래했습니다</a:t>
            </a:r>
            <a:r>
              <a:rPr lang="en-US" altLang="ko-KR" dirty="0"/>
              <a:t>. </a:t>
            </a:r>
            <a:r>
              <a:rPr lang="ko-KR" altLang="en-US" dirty="0"/>
              <a:t>선형 회귀</a:t>
            </a:r>
            <a:r>
              <a:rPr lang="en-US" altLang="ko-KR" dirty="0"/>
              <a:t>, </a:t>
            </a:r>
            <a:r>
              <a:rPr lang="ko-KR" altLang="en-US" dirty="0"/>
              <a:t>로지스틱 회귀 같은 것들은 원래 통계학 </a:t>
            </a:r>
            <a:r>
              <a:rPr lang="ko-KR" altLang="en-US" dirty="0" err="1"/>
              <a:t>기법이에요</a:t>
            </a:r>
            <a:r>
              <a:rPr lang="en-US" altLang="ko-KR" dirty="0"/>
              <a:t>. </a:t>
            </a:r>
            <a:r>
              <a:rPr lang="ko-KR" altLang="en-US" dirty="0"/>
              <a:t>통계학에서 </a:t>
            </a:r>
            <a:r>
              <a:rPr lang="en-US" altLang="ko-KR" dirty="0"/>
              <a:t>"</a:t>
            </a:r>
            <a:r>
              <a:rPr lang="ko-KR" altLang="en-US" dirty="0"/>
              <a:t>이 데이터에 가장 잘 맞는 직선을 찾자</a:t>
            </a:r>
            <a:r>
              <a:rPr lang="en-US" altLang="ko-KR" dirty="0"/>
              <a:t>"</a:t>
            </a:r>
            <a:r>
              <a:rPr lang="ko-KR" altLang="en-US" dirty="0"/>
              <a:t>라고 하던 것을</a:t>
            </a:r>
            <a:r>
              <a:rPr lang="en-US" altLang="ko-KR" dirty="0"/>
              <a:t>, </a:t>
            </a:r>
            <a:r>
              <a:rPr lang="ko-KR" altLang="en-US" dirty="0"/>
              <a:t>컴퓨터 과학에서 </a:t>
            </a:r>
            <a:r>
              <a:rPr lang="en-US" altLang="ko-KR" dirty="0"/>
              <a:t>"</a:t>
            </a:r>
            <a:r>
              <a:rPr lang="ko-KR" altLang="en-US" dirty="0"/>
              <a:t>이걸 자동화해서 예측에 활용하자</a:t>
            </a:r>
            <a:r>
              <a:rPr lang="en-US" altLang="ko-KR" dirty="0"/>
              <a:t>"</a:t>
            </a:r>
            <a:r>
              <a:rPr lang="ko-KR" altLang="en-US" dirty="0"/>
              <a:t>로 확장한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R</a:t>
            </a:r>
            <a:r>
              <a:rPr lang="ko-KR" altLang="en-US" dirty="0"/>
              <a:t>이라는 프로그래밍 언어를 </a:t>
            </a:r>
            <a:r>
              <a:rPr lang="ko-KR" altLang="en-US" dirty="0" err="1"/>
              <a:t>들어보신</a:t>
            </a:r>
            <a:r>
              <a:rPr lang="ko-KR" altLang="en-US" dirty="0"/>
              <a:t> 분</a:t>
            </a:r>
            <a:r>
              <a:rPr lang="en-US" altLang="ko-KR" dirty="0"/>
              <a:t>? R</a:t>
            </a:r>
            <a:r>
              <a:rPr lang="ko-KR" altLang="en-US" dirty="0"/>
              <a:t>은 통계 분석용으로 아주 유명한 언어인데</a:t>
            </a:r>
            <a:r>
              <a:rPr lang="en-US" altLang="ko-KR" dirty="0"/>
              <a:t>, </a:t>
            </a:r>
            <a:r>
              <a:rPr lang="ko-KR" altLang="en-US" dirty="0"/>
              <a:t>여기에도 많은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알고리즘이 구현되어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하지만 최근에는 통계나 수학 이론보다는 경험적으로</a:t>
            </a:r>
            <a:r>
              <a:rPr lang="en-US" altLang="ko-KR" dirty="0"/>
              <a:t>(empirically) </a:t>
            </a:r>
            <a:r>
              <a:rPr lang="ko-KR" altLang="en-US" dirty="0"/>
              <a:t>발전하는 경우가 많습니다</a:t>
            </a:r>
            <a:r>
              <a:rPr lang="en-US" altLang="ko-KR" dirty="0"/>
              <a:t>. "</a:t>
            </a:r>
            <a:r>
              <a:rPr lang="ko-KR" altLang="en-US" dirty="0"/>
              <a:t>이론적으로 증명은 안 되는데</a:t>
            </a:r>
            <a:r>
              <a:rPr lang="en-US" altLang="ko-KR" dirty="0"/>
              <a:t>, </a:t>
            </a:r>
            <a:r>
              <a:rPr lang="ko-KR" altLang="en-US" dirty="0"/>
              <a:t>실험해보니까 잘 되더라</a:t>
            </a:r>
            <a:r>
              <a:rPr lang="en-US" altLang="ko-KR" dirty="0"/>
              <a:t>" </a:t>
            </a:r>
            <a:r>
              <a:rPr lang="ko-KR" altLang="en-US" dirty="0"/>
              <a:t>이런 경우가 꽤 있어요</a:t>
            </a:r>
            <a:r>
              <a:rPr lang="en-US" altLang="ko-KR" dirty="0"/>
              <a:t>. </a:t>
            </a:r>
            <a:r>
              <a:rPr lang="ko-KR" altLang="en-US" dirty="0" err="1"/>
              <a:t>딥러닝이</a:t>
            </a:r>
            <a:r>
              <a:rPr lang="ko-KR" altLang="en-US" dirty="0"/>
              <a:t> 특히 그렇습니다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사이킷런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scikit</a:t>
            </a:r>
            <a:r>
              <a:rPr lang="en-US" altLang="ko-KR" dirty="0"/>
              <a:t>-learn)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우리 수업에서 가장 많이 쓸 라이브러리가 바로 </a:t>
            </a:r>
            <a:r>
              <a:rPr lang="ko-KR" altLang="en-US" dirty="0" err="1"/>
              <a:t>사이킷런입니다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사이킷런은</a:t>
            </a:r>
            <a:r>
              <a:rPr lang="ko-KR" altLang="en-US" dirty="0"/>
              <a:t> </a:t>
            </a:r>
            <a:r>
              <a:rPr lang="ko-KR" altLang="en-US" dirty="0" err="1"/>
              <a:t>파이썬</a:t>
            </a:r>
            <a:r>
              <a:rPr lang="ko-KR" altLang="en-US" dirty="0"/>
              <a:t> 기반의 오픈소스 </a:t>
            </a:r>
            <a:r>
              <a:rPr lang="ko-KR" altLang="en-US" dirty="0" err="1"/>
              <a:t>머신러닝</a:t>
            </a:r>
            <a:r>
              <a:rPr lang="ko-KR" altLang="en-US" dirty="0"/>
              <a:t> 라이브러리입니다</a:t>
            </a:r>
            <a:r>
              <a:rPr lang="en-US" altLang="ko-KR" dirty="0"/>
              <a:t>. </a:t>
            </a:r>
            <a:r>
              <a:rPr lang="ko-KR" altLang="en-US" dirty="0"/>
              <a:t>이 라이브러리가 나오기 전에는 </a:t>
            </a:r>
            <a:r>
              <a:rPr lang="ko-KR" altLang="en-US" dirty="0" err="1"/>
              <a:t>머신러닝</a:t>
            </a:r>
            <a:r>
              <a:rPr lang="ko-KR" altLang="en-US" dirty="0"/>
              <a:t> 기술이 대부분 폐쇄적이었어요</a:t>
            </a:r>
            <a:r>
              <a:rPr lang="en-US" altLang="ko-KR" dirty="0"/>
              <a:t>. </a:t>
            </a:r>
            <a:r>
              <a:rPr lang="ko-KR" altLang="en-US" dirty="0"/>
              <a:t>전문 교육을 받거나 비싼 소프트웨어를 구매해야 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그런데 </a:t>
            </a:r>
            <a:r>
              <a:rPr lang="ko-KR" altLang="en-US" dirty="0" err="1"/>
              <a:t>사이킷런이</a:t>
            </a:r>
            <a:r>
              <a:rPr lang="ko-KR" altLang="en-US" dirty="0"/>
              <a:t> 오픈소스로 나온 이후로 </a:t>
            </a:r>
            <a:r>
              <a:rPr lang="ko-KR" altLang="en-US" dirty="0" err="1"/>
              <a:t>머신러닝</a:t>
            </a:r>
            <a:r>
              <a:rPr lang="ko-KR" altLang="en-US" dirty="0"/>
              <a:t> 분야가 폭발적으로 성장합니다</a:t>
            </a:r>
            <a:r>
              <a:rPr lang="en-US" altLang="ko-KR" dirty="0"/>
              <a:t>. </a:t>
            </a:r>
            <a:r>
              <a:rPr lang="ko-KR" altLang="en-US" dirty="0" err="1"/>
              <a:t>파이썬</a:t>
            </a:r>
            <a:r>
              <a:rPr lang="ko-KR" altLang="en-US" dirty="0"/>
              <a:t> 코드를 다룰 수 있다면 누구나 무료로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알고리즘을 사용할 수 있게 된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실제로 우리가 이번 학기에 만들 코드는</a:t>
            </a:r>
            <a:r>
              <a:rPr lang="en-US" altLang="ko-KR" dirty="0"/>
              <a:t>, </a:t>
            </a:r>
            <a:r>
              <a:rPr lang="ko-KR" altLang="en-US" dirty="0"/>
              <a:t>데이터 준비하는 부분을 빼면</a:t>
            </a:r>
            <a:r>
              <a:rPr lang="en-US" altLang="ko-KR" dirty="0"/>
              <a:t>, </a:t>
            </a:r>
            <a:r>
              <a:rPr lang="ko-KR" altLang="en-US" dirty="0"/>
              <a:t>핵심 코드가 </a:t>
            </a:r>
            <a:r>
              <a:rPr lang="en-US" altLang="ko-KR" dirty="0"/>
              <a:t>3~5</a:t>
            </a:r>
            <a:r>
              <a:rPr lang="ko-KR" altLang="en-US" dirty="0" err="1"/>
              <a:t>줄이에요</a:t>
            </a:r>
            <a:r>
              <a:rPr lang="en-US" altLang="ko-KR" dirty="0"/>
              <a:t>. </a:t>
            </a:r>
            <a:r>
              <a:rPr lang="ko-KR" altLang="en-US" dirty="0" err="1"/>
              <a:t>사이킷런이</a:t>
            </a:r>
            <a:r>
              <a:rPr lang="ko-KR" altLang="en-US" dirty="0"/>
              <a:t> 복잡한 알고리즘을 다 감싸주기 때문에</a:t>
            </a:r>
            <a:r>
              <a:rPr lang="en-US" altLang="ko-KR" dirty="0"/>
              <a:t>, </a:t>
            </a:r>
            <a:r>
              <a:rPr lang="ko-KR" altLang="en-US" dirty="0"/>
              <a:t>우리는 </a:t>
            </a:r>
            <a:r>
              <a:rPr lang="en-US" altLang="ko-KR" dirty="0"/>
              <a:t>"</a:t>
            </a:r>
            <a:r>
              <a:rPr lang="ko-KR" altLang="en-US" dirty="0"/>
              <a:t>어떤 알고리즘을 쓸지</a:t>
            </a:r>
            <a:r>
              <a:rPr lang="en-US" altLang="ko-KR" dirty="0"/>
              <a:t>", "</a:t>
            </a:r>
            <a:r>
              <a:rPr lang="ko-KR" altLang="en-US" dirty="0"/>
              <a:t>어떤 데이터를 넣을지</a:t>
            </a:r>
            <a:r>
              <a:rPr lang="en-US" altLang="ko-KR" dirty="0"/>
              <a:t>"</a:t>
            </a:r>
            <a:r>
              <a:rPr lang="ko-KR" altLang="en-US" dirty="0"/>
              <a:t>에만 집중하면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참고로 </a:t>
            </a:r>
            <a:r>
              <a:rPr lang="ko-KR" altLang="en-US" dirty="0" err="1"/>
              <a:t>사이킷런의</a:t>
            </a:r>
            <a:r>
              <a:rPr lang="ko-KR" altLang="en-US" dirty="0"/>
              <a:t> 공식 사이트는 </a:t>
            </a:r>
            <a:r>
              <a:rPr lang="en-US" altLang="ko-KR" dirty="0"/>
              <a:t>scikit-learn.org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영어 문서이긴 하지만</a:t>
            </a:r>
            <a:r>
              <a:rPr lang="en-US" altLang="ko-KR" dirty="0"/>
              <a:t>, </a:t>
            </a:r>
            <a:r>
              <a:rPr lang="ko-KR" altLang="en-US" dirty="0"/>
              <a:t>예제 코드가 잘 정리되어 있으니 나중에 참고하시면 좋습니다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299" name="Google Shape;2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이번에는 </a:t>
            </a:r>
            <a:r>
              <a:rPr lang="ko-KR" altLang="en-US" dirty="0" err="1"/>
              <a:t>딥러닝입니다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딥러닝이란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&gt; </a:t>
            </a:r>
            <a:r>
              <a:rPr lang="ko-KR" altLang="en-US" dirty="0" err="1"/>
              <a:t>딥러닝</a:t>
            </a:r>
            <a:r>
              <a:rPr lang="en-US" altLang="ko-KR" dirty="0"/>
              <a:t>(Deep Learning): </a:t>
            </a:r>
            <a:r>
              <a:rPr lang="ko-KR" altLang="en-US" dirty="0"/>
              <a:t>많은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 중에 인공 신경망</a:t>
            </a:r>
            <a:r>
              <a:rPr lang="en-US" altLang="ko-KR" dirty="0"/>
              <a:t>(Artificial Neural Network)</a:t>
            </a:r>
            <a:r>
              <a:rPr lang="ko-KR" altLang="en-US" dirty="0"/>
              <a:t>을 기반으로 한 방법들의 통칭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포인트는</a:t>
            </a:r>
            <a:r>
              <a:rPr lang="en-US" altLang="ko-KR" dirty="0"/>
              <a:t>, </a:t>
            </a:r>
            <a:r>
              <a:rPr lang="ko-KR" altLang="en-US" dirty="0" err="1"/>
              <a:t>딥러닝은</a:t>
            </a:r>
            <a:r>
              <a:rPr lang="ko-KR" altLang="en-US" dirty="0"/>
              <a:t> </a:t>
            </a:r>
            <a:r>
              <a:rPr lang="ko-KR" altLang="en-US" dirty="0" err="1"/>
              <a:t>머신러닝의</a:t>
            </a:r>
            <a:r>
              <a:rPr lang="ko-KR" altLang="en-US" dirty="0"/>
              <a:t> 하위 분야라는 것입니다</a:t>
            </a:r>
            <a:r>
              <a:rPr lang="en-US" altLang="ko-KR" dirty="0"/>
              <a:t>. </a:t>
            </a:r>
            <a:r>
              <a:rPr lang="ko-KR" altLang="en-US" dirty="0"/>
              <a:t>모든 </a:t>
            </a:r>
            <a:r>
              <a:rPr lang="ko-KR" altLang="en-US" dirty="0" err="1"/>
              <a:t>딥러닝은</a:t>
            </a:r>
            <a:r>
              <a:rPr lang="ko-KR" altLang="en-US" dirty="0"/>
              <a:t> </a:t>
            </a:r>
            <a:r>
              <a:rPr lang="ko-KR" altLang="en-US" dirty="0" err="1"/>
              <a:t>머신러닝이지만</a:t>
            </a:r>
            <a:r>
              <a:rPr lang="en-US" altLang="ko-KR" dirty="0"/>
              <a:t>, </a:t>
            </a:r>
            <a:r>
              <a:rPr lang="ko-KR" altLang="en-US" dirty="0"/>
              <a:t>모든 </a:t>
            </a:r>
            <a:r>
              <a:rPr lang="ko-KR" altLang="en-US" dirty="0" err="1"/>
              <a:t>머신러닝이</a:t>
            </a:r>
            <a:r>
              <a:rPr lang="ko-KR" altLang="en-US" dirty="0"/>
              <a:t> </a:t>
            </a:r>
            <a:r>
              <a:rPr lang="ko-KR" altLang="en-US" dirty="0" err="1"/>
              <a:t>딥러닝은</a:t>
            </a:r>
            <a:r>
              <a:rPr lang="ko-KR" altLang="en-US" dirty="0"/>
              <a:t> 아닙니다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"</a:t>
            </a:r>
            <a:r>
              <a:rPr lang="ko-KR" altLang="en-US" dirty="0"/>
              <a:t>딥</a:t>
            </a:r>
            <a:r>
              <a:rPr lang="en-US" altLang="ko-KR" dirty="0"/>
              <a:t>"</a:t>
            </a:r>
            <a:r>
              <a:rPr lang="ko-KR" altLang="en-US" dirty="0"/>
              <a:t>이라는 이름이 붙은 이유는</a:t>
            </a:r>
            <a:r>
              <a:rPr lang="en-US" altLang="ko-KR" dirty="0"/>
              <a:t>, </a:t>
            </a:r>
            <a:r>
              <a:rPr lang="ko-KR" altLang="en-US" dirty="0"/>
              <a:t>신경망의 층</a:t>
            </a:r>
            <a:r>
              <a:rPr lang="en-US" altLang="ko-KR" dirty="0"/>
              <a:t>(layer)</a:t>
            </a:r>
            <a:r>
              <a:rPr lang="ko-KR" altLang="en-US" dirty="0"/>
              <a:t>이 깊게</a:t>
            </a:r>
            <a:r>
              <a:rPr lang="en-US" altLang="ko-KR" dirty="0"/>
              <a:t>(deep) </a:t>
            </a:r>
            <a:r>
              <a:rPr lang="ko-KR" altLang="en-US" dirty="0"/>
              <a:t>쌓여 있기 때문입니다</a:t>
            </a:r>
            <a:r>
              <a:rPr lang="en-US" altLang="ko-KR" dirty="0"/>
              <a:t>. </a:t>
            </a:r>
            <a:r>
              <a:rPr lang="ko-KR" altLang="en-US" dirty="0"/>
              <a:t>보통 인공 신경망이 </a:t>
            </a:r>
            <a:r>
              <a:rPr lang="en-US" altLang="ko-KR" dirty="0"/>
              <a:t>2~3</a:t>
            </a:r>
            <a:r>
              <a:rPr lang="ko-KR" altLang="en-US" dirty="0"/>
              <a:t>층이면 얕은</a:t>
            </a:r>
            <a:r>
              <a:rPr lang="en-US" altLang="ko-KR" dirty="0"/>
              <a:t>(shallow) </a:t>
            </a:r>
            <a:r>
              <a:rPr lang="ko-KR" altLang="en-US" dirty="0"/>
              <a:t>신경망이고</a:t>
            </a:r>
            <a:r>
              <a:rPr lang="en-US" altLang="ko-KR" dirty="0"/>
              <a:t>, </a:t>
            </a:r>
            <a:r>
              <a:rPr lang="ko-KR" altLang="en-US" dirty="0"/>
              <a:t>수십 층 이상이면 </a:t>
            </a:r>
            <a:r>
              <a:rPr lang="ko-KR" altLang="en-US" dirty="0" err="1"/>
              <a:t>딥러닝이라고</a:t>
            </a:r>
            <a:r>
              <a:rPr lang="ko-KR" altLang="en-US" dirty="0"/>
              <a:t> 부릅니다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딥러닝의</a:t>
            </a:r>
            <a:r>
              <a:rPr lang="ko-KR" altLang="en-US" dirty="0"/>
              <a:t> 주요 역사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- 1998</a:t>
            </a:r>
            <a:r>
              <a:rPr lang="ko-KR" altLang="en-US" dirty="0"/>
              <a:t>년</a:t>
            </a:r>
            <a:r>
              <a:rPr lang="en-US" altLang="ko-KR" dirty="0"/>
              <a:t>, LeNet-5: </a:t>
            </a:r>
            <a:r>
              <a:rPr lang="ko-KR" altLang="en-US" dirty="0"/>
              <a:t>얀 </a:t>
            </a:r>
            <a:r>
              <a:rPr lang="ko-KR" altLang="en-US" dirty="0" err="1"/>
              <a:t>르쿤이</a:t>
            </a:r>
            <a:r>
              <a:rPr lang="ko-KR" altLang="en-US" dirty="0"/>
              <a:t> 만든 </a:t>
            </a:r>
            <a:r>
              <a:rPr lang="ko-KR" altLang="en-US" dirty="0" err="1"/>
              <a:t>합성곱</a:t>
            </a:r>
            <a:r>
              <a:rPr lang="ko-KR" altLang="en-US" dirty="0"/>
              <a:t> 신경망</a:t>
            </a:r>
            <a:r>
              <a:rPr lang="en-US" altLang="ko-KR" dirty="0"/>
              <a:t>. </a:t>
            </a:r>
            <a:r>
              <a:rPr lang="ko-KR" altLang="en-US" dirty="0" err="1"/>
              <a:t>손글씨</a:t>
            </a:r>
            <a:r>
              <a:rPr lang="ko-KR" altLang="en-US" dirty="0"/>
              <a:t> 숫자를 인식했습니다</a:t>
            </a:r>
            <a:r>
              <a:rPr lang="en-US" altLang="ko-KR" dirty="0"/>
              <a:t>. </a:t>
            </a:r>
            <a:r>
              <a:rPr lang="ko-KR" altLang="en-US" dirty="0"/>
              <a:t>우편번호 자동 인식에 사용되었어요</a:t>
            </a:r>
            <a:r>
              <a:rPr lang="en-US" altLang="ko-KR" dirty="0"/>
              <a:t>. </a:t>
            </a:r>
            <a:r>
              <a:rPr lang="ko-KR" altLang="en-US" dirty="0"/>
              <a:t>이게 </a:t>
            </a:r>
            <a:r>
              <a:rPr lang="en-US" altLang="ko-KR" dirty="0"/>
              <a:t>CNN(Convolutional Neural Network)</a:t>
            </a:r>
            <a:r>
              <a:rPr lang="ko-KR" altLang="en-US" dirty="0"/>
              <a:t>의 원조입니다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- 2012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en-US" altLang="ko-KR" dirty="0" err="1"/>
              <a:t>AlexNet</a:t>
            </a:r>
            <a:r>
              <a:rPr lang="en-US" altLang="ko-KR" dirty="0"/>
              <a:t>: </a:t>
            </a:r>
            <a:r>
              <a:rPr lang="ko-KR" altLang="en-US" dirty="0"/>
              <a:t>아까 타임라인에서도 언급한 </a:t>
            </a:r>
            <a:r>
              <a:rPr lang="ko-KR" altLang="en-US" dirty="0" err="1"/>
              <a:t>제프리</a:t>
            </a:r>
            <a:r>
              <a:rPr lang="ko-KR" altLang="en-US" dirty="0"/>
              <a:t> </a:t>
            </a:r>
            <a:r>
              <a:rPr lang="ko-KR" altLang="en-US" dirty="0" err="1"/>
              <a:t>힌턴</a:t>
            </a:r>
            <a:r>
              <a:rPr lang="ko-KR" altLang="en-US" dirty="0"/>
              <a:t> 팀의 모델입니다</a:t>
            </a:r>
            <a:r>
              <a:rPr lang="en-US" altLang="ko-KR" dirty="0"/>
              <a:t>. ImageNet</a:t>
            </a:r>
            <a:r>
              <a:rPr lang="ko-KR" altLang="en-US" dirty="0"/>
              <a:t>이라는 이미지 분류 대회에서 기존의 전통적인 </a:t>
            </a:r>
            <a:r>
              <a:rPr lang="ko-KR" altLang="en-US" dirty="0" err="1"/>
              <a:t>머신러닝</a:t>
            </a:r>
            <a:r>
              <a:rPr lang="ko-KR" altLang="en-US" dirty="0"/>
              <a:t> 방법을 압도적으로 이겼습니다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</a:t>
            </a:r>
            <a:r>
              <a:rPr lang="ko-KR" altLang="en-US" dirty="0"/>
              <a:t>이 사건이 왜 </a:t>
            </a:r>
            <a:r>
              <a:rPr lang="ko-KR" altLang="en-US" dirty="0" err="1"/>
              <a:t>중요하냐면</a:t>
            </a:r>
            <a:r>
              <a:rPr lang="en-US" altLang="ko-KR" dirty="0"/>
              <a:t>, </a:t>
            </a:r>
            <a:r>
              <a:rPr lang="ko-KR" altLang="en-US" dirty="0"/>
              <a:t>이전까지 신경망은 </a:t>
            </a:r>
            <a:r>
              <a:rPr lang="en-US" altLang="ko-KR" dirty="0"/>
              <a:t>"</a:t>
            </a:r>
            <a:r>
              <a:rPr lang="ko-KR" altLang="en-US" dirty="0"/>
              <a:t>구시대적인 기술</a:t>
            </a:r>
            <a:r>
              <a:rPr lang="en-US" altLang="ko-KR" dirty="0"/>
              <a:t>" </a:t>
            </a:r>
            <a:r>
              <a:rPr lang="ko-KR" altLang="en-US" dirty="0"/>
              <a:t>취급을 </a:t>
            </a:r>
            <a:r>
              <a:rPr lang="ko-KR" altLang="en-US" dirty="0" err="1"/>
              <a:t>받았거든요</a:t>
            </a:r>
            <a:r>
              <a:rPr lang="en-US" altLang="ko-KR" dirty="0"/>
              <a:t>. </a:t>
            </a:r>
            <a:r>
              <a:rPr lang="ko-KR" altLang="en-US" dirty="0"/>
              <a:t>그런데 </a:t>
            </a:r>
            <a:r>
              <a:rPr lang="en-US" altLang="ko-KR" dirty="0" err="1"/>
              <a:t>AlexNet</a:t>
            </a:r>
            <a:r>
              <a:rPr lang="ko-KR" altLang="en-US" dirty="0"/>
              <a:t>이 </a:t>
            </a:r>
            <a:r>
              <a:rPr lang="en-US" altLang="ko-KR" dirty="0"/>
              <a:t>"</a:t>
            </a:r>
            <a:r>
              <a:rPr lang="ko-KR" altLang="en-US" dirty="0"/>
              <a:t>아닙니다</a:t>
            </a:r>
            <a:r>
              <a:rPr lang="en-US" altLang="ko-KR" dirty="0"/>
              <a:t>, </a:t>
            </a:r>
            <a:r>
              <a:rPr lang="ko-KR" altLang="en-US" dirty="0"/>
              <a:t>데이터가 많고 컴퓨터가 빠르면 신경망이 최고입니다</a:t>
            </a:r>
            <a:r>
              <a:rPr lang="en-US" altLang="ko-KR" dirty="0"/>
              <a:t>"</a:t>
            </a:r>
            <a:r>
              <a:rPr lang="ko-KR" altLang="en-US" dirty="0"/>
              <a:t>라는 것을 증명한 겁니다</a:t>
            </a:r>
            <a:r>
              <a:rPr lang="en-US" altLang="ko-KR" dirty="0"/>
              <a:t>. </a:t>
            </a:r>
            <a:r>
              <a:rPr lang="ko-KR" altLang="en-US" dirty="0"/>
              <a:t>이 사건 이후로 </a:t>
            </a:r>
            <a:r>
              <a:rPr lang="ko-KR" altLang="en-US" dirty="0" err="1"/>
              <a:t>딥러닝</a:t>
            </a:r>
            <a:r>
              <a:rPr lang="ko-KR" altLang="en-US" dirty="0"/>
              <a:t> 연구가 폭발적으로 늘어납니다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- 2016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 err="1"/>
              <a:t>알파고</a:t>
            </a:r>
            <a:r>
              <a:rPr lang="en-US" altLang="ko-KR" dirty="0"/>
              <a:t>: </a:t>
            </a:r>
            <a:r>
              <a:rPr lang="ko-KR" altLang="en-US" dirty="0"/>
              <a:t>다시 한번 강조하지만</a:t>
            </a:r>
            <a:r>
              <a:rPr lang="en-US" altLang="ko-KR" dirty="0"/>
              <a:t>, </a:t>
            </a:r>
            <a:r>
              <a:rPr lang="ko-KR" altLang="en-US" dirty="0"/>
              <a:t>국내에서는 이 사건이 </a:t>
            </a:r>
            <a:r>
              <a:rPr lang="en-US" altLang="ko-KR" dirty="0"/>
              <a:t>AI </a:t>
            </a:r>
            <a:r>
              <a:rPr lang="ko-KR" altLang="en-US" dirty="0"/>
              <a:t>붐의 기폭제가 되었습니다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- 2022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en-US" altLang="ko-KR" dirty="0" err="1"/>
              <a:t>ChatGPT</a:t>
            </a:r>
            <a:r>
              <a:rPr lang="en-US" altLang="ko-KR" dirty="0"/>
              <a:t>: </a:t>
            </a:r>
            <a:r>
              <a:rPr lang="ko-KR" altLang="en-US" dirty="0"/>
              <a:t>대규모 언어 모델</a:t>
            </a:r>
            <a:r>
              <a:rPr lang="en-US" altLang="ko-KR" dirty="0"/>
              <a:t>(LLM)</a:t>
            </a:r>
            <a:r>
              <a:rPr lang="ko-KR" altLang="en-US" dirty="0"/>
              <a:t>이라는 새로운 패러다임을 열었습니다</a:t>
            </a:r>
            <a:r>
              <a:rPr lang="en-US" altLang="ko-KR" dirty="0"/>
              <a:t>. </a:t>
            </a:r>
            <a:r>
              <a:rPr lang="ko-KR" altLang="en-US" dirty="0"/>
              <a:t>여러분이 쓰고 있는 </a:t>
            </a:r>
            <a:r>
              <a:rPr lang="en-US" altLang="ko-KR" dirty="0" err="1"/>
              <a:t>ChatGPT</a:t>
            </a:r>
            <a:r>
              <a:rPr lang="en-US" altLang="ko-KR" dirty="0"/>
              <a:t>, Claude, Gemini </a:t>
            </a:r>
            <a:r>
              <a:rPr lang="ko-KR" altLang="en-US" dirty="0"/>
              <a:t>같은 서비스들이 다 이 기술 기반입니다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중요한 점은</a:t>
            </a:r>
            <a:r>
              <a:rPr lang="en-US" altLang="ko-KR" dirty="0"/>
              <a:t>, </a:t>
            </a:r>
            <a:r>
              <a:rPr lang="ko-KR" altLang="en-US" dirty="0"/>
              <a:t>이 수업에서는 </a:t>
            </a:r>
            <a:r>
              <a:rPr lang="ko-KR" altLang="en-US" dirty="0" err="1"/>
              <a:t>딥러닝을</a:t>
            </a:r>
            <a:r>
              <a:rPr lang="ko-KR" altLang="en-US" dirty="0"/>
              <a:t> 직접 다루지는 않습니다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ko-KR" altLang="en-US" dirty="0" err="1"/>
              <a:t>머신러닝의</a:t>
            </a:r>
            <a:r>
              <a:rPr lang="ko-KR" altLang="en-US" dirty="0"/>
              <a:t> 기초를 잘 </a:t>
            </a:r>
            <a:r>
              <a:rPr lang="ko-KR" altLang="en-US" dirty="0" err="1"/>
              <a:t>잡아놓으면</a:t>
            </a:r>
            <a:r>
              <a:rPr lang="ko-KR" altLang="en-US" dirty="0"/>
              <a:t> </a:t>
            </a:r>
            <a:r>
              <a:rPr lang="ko-KR" altLang="en-US" dirty="0" err="1"/>
              <a:t>딥러닝을</a:t>
            </a:r>
            <a:r>
              <a:rPr lang="ko-KR" altLang="en-US" dirty="0"/>
              <a:t> 배울 때 훨씬 수월합니다</a:t>
            </a:r>
            <a:r>
              <a:rPr lang="en-US" altLang="ko-KR" dirty="0"/>
              <a:t>. </a:t>
            </a:r>
            <a:r>
              <a:rPr lang="ko-KR" altLang="en-US" dirty="0"/>
              <a:t>데이터 준비</a:t>
            </a:r>
            <a:r>
              <a:rPr lang="en-US" altLang="ko-KR" dirty="0"/>
              <a:t>, </a:t>
            </a:r>
            <a:r>
              <a:rPr lang="ko-KR" altLang="en-US" dirty="0"/>
              <a:t>훈련</a:t>
            </a:r>
            <a:r>
              <a:rPr lang="en-US" altLang="ko-KR" dirty="0"/>
              <a:t>, </a:t>
            </a:r>
            <a:r>
              <a:rPr lang="ko-KR" altLang="en-US" dirty="0"/>
              <a:t>평가 같은 기본 과정은 동일하거든요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307" name="Google Shape;3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인공 신경망 성능 발전의 원동력 세 가지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딥러닝이</a:t>
            </a:r>
            <a:r>
              <a:rPr lang="ko-KR" altLang="en-US" dirty="0"/>
              <a:t> 왜 갑자기 이렇게 잘 되기 시작했는지</a:t>
            </a:r>
            <a:r>
              <a:rPr lang="en-US" altLang="ko-KR" dirty="0"/>
              <a:t>, </a:t>
            </a:r>
            <a:r>
              <a:rPr lang="ko-KR" altLang="en-US" dirty="0"/>
              <a:t>그 이유를 세 가지로 정리할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</a:t>
            </a:r>
            <a:r>
              <a:rPr lang="ko-KR" altLang="en-US" dirty="0"/>
              <a:t>풍부한 데이터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과거에는 데이터를 모으는 것 자체가 힘들었습니다</a:t>
            </a:r>
            <a:r>
              <a:rPr lang="en-US" altLang="ko-KR" dirty="0"/>
              <a:t>. </a:t>
            </a:r>
            <a:r>
              <a:rPr lang="ko-KR" altLang="en-US" dirty="0"/>
              <a:t>하지만 인터넷과 스마트폰 시대가 열리면서 엄청난 양의 데이터가 쏟아져 나오기 시작했죠</a:t>
            </a:r>
            <a:r>
              <a:rPr lang="en-US" altLang="ko-KR" dirty="0"/>
              <a:t>. </a:t>
            </a:r>
            <a:r>
              <a:rPr lang="ko-KR" altLang="en-US" dirty="0"/>
              <a:t>페이스북의 사진</a:t>
            </a:r>
            <a:r>
              <a:rPr lang="en-US" altLang="ko-KR" dirty="0"/>
              <a:t>, </a:t>
            </a:r>
            <a:r>
              <a:rPr lang="ko-KR" altLang="en-US" dirty="0"/>
              <a:t>유튜브의 영상</a:t>
            </a:r>
            <a:r>
              <a:rPr lang="en-US" altLang="ko-KR" dirty="0"/>
              <a:t>, </a:t>
            </a:r>
            <a:r>
              <a:rPr lang="ko-KR" altLang="en-US" dirty="0"/>
              <a:t>아마존의 구매 기록</a:t>
            </a:r>
            <a:r>
              <a:rPr lang="en-US" altLang="ko-KR" dirty="0"/>
              <a:t>... </a:t>
            </a:r>
            <a:r>
              <a:rPr lang="ko-KR" altLang="en-US" dirty="0"/>
              <a:t>이런 빅데이터가 </a:t>
            </a:r>
            <a:r>
              <a:rPr lang="ko-KR" altLang="en-US" dirty="0" err="1"/>
              <a:t>딥러닝의</a:t>
            </a:r>
            <a:r>
              <a:rPr lang="ko-KR" altLang="en-US" dirty="0"/>
              <a:t> 연료가 된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딥러닝은</a:t>
            </a:r>
            <a:r>
              <a:rPr lang="ko-KR" altLang="en-US" dirty="0"/>
              <a:t> 데이터가 많을수록 성능이 좋아지는 특성이 있어요</a:t>
            </a:r>
            <a:r>
              <a:rPr lang="en-US" altLang="ko-KR" dirty="0"/>
              <a:t>. </a:t>
            </a:r>
            <a:r>
              <a:rPr lang="ko-KR" altLang="en-US" dirty="0"/>
              <a:t>전통적인 </a:t>
            </a:r>
            <a:r>
              <a:rPr lang="ko-KR" altLang="en-US" dirty="0" err="1"/>
              <a:t>머신러닝은</a:t>
            </a:r>
            <a:r>
              <a:rPr lang="ko-KR" altLang="en-US" dirty="0"/>
              <a:t> 데이터가 어느 정도 이상 늘어나면 성능 향상이 멈추는 경우가 있는데</a:t>
            </a:r>
            <a:r>
              <a:rPr lang="en-US" altLang="ko-KR" dirty="0"/>
              <a:t>, </a:t>
            </a:r>
            <a:r>
              <a:rPr lang="ko-KR" altLang="en-US" dirty="0" err="1"/>
              <a:t>딥러닝은</a:t>
            </a:r>
            <a:r>
              <a:rPr lang="ko-KR" altLang="en-US" dirty="0"/>
              <a:t> 데이터를 더 많이 넣을수록 계속 성능이 오릅니다</a:t>
            </a:r>
            <a:r>
              <a:rPr lang="en-US" altLang="ko-KR" dirty="0"/>
              <a:t>. </a:t>
            </a:r>
            <a:r>
              <a:rPr lang="ko-KR" altLang="en-US" dirty="0"/>
              <a:t>물론 무한히 오르는 건 </a:t>
            </a:r>
            <a:r>
              <a:rPr lang="ko-KR" altLang="en-US" dirty="0" err="1"/>
              <a:t>아니지만요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</a:t>
            </a:r>
            <a:r>
              <a:rPr lang="ko-KR" altLang="en-US" dirty="0"/>
              <a:t>컴퓨터 성능의 향상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특히 </a:t>
            </a:r>
            <a:r>
              <a:rPr lang="en-US" altLang="ko-KR" dirty="0"/>
              <a:t>GPU(</a:t>
            </a:r>
            <a:r>
              <a:rPr lang="ko-KR" altLang="en-US" dirty="0"/>
              <a:t>그래픽 처리 장치</a:t>
            </a:r>
            <a:r>
              <a:rPr lang="en-US" altLang="ko-KR" dirty="0"/>
              <a:t>)</a:t>
            </a:r>
            <a:r>
              <a:rPr lang="ko-KR" altLang="en-US" dirty="0"/>
              <a:t>의 발전이 결정적이었습니다</a:t>
            </a:r>
            <a:r>
              <a:rPr lang="en-US" altLang="ko-KR" dirty="0"/>
              <a:t>. </a:t>
            </a:r>
            <a:r>
              <a:rPr lang="ko-KR" altLang="en-US" dirty="0"/>
              <a:t>원래 게임 그래픽을 위해 만들어진 </a:t>
            </a:r>
            <a:r>
              <a:rPr lang="en-US" altLang="ko-KR" dirty="0"/>
              <a:t>GPU</a:t>
            </a:r>
            <a:r>
              <a:rPr lang="ko-KR" altLang="en-US" dirty="0"/>
              <a:t>가</a:t>
            </a:r>
            <a:r>
              <a:rPr lang="en-US" altLang="ko-KR" dirty="0"/>
              <a:t>, </a:t>
            </a:r>
            <a:r>
              <a:rPr lang="ko-KR" altLang="en-US" dirty="0"/>
              <a:t>알고 보니 신경망의 행렬 연산을 매우 빠르게 처리할 수 있었던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NVIDIA</a:t>
            </a:r>
            <a:r>
              <a:rPr lang="ko-KR" altLang="en-US" dirty="0"/>
              <a:t>라는 회사의 주식이 최근 몇 년간 엄청나게 올랐죠</a:t>
            </a:r>
            <a:r>
              <a:rPr lang="en-US" altLang="ko-KR" dirty="0"/>
              <a:t>? </a:t>
            </a:r>
            <a:r>
              <a:rPr lang="ko-KR" altLang="en-US" dirty="0"/>
              <a:t>그게 다 </a:t>
            </a:r>
            <a:r>
              <a:rPr lang="ko-KR" altLang="en-US" dirty="0" err="1"/>
              <a:t>딥러닝</a:t>
            </a:r>
            <a:r>
              <a:rPr lang="ko-KR" altLang="en-US" dirty="0"/>
              <a:t> 때문입니다</a:t>
            </a:r>
            <a:r>
              <a:rPr lang="en-US" altLang="ko-KR" dirty="0"/>
              <a:t>. AI </a:t>
            </a:r>
            <a:r>
              <a:rPr lang="ko-KR" altLang="en-US" dirty="0"/>
              <a:t>학습에 </a:t>
            </a:r>
            <a:r>
              <a:rPr lang="en-US" altLang="ko-KR" dirty="0"/>
              <a:t>GPU</a:t>
            </a:r>
            <a:r>
              <a:rPr lang="ko-KR" altLang="en-US" dirty="0"/>
              <a:t>가 필수이니까요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3. </a:t>
            </a:r>
            <a:r>
              <a:rPr lang="ko-KR" altLang="en-US" dirty="0"/>
              <a:t>혁신적인 알고리즘 개발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드롭아웃</a:t>
            </a:r>
            <a:r>
              <a:rPr lang="en-US" altLang="ko-KR" dirty="0"/>
              <a:t>(Dropout), </a:t>
            </a:r>
            <a:r>
              <a:rPr lang="ko-KR" altLang="en-US" dirty="0"/>
              <a:t>배치 정규화</a:t>
            </a:r>
            <a:r>
              <a:rPr lang="en-US" altLang="ko-KR" dirty="0"/>
              <a:t>(Batch Normalization), </a:t>
            </a:r>
            <a:r>
              <a:rPr lang="ko-KR" altLang="en-US" dirty="0" err="1"/>
              <a:t>어텐션</a:t>
            </a:r>
            <a:r>
              <a:rPr lang="en-US" altLang="ko-KR" dirty="0"/>
              <a:t>(Attention) </a:t>
            </a:r>
            <a:r>
              <a:rPr lang="ko-KR" altLang="en-US" dirty="0"/>
              <a:t>메커니즘 같은 새로운 기법들이 계속 개발되면서 신경망의 성능이 비약적으로 향상되었습니다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주요 </a:t>
            </a:r>
            <a:r>
              <a:rPr lang="ko-KR" altLang="en-US" dirty="0" err="1"/>
              <a:t>딥러닝</a:t>
            </a:r>
            <a:r>
              <a:rPr lang="ko-KR" altLang="en-US" dirty="0"/>
              <a:t> 라이브러리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슬라이드 하단의 벤 다이어그램을 보시면</a:t>
            </a:r>
            <a:r>
              <a:rPr lang="en-US" altLang="ko-KR" dirty="0"/>
              <a:t>, </a:t>
            </a:r>
            <a:r>
              <a:rPr lang="ko-KR" altLang="en-US" dirty="0"/>
              <a:t>인공지능 </a:t>
            </a:r>
            <a:r>
              <a:rPr lang="en-US" altLang="ko-KR" dirty="0"/>
              <a:t>&gt; </a:t>
            </a:r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 err="1"/>
              <a:t>딥러닝의</a:t>
            </a:r>
            <a:r>
              <a:rPr lang="ko-KR" altLang="en-US" dirty="0"/>
              <a:t> 포함 관계가 잘 나와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그리고 라이브러리도 정리해 </a:t>
            </a:r>
            <a:r>
              <a:rPr lang="ko-KR" altLang="en-US" dirty="0" err="1"/>
              <a:t>둘게요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/>
              <a:t>분야 </a:t>
            </a:r>
            <a:r>
              <a:rPr lang="en-US" altLang="ko-KR" dirty="0"/>
              <a:t>| </a:t>
            </a:r>
            <a:r>
              <a:rPr lang="ko-KR" altLang="en-US" dirty="0"/>
              <a:t>대표 라이브러리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|---|---|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en-US" altLang="ko-KR" dirty="0"/>
              <a:t>| </a:t>
            </a:r>
            <a:r>
              <a:rPr lang="ko-KR" altLang="en-US" dirty="0" err="1"/>
              <a:t>사이킷런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scikit</a:t>
            </a:r>
            <a:r>
              <a:rPr lang="en-US" altLang="ko-KR" dirty="0"/>
              <a:t>-learn) — </a:t>
            </a:r>
            <a:r>
              <a:rPr lang="ko-KR" altLang="en-US" dirty="0"/>
              <a:t>우리 수업에서 쓸 것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 err="1"/>
              <a:t>딥러닝</a:t>
            </a:r>
            <a:r>
              <a:rPr lang="ko-KR" altLang="en-US" dirty="0"/>
              <a:t> </a:t>
            </a:r>
            <a:r>
              <a:rPr lang="en-US" altLang="ko-KR" dirty="0"/>
              <a:t>| </a:t>
            </a:r>
            <a:r>
              <a:rPr lang="ko-KR" altLang="en-US" dirty="0" err="1"/>
              <a:t>텐서플로</a:t>
            </a:r>
            <a:r>
              <a:rPr lang="ko-KR" altLang="en-US" dirty="0"/>
              <a:t> </a:t>
            </a:r>
            <a:r>
              <a:rPr lang="en-US" altLang="ko-KR" dirty="0"/>
              <a:t>(TensorFlow) — 2015</a:t>
            </a:r>
            <a:r>
              <a:rPr lang="ko-KR" altLang="en-US" dirty="0"/>
              <a:t>년 구글이 오픈소스 공개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 err="1"/>
              <a:t>딥러닝</a:t>
            </a:r>
            <a:r>
              <a:rPr lang="ko-KR" altLang="en-US" dirty="0"/>
              <a:t> </a:t>
            </a:r>
            <a:r>
              <a:rPr lang="en-US" altLang="ko-KR" dirty="0"/>
              <a:t>| </a:t>
            </a:r>
            <a:r>
              <a:rPr lang="ko-KR" altLang="en-US" dirty="0" err="1"/>
              <a:t>파이토치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PyTorch</a:t>
            </a:r>
            <a:r>
              <a:rPr lang="en-US" altLang="ko-KR" dirty="0"/>
              <a:t>) — 2018</a:t>
            </a:r>
            <a:r>
              <a:rPr lang="ko-KR" altLang="en-US" dirty="0"/>
              <a:t>년 메타</a:t>
            </a:r>
            <a:r>
              <a:rPr lang="en-US" altLang="ko-KR" dirty="0"/>
              <a:t>(</a:t>
            </a:r>
            <a:r>
              <a:rPr lang="ko-KR" altLang="en-US" dirty="0"/>
              <a:t>구 페이스북</a:t>
            </a:r>
            <a:r>
              <a:rPr lang="en-US" altLang="ko-KR" dirty="0"/>
              <a:t>)</a:t>
            </a:r>
            <a:r>
              <a:rPr lang="ko-KR" altLang="en-US" dirty="0"/>
              <a:t>이 공개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라이브러리들의 공통점은 </a:t>
            </a:r>
            <a:r>
              <a:rPr lang="ko-KR" altLang="en-US" dirty="0" err="1"/>
              <a:t>파이썬</a:t>
            </a:r>
            <a:r>
              <a:rPr lang="ko-KR" altLang="en-US" dirty="0"/>
              <a:t> </a:t>
            </a:r>
            <a:r>
              <a:rPr lang="en-US" altLang="ko-KR" dirty="0"/>
              <a:t>API</a:t>
            </a:r>
            <a:r>
              <a:rPr lang="ko-KR" altLang="en-US" dirty="0"/>
              <a:t>를 제공한다는 점입니다</a:t>
            </a:r>
            <a:r>
              <a:rPr lang="en-US" altLang="ko-KR" dirty="0"/>
              <a:t>. </a:t>
            </a:r>
            <a:r>
              <a:rPr lang="ko-KR" altLang="en-US" dirty="0"/>
              <a:t>그래서 우리가 </a:t>
            </a:r>
            <a:r>
              <a:rPr lang="ko-KR" altLang="en-US" dirty="0" err="1"/>
              <a:t>파이썬을</a:t>
            </a:r>
            <a:r>
              <a:rPr lang="ko-KR" altLang="en-US" dirty="0"/>
              <a:t> 배우는 게 중요한 겁니다</a:t>
            </a:r>
            <a:r>
              <a:rPr lang="en-US" altLang="ko-KR" dirty="0"/>
              <a:t>. </a:t>
            </a:r>
            <a:r>
              <a:rPr lang="ko-KR" altLang="en-US" dirty="0" err="1"/>
              <a:t>파이썬만</a:t>
            </a:r>
            <a:r>
              <a:rPr lang="ko-KR" altLang="en-US" dirty="0"/>
              <a:t> 잘하면 </a:t>
            </a:r>
            <a:r>
              <a:rPr lang="ko-KR" altLang="en-US" dirty="0" err="1"/>
              <a:t>머신러닝이든</a:t>
            </a:r>
            <a:r>
              <a:rPr lang="ko-KR" altLang="en-US" dirty="0"/>
              <a:t> </a:t>
            </a:r>
            <a:r>
              <a:rPr lang="ko-KR" altLang="en-US" dirty="0" err="1"/>
              <a:t>딥러닝이든</a:t>
            </a:r>
            <a:r>
              <a:rPr lang="ko-KR" altLang="en-US" dirty="0"/>
              <a:t> 다 할 수 있어요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315" name="Google Shape;3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Section 1-1</a:t>
            </a:r>
            <a:r>
              <a:rPr lang="ko-KR" altLang="en-US" dirty="0"/>
              <a:t>을 정리하겠습니다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핵심 개념 세 줄 요약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</a:t>
            </a:r>
            <a:r>
              <a:rPr lang="ko-KR" altLang="en-US" dirty="0"/>
              <a:t>인공지능 </a:t>
            </a:r>
            <a:r>
              <a:rPr lang="en-US" altLang="ko-KR" dirty="0"/>
              <a:t>(AI)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사람처럼 학습하고 추론할 수 있는 지능을 가진 시스템을 만드는 기술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강인공지능</a:t>
            </a:r>
            <a:r>
              <a:rPr lang="en-US" altLang="ko-KR" dirty="0"/>
              <a:t>(AGI)</a:t>
            </a:r>
            <a:r>
              <a:rPr lang="ko-KR" altLang="en-US" dirty="0"/>
              <a:t>과 약인공지능으로 나뉨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현재 존재하는 </a:t>
            </a:r>
            <a:r>
              <a:rPr lang="en-US" altLang="ko-KR" dirty="0"/>
              <a:t>AI</a:t>
            </a:r>
            <a:r>
              <a:rPr lang="ko-KR" altLang="en-US" dirty="0"/>
              <a:t>는 전부 약인공지능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</a:t>
            </a:r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en-US" altLang="ko-KR" dirty="0"/>
              <a:t>(ML)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데이터에서 자동으로 규칙을 학습하는 알고리즘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인공지능의 하위 분야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대표 라이브러리</a:t>
            </a:r>
            <a:r>
              <a:rPr lang="en-US" altLang="ko-KR" dirty="0"/>
              <a:t>: </a:t>
            </a:r>
            <a:r>
              <a:rPr lang="ko-KR" altLang="en-US" dirty="0" err="1"/>
              <a:t>사이킷런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scikit</a:t>
            </a:r>
            <a:r>
              <a:rPr lang="en-US" altLang="ko-KR" dirty="0"/>
              <a:t>-learn)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3. </a:t>
            </a:r>
            <a:r>
              <a:rPr lang="ko-KR" altLang="en-US" dirty="0" err="1"/>
              <a:t>딥러닝</a:t>
            </a:r>
            <a:r>
              <a:rPr lang="ko-KR" altLang="en-US" dirty="0"/>
              <a:t> </a:t>
            </a:r>
            <a:r>
              <a:rPr lang="en-US" altLang="ko-KR" dirty="0"/>
              <a:t>(DL)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인공 신경망을 기반으로 한 </a:t>
            </a:r>
            <a:r>
              <a:rPr lang="ko-KR" altLang="en-US" dirty="0" err="1"/>
              <a:t>머신러닝의</a:t>
            </a:r>
            <a:r>
              <a:rPr lang="ko-KR" altLang="en-US" dirty="0"/>
              <a:t> 한 분야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대표 라이브러리</a:t>
            </a:r>
            <a:r>
              <a:rPr lang="en-US" altLang="ko-KR" dirty="0"/>
              <a:t>: </a:t>
            </a:r>
            <a:r>
              <a:rPr lang="ko-KR" altLang="en-US" dirty="0" err="1"/>
              <a:t>텐서플로</a:t>
            </a:r>
            <a:r>
              <a:rPr lang="en-US" altLang="ko-KR" dirty="0"/>
              <a:t>, </a:t>
            </a:r>
            <a:r>
              <a:rPr lang="ko-KR" altLang="en-US" dirty="0" err="1"/>
              <a:t>파이토치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세 용어의 관계를 한 문장으로</a:t>
            </a:r>
            <a:r>
              <a:rPr lang="en-US" altLang="ko-KR" dirty="0"/>
              <a:t>: </a:t>
            </a:r>
            <a:r>
              <a:rPr lang="ko-KR" altLang="en-US" dirty="0"/>
              <a:t>인공지능 ⊃ </a:t>
            </a:r>
            <a:r>
              <a:rPr lang="ko-KR" altLang="en-US" dirty="0" err="1"/>
              <a:t>머신러닝</a:t>
            </a:r>
            <a:r>
              <a:rPr lang="ko-KR" altLang="en-US" dirty="0"/>
              <a:t> ⊃ </a:t>
            </a:r>
            <a:r>
              <a:rPr lang="ko-KR" altLang="en-US" dirty="0" err="1"/>
              <a:t>딥러닝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관계만 확실히 기억하시면 됩니다</a:t>
            </a:r>
            <a:r>
              <a:rPr lang="en-US" altLang="ko-KR" dirty="0"/>
              <a:t>. </a:t>
            </a:r>
            <a:r>
              <a:rPr lang="ko-KR" altLang="en-US" dirty="0"/>
              <a:t>시험에 나올 수 있으니까 꼭 기억해 두세요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잠깐 쉬고 넘어갈까요</a:t>
            </a:r>
            <a:r>
              <a:rPr lang="en-US" altLang="ko-KR" dirty="0"/>
              <a:t>? 5</a:t>
            </a:r>
            <a:r>
              <a:rPr lang="ko-KR" altLang="en-US" dirty="0"/>
              <a:t>분 쉬었다가 </a:t>
            </a:r>
            <a:r>
              <a:rPr lang="en-US" altLang="ko-KR" dirty="0"/>
              <a:t>Section 1-2</a:t>
            </a:r>
            <a:r>
              <a:rPr lang="ko-KR" altLang="en-US" dirty="0"/>
              <a:t>로 가겠습니다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324" name="Google Shape;3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이제 </a:t>
            </a:r>
            <a:r>
              <a:rPr lang="en-US" altLang="ko-KR" dirty="0"/>
              <a:t>Section 1-2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실습 환경을 세팅할 시간입니다</a:t>
            </a:r>
            <a:r>
              <a:rPr lang="en-US" altLang="ko-KR" dirty="0"/>
              <a:t>. </a:t>
            </a:r>
            <a:r>
              <a:rPr lang="ko-KR" altLang="en-US" dirty="0"/>
              <a:t>이 부분은 이론과 실습을 병행하면서 진행합니다</a:t>
            </a:r>
            <a:r>
              <a:rPr lang="en-US" altLang="ko-KR" dirty="0"/>
              <a:t>. </a:t>
            </a:r>
            <a:r>
              <a:rPr lang="ko-KR" altLang="en-US" dirty="0"/>
              <a:t>노트북 꺼내시고</a:t>
            </a:r>
            <a:r>
              <a:rPr lang="en-US" altLang="ko-KR" dirty="0"/>
              <a:t>, </a:t>
            </a:r>
            <a:r>
              <a:rPr lang="ko-KR" altLang="en-US" dirty="0"/>
              <a:t>크롬 브라우저를 열어주세요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구글 </a:t>
            </a:r>
            <a:r>
              <a:rPr lang="ko-KR" altLang="en-US" dirty="0" err="1"/>
              <a:t>코랩이란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구글 </a:t>
            </a:r>
            <a:r>
              <a:rPr lang="ko-KR" altLang="en-US" dirty="0" err="1"/>
              <a:t>코랩</a:t>
            </a:r>
            <a:r>
              <a:rPr lang="en-US" altLang="ko-KR" dirty="0"/>
              <a:t>(Google </a:t>
            </a:r>
            <a:r>
              <a:rPr lang="en-US" altLang="ko-KR" dirty="0" err="1"/>
              <a:t>Colab</a:t>
            </a:r>
            <a:r>
              <a:rPr lang="en-US" altLang="ko-KR" dirty="0"/>
              <a:t>)</a:t>
            </a:r>
            <a:r>
              <a:rPr lang="ko-KR" altLang="en-US" dirty="0"/>
              <a:t>은 웹 브라우저에서 무료로 </a:t>
            </a:r>
            <a:r>
              <a:rPr lang="ko-KR" altLang="en-US" dirty="0" err="1"/>
              <a:t>파이썬</a:t>
            </a:r>
            <a:r>
              <a:rPr lang="ko-KR" altLang="en-US" dirty="0"/>
              <a:t> 프로그램을 작성하고 실행할 수 있는 서비스입니다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왜 </a:t>
            </a:r>
            <a:r>
              <a:rPr lang="ko-KR" altLang="en-US" dirty="0" err="1"/>
              <a:t>코랩을</a:t>
            </a:r>
            <a:r>
              <a:rPr lang="ko-KR" altLang="en-US" dirty="0"/>
              <a:t> 쓰는지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첫 번째</a:t>
            </a:r>
            <a:r>
              <a:rPr lang="en-US" altLang="ko-KR" dirty="0"/>
              <a:t>, </a:t>
            </a:r>
            <a:r>
              <a:rPr lang="ko-KR" altLang="en-US" dirty="0"/>
              <a:t>설치가 필요 없습니다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보통 </a:t>
            </a:r>
            <a:r>
              <a:rPr lang="ko-KR" altLang="en-US" dirty="0" err="1"/>
              <a:t>파이썬</a:t>
            </a:r>
            <a:r>
              <a:rPr lang="ko-KR" altLang="en-US" dirty="0"/>
              <a:t> 프로그래밍을 하려면 </a:t>
            </a:r>
            <a:r>
              <a:rPr lang="ko-KR" altLang="en-US" dirty="0" err="1"/>
              <a:t>파이썬을</a:t>
            </a:r>
            <a:r>
              <a:rPr lang="ko-KR" altLang="en-US" dirty="0"/>
              <a:t> 설치하고</a:t>
            </a:r>
            <a:r>
              <a:rPr lang="en-US" altLang="ko-KR" dirty="0"/>
              <a:t>, </a:t>
            </a:r>
            <a:r>
              <a:rPr lang="ko-KR" altLang="en-US" dirty="0"/>
              <a:t>개발 환경</a:t>
            </a:r>
            <a:r>
              <a:rPr lang="en-US" altLang="ko-KR" dirty="0"/>
              <a:t>(IDE)</a:t>
            </a:r>
            <a:r>
              <a:rPr lang="ko-KR" altLang="en-US" dirty="0"/>
              <a:t>을 설정하고</a:t>
            </a:r>
            <a:r>
              <a:rPr lang="en-US" altLang="ko-KR" dirty="0"/>
              <a:t>, </a:t>
            </a:r>
            <a:r>
              <a:rPr lang="ko-KR" altLang="en-US" dirty="0"/>
              <a:t>필요한 라이브러리를 </a:t>
            </a:r>
            <a:r>
              <a:rPr lang="en-US" altLang="ko-KR" dirty="0"/>
              <a:t>pip</a:t>
            </a:r>
            <a:r>
              <a:rPr lang="ko-KR" altLang="en-US" dirty="0"/>
              <a:t>로 설치하고</a:t>
            </a:r>
            <a:r>
              <a:rPr lang="en-US" altLang="ko-KR" dirty="0"/>
              <a:t>... </a:t>
            </a:r>
            <a:r>
              <a:rPr lang="ko-KR" altLang="en-US" dirty="0"/>
              <a:t>이 과정이 초보자에게는 꽤 골치 아프죠</a:t>
            </a:r>
            <a:r>
              <a:rPr lang="en-US" altLang="ko-KR" dirty="0"/>
              <a:t>. </a:t>
            </a:r>
            <a:r>
              <a:rPr lang="ko-KR" altLang="en-US" dirty="0" err="1"/>
              <a:t>코랩은</a:t>
            </a:r>
            <a:r>
              <a:rPr lang="ko-KR" altLang="en-US" dirty="0"/>
              <a:t> 이 모든 게 이미 클라우드에 </a:t>
            </a:r>
            <a:r>
              <a:rPr lang="ko-KR" altLang="en-US" dirty="0" err="1"/>
              <a:t>세팅되어</a:t>
            </a:r>
            <a:r>
              <a:rPr lang="ko-KR" altLang="en-US" dirty="0"/>
              <a:t> 있습니다</a:t>
            </a:r>
            <a:r>
              <a:rPr lang="en-US" altLang="ko-KR" dirty="0"/>
              <a:t>. </a:t>
            </a:r>
            <a:r>
              <a:rPr lang="ko-KR" altLang="en-US" dirty="0"/>
              <a:t>웹 브라우저만 열면 바로 코딩을 시작할 수 있어요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두 번째</a:t>
            </a:r>
            <a:r>
              <a:rPr lang="en-US" altLang="ko-KR" dirty="0"/>
              <a:t>, </a:t>
            </a:r>
            <a:r>
              <a:rPr lang="ko-KR" altLang="en-US" dirty="0" err="1"/>
              <a:t>머신러닝에</a:t>
            </a:r>
            <a:r>
              <a:rPr lang="ko-KR" altLang="en-US" dirty="0"/>
              <a:t> 필요한 라이브러리가 기본 탑재되어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사이킷런</a:t>
            </a:r>
            <a:r>
              <a:rPr lang="en-US" altLang="ko-KR" dirty="0"/>
              <a:t>, </a:t>
            </a:r>
            <a:r>
              <a:rPr lang="ko-KR" altLang="en-US" dirty="0" err="1"/>
              <a:t>넘파이</a:t>
            </a:r>
            <a:r>
              <a:rPr lang="en-US" altLang="ko-KR" dirty="0"/>
              <a:t>, </a:t>
            </a:r>
            <a:r>
              <a:rPr lang="ko-KR" altLang="en-US" dirty="0" err="1"/>
              <a:t>판다스</a:t>
            </a:r>
            <a:r>
              <a:rPr lang="en-US" altLang="ko-KR" dirty="0"/>
              <a:t>, </a:t>
            </a:r>
            <a:r>
              <a:rPr lang="ko-KR" altLang="en-US" dirty="0" err="1"/>
              <a:t>맷플롯립</a:t>
            </a:r>
            <a:r>
              <a:rPr lang="ko-KR" altLang="en-US" dirty="0"/>
              <a:t> 같은 핵심 라이브러리가 이미 설치되어 있습니다</a:t>
            </a:r>
            <a:r>
              <a:rPr lang="en-US" altLang="ko-KR" dirty="0"/>
              <a:t>. </a:t>
            </a:r>
            <a:r>
              <a:rPr lang="ko-KR" altLang="en-US" dirty="0"/>
              <a:t>별도로 설치할 필요가 없어요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세 번째</a:t>
            </a:r>
            <a:r>
              <a:rPr lang="en-US" altLang="ko-KR" dirty="0"/>
              <a:t>, </a:t>
            </a:r>
            <a:r>
              <a:rPr lang="ko-KR" altLang="en-US" dirty="0"/>
              <a:t>컴퓨터 사양에 상관없이 사용 가능합니다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머신러닝은</a:t>
            </a:r>
            <a:r>
              <a:rPr lang="ko-KR" altLang="en-US" dirty="0"/>
              <a:t> </a:t>
            </a:r>
            <a:r>
              <a:rPr lang="ko-KR" altLang="en-US" dirty="0" err="1"/>
              <a:t>연산량이</a:t>
            </a:r>
            <a:r>
              <a:rPr lang="ko-KR" altLang="en-US" dirty="0"/>
              <a:t> 꽤 많을 수 있는데</a:t>
            </a:r>
            <a:r>
              <a:rPr lang="en-US" altLang="ko-KR" dirty="0"/>
              <a:t>, </a:t>
            </a:r>
            <a:r>
              <a:rPr lang="ko-KR" altLang="en-US" dirty="0" err="1"/>
              <a:t>코랩은</a:t>
            </a:r>
            <a:r>
              <a:rPr lang="ko-KR" altLang="en-US" dirty="0"/>
              <a:t> 구글의 서버에서 코드를 실행합니다</a:t>
            </a:r>
            <a:r>
              <a:rPr lang="en-US" altLang="ko-KR" dirty="0"/>
              <a:t>. </a:t>
            </a:r>
            <a:r>
              <a:rPr lang="ko-KR" altLang="en-US" dirty="0"/>
              <a:t>여러분 노트북이 느려도 괜찮아요</a:t>
            </a:r>
            <a:r>
              <a:rPr lang="en-US" altLang="ko-KR" dirty="0"/>
              <a:t>. </a:t>
            </a:r>
            <a:r>
              <a:rPr lang="ko-KR" altLang="en-US" dirty="0"/>
              <a:t>심지어 </a:t>
            </a:r>
            <a:r>
              <a:rPr lang="en-US" altLang="ko-KR" dirty="0"/>
              <a:t>GPU</a:t>
            </a:r>
            <a:r>
              <a:rPr lang="ko-KR" altLang="en-US" dirty="0"/>
              <a:t>도 무료로 사용할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네 번째</a:t>
            </a:r>
            <a:r>
              <a:rPr lang="en-US" altLang="ko-KR" dirty="0"/>
              <a:t>, </a:t>
            </a:r>
            <a:r>
              <a:rPr lang="ko-KR" altLang="en-US" dirty="0"/>
              <a:t>구글 계정만 있으면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여러분 다 구글 계정 있으시죠</a:t>
            </a:r>
            <a:r>
              <a:rPr lang="en-US" altLang="ko-KR" dirty="0"/>
              <a:t>? </a:t>
            </a:r>
            <a:r>
              <a:rPr lang="ko-KR" altLang="en-US" dirty="0" err="1"/>
              <a:t>지메일</a:t>
            </a:r>
            <a:r>
              <a:rPr lang="ko-KR" altLang="en-US" dirty="0"/>
              <a:t> 쓰시는 분은 이미 구글 계정이 있는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코랩에</a:t>
            </a:r>
            <a:r>
              <a:rPr lang="ko-KR" altLang="en-US" dirty="0"/>
              <a:t> 접속하기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같이 해봅시다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크롬 브라우저를 열고 주소창에 </a:t>
            </a:r>
            <a:r>
              <a:rPr lang="en-US" altLang="ko-KR" dirty="0"/>
              <a:t>colab.research.google.com</a:t>
            </a:r>
            <a:r>
              <a:rPr lang="ko-KR" altLang="en-US" dirty="0"/>
              <a:t>을 입력합니다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잠시 기다림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접속되셨나요</a:t>
            </a:r>
            <a:r>
              <a:rPr lang="en-US" altLang="ko-KR" dirty="0"/>
              <a:t>? </a:t>
            </a:r>
            <a:r>
              <a:rPr lang="ko-KR" altLang="en-US" dirty="0"/>
              <a:t>처음 접속하면 </a:t>
            </a:r>
            <a:r>
              <a:rPr lang="en-US" altLang="ko-KR" dirty="0"/>
              <a:t>"</a:t>
            </a:r>
            <a:r>
              <a:rPr lang="en-US" altLang="ko-KR" dirty="0" err="1"/>
              <a:t>Colaboratory</a:t>
            </a:r>
            <a:r>
              <a:rPr lang="ko-KR" altLang="en-US" dirty="0"/>
              <a:t>에 오신 것을 환영합니다</a:t>
            </a:r>
            <a:r>
              <a:rPr lang="en-US" altLang="ko-KR" dirty="0"/>
              <a:t>"</a:t>
            </a:r>
            <a:r>
              <a:rPr lang="ko-KR" altLang="en-US" dirty="0"/>
              <a:t>라는 기본 노트북이 열립니다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구글 계정으로 로그인합니다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로그인 안 하면 코드를 실행할 수 없으니까</a:t>
            </a:r>
            <a:r>
              <a:rPr lang="en-US" altLang="ko-KR" dirty="0"/>
              <a:t>, </a:t>
            </a:r>
            <a:r>
              <a:rPr lang="ko-KR" altLang="en-US" dirty="0"/>
              <a:t>반드시 로그인해 주세요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코랩</a:t>
            </a:r>
            <a:r>
              <a:rPr lang="ko-KR" altLang="en-US" dirty="0"/>
              <a:t> 노트북의 구조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코랩의</a:t>
            </a:r>
            <a:r>
              <a:rPr lang="ko-KR" altLang="en-US" dirty="0"/>
              <a:t> 프로그램 작성 단위를 노트북</a:t>
            </a:r>
            <a:r>
              <a:rPr lang="en-US" altLang="ko-KR" dirty="0"/>
              <a:t>(Notebook) </a:t>
            </a:r>
            <a:r>
              <a:rPr lang="ko-KR" altLang="en-US" dirty="0"/>
              <a:t>또는 </a:t>
            </a:r>
            <a:r>
              <a:rPr lang="ko-KR" altLang="en-US" dirty="0" err="1"/>
              <a:t>코랩</a:t>
            </a:r>
            <a:r>
              <a:rPr lang="ko-KR" altLang="en-US" dirty="0"/>
              <a:t> 노트북이라고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노트북은 셀</a:t>
            </a:r>
            <a:r>
              <a:rPr lang="en-US" altLang="ko-KR" dirty="0"/>
              <a:t>(cell)</a:t>
            </a:r>
            <a:r>
              <a:rPr lang="ko-KR" altLang="en-US" dirty="0"/>
              <a:t>로 구성됩니다</a:t>
            </a:r>
            <a:r>
              <a:rPr lang="en-US" altLang="ko-KR" dirty="0"/>
              <a:t>. </a:t>
            </a:r>
            <a:r>
              <a:rPr lang="ko-KR" altLang="en-US" dirty="0"/>
              <a:t>셀이란</a:t>
            </a:r>
            <a:r>
              <a:rPr lang="en-US" altLang="ko-KR" dirty="0"/>
              <a:t>, </a:t>
            </a:r>
            <a:r>
              <a:rPr lang="ko-KR" altLang="en-US" dirty="0"/>
              <a:t>코드 또는 텍스트의 덩어리예요</a:t>
            </a:r>
            <a:r>
              <a:rPr lang="en-US" altLang="ko-KR" dirty="0"/>
              <a:t>. </a:t>
            </a:r>
            <a:r>
              <a:rPr lang="ko-KR" altLang="en-US" dirty="0"/>
              <a:t>하나의 노트북에 여러 개의 셀이 있고</a:t>
            </a:r>
            <a:r>
              <a:rPr lang="en-US" altLang="ko-KR" dirty="0"/>
              <a:t>, </a:t>
            </a:r>
            <a:r>
              <a:rPr lang="ko-KR" altLang="en-US" dirty="0"/>
              <a:t>각 셀을 독립적으로 실행할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셀은 두 종류입니다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코드 셀</a:t>
            </a:r>
            <a:r>
              <a:rPr lang="en-US" altLang="ko-KR" dirty="0"/>
              <a:t>: </a:t>
            </a:r>
            <a:r>
              <a:rPr lang="ko-KR" altLang="en-US" dirty="0" err="1"/>
              <a:t>파이썬</a:t>
            </a:r>
            <a:r>
              <a:rPr lang="ko-KR" altLang="en-US" dirty="0"/>
              <a:t> 코드를 작성하고 실행하는 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텍스트 셀</a:t>
            </a:r>
            <a:r>
              <a:rPr lang="en-US" altLang="ko-KR" dirty="0"/>
              <a:t>: </a:t>
            </a:r>
            <a:r>
              <a:rPr lang="ko-KR" altLang="en-US" dirty="0"/>
              <a:t>설명이나 메모를 적는 셀 </a:t>
            </a:r>
            <a:r>
              <a:rPr lang="en-US" altLang="ko-KR" dirty="0"/>
              <a:t>(</a:t>
            </a:r>
            <a:r>
              <a:rPr lang="ko-KR" altLang="en-US" dirty="0"/>
              <a:t>마크다운 형식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구조가 </a:t>
            </a:r>
            <a:r>
              <a:rPr lang="ko-KR" altLang="en-US" dirty="0" err="1"/>
              <a:t>코랩의</a:t>
            </a:r>
            <a:r>
              <a:rPr lang="ko-KR" altLang="en-US" dirty="0"/>
              <a:t> 가장 큰 장점 중 하나입니다</a:t>
            </a:r>
            <a:r>
              <a:rPr lang="en-US" altLang="ko-KR" dirty="0"/>
              <a:t>. </a:t>
            </a:r>
            <a:r>
              <a:rPr lang="ko-KR" altLang="en-US" dirty="0"/>
              <a:t>코드와 설명을 한 파일에 같이 넣을 수 있어요</a:t>
            </a:r>
            <a:r>
              <a:rPr lang="en-US" altLang="ko-KR" dirty="0"/>
              <a:t>. </a:t>
            </a:r>
            <a:r>
              <a:rPr lang="ko-KR" altLang="en-US" dirty="0"/>
              <a:t>일반적인 </a:t>
            </a:r>
            <a:r>
              <a:rPr lang="ko-KR" altLang="en-US" dirty="0" err="1"/>
              <a:t>파이썬</a:t>
            </a:r>
            <a:r>
              <a:rPr lang="ko-KR" altLang="en-US" dirty="0"/>
              <a:t> 파일</a:t>
            </a:r>
            <a:r>
              <a:rPr lang="en-US" altLang="ko-KR" dirty="0"/>
              <a:t>(.</a:t>
            </a:r>
            <a:r>
              <a:rPr lang="en-US" altLang="ko-KR" dirty="0" err="1"/>
              <a:t>py</a:t>
            </a:r>
            <a:r>
              <a:rPr lang="en-US" altLang="ko-KR" dirty="0"/>
              <a:t>)</a:t>
            </a:r>
            <a:r>
              <a:rPr lang="ko-KR" altLang="en-US" dirty="0"/>
              <a:t>은 코드만 </a:t>
            </a:r>
            <a:r>
              <a:rPr lang="ko-KR" altLang="en-US" dirty="0" err="1"/>
              <a:t>들어가잖아요</a:t>
            </a:r>
            <a:r>
              <a:rPr lang="en-US" altLang="ko-KR" dirty="0"/>
              <a:t>? </a:t>
            </a:r>
            <a:r>
              <a:rPr lang="ko-KR" altLang="en-US" dirty="0" err="1"/>
              <a:t>코랩</a:t>
            </a:r>
            <a:r>
              <a:rPr lang="ko-KR" altLang="en-US" dirty="0"/>
              <a:t> 노트북은 </a:t>
            </a:r>
            <a:r>
              <a:rPr lang="en-US" altLang="ko-KR" dirty="0"/>
              <a:t>"</a:t>
            </a:r>
            <a:r>
              <a:rPr lang="ko-KR" altLang="en-US" dirty="0"/>
              <a:t>이 코드가 뭘 하는 건지</a:t>
            </a:r>
            <a:r>
              <a:rPr lang="en-US" altLang="ko-KR" dirty="0"/>
              <a:t>" </a:t>
            </a:r>
            <a:r>
              <a:rPr lang="ko-KR" altLang="en-US" dirty="0"/>
              <a:t>설명을 중간중간에 넣을 수 있어서</a:t>
            </a:r>
            <a:r>
              <a:rPr lang="en-US" altLang="ko-KR" dirty="0"/>
              <a:t>, </a:t>
            </a:r>
            <a:r>
              <a:rPr lang="ko-KR" altLang="en-US" dirty="0"/>
              <a:t>데이터 분석이나 교육에 매우 적합합니다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332" name="Google Shape;3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텍스트 셀에 대해 좀 더 알아보겠습니다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셀</a:t>
            </a:r>
            <a:r>
              <a:rPr lang="en-US" altLang="ko-KR" dirty="0"/>
              <a:t>(cell)</a:t>
            </a:r>
            <a:r>
              <a:rPr lang="ko-KR" altLang="en-US" dirty="0"/>
              <a:t>은 </a:t>
            </a:r>
            <a:r>
              <a:rPr lang="ko-KR" altLang="en-US" dirty="0" err="1"/>
              <a:t>코랩에서</a:t>
            </a:r>
            <a:r>
              <a:rPr lang="ko-KR" altLang="en-US" dirty="0"/>
              <a:t> 실행할 수 있는 최소 단위입니다</a:t>
            </a:r>
            <a:r>
              <a:rPr lang="en-US" altLang="ko-KR" dirty="0"/>
              <a:t>. </a:t>
            </a:r>
            <a:r>
              <a:rPr lang="ko-KR" altLang="en-US" dirty="0"/>
              <a:t>셀 안에 있는 내용을 한 번에 실행하고</a:t>
            </a:r>
            <a:r>
              <a:rPr lang="en-US" altLang="ko-KR" dirty="0"/>
              <a:t>, </a:t>
            </a:r>
            <a:r>
              <a:rPr lang="ko-KR" altLang="en-US" dirty="0"/>
              <a:t>그 결과를 노트북에 표시합니다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텍스트 셀은 코드처럼 </a:t>
            </a:r>
            <a:r>
              <a:rPr lang="en-US" altLang="ko-KR" dirty="0"/>
              <a:t>"</a:t>
            </a:r>
            <a:r>
              <a:rPr lang="ko-KR" altLang="en-US" dirty="0"/>
              <a:t>실행</a:t>
            </a:r>
            <a:r>
              <a:rPr lang="en-US" altLang="ko-KR" dirty="0"/>
              <a:t>"</a:t>
            </a:r>
            <a:r>
              <a:rPr lang="ko-KR" altLang="en-US" dirty="0"/>
              <a:t>되는 건 아닙니다</a:t>
            </a:r>
            <a:r>
              <a:rPr lang="en-US" altLang="ko-KR" dirty="0"/>
              <a:t>. </a:t>
            </a:r>
            <a:r>
              <a:rPr lang="ko-KR" altLang="en-US" dirty="0"/>
              <a:t>자유롭게 메모나 설명을 적는 </a:t>
            </a:r>
            <a:r>
              <a:rPr lang="ko-KR" altLang="en-US" dirty="0" err="1"/>
              <a:t>공간이에요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텍스트 셀 편집하기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</a:t>
            </a:r>
            <a:r>
              <a:rPr lang="ko-KR" altLang="en-US" dirty="0"/>
              <a:t>편집하고 싶은 텍스트 셀로 이동합니다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Enter </a:t>
            </a:r>
            <a:r>
              <a:rPr lang="ko-KR" altLang="en-US" dirty="0"/>
              <a:t>키를 누르거나 마우스 더블 클릭하면 편집 모드로 들어갑니다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3. </a:t>
            </a:r>
            <a:r>
              <a:rPr lang="ko-KR" altLang="en-US" dirty="0"/>
              <a:t>왼쪽에 텍스트를 수정하면</a:t>
            </a:r>
            <a:r>
              <a:rPr lang="en-US" altLang="ko-KR" dirty="0"/>
              <a:t>, </a:t>
            </a:r>
            <a:r>
              <a:rPr lang="ko-KR" altLang="en-US" dirty="0"/>
              <a:t>오른쪽 미리 보기 창에서 결과를 바로 확인할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4. </a:t>
            </a:r>
            <a:r>
              <a:rPr lang="ko-KR" altLang="en-US" dirty="0"/>
              <a:t>편집을 끝내려면 </a:t>
            </a:r>
            <a:r>
              <a:rPr lang="en-US" altLang="ko-KR" dirty="0"/>
              <a:t>ESC </a:t>
            </a:r>
            <a:r>
              <a:rPr lang="ko-KR" altLang="en-US" dirty="0"/>
              <a:t>키를 누릅니다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같이 해볼까요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기본 노트북에서 첫 번째 텍스트 셀을 더블 클릭해 보세요</a:t>
            </a:r>
            <a:r>
              <a:rPr lang="en-US" altLang="ko-KR" dirty="0"/>
              <a:t>. </a:t>
            </a:r>
            <a:r>
              <a:rPr lang="ko-KR" altLang="en-US" dirty="0"/>
              <a:t>왼쪽에 마크다운 코드가 보이고</a:t>
            </a:r>
            <a:r>
              <a:rPr lang="en-US" altLang="ko-KR" dirty="0"/>
              <a:t>, </a:t>
            </a:r>
            <a:r>
              <a:rPr lang="ko-KR" altLang="en-US" dirty="0"/>
              <a:t>오른쪽에 </a:t>
            </a:r>
            <a:r>
              <a:rPr lang="ko-KR" altLang="en-US" dirty="0" err="1"/>
              <a:t>렌더링된</a:t>
            </a:r>
            <a:r>
              <a:rPr lang="ko-KR" altLang="en-US" dirty="0"/>
              <a:t> 결과가 보일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텍스트 셀에서는 </a:t>
            </a:r>
            <a:r>
              <a:rPr lang="en-US" altLang="ko-KR" dirty="0"/>
              <a:t>HTML</a:t>
            </a:r>
            <a:r>
              <a:rPr lang="ko-KR" altLang="en-US" dirty="0"/>
              <a:t>과 마크다운</a:t>
            </a:r>
            <a:r>
              <a:rPr lang="en-US" altLang="ko-KR" dirty="0"/>
              <a:t>(Markdown)</a:t>
            </a:r>
            <a:r>
              <a:rPr lang="ko-KR" altLang="en-US" dirty="0"/>
              <a:t>을 혼용해서 사용할 수 있습니다</a:t>
            </a:r>
            <a:r>
              <a:rPr lang="en-US" altLang="ko-KR" dirty="0"/>
              <a:t>. </a:t>
            </a:r>
            <a:r>
              <a:rPr lang="ko-KR" altLang="en-US" dirty="0"/>
              <a:t>마크다운이 </a:t>
            </a:r>
            <a:r>
              <a:rPr lang="ko-KR" altLang="en-US" dirty="0" err="1"/>
              <a:t>뭔지는</a:t>
            </a:r>
            <a:r>
              <a:rPr lang="ko-KR" altLang="en-US" dirty="0"/>
              <a:t> 잠시 후에 자세히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직접 실습해 봅시다</a:t>
            </a:r>
            <a:r>
              <a:rPr lang="en-US" altLang="ko-KR" dirty="0"/>
              <a:t>. `&lt;h1&gt;` </a:t>
            </a:r>
            <a:r>
              <a:rPr lang="ko-KR" altLang="en-US" dirty="0"/>
              <a:t>태그 아래에 아무 텍스트나 추가하고</a:t>
            </a:r>
            <a:r>
              <a:rPr lang="en-US" altLang="ko-KR" dirty="0"/>
              <a:t>, </a:t>
            </a:r>
            <a:r>
              <a:rPr lang="ko-KR" altLang="en-US" dirty="0"/>
              <a:t>미리 보기 창에 결과가 나타나는지 확인해 보세요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실습 시간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3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잘 되셨나요</a:t>
            </a:r>
            <a:r>
              <a:rPr lang="en-US" altLang="ko-KR" dirty="0"/>
              <a:t>? ESC</a:t>
            </a:r>
            <a:r>
              <a:rPr lang="ko-KR" altLang="en-US" dirty="0"/>
              <a:t>를 눌러서 편집 모드를 나와보세요</a:t>
            </a:r>
            <a:r>
              <a:rPr lang="en-US" altLang="ko-KR" dirty="0"/>
              <a:t>. </a:t>
            </a:r>
            <a:r>
              <a:rPr lang="ko-KR" altLang="en-US" dirty="0"/>
              <a:t>이렇게 텍스트 셀에 설명을 적으면서 코드를 작성하면</a:t>
            </a:r>
            <a:r>
              <a:rPr lang="en-US" altLang="ko-KR" dirty="0"/>
              <a:t>, </a:t>
            </a:r>
            <a:r>
              <a:rPr lang="ko-KR" altLang="en-US" dirty="0"/>
              <a:t>나중에 다시 봤을 때 </a:t>
            </a:r>
            <a:r>
              <a:rPr lang="en-US" altLang="ko-KR" dirty="0"/>
              <a:t>"</a:t>
            </a:r>
            <a:r>
              <a:rPr lang="ko-KR" altLang="en-US" dirty="0"/>
              <a:t>이 코드가 뭘 하는 거였지</a:t>
            </a:r>
            <a:r>
              <a:rPr lang="en-US" altLang="ko-KR" dirty="0"/>
              <a:t>?" </a:t>
            </a:r>
            <a:r>
              <a:rPr lang="ko-KR" altLang="en-US" dirty="0"/>
              <a:t>하고 헷갈리지 않습니다</a:t>
            </a:r>
            <a:r>
              <a:rPr lang="en-US" altLang="ko-KR" dirty="0"/>
              <a:t>. </a:t>
            </a:r>
            <a:r>
              <a:rPr lang="ko-KR" altLang="en-US" dirty="0"/>
              <a:t>좋은 </a:t>
            </a:r>
            <a:r>
              <a:rPr lang="ko-KR" altLang="en-US" dirty="0" err="1"/>
              <a:t>습관이에요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340" name="Google Shape;3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텍스트 셀 메뉴와 기능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슬라이드에는 텍스트 셀에서 사용할 수 있는 메뉴와 기능들이 정리되어 있습니다</a:t>
            </a:r>
            <a:r>
              <a:rPr lang="en-US" altLang="ko-KR" dirty="0"/>
              <a:t>. </a:t>
            </a:r>
            <a:r>
              <a:rPr lang="ko-KR" altLang="en-US" dirty="0"/>
              <a:t>화면 상단에 기본 메뉴가 있고</a:t>
            </a:r>
            <a:r>
              <a:rPr lang="en-US" altLang="ko-KR" dirty="0"/>
              <a:t>, </a:t>
            </a:r>
            <a:r>
              <a:rPr lang="ko-KR" altLang="en-US" dirty="0"/>
              <a:t>셀마다 적용할 수 있는 기능들이 아이콘으로 나타납니다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주요 기능들을 하나씩 보겠습니다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셀 이동</a:t>
            </a:r>
            <a:r>
              <a:rPr lang="en-US" altLang="ko-KR" dirty="0"/>
              <a:t>: </a:t>
            </a:r>
            <a:r>
              <a:rPr lang="ko-KR" altLang="en-US" dirty="0"/>
              <a:t>위로</a:t>
            </a:r>
            <a:r>
              <a:rPr lang="en-US" altLang="ko-KR" dirty="0"/>
              <a:t>/</a:t>
            </a:r>
            <a:r>
              <a:rPr lang="ko-KR" altLang="en-US" dirty="0"/>
              <a:t>아래로 이동 버튼으로 셀의 순서를 바꿀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셀 삭제</a:t>
            </a:r>
            <a:r>
              <a:rPr lang="en-US" altLang="ko-KR" dirty="0"/>
              <a:t>: </a:t>
            </a:r>
            <a:r>
              <a:rPr lang="ko-KR" altLang="en-US" dirty="0"/>
              <a:t>더 이상 필요 없는 셀은 삭제할 수 있어요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텍스트 편집 도구모음</a:t>
            </a:r>
            <a:r>
              <a:rPr lang="en-US" altLang="ko-KR" dirty="0"/>
              <a:t>: </a:t>
            </a:r>
            <a:r>
              <a:rPr lang="ko-KR" altLang="en-US" dirty="0"/>
              <a:t>편집 모드에 들어가면 상단에 도구모음이 나타납니다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/>
              <a:t>번호 </a:t>
            </a:r>
            <a:r>
              <a:rPr lang="en-US" altLang="ko-KR" dirty="0"/>
              <a:t>| </a:t>
            </a:r>
            <a:r>
              <a:rPr lang="ko-KR" altLang="en-US" dirty="0"/>
              <a:t>기능 </a:t>
            </a:r>
            <a:r>
              <a:rPr lang="en-US" altLang="ko-KR" dirty="0"/>
              <a:t>| </a:t>
            </a:r>
            <a:r>
              <a:rPr lang="ko-KR" altLang="en-US" dirty="0"/>
              <a:t>설명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|---|---|---|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1 | </a:t>
            </a:r>
            <a:r>
              <a:rPr lang="ko-KR" altLang="en-US" dirty="0"/>
              <a:t>제목 만들기 </a:t>
            </a:r>
            <a:r>
              <a:rPr lang="en-US" altLang="ko-KR" dirty="0"/>
              <a:t>| </a:t>
            </a:r>
            <a:r>
              <a:rPr lang="ko-KR" altLang="en-US" dirty="0"/>
              <a:t>현재 줄을 제목으로 바꿉니다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2 | </a:t>
            </a:r>
            <a:r>
              <a:rPr lang="ko-KR" altLang="en-US" dirty="0"/>
              <a:t>굵은 글씨 </a:t>
            </a:r>
            <a:r>
              <a:rPr lang="en-US" altLang="ko-KR" dirty="0"/>
              <a:t>| </a:t>
            </a:r>
            <a:r>
              <a:rPr lang="ko-KR" altLang="en-US" dirty="0"/>
              <a:t>선택한 글자를 이렇게 굵게 만듭니다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3 | </a:t>
            </a:r>
            <a:r>
              <a:rPr lang="ko-KR" altLang="en-US" dirty="0"/>
              <a:t>이탤릭체 </a:t>
            </a:r>
            <a:r>
              <a:rPr lang="en-US" altLang="ko-KR" dirty="0"/>
              <a:t>| </a:t>
            </a:r>
            <a:r>
              <a:rPr lang="ko-KR" altLang="en-US" dirty="0"/>
              <a:t>선택한 글자를 *이렇게* 기울입니다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4 | </a:t>
            </a:r>
            <a:r>
              <a:rPr lang="ko-KR" altLang="en-US" dirty="0"/>
              <a:t>코드 서체 </a:t>
            </a:r>
            <a:r>
              <a:rPr lang="en-US" altLang="ko-KR" dirty="0"/>
              <a:t>| `</a:t>
            </a:r>
            <a:r>
              <a:rPr lang="ko-KR" altLang="en-US" dirty="0"/>
              <a:t>이렇게</a:t>
            </a:r>
            <a:r>
              <a:rPr lang="en-US" altLang="ko-KR" dirty="0"/>
              <a:t>` </a:t>
            </a:r>
            <a:r>
              <a:rPr lang="ko-KR" altLang="en-US" dirty="0"/>
              <a:t>코드 형태로 표시합니다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5 | </a:t>
            </a:r>
            <a:r>
              <a:rPr lang="ko-KR" altLang="en-US" dirty="0"/>
              <a:t>링크 만들기 </a:t>
            </a:r>
            <a:r>
              <a:rPr lang="en-US" altLang="ko-KR" dirty="0"/>
              <a:t>| </a:t>
            </a:r>
            <a:r>
              <a:rPr lang="ko-KR" altLang="en-US" dirty="0"/>
              <a:t>선택한 글자를 클릭 가능한 링크로 만듭니다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6 | </a:t>
            </a:r>
            <a:r>
              <a:rPr lang="ko-KR" altLang="en-US" dirty="0"/>
              <a:t>이미지 추가 </a:t>
            </a:r>
            <a:r>
              <a:rPr lang="en-US" altLang="ko-KR" dirty="0"/>
              <a:t>| </a:t>
            </a:r>
            <a:r>
              <a:rPr lang="ko-KR" altLang="en-US" dirty="0"/>
              <a:t>현재 위치에 이미지를 삽입합니다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7 | </a:t>
            </a:r>
            <a:r>
              <a:rPr lang="ko-KR" altLang="en-US" dirty="0"/>
              <a:t>들여쓰기 블록 </a:t>
            </a:r>
            <a:r>
              <a:rPr lang="en-US" altLang="ko-KR" dirty="0"/>
              <a:t>| </a:t>
            </a:r>
            <a:r>
              <a:rPr lang="ko-KR" altLang="en-US" dirty="0"/>
              <a:t>인용문이나 참고 내용을 표시할 때 사용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8 | </a:t>
            </a:r>
            <a:r>
              <a:rPr lang="ko-KR" altLang="en-US" dirty="0"/>
              <a:t>번호 매기기 목록 </a:t>
            </a:r>
            <a:r>
              <a:rPr lang="en-US" altLang="ko-KR" dirty="0"/>
              <a:t>| 1, 2, 3 </a:t>
            </a:r>
            <a:r>
              <a:rPr lang="ko-KR" altLang="en-US" dirty="0"/>
              <a:t>순서가 있는 목록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9 | </a:t>
            </a:r>
            <a:r>
              <a:rPr lang="ko-KR" altLang="en-US" dirty="0"/>
              <a:t>글머리 기호 목록 </a:t>
            </a:r>
            <a:r>
              <a:rPr lang="en-US" altLang="ko-KR" dirty="0"/>
              <a:t>| </a:t>
            </a:r>
            <a:r>
              <a:rPr lang="ko-KR" altLang="en-US" dirty="0"/>
              <a:t>순서 없는 점 목록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10 | </a:t>
            </a:r>
            <a:r>
              <a:rPr lang="ko-KR" altLang="en-US" dirty="0"/>
              <a:t>가로줄 </a:t>
            </a:r>
            <a:r>
              <a:rPr lang="en-US" altLang="ko-KR" dirty="0"/>
              <a:t>| </a:t>
            </a:r>
            <a:r>
              <a:rPr lang="ko-KR" altLang="en-US" dirty="0"/>
              <a:t>구분선을 추가합니다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11 | </a:t>
            </a:r>
            <a:r>
              <a:rPr lang="ko-KR" altLang="en-US" dirty="0"/>
              <a:t>미리 보기 위치 변경 </a:t>
            </a:r>
            <a:r>
              <a:rPr lang="en-US" altLang="ko-KR" dirty="0"/>
              <a:t>| </a:t>
            </a:r>
            <a:r>
              <a:rPr lang="ko-KR" altLang="en-US" dirty="0"/>
              <a:t>미리 보기 창을 오른쪽</a:t>
            </a:r>
            <a:r>
              <a:rPr lang="en-US" altLang="ko-KR" dirty="0"/>
              <a:t>/</a:t>
            </a:r>
            <a:r>
              <a:rPr lang="ko-KR" altLang="en-US" dirty="0"/>
              <a:t>아래로 전환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다 외울 필요는 없습니다</a:t>
            </a:r>
            <a:r>
              <a:rPr lang="en-US" altLang="ko-KR" dirty="0"/>
              <a:t>. </a:t>
            </a:r>
            <a:r>
              <a:rPr lang="ko-KR" altLang="en-US" dirty="0"/>
              <a:t>자주 쓰는 건 굵은 글씨</a:t>
            </a:r>
            <a:r>
              <a:rPr lang="en-US" altLang="ko-KR" dirty="0"/>
              <a:t>, </a:t>
            </a:r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코드 서체 정도예요</a:t>
            </a:r>
            <a:r>
              <a:rPr lang="en-US" altLang="ko-KR" dirty="0"/>
              <a:t>. </a:t>
            </a:r>
            <a:r>
              <a:rPr lang="ko-KR" altLang="en-US" dirty="0"/>
              <a:t>나머지는 필요할 때 </a:t>
            </a:r>
            <a:r>
              <a:rPr lang="ko-KR" altLang="en-US" dirty="0" err="1"/>
              <a:t>찾아쓰면</a:t>
            </a:r>
            <a:r>
              <a:rPr lang="ko-KR" altLang="en-US" dirty="0"/>
              <a:t>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같이 실습해 봅시다</a:t>
            </a:r>
            <a:r>
              <a:rPr lang="en-US" altLang="ko-KR" dirty="0"/>
              <a:t>. </a:t>
            </a:r>
            <a:r>
              <a:rPr lang="ko-KR" altLang="en-US" dirty="0"/>
              <a:t>새 텍스트 셀을 하나 추가하고</a:t>
            </a:r>
            <a:r>
              <a:rPr lang="en-US" altLang="ko-KR" dirty="0"/>
              <a:t>, </a:t>
            </a:r>
            <a:r>
              <a:rPr lang="ko-KR" altLang="en-US" dirty="0"/>
              <a:t>제목을 만들어 보세요</a:t>
            </a:r>
            <a:r>
              <a:rPr lang="en-US" altLang="ko-KR" dirty="0"/>
              <a:t>. </a:t>
            </a:r>
            <a:r>
              <a:rPr lang="ko-KR" altLang="en-US" dirty="0"/>
              <a:t>그리고 굵은 글씨와 코드 서체도 사용해 보세요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348" name="Google Shape;34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코드 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이제 </a:t>
            </a:r>
            <a:r>
              <a:rPr lang="ko-KR" altLang="en-US" dirty="0" err="1"/>
              <a:t>코랩의</a:t>
            </a:r>
            <a:r>
              <a:rPr lang="ko-KR" altLang="en-US" dirty="0"/>
              <a:t> 핵심인 코드 셀을 보겠습니다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기본 노트북에서 세 번째 셀을 보면</a:t>
            </a:r>
            <a:r>
              <a:rPr lang="en-US" altLang="ko-KR" dirty="0"/>
              <a:t>, </a:t>
            </a:r>
            <a:r>
              <a:rPr lang="ko-KR" altLang="en-US" dirty="0"/>
              <a:t>코드가 들어있는 셀이 보일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seconds_in_a_day</a:t>
            </a:r>
            <a:r>
              <a:rPr lang="en-US" altLang="ko-KR" dirty="0"/>
              <a:t> = 24 * 60 * 60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seconds_in_a_day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결과</a:t>
            </a:r>
            <a:r>
              <a:rPr lang="en-US" altLang="ko-KR" dirty="0"/>
              <a:t>: `86400`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이게 코드 셀입니다</a:t>
            </a:r>
            <a:r>
              <a:rPr lang="en-US" altLang="ko-KR" dirty="0"/>
              <a:t>. </a:t>
            </a:r>
            <a:r>
              <a:rPr lang="ko-KR" altLang="en-US" dirty="0"/>
              <a:t>코드를 작성하고 실행하면</a:t>
            </a:r>
            <a:r>
              <a:rPr lang="en-US" altLang="ko-KR" dirty="0"/>
              <a:t>, </a:t>
            </a:r>
            <a:r>
              <a:rPr lang="ko-KR" altLang="en-US" dirty="0"/>
              <a:t>바로 아래에 결과가 표시됩니다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코드 셀 실행 방법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</a:t>
            </a:r>
            <a:r>
              <a:rPr lang="ko-KR" altLang="en-US" dirty="0"/>
              <a:t>셀을 클릭해서 선택한 후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Ctrl + Enter (macOS</a:t>
            </a:r>
            <a:r>
              <a:rPr lang="ko-KR" altLang="en-US" dirty="0"/>
              <a:t>는 </a:t>
            </a:r>
            <a:r>
              <a:rPr lang="en-US" altLang="ko-KR" dirty="0" err="1"/>
              <a:t>Cmd</a:t>
            </a:r>
            <a:r>
              <a:rPr lang="en-US" altLang="ko-KR" dirty="0"/>
              <a:t> + Enter)</a:t>
            </a:r>
            <a:r>
              <a:rPr lang="ko-KR" altLang="en-US" dirty="0"/>
              <a:t>를 누르거나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3. </a:t>
            </a:r>
            <a:r>
              <a:rPr lang="ko-KR" altLang="en-US" dirty="0"/>
              <a:t>셀 왼쪽의 플레이 버튼</a:t>
            </a:r>
            <a:r>
              <a:rPr lang="en-US" altLang="ko-KR" dirty="0"/>
              <a:t>(▶) </a:t>
            </a:r>
            <a:r>
              <a:rPr lang="ko-KR" altLang="en-US" dirty="0"/>
              <a:t>을 클릭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직접 해볼까요</a:t>
            </a:r>
            <a:r>
              <a:rPr lang="en-US" altLang="ko-KR" dirty="0"/>
              <a:t>? </a:t>
            </a:r>
            <a:r>
              <a:rPr lang="ko-KR" altLang="en-US" dirty="0"/>
              <a:t>코드 셀을 선택하고 </a:t>
            </a:r>
            <a:r>
              <a:rPr lang="en-US" altLang="ko-KR" dirty="0" err="1"/>
              <a:t>Ctrl+Enter</a:t>
            </a:r>
            <a:r>
              <a:rPr lang="ko-KR" altLang="en-US" dirty="0"/>
              <a:t>를 눌러보세요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실습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결과가 </a:t>
            </a:r>
            <a:r>
              <a:rPr lang="en-US" altLang="ko-KR" dirty="0"/>
              <a:t>86400</a:t>
            </a:r>
            <a:r>
              <a:rPr lang="ko-KR" altLang="en-US" dirty="0"/>
              <a:t>으로 나오죠</a:t>
            </a:r>
            <a:r>
              <a:rPr lang="en-US" altLang="ko-KR" dirty="0"/>
              <a:t>? </a:t>
            </a:r>
            <a:r>
              <a:rPr lang="ko-KR" altLang="en-US" dirty="0"/>
              <a:t>하루는 </a:t>
            </a:r>
            <a:r>
              <a:rPr lang="en-US" altLang="ko-KR" dirty="0"/>
              <a:t>24</a:t>
            </a:r>
            <a:r>
              <a:rPr lang="ko-KR" altLang="en-US" dirty="0"/>
              <a:t>시간 </a:t>
            </a:r>
            <a:r>
              <a:rPr lang="en-US" altLang="ko-KR" dirty="0"/>
              <a:t>× 60</a:t>
            </a:r>
            <a:r>
              <a:rPr lang="ko-KR" altLang="en-US" dirty="0"/>
              <a:t>분 </a:t>
            </a:r>
            <a:r>
              <a:rPr lang="en-US" altLang="ko-KR" dirty="0"/>
              <a:t>× 60</a:t>
            </a:r>
            <a:r>
              <a:rPr lang="ko-KR" altLang="en-US" dirty="0"/>
              <a:t>초 </a:t>
            </a:r>
            <a:r>
              <a:rPr lang="en-US" altLang="ko-KR" dirty="0"/>
              <a:t>= 86,400</a:t>
            </a:r>
            <a:r>
              <a:rPr lang="ko-KR" altLang="en-US" dirty="0"/>
              <a:t>초라는 계산입니다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중요한 점 하나</a:t>
            </a:r>
            <a:r>
              <a:rPr lang="en-US" altLang="ko-KR" dirty="0"/>
              <a:t>: </a:t>
            </a:r>
            <a:r>
              <a:rPr lang="ko-KR" altLang="en-US" dirty="0"/>
              <a:t>코드 셀에서 마지막 줄의 값은 자동으로 출력됩니다</a:t>
            </a:r>
            <a:r>
              <a:rPr lang="en-US" altLang="ko-KR" dirty="0"/>
              <a:t>. `</a:t>
            </a:r>
            <a:r>
              <a:rPr lang="en-US" altLang="ko-KR" dirty="0" err="1"/>
              <a:t>seconds_in_a_day</a:t>
            </a:r>
            <a:r>
              <a:rPr lang="en-US" altLang="ko-KR" dirty="0"/>
              <a:t>`</a:t>
            </a:r>
            <a:r>
              <a:rPr lang="ko-KR" altLang="en-US" dirty="0"/>
              <a:t>라고만 썼는데 값이 출력된 거 보이시죠</a:t>
            </a:r>
            <a:r>
              <a:rPr lang="en-US" altLang="ko-KR" dirty="0"/>
              <a:t>? `print()`</a:t>
            </a:r>
            <a:r>
              <a:rPr lang="ko-KR" altLang="en-US" dirty="0"/>
              <a:t>를 안 써도 됩니다</a:t>
            </a:r>
            <a:r>
              <a:rPr lang="en-US" altLang="ko-KR" dirty="0"/>
              <a:t>. </a:t>
            </a:r>
            <a:r>
              <a:rPr lang="ko-KR" altLang="en-US" dirty="0"/>
              <a:t>이건 </a:t>
            </a:r>
            <a:r>
              <a:rPr lang="ko-KR" altLang="en-US" dirty="0" err="1"/>
              <a:t>코랩</a:t>
            </a:r>
            <a:r>
              <a:rPr lang="ko-KR" altLang="en-US" dirty="0"/>
              <a:t> 노트북의 </a:t>
            </a:r>
            <a:r>
              <a:rPr lang="ko-KR" altLang="en-US" dirty="0" err="1"/>
              <a:t>특성이에요</a:t>
            </a:r>
            <a:r>
              <a:rPr lang="en-US" altLang="ko-KR" dirty="0"/>
              <a:t>. </a:t>
            </a:r>
            <a:r>
              <a:rPr lang="ko-KR" altLang="en-US" dirty="0"/>
              <a:t>일반 </a:t>
            </a:r>
            <a:r>
              <a:rPr lang="ko-KR" altLang="en-US" dirty="0" err="1"/>
              <a:t>파이썬</a:t>
            </a:r>
            <a:r>
              <a:rPr lang="ko-KR" altLang="en-US" dirty="0"/>
              <a:t> 스크립트에서는 </a:t>
            </a:r>
            <a:r>
              <a:rPr lang="en-US" altLang="ko-KR" dirty="0"/>
              <a:t>`print()`</a:t>
            </a:r>
            <a:r>
              <a:rPr lang="ko-KR" altLang="en-US" dirty="0"/>
              <a:t>를 써야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코드 실행 단축키 정리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/>
              <a:t>단축키 </a:t>
            </a:r>
            <a:r>
              <a:rPr lang="en-US" altLang="ko-KR" dirty="0"/>
              <a:t>| </a:t>
            </a:r>
            <a:r>
              <a:rPr lang="ko-KR" altLang="en-US" dirty="0"/>
              <a:t>동작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|---|---|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Ctrl + Enter | </a:t>
            </a:r>
            <a:r>
              <a:rPr lang="ko-KR" altLang="en-US" dirty="0"/>
              <a:t>현재 셀 실행 </a:t>
            </a:r>
            <a:r>
              <a:rPr lang="en-US" altLang="ko-KR" dirty="0"/>
              <a:t>(</a:t>
            </a:r>
            <a:r>
              <a:rPr lang="ko-KR" altLang="en-US" dirty="0"/>
              <a:t>커서 그대로</a:t>
            </a:r>
            <a:r>
              <a:rPr lang="en-US" altLang="ko-KR" dirty="0"/>
              <a:t>) 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Shift + Enter | </a:t>
            </a:r>
            <a:r>
              <a:rPr lang="ko-KR" altLang="en-US" dirty="0"/>
              <a:t>현재 셀 실행 후 다음 셀로 이동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Alt + Enter | </a:t>
            </a:r>
            <a:r>
              <a:rPr lang="ko-KR" altLang="en-US" dirty="0"/>
              <a:t>현재 셀 실행 후 새 셀 삽입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Shift + Enter</a:t>
            </a:r>
            <a:r>
              <a:rPr lang="ko-KR" altLang="en-US" dirty="0"/>
              <a:t>를 가장 많이 쓸 겁니다</a:t>
            </a:r>
            <a:r>
              <a:rPr lang="en-US" altLang="ko-KR" dirty="0"/>
              <a:t>. </a:t>
            </a:r>
            <a:r>
              <a:rPr lang="ko-KR" altLang="en-US" dirty="0"/>
              <a:t>실행하고 바로 다음 셀로 넘어가니까 연속적으로 코드를 실행할 때 편리하거든요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이제 코드 셀에 직접 코드를 써보겠습니다</a:t>
            </a:r>
            <a:r>
              <a:rPr lang="en-US" altLang="ko-KR" dirty="0"/>
              <a:t>. </a:t>
            </a:r>
            <a:r>
              <a:rPr lang="ko-KR" altLang="en-US" dirty="0"/>
              <a:t>새 코드 셀을 추가하고</a:t>
            </a:r>
            <a:r>
              <a:rPr lang="en-US" altLang="ko-KR" dirty="0"/>
              <a:t>, </a:t>
            </a:r>
            <a:r>
              <a:rPr lang="ko-KR" altLang="en-US" dirty="0"/>
              <a:t>다음을 입력하고 실행해 보세요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print("Hello, </a:t>
            </a:r>
            <a:r>
              <a:rPr lang="ko-KR" altLang="en-US" dirty="0"/>
              <a:t>인공지능</a:t>
            </a:r>
            <a:r>
              <a:rPr lang="en-US" altLang="ko-KR" dirty="0"/>
              <a:t>!")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실습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3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잘 </a:t>
            </a:r>
            <a:r>
              <a:rPr lang="ko-KR" altLang="en-US" dirty="0" err="1"/>
              <a:t>되시나요</a:t>
            </a:r>
            <a:r>
              <a:rPr lang="en-US" altLang="ko-KR" dirty="0"/>
              <a:t>? "Hello, </a:t>
            </a:r>
            <a:r>
              <a:rPr lang="ko-KR" altLang="en-US" dirty="0"/>
              <a:t>인공지능</a:t>
            </a:r>
            <a:r>
              <a:rPr lang="en-US" altLang="ko-KR" dirty="0"/>
              <a:t>!"</a:t>
            </a:r>
            <a:r>
              <a:rPr lang="ko-KR" altLang="en-US" dirty="0"/>
              <a:t>이 출력되면 성공입니다</a:t>
            </a:r>
            <a:r>
              <a:rPr lang="en-US" altLang="ko-KR" dirty="0"/>
              <a:t>. </a:t>
            </a:r>
            <a:r>
              <a:rPr lang="ko-KR" altLang="en-US" dirty="0"/>
              <a:t>여러분의 첫 번째 </a:t>
            </a:r>
            <a:r>
              <a:rPr lang="ko-KR" altLang="en-US" dirty="0" err="1"/>
              <a:t>코랩</a:t>
            </a:r>
            <a:r>
              <a:rPr lang="ko-KR" altLang="en-US" dirty="0"/>
              <a:t> 코드를 실행한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7" name="Google Shape;3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8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코랩과</a:t>
            </a:r>
            <a:r>
              <a:rPr lang="ko-KR" altLang="en-US" dirty="0"/>
              <a:t> 주피터의 관계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코랩의</a:t>
            </a:r>
            <a:r>
              <a:rPr lang="ko-KR" altLang="en-US" dirty="0"/>
              <a:t> 정체를 좀 더 정확히 알아봅시다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코랩은</a:t>
            </a:r>
            <a:r>
              <a:rPr lang="ko-KR" altLang="en-US" dirty="0"/>
              <a:t> 구글이 주피터</a:t>
            </a:r>
            <a:r>
              <a:rPr lang="en-US" altLang="ko-KR" dirty="0"/>
              <a:t>(</a:t>
            </a:r>
            <a:r>
              <a:rPr lang="en-US" altLang="ko-KR" dirty="0" err="1"/>
              <a:t>Jupyter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ko-KR" altLang="en-US" dirty="0" err="1"/>
              <a:t>커스터마이징한</a:t>
            </a:r>
            <a:r>
              <a:rPr lang="ko-KR" altLang="en-US" dirty="0"/>
              <a:t> 것입니다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주피터</a:t>
            </a:r>
            <a:r>
              <a:rPr lang="en-US" altLang="ko-KR" dirty="0"/>
              <a:t>(</a:t>
            </a:r>
            <a:r>
              <a:rPr lang="en-US" altLang="ko-KR" dirty="0" err="1"/>
              <a:t>Jupyter</a:t>
            </a:r>
            <a:r>
              <a:rPr lang="en-US" altLang="ko-KR" dirty="0"/>
              <a:t>)</a:t>
            </a:r>
            <a:r>
              <a:rPr lang="ko-KR" altLang="en-US" dirty="0"/>
              <a:t>란</a:t>
            </a:r>
            <a:r>
              <a:rPr lang="en-US" altLang="ko-KR" dirty="0"/>
              <a:t>? </a:t>
            </a:r>
            <a:r>
              <a:rPr lang="ko-KR" altLang="en-US" dirty="0"/>
              <a:t>원래 </a:t>
            </a:r>
            <a:r>
              <a:rPr lang="ko-KR" altLang="en-US" dirty="0" err="1"/>
              <a:t>파이썬</a:t>
            </a:r>
            <a:r>
              <a:rPr lang="ko-KR" altLang="en-US" dirty="0"/>
              <a:t> 지원으로 시작된 대화식 프로그래밍 환경입니다</a:t>
            </a:r>
            <a:r>
              <a:rPr lang="en-US" altLang="ko-KR" dirty="0"/>
              <a:t>. </a:t>
            </a:r>
            <a:r>
              <a:rPr lang="ko-KR" altLang="en-US" dirty="0"/>
              <a:t>이름의 유래가 재미있는데요</a:t>
            </a:r>
            <a:r>
              <a:rPr lang="en-US" altLang="ko-KR" dirty="0"/>
              <a:t>, Julia + Python + R, </a:t>
            </a:r>
            <a:r>
              <a:rPr lang="ko-KR" altLang="en-US" dirty="0"/>
              <a:t>세 프로그래밍 언어의 </a:t>
            </a:r>
            <a:r>
              <a:rPr lang="ko-KR" altLang="en-US" dirty="0" err="1"/>
              <a:t>앞글자를</a:t>
            </a:r>
            <a:r>
              <a:rPr lang="ko-KR" altLang="en-US" dirty="0"/>
              <a:t> 조합한 겁니다</a:t>
            </a:r>
            <a:r>
              <a:rPr lang="en-US" altLang="ko-KR" dirty="0"/>
              <a:t>. </a:t>
            </a:r>
            <a:r>
              <a:rPr lang="ko-KR" altLang="en-US" dirty="0"/>
              <a:t>지금은 다른 언어도 지원합니다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주피터 프로젝트의 대표 제품이 노트북</a:t>
            </a:r>
            <a:r>
              <a:rPr lang="en-US" altLang="ko-KR" dirty="0"/>
              <a:t>(Notebook)</a:t>
            </a:r>
            <a:r>
              <a:rPr lang="ko-KR" altLang="en-US" dirty="0"/>
              <a:t>이에요</a:t>
            </a:r>
            <a:r>
              <a:rPr lang="en-US" altLang="ko-KR" dirty="0"/>
              <a:t>. </a:t>
            </a:r>
            <a:r>
              <a:rPr lang="ko-KR" altLang="en-US" dirty="0"/>
              <a:t>그래서 보통 </a:t>
            </a:r>
            <a:r>
              <a:rPr lang="en-US" altLang="ko-KR" dirty="0"/>
              <a:t>"</a:t>
            </a:r>
            <a:r>
              <a:rPr lang="ko-KR" altLang="en-US" dirty="0"/>
              <a:t>주피터 노트북</a:t>
            </a:r>
            <a:r>
              <a:rPr lang="en-US" altLang="ko-KR" dirty="0"/>
              <a:t>"</a:t>
            </a:r>
            <a:r>
              <a:rPr lang="ko-KR" altLang="en-US" dirty="0"/>
              <a:t>이라고 부릅니다</a:t>
            </a:r>
            <a:r>
              <a:rPr lang="en-US" altLang="ko-KR" dirty="0"/>
              <a:t>. </a:t>
            </a:r>
            <a:r>
              <a:rPr lang="ko-KR" altLang="en-US" dirty="0" err="1"/>
              <a:t>코랩</a:t>
            </a:r>
            <a:r>
              <a:rPr lang="ko-KR" altLang="en-US" dirty="0"/>
              <a:t> 노트북은 주피터 노트북의 구글 클라우드 버전인 셈이죠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코랩의</a:t>
            </a:r>
            <a:r>
              <a:rPr lang="ko-KR" altLang="en-US" dirty="0"/>
              <a:t> 실행 환경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코랩</a:t>
            </a:r>
            <a:r>
              <a:rPr lang="ko-KR" altLang="en-US" dirty="0"/>
              <a:t> 노트북은 구글 클라우드의 가상 서버</a:t>
            </a:r>
            <a:r>
              <a:rPr lang="en-US" altLang="ko-KR" dirty="0"/>
              <a:t>(Virtual Machine)</a:t>
            </a:r>
            <a:r>
              <a:rPr lang="ko-KR" altLang="en-US" dirty="0"/>
              <a:t>에서 실행됩니다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여러분이 </a:t>
            </a:r>
            <a:r>
              <a:rPr lang="ko-KR" altLang="en-US" dirty="0" err="1"/>
              <a:t>코랩에서</a:t>
            </a:r>
            <a:r>
              <a:rPr lang="ko-KR" altLang="en-US" dirty="0"/>
              <a:t> 코드를 실행하면</a:t>
            </a:r>
            <a:r>
              <a:rPr lang="en-US" altLang="ko-KR" dirty="0"/>
              <a:t>, </a:t>
            </a:r>
            <a:r>
              <a:rPr lang="ko-KR" altLang="en-US" dirty="0"/>
              <a:t>그 코드는 여러분 컴퓨터에서 돌아가는 게 아닙니다</a:t>
            </a:r>
            <a:r>
              <a:rPr lang="en-US" altLang="ko-KR" dirty="0"/>
              <a:t>. </a:t>
            </a:r>
            <a:r>
              <a:rPr lang="ko-KR" altLang="en-US" dirty="0"/>
              <a:t>구글의 데이터센터에 있는 서버에서 돌아갑니다</a:t>
            </a:r>
            <a:r>
              <a:rPr lang="en-US" altLang="ko-KR" dirty="0"/>
              <a:t>. </a:t>
            </a:r>
            <a:r>
              <a:rPr lang="ko-KR" altLang="en-US" dirty="0"/>
              <a:t>결과만 여러분 화면에 보여주는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화면 오른쪽 상단을 보시면 </a:t>
            </a:r>
            <a:r>
              <a:rPr lang="en-US" altLang="ko-KR" dirty="0"/>
              <a:t>RAM, </a:t>
            </a:r>
            <a:r>
              <a:rPr lang="ko-KR" altLang="en-US" dirty="0"/>
              <a:t>디스크 아이콘이 있을 겁니다</a:t>
            </a:r>
            <a:r>
              <a:rPr lang="en-US" altLang="ko-KR" dirty="0"/>
              <a:t>. </a:t>
            </a:r>
            <a:r>
              <a:rPr lang="ko-KR" altLang="en-US" dirty="0"/>
              <a:t>마우스를 올려보면 현재 서버의 메모리 사용량과 디스크 사용량을 확인할 수 있어요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코드를 실행하기 전이나 연결이 끊어진 상태에서는 아이콘 대신에 </a:t>
            </a:r>
            <a:r>
              <a:rPr lang="en-US" altLang="ko-KR" dirty="0"/>
              <a:t>[</a:t>
            </a:r>
            <a:r>
              <a:rPr lang="ko-KR" altLang="en-US" dirty="0"/>
              <a:t>연결</a:t>
            </a:r>
            <a:r>
              <a:rPr lang="en-US" altLang="ko-KR" dirty="0"/>
              <a:t>] </a:t>
            </a:r>
            <a:r>
              <a:rPr lang="ko-KR" altLang="en-US" dirty="0"/>
              <a:t>버튼이 나타납니다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같이 확인해 볼까요</a:t>
            </a:r>
            <a:r>
              <a:rPr lang="en-US" altLang="ko-KR" dirty="0"/>
              <a:t>? </a:t>
            </a:r>
            <a:r>
              <a:rPr lang="ko-KR" altLang="en-US" dirty="0"/>
              <a:t>오른쪽 상단을 한번 보시고</a:t>
            </a:r>
            <a:r>
              <a:rPr lang="en-US" altLang="ko-KR" dirty="0"/>
              <a:t>, </a:t>
            </a:r>
            <a:r>
              <a:rPr lang="ko-KR" altLang="en-US" dirty="0"/>
              <a:t>마우스를 올려보세요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확인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어떤 분은 아직 </a:t>
            </a:r>
            <a:r>
              <a:rPr lang="en-US" altLang="ko-KR" dirty="0"/>
              <a:t>"</a:t>
            </a:r>
            <a:r>
              <a:rPr lang="ko-KR" altLang="en-US" dirty="0"/>
              <a:t>연결</a:t>
            </a:r>
            <a:r>
              <a:rPr lang="en-US" altLang="ko-KR" dirty="0"/>
              <a:t>" </a:t>
            </a:r>
            <a:r>
              <a:rPr lang="ko-KR" altLang="en-US" dirty="0"/>
              <a:t>버튼만 보일 수도 있어요</a:t>
            </a:r>
            <a:r>
              <a:rPr lang="en-US" altLang="ko-KR" dirty="0"/>
              <a:t>. </a:t>
            </a:r>
            <a:r>
              <a:rPr lang="ko-KR" altLang="en-US" dirty="0"/>
              <a:t>코드를 한 번 실행하면 자동으로 서버에 연결됩니다</a:t>
            </a:r>
            <a:r>
              <a:rPr lang="en-US" altLang="ko-KR" dirty="0"/>
              <a:t>. </a:t>
            </a:r>
            <a:r>
              <a:rPr lang="ko-KR" altLang="en-US" dirty="0"/>
              <a:t>아까 코드를 실행하신 분은 이미 연결되어 있을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2" name="Google Shape;3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코랩</a:t>
            </a:r>
            <a:r>
              <a:rPr lang="ko-KR" altLang="en-US" dirty="0"/>
              <a:t> 무료 사용의 제한사항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무료로 쓸 수 있다는 건 좋은데</a:t>
            </a:r>
            <a:r>
              <a:rPr lang="en-US" altLang="ko-KR" dirty="0"/>
              <a:t>, </a:t>
            </a:r>
            <a:r>
              <a:rPr lang="ko-KR" altLang="en-US" dirty="0"/>
              <a:t>몇 가지 제한사항이 있습니다</a:t>
            </a:r>
            <a:r>
              <a:rPr lang="en-US" altLang="ko-KR" dirty="0"/>
              <a:t>. </a:t>
            </a:r>
            <a:r>
              <a:rPr lang="ko-KR" altLang="en-US" dirty="0" err="1"/>
              <a:t>알아두어야</a:t>
            </a:r>
            <a:r>
              <a:rPr lang="ko-KR" altLang="en-US" dirty="0"/>
              <a:t> 당황하지 않아요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서버 사양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메모리</a:t>
            </a:r>
            <a:r>
              <a:rPr lang="en-US" altLang="ko-KR" dirty="0"/>
              <a:t>: </a:t>
            </a:r>
            <a:r>
              <a:rPr lang="ko-KR" altLang="en-US" dirty="0"/>
              <a:t>약 </a:t>
            </a:r>
            <a:r>
              <a:rPr lang="en-US" altLang="ko-KR" dirty="0"/>
              <a:t>12GB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디스크</a:t>
            </a:r>
            <a:r>
              <a:rPr lang="en-US" altLang="ko-KR" dirty="0"/>
              <a:t>: </a:t>
            </a:r>
            <a:r>
              <a:rPr lang="ko-KR" altLang="en-US" dirty="0"/>
              <a:t>약 </a:t>
            </a:r>
            <a:r>
              <a:rPr lang="en-US" altLang="ko-KR" dirty="0"/>
              <a:t>225GB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정도면 우리 수업에서 하는 실습은 충분히 돌릴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무료 사용 제한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</a:t>
            </a:r>
            <a:r>
              <a:rPr lang="ko-KR" altLang="en-US" dirty="0"/>
              <a:t>동시에 최대 </a:t>
            </a:r>
            <a:r>
              <a:rPr lang="en-US" altLang="ko-KR" dirty="0"/>
              <a:t>5</a:t>
            </a:r>
            <a:r>
              <a:rPr lang="ko-KR" altLang="en-US" dirty="0"/>
              <a:t>개 노트북까지 사용 가능합니다</a:t>
            </a:r>
            <a:r>
              <a:rPr lang="en-US" altLang="ko-KR" dirty="0"/>
              <a:t>. 5</a:t>
            </a:r>
            <a:r>
              <a:rPr lang="ko-KR" altLang="en-US" dirty="0"/>
              <a:t>개 이상 열어야 하면</a:t>
            </a:r>
            <a:r>
              <a:rPr lang="en-US" altLang="ko-KR" dirty="0"/>
              <a:t>, </a:t>
            </a:r>
            <a:r>
              <a:rPr lang="ko-KR" altLang="en-US" dirty="0"/>
              <a:t>이미 실행 중인 노트북을 저장하고 연결을 끊어야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2. 1</a:t>
            </a:r>
            <a:r>
              <a:rPr lang="ko-KR" altLang="en-US" dirty="0"/>
              <a:t>개의 노트북을 </a:t>
            </a:r>
            <a:r>
              <a:rPr lang="en-US" altLang="ko-KR" dirty="0"/>
              <a:t>12</a:t>
            </a:r>
            <a:r>
              <a:rPr lang="ko-KR" altLang="en-US" dirty="0"/>
              <a:t>시간 이상 실행할 수 없습니다</a:t>
            </a:r>
            <a:r>
              <a:rPr lang="en-US" altLang="ko-KR" dirty="0"/>
              <a:t>. 12</a:t>
            </a:r>
            <a:r>
              <a:rPr lang="ko-KR" altLang="en-US" dirty="0"/>
              <a:t>시간이 넘으면 자동으로 연결이 끊기고</a:t>
            </a:r>
            <a:r>
              <a:rPr lang="en-US" altLang="ko-KR" dirty="0"/>
              <a:t>, </a:t>
            </a:r>
            <a:r>
              <a:rPr lang="ko-KR" altLang="en-US" dirty="0"/>
              <a:t>저장하지 않은 작업은 사라집니다</a:t>
            </a:r>
            <a:r>
              <a:rPr lang="en-US" altLang="ko-KR" dirty="0"/>
              <a:t>. </a:t>
            </a:r>
            <a:r>
              <a:rPr lang="ko-KR" altLang="en-US" dirty="0"/>
              <a:t>그러니까 작업하다가 중간중간 저장하는 습관을 들이세요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3. </a:t>
            </a:r>
            <a:r>
              <a:rPr lang="ko-KR" altLang="en-US" dirty="0"/>
              <a:t>너무 오래 아무것도 안 하면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90</a:t>
            </a:r>
            <a:r>
              <a:rPr lang="ko-KR" altLang="en-US" dirty="0"/>
              <a:t>분</a:t>
            </a:r>
            <a:r>
              <a:rPr lang="en-US" altLang="ko-KR" dirty="0"/>
              <a:t>), </a:t>
            </a:r>
            <a:r>
              <a:rPr lang="ko-KR" altLang="en-US" dirty="0"/>
              <a:t>연결이 끊길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코랩</a:t>
            </a:r>
            <a:r>
              <a:rPr lang="ko-KR" altLang="en-US" dirty="0"/>
              <a:t> 프로</a:t>
            </a:r>
            <a:r>
              <a:rPr lang="en-US" altLang="ko-KR" dirty="0"/>
              <a:t>(</a:t>
            </a:r>
            <a:r>
              <a:rPr lang="en-US" altLang="ko-KR" dirty="0" err="1"/>
              <a:t>Colab</a:t>
            </a:r>
            <a:r>
              <a:rPr lang="en-US" altLang="ko-KR" dirty="0"/>
              <a:t> Pro):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구글은 </a:t>
            </a:r>
            <a:r>
              <a:rPr lang="en-US" altLang="ko-KR" dirty="0"/>
              <a:t>2020</a:t>
            </a:r>
            <a:r>
              <a:rPr lang="ko-KR" altLang="en-US" dirty="0"/>
              <a:t>년에 유료 서비스인 </a:t>
            </a:r>
            <a:r>
              <a:rPr lang="ko-KR" altLang="en-US" dirty="0" err="1"/>
              <a:t>코랩</a:t>
            </a:r>
            <a:r>
              <a:rPr lang="ko-KR" altLang="en-US" dirty="0"/>
              <a:t> 프로를 출시했습니다</a:t>
            </a:r>
            <a:r>
              <a:rPr lang="en-US" altLang="ko-KR" dirty="0"/>
              <a:t>. </a:t>
            </a:r>
            <a:r>
              <a:rPr lang="ko-KR" altLang="en-US" dirty="0"/>
              <a:t>더 많은 메모리</a:t>
            </a:r>
            <a:r>
              <a:rPr lang="en-US" altLang="ko-KR" dirty="0"/>
              <a:t>, </a:t>
            </a:r>
            <a:r>
              <a:rPr lang="ko-KR" altLang="en-US" dirty="0"/>
              <a:t>더 빠른 </a:t>
            </a:r>
            <a:r>
              <a:rPr lang="en-US" altLang="ko-KR" dirty="0"/>
              <a:t>GPU, </a:t>
            </a:r>
            <a:r>
              <a:rPr lang="ko-KR" altLang="en-US" dirty="0"/>
              <a:t>최대 </a:t>
            </a:r>
            <a:r>
              <a:rPr lang="en-US" altLang="ko-KR" dirty="0"/>
              <a:t>24</a:t>
            </a:r>
            <a:r>
              <a:rPr lang="ko-KR" altLang="en-US" dirty="0"/>
              <a:t>시간 실행이 가능합니다</a:t>
            </a:r>
            <a:r>
              <a:rPr lang="en-US" altLang="ko-KR" dirty="0"/>
              <a:t>. </a:t>
            </a:r>
            <a:r>
              <a:rPr lang="ko-KR" altLang="en-US" dirty="0"/>
              <a:t>하지만 우리 수업에서는 무료 버전으로 충분합니다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핵심은</a:t>
            </a:r>
            <a:r>
              <a:rPr lang="en-US" altLang="ko-KR" dirty="0"/>
              <a:t>, 12</a:t>
            </a:r>
            <a:r>
              <a:rPr lang="ko-KR" altLang="en-US" dirty="0"/>
              <a:t>시간 제한과 자동 연결 끊김에 주의하라는 것</a:t>
            </a:r>
            <a:r>
              <a:rPr lang="en-US" altLang="ko-KR" dirty="0"/>
              <a:t>. </a:t>
            </a:r>
            <a:r>
              <a:rPr lang="ko-KR" altLang="en-US" dirty="0"/>
              <a:t>중요한 작업을 할 때는 반드시 저장을 자주 하세요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01" name="Google Shape;4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0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새 노트북 만들기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이제 처음부터 새 노트북을 만들어 보겠습니다</a:t>
            </a:r>
            <a:r>
              <a:rPr lang="en-US" altLang="ko-KR" dirty="0"/>
              <a:t>. </a:t>
            </a:r>
            <a:r>
              <a:rPr lang="ko-KR" altLang="en-US" dirty="0"/>
              <a:t>같이 따라해 주세요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01. </a:t>
            </a:r>
            <a:r>
              <a:rPr lang="ko-KR" altLang="en-US" dirty="0"/>
              <a:t>새 노트북 생성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메뉴에서 </a:t>
            </a:r>
            <a:r>
              <a:rPr lang="en-US" altLang="ko-KR" dirty="0"/>
              <a:t>[</a:t>
            </a:r>
            <a:r>
              <a:rPr lang="ko-KR" altLang="en-US" dirty="0"/>
              <a:t>파일</a:t>
            </a:r>
            <a:r>
              <a:rPr lang="en-US" altLang="ko-KR" dirty="0"/>
              <a:t>] → [</a:t>
            </a:r>
            <a:r>
              <a:rPr lang="ko-KR" altLang="en-US" dirty="0"/>
              <a:t>새 노트</a:t>
            </a:r>
            <a:r>
              <a:rPr lang="en-US" altLang="ko-KR" dirty="0"/>
              <a:t>]</a:t>
            </a:r>
            <a:r>
              <a:rPr lang="ko-KR" altLang="en-US" dirty="0"/>
              <a:t>를 클릭합니다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잠시 기다림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새 노트북이 열렸나요</a:t>
            </a:r>
            <a:r>
              <a:rPr lang="en-US" altLang="ko-KR" dirty="0"/>
              <a:t>? Untitled[</a:t>
            </a:r>
            <a:r>
              <a:rPr lang="ko-KR" altLang="en-US" dirty="0"/>
              <a:t>숫자</a:t>
            </a:r>
            <a:r>
              <a:rPr lang="en-US" altLang="ko-KR" dirty="0"/>
              <a:t>].</a:t>
            </a:r>
            <a:r>
              <a:rPr lang="en-US" altLang="ko-KR" dirty="0" err="1"/>
              <a:t>ipynb</a:t>
            </a:r>
            <a:r>
              <a:rPr lang="ko-KR" altLang="en-US" dirty="0"/>
              <a:t>라는 이름으로 만들어지고</a:t>
            </a:r>
            <a:r>
              <a:rPr lang="en-US" altLang="ko-KR" dirty="0"/>
              <a:t>, </a:t>
            </a:r>
            <a:r>
              <a:rPr lang="ko-KR" altLang="en-US" dirty="0"/>
              <a:t>빈 코드 셀이 하나 나타납니다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</a:t>
            </a:r>
            <a:r>
              <a:rPr lang="en-US" altLang="ko-KR" dirty="0"/>
              <a:t>".</a:t>
            </a:r>
            <a:r>
              <a:rPr lang="en-US" altLang="ko-KR" dirty="0" err="1"/>
              <a:t>ipynb</a:t>
            </a:r>
            <a:r>
              <a:rPr lang="en-US" altLang="ko-KR" dirty="0"/>
              <a:t>"</a:t>
            </a:r>
            <a:r>
              <a:rPr lang="ko-KR" altLang="en-US" dirty="0"/>
              <a:t>라는 확장자가 </a:t>
            </a:r>
            <a:r>
              <a:rPr lang="ko-KR" altLang="en-US" dirty="0" err="1"/>
              <a:t>뭔지</a:t>
            </a:r>
            <a:r>
              <a:rPr lang="ko-KR" altLang="en-US" dirty="0"/>
              <a:t> 궁금하실 수 있는데요</a:t>
            </a:r>
            <a:r>
              <a:rPr lang="en-US" altLang="ko-KR" dirty="0"/>
              <a:t>, </a:t>
            </a:r>
            <a:r>
              <a:rPr lang="ko-KR" altLang="en-US" dirty="0"/>
              <a:t>이건 </a:t>
            </a:r>
            <a:r>
              <a:rPr lang="en-US" altLang="ko-KR" dirty="0" err="1"/>
              <a:t>IPython</a:t>
            </a:r>
            <a:r>
              <a:rPr lang="en-US" altLang="ko-KR" dirty="0"/>
              <a:t> Notebook</a:t>
            </a:r>
            <a:r>
              <a:rPr lang="ko-KR" altLang="en-US" dirty="0"/>
              <a:t>의 약자입니다</a:t>
            </a:r>
            <a:r>
              <a:rPr lang="en-US" altLang="ko-KR" dirty="0"/>
              <a:t>. </a:t>
            </a:r>
            <a:r>
              <a:rPr lang="ko-KR" altLang="en-US" dirty="0"/>
              <a:t>주피터 노트북의 표준 파일 </a:t>
            </a:r>
            <a:r>
              <a:rPr lang="ko-KR" altLang="en-US" dirty="0" err="1"/>
              <a:t>형식이에요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02. </a:t>
            </a:r>
            <a:r>
              <a:rPr lang="ko-KR" altLang="en-US" dirty="0"/>
              <a:t>코드 작성 및 실행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빈 코드 셀에 다음을 입력해 보세요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print("Hello World")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입력하셨으면</a:t>
            </a:r>
            <a:r>
              <a:rPr lang="en-US" altLang="ko-KR" dirty="0"/>
              <a:t>, Ctrl + Enter</a:t>
            </a:r>
            <a:r>
              <a:rPr lang="ko-KR" altLang="en-US" dirty="0"/>
              <a:t>를 누르거나 왼쪽의 ▶ 버튼을 클릭해서 실행합니다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실습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"Hello World"</a:t>
            </a:r>
            <a:r>
              <a:rPr lang="ko-KR" altLang="en-US" dirty="0"/>
              <a:t>가 출력되면 성공입니다</a:t>
            </a:r>
            <a:r>
              <a:rPr lang="en-US" altLang="ko-KR" dirty="0"/>
              <a:t>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03. </a:t>
            </a:r>
            <a:r>
              <a:rPr lang="ko-KR" altLang="en-US" dirty="0"/>
              <a:t>파일 저장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노트북은 자동으로 구글 드라이브의 </a:t>
            </a:r>
            <a:r>
              <a:rPr lang="en-US" altLang="ko-KR" dirty="0"/>
              <a:t>[</a:t>
            </a:r>
            <a:r>
              <a:rPr lang="ko-KR" altLang="en-US" dirty="0"/>
              <a:t>내 드라이브</a:t>
            </a:r>
            <a:r>
              <a:rPr lang="en-US" altLang="ko-KR" dirty="0"/>
              <a:t>] → [</a:t>
            </a:r>
            <a:r>
              <a:rPr lang="en-US" altLang="ko-KR" dirty="0" err="1"/>
              <a:t>Colab</a:t>
            </a:r>
            <a:r>
              <a:rPr lang="en-US" altLang="ko-KR" dirty="0"/>
              <a:t> Notebooks] </a:t>
            </a:r>
            <a:r>
              <a:rPr lang="ko-KR" altLang="en-US" dirty="0"/>
              <a:t>폴더에 저장됩니다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진짜 저장되었는지 확인해 볼까요</a:t>
            </a:r>
            <a:r>
              <a:rPr lang="en-US" altLang="ko-KR" dirty="0"/>
              <a:t>? </a:t>
            </a:r>
            <a:r>
              <a:rPr lang="ko-KR" altLang="en-US" dirty="0"/>
              <a:t>새 탭을 열고 </a:t>
            </a:r>
            <a:r>
              <a:rPr lang="en-US" altLang="ko-KR" dirty="0"/>
              <a:t>drive.google.com</a:t>
            </a:r>
            <a:r>
              <a:rPr lang="ko-KR" altLang="en-US" dirty="0"/>
              <a:t>에 접속해 보세요</a:t>
            </a:r>
            <a:r>
              <a:rPr lang="en-US" altLang="ko-KR" dirty="0"/>
              <a:t>. "</a:t>
            </a:r>
            <a:r>
              <a:rPr lang="en-US" altLang="ko-KR" dirty="0" err="1"/>
              <a:t>Colab</a:t>
            </a:r>
            <a:r>
              <a:rPr lang="en-US" altLang="ko-KR" dirty="0"/>
              <a:t> Notebooks"</a:t>
            </a:r>
            <a:r>
              <a:rPr lang="ko-KR" altLang="en-US" dirty="0"/>
              <a:t>라는 폴더가 보일 겁니다</a:t>
            </a:r>
            <a:r>
              <a:rPr lang="en-US" altLang="ko-KR" dirty="0"/>
              <a:t>. </a:t>
            </a:r>
            <a:r>
              <a:rPr lang="ko-KR" altLang="en-US" dirty="0"/>
              <a:t>그 안에 방금 만든 노트북이 있을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확인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2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04. </a:t>
            </a:r>
            <a:r>
              <a:rPr lang="ko-KR" altLang="en-US" dirty="0"/>
              <a:t>노트북 이름 변경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화면 상단 왼쪽에 </a:t>
            </a:r>
            <a:r>
              <a:rPr lang="en-US" altLang="ko-KR" dirty="0"/>
              <a:t>"Untitled0.ipynb" </a:t>
            </a:r>
            <a:r>
              <a:rPr lang="ko-KR" altLang="en-US" dirty="0"/>
              <a:t>같은 제목이 보이죠</a:t>
            </a:r>
            <a:r>
              <a:rPr lang="en-US" altLang="ko-KR" dirty="0"/>
              <a:t>? </a:t>
            </a:r>
            <a:r>
              <a:rPr lang="ko-KR" altLang="en-US" dirty="0"/>
              <a:t>이걸 클릭하면 수정할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파일의 제목을 </a:t>
            </a:r>
            <a:r>
              <a:rPr lang="en-US" altLang="ko-KR" dirty="0"/>
              <a:t>"Hello World"</a:t>
            </a:r>
            <a:r>
              <a:rPr lang="ko-KR" altLang="en-US" dirty="0"/>
              <a:t>로 바꿔 보세요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실습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이름을 변경하고 잠시 기다리면</a:t>
            </a:r>
            <a:r>
              <a:rPr lang="en-US" altLang="ko-KR" dirty="0"/>
              <a:t>, </a:t>
            </a:r>
            <a:r>
              <a:rPr lang="ko-KR" altLang="en-US" dirty="0"/>
              <a:t>구글 드라이브에서도 이름이 바뀌는 걸 확인할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05. </a:t>
            </a:r>
            <a:r>
              <a:rPr lang="ko-KR" altLang="en-US" dirty="0"/>
              <a:t>저장 단축키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수동으로 저장하려면 </a:t>
            </a:r>
            <a:r>
              <a:rPr lang="en-US" altLang="ko-KR" dirty="0"/>
              <a:t>Ctrl + S (macOS: </a:t>
            </a:r>
            <a:r>
              <a:rPr lang="en-US" altLang="ko-KR" dirty="0" err="1"/>
              <a:t>Cmd</a:t>
            </a:r>
            <a:r>
              <a:rPr lang="en-US" altLang="ko-KR" dirty="0"/>
              <a:t> + S)</a:t>
            </a:r>
            <a:r>
              <a:rPr lang="ko-KR" altLang="en-US" dirty="0"/>
              <a:t>를 누르면 됩니다</a:t>
            </a:r>
            <a:r>
              <a:rPr lang="en-US" altLang="ko-KR" dirty="0"/>
              <a:t>. </a:t>
            </a:r>
            <a:r>
              <a:rPr lang="ko-KR" altLang="en-US" dirty="0" err="1"/>
              <a:t>코랩이</a:t>
            </a:r>
            <a:r>
              <a:rPr lang="ko-KR" altLang="en-US" dirty="0"/>
              <a:t> 자동 저장을 </a:t>
            </a:r>
            <a:r>
              <a:rPr lang="ko-KR" altLang="en-US" dirty="0" err="1"/>
              <a:t>해주긴</a:t>
            </a:r>
            <a:r>
              <a:rPr lang="ko-KR" altLang="en-US" dirty="0"/>
              <a:t> 하지만</a:t>
            </a:r>
            <a:r>
              <a:rPr lang="en-US" altLang="ko-KR" dirty="0"/>
              <a:t>, </a:t>
            </a:r>
            <a:r>
              <a:rPr lang="ko-KR" altLang="en-US" dirty="0"/>
              <a:t>중요한 작업 후에는 습관적으로 </a:t>
            </a:r>
            <a:r>
              <a:rPr lang="en-US" altLang="ko-KR" dirty="0"/>
              <a:t>Ctrl + S</a:t>
            </a:r>
            <a:r>
              <a:rPr lang="ko-KR" altLang="en-US" dirty="0"/>
              <a:t>를 눌러주세요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0" name="Google Shape;4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저장된 노트북 열기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이번에는 저장된 노트북을 다시 불러오는 방법을 알아봅시다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방법 </a:t>
            </a:r>
            <a:r>
              <a:rPr lang="en-US" altLang="ko-KR" dirty="0"/>
              <a:t>1: </a:t>
            </a:r>
            <a:r>
              <a:rPr lang="ko-KR" altLang="en-US" dirty="0" err="1"/>
              <a:t>코랩에서</a:t>
            </a:r>
            <a:r>
              <a:rPr lang="ko-KR" altLang="en-US" dirty="0"/>
              <a:t> 열기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</a:t>
            </a:r>
            <a:r>
              <a:rPr lang="ko-KR" altLang="en-US" dirty="0" err="1"/>
              <a:t>코랩</a:t>
            </a:r>
            <a:r>
              <a:rPr lang="ko-KR" altLang="en-US" dirty="0"/>
              <a:t> 화면에서 </a:t>
            </a:r>
            <a:r>
              <a:rPr lang="en-US" altLang="ko-KR" dirty="0"/>
              <a:t>[</a:t>
            </a:r>
            <a:r>
              <a:rPr lang="ko-KR" altLang="en-US" dirty="0"/>
              <a:t>파일</a:t>
            </a:r>
            <a:r>
              <a:rPr lang="en-US" altLang="ko-KR" dirty="0"/>
              <a:t>] → [</a:t>
            </a:r>
            <a:r>
              <a:rPr lang="ko-KR" altLang="en-US" dirty="0"/>
              <a:t>노트 열기</a:t>
            </a:r>
            <a:r>
              <a:rPr lang="en-US" altLang="ko-KR" dirty="0"/>
              <a:t>] </a:t>
            </a:r>
            <a:r>
              <a:rPr lang="ko-KR" altLang="en-US" dirty="0"/>
              <a:t>선택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</a:t>
            </a:r>
            <a:r>
              <a:rPr lang="ko-KR" altLang="en-US" dirty="0"/>
              <a:t>팝업 창에서 </a:t>
            </a:r>
            <a:r>
              <a:rPr lang="en-US" altLang="ko-KR" dirty="0"/>
              <a:t>[Google </a:t>
            </a:r>
            <a:r>
              <a:rPr lang="ko-KR" altLang="en-US" dirty="0"/>
              <a:t>드라이브</a:t>
            </a:r>
            <a:r>
              <a:rPr lang="en-US" altLang="ko-KR" dirty="0"/>
              <a:t>] </a:t>
            </a:r>
            <a:r>
              <a:rPr lang="ko-KR" altLang="en-US" dirty="0"/>
              <a:t>탭 선택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3. </a:t>
            </a:r>
            <a:r>
              <a:rPr lang="en-US" altLang="ko-KR" dirty="0" err="1"/>
              <a:t>Colab</a:t>
            </a:r>
            <a:r>
              <a:rPr lang="en-US" altLang="ko-KR" dirty="0"/>
              <a:t> Notebooks </a:t>
            </a:r>
            <a:r>
              <a:rPr lang="ko-KR" altLang="en-US" dirty="0"/>
              <a:t>폴더에서 원하는 노트북을 선택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방법 </a:t>
            </a:r>
            <a:r>
              <a:rPr lang="en-US" altLang="ko-KR" dirty="0"/>
              <a:t>2: </a:t>
            </a:r>
            <a:r>
              <a:rPr lang="ko-KR" altLang="en-US" dirty="0"/>
              <a:t>구글 드라이브에서 열기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drive.google.com </a:t>
            </a:r>
            <a:r>
              <a:rPr lang="ko-KR" altLang="en-US" dirty="0"/>
              <a:t>접속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</a:t>
            </a:r>
            <a:r>
              <a:rPr lang="en-US" altLang="ko-KR" dirty="0" err="1"/>
              <a:t>Colab</a:t>
            </a:r>
            <a:r>
              <a:rPr lang="en-US" altLang="ko-KR" dirty="0"/>
              <a:t> Notebooks </a:t>
            </a:r>
            <a:r>
              <a:rPr lang="ko-KR" altLang="en-US" dirty="0"/>
              <a:t>폴더로 이동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3. </a:t>
            </a:r>
            <a:r>
              <a:rPr lang="ko-KR" altLang="en-US" dirty="0"/>
              <a:t>노트북 파일을 마우스 오른쪽 버튼 클릭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4. [</a:t>
            </a:r>
            <a:r>
              <a:rPr lang="ko-KR" altLang="en-US" dirty="0"/>
              <a:t>연결 앱</a:t>
            </a:r>
            <a:r>
              <a:rPr lang="en-US" altLang="ko-KR" dirty="0"/>
              <a:t>] → [Google </a:t>
            </a:r>
            <a:r>
              <a:rPr lang="en-US" altLang="ko-KR" dirty="0" err="1"/>
              <a:t>Colaboratory</a:t>
            </a:r>
            <a:r>
              <a:rPr lang="en-US" altLang="ko-KR" dirty="0"/>
              <a:t>] </a:t>
            </a:r>
            <a:r>
              <a:rPr lang="ko-KR" altLang="en-US" dirty="0"/>
              <a:t>선택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만약 </a:t>
            </a:r>
            <a:r>
              <a:rPr lang="en-US" altLang="ko-KR" dirty="0"/>
              <a:t>[</a:t>
            </a:r>
            <a:r>
              <a:rPr lang="ko-KR" altLang="en-US" dirty="0"/>
              <a:t>연결 앱</a:t>
            </a:r>
            <a:r>
              <a:rPr lang="en-US" altLang="ko-KR" dirty="0"/>
              <a:t>] </a:t>
            </a:r>
            <a:r>
              <a:rPr lang="ko-KR" altLang="en-US" dirty="0"/>
              <a:t>목록에 </a:t>
            </a:r>
            <a:r>
              <a:rPr lang="en-US" altLang="ko-KR" dirty="0"/>
              <a:t>Google </a:t>
            </a:r>
            <a:r>
              <a:rPr lang="en-US" altLang="ko-KR" dirty="0" err="1"/>
              <a:t>Colaboratory</a:t>
            </a:r>
            <a:r>
              <a:rPr lang="ko-KR" altLang="en-US" dirty="0"/>
              <a:t>가 없으면</a:t>
            </a:r>
            <a:r>
              <a:rPr lang="en-US" altLang="ko-KR" dirty="0"/>
              <a:t>, [</a:t>
            </a:r>
            <a:r>
              <a:rPr lang="ko-KR" altLang="en-US" dirty="0"/>
              <a:t>연결할 앱 </a:t>
            </a:r>
            <a:r>
              <a:rPr lang="ko-KR" altLang="en-US" dirty="0" err="1"/>
              <a:t>더보기</a:t>
            </a:r>
            <a:r>
              <a:rPr lang="en-US" altLang="ko-KR" dirty="0"/>
              <a:t>]</a:t>
            </a:r>
            <a:r>
              <a:rPr lang="ko-KR" altLang="en-US" dirty="0"/>
              <a:t>를 클릭한 후 </a:t>
            </a:r>
            <a:r>
              <a:rPr lang="en-US" altLang="ko-KR" dirty="0"/>
              <a:t>"</a:t>
            </a:r>
            <a:r>
              <a:rPr lang="en-US" altLang="ko-KR" dirty="0" err="1"/>
              <a:t>Colab</a:t>
            </a:r>
            <a:r>
              <a:rPr lang="en-US" altLang="ko-KR" dirty="0"/>
              <a:t>"</a:t>
            </a:r>
            <a:r>
              <a:rPr lang="ko-KR" altLang="en-US" dirty="0"/>
              <a:t>을 검색해서 설치해 주면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같이 해봅시다</a:t>
            </a:r>
            <a:r>
              <a:rPr lang="en-US" altLang="ko-KR" dirty="0"/>
              <a:t>. </a:t>
            </a:r>
            <a:r>
              <a:rPr lang="ko-KR" altLang="en-US" dirty="0"/>
              <a:t>아까 만든 </a:t>
            </a:r>
            <a:r>
              <a:rPr lang="en-US" altLang="ko-KR" dirty="0"/>
              <a:t>"Hello World" </a:t>
            </a:r>
            <a:r>
              <a:rPr lang="ko-KR" altLang="en-US" dirty="0"/>
              <a:t>노트북을 닫고</a:t>
            </a:r>
            <a:r>
              <a:rPr lang="en-US" altLang="ko-KR" dirty="0"/>
              <a:t>, </a:t>
            </a:r>
            <a:r>
              <a:rPr lang="ko-KR" altLang="en-US" dirty="0"/>
              <a:t>구글 드라이브에서 다시 열어보세요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실습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5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잘 되셨나요</a:t>
            </a:r>
            <a:r>
              <a:rPr lang="en-US" altLang="ko-KR" dirty="0"/>
              <a:t>? </a:t>
            </a:r>
            <a:r>
              <a:rPr lang="ko-KR" altLang="en-US" dirty="0"/>
              <a:t>이렇게 한 번 </a:t>
            </a:r>
            <a:r>
              <a:rPr lang="ko-KR" altLang="en-US" dirty="0" err="1"/>
              <a:t>만들어둔</a:t>
            </a:r>
            <a:r>
              <a:rPr lang="ko-KR" altLang="en-US" dirty="0"/>
              <a:t> 노트북은 구글 드라이브에 저장되어 있기 때문에</a:t>
            </a:r>
            <a:r>
              <a:rPr lang="en-US" altLang="ko-KR" dirty="0"/>
              <a:t>, </a:t>
            </a:r>
            <a:r>
              <a:rPr lang="ko-KR" altLang="en-US" dirty="0"/>
              <a:t>다른 컴퓨터에서도</a:t>
            </a:r>
            <a:r>
              <a:rPr lang="en-US" altLang="ko-KR" dirty="0"/>
              <a:t>, </a:t>
            </a:r>
            <a:r>
              <a:rPr lang="ko-KR" altLang="en-US" dirty="0"/>
              <a:t>심지어 스마트폰에서도 열어볼 수 있습니다</a:t>
            </a:r>
            <a:r>
              <a:rPr lang="en-US" altLang="ko-KR" dirty="0"/>
              <a:t>. </a:t>
            </a:r>
            <a:r>
              <a:rPr lang="ko-KR" altLang="en-US" dirty="0"/>
              <a:t>클라우드의 장점이죠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앞으로 수업에서 만드는 노트북들은 전부 여러분의 구글 드라이브에 저장됩니다</a:t>
            </a:r>
            <a:r>
              <a:rPr lang="en-US" altLang="ko-KR" dirty="0"/>
              <a:t>. </a:t>
            </a:r>
            <a:r>
              <a:rPr lang="ko-KR" altLang="en-US" dirty="0"/>
              <a:t>학기 끝나고도 언제든 다시 열어볼 수 있으니까</a:t>
            </a:r>
            <a:r>
              <a:rPr lang="en-US" altLang="ko-KR" dirty="0"/>
              <a:t>, </a:t>
            </a:r>
            <a:r>
              <a:rPr lang="ko-KR" altLang="en-US" dirty="0"/>
              <a:t>잘 정리해 두세요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8" name="Google Shape;41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Section 1-2</a:t>
            </a:r>
            <a:r>
              <a:rPr lang="ko-KR" altLang="en-US" dirty="0"/>
              <a:t>를 정리하겠습니다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키워드로 끝내는 핵심 포인트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코랩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Colab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구글 계정이 있으면 누구나 사용할 수 있는 웹 브라우저 기반의 </a:t>
            </a:r>
            <a:r>
              <a:rPr lang="ko-KR" altLang="en-US" dirty="0" err="1"/>
              <a:t>파이썬</a:t>
            </a:r>
            <a:r>
              <a:rPr lang="ko-KR" altLang="en-US" dirty="0"/>
              <a:t> 코드 실행 환경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별도 설치 없이 </a:t>
            </a:r>
            <a:r>
              <a:rPr lang="ko-KR" altLang="en-US" dirty="0" err="1"/>
              <a:t>머신러닝</a:t>
            </a:r>
            <a:r>
              <a:rPr lang="ko-KR" altLang="en-US" dirty="0"/>
              <a:t> 실습이 가능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노트북 </a:t>
            </a:r>
            <a:r>
              <a:rPr lang="en-US" altLang="ko-KR" dirty="0"/>
              <a:t>(Notebook)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코랩의</a:t>
            </a:r>
            <a:r>
              <a:rPr lang="ko-KR" altLang="en-US" dirty="0"/>
              <a:t> 프로그램 작성 단위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일반 프로그램 파일</a:t>
            </a:r>
            <a:r>
              <a:rPr lang="en-US" altLang="ko-KR" dirty="0"/>
              <a:t>(.</a:t>
            </a:r>
            <a:r>
              <a:rPr lang="en-US" altLang="ko-KR" dirty="0" err="1"/>
              <a:t>py</a:t>
            </a:r>
            <a:r>
              <a:rPr lang="en-US" altLang="ko-KR" dirty="0"/>
              <a:t>)</a:t>
            </a:r>
            <a:r>
              <a:rPr lang="ko-KR" altLang="en-US" dirty="0"/>
              <a:t>과 달리 대화식</a:t>
            </a:r>
            <a:r>
              <a:rPr lang="en-US" altLang="ko-KR" dirty="0"/>
              <a:t>(interactive)</a:t>
            </a:r>
            <a:r>
              <a:rPr lang="ko-KR" altLang="en-US" dirty="0"/>
              <a:t>으로 프로그램을 만들 수 있음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코드</a:t>
            </a:r>
            <a:r>
              <a:rPr lang="en-US" altLang="ko-KR" dirty="0"/>
              <a:t>, </a:t>
            </a:r>
            <a:r>
              <a:rPr lang="ko-KR" altLang="en-US" dirty="0"/>
              <a:t>코드의 실행 결과</a:t>
            </a:r>
            <a:r>
              <a:rPr lang="en-US" altLang="ko-KR" dirty="0"/>
              <a:t>, </a:t>
            </a:r>
            <a:r>
              <a:rPr lang="ko-KR" altLang="en-US" dirty="0"/>
              <a:t>문서</a:t>
            </a:r>
            <a:r>
              <a:rPr lang="en-US" altLang="ko-KR" dirty="0"/>
              <a:t>(</a:t>
            </a:r>
            <a:r>
              <a:rPr lang="ko-KR" altLang="en-US" dirty="0"/>
              <a:t>텍스트</a:t>
            </a:r>
            <a:r>
              <a:rPr lang="en-US" altLang="ko-KR" dirty="0"/>
              <a:t>)</a:t>
            </a:r>
            <a:r>
              <a:rPr lang="ko-KR" altLang="en-US" dirty="0"/>
              <a:t>를 모두 한 파일에 저장 가능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데이터 분석이나 교육에 매우 적합한 형태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구글 드라이브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코랩에서</a:t>
            </a:r>
            <a:r>
              <a:rPr lang="ko-KR" altLang="en-US" dirty="0"/>
              <a:t> 만든 노트북은 자동으로 구글 드라이브의 </a:t>
            </a:r>
            <a:r>
              <a:rPr lang="en-US" altLang="ko-KR" dirty="0"/>
              <a:t>'</a:t>
            </a:r>
            <a:r>
              <a:rPr lang="en-US" altLang="ko-KR" dirty="0" err="1"/>
              <a:t>Colab</a:t>
            </a:r>
            <a:r>
              <a:rPr lang="en-US" altLang="ko-KR" dirty="0"/>
              <a:t> Notebooks' </a:t>
            </a:r>
            <a:r>
              <a:rPr lang="ko-KR" altLang="en-US" dirty="0"/>
              <a:t>폴더에 저장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필요할 때 다시 </a:t>
            </a:r>
            <a:r>
              <a:rPr lang="ko-KR" altLang="en-US" dirty="0" err="1"/>
              <a:t>코랩에서</a:t>
            </a:r>
            <a:r>
              <a:rPr lang="ko-KR" altLang="en-US" dirty="0"/>
              <a:t> 열 수 있음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슬라이드 하단에 </a:t>
            </a:r>
            <a:r>
              <a:rPr lang="ko-KR" altLang="en-US" dirty="0" err="1"/>
              <a:t>툴바</a:t>
            </a:r>
            <a:r>
              <a:rPr lang="ko-KR" altLang="en-US" dirty="0"/>
              <a:t> 버튼 정리 표가 있는데</a:t>
            </a:r>
            <a:r>
              <a:rPr lang="en-US" altLang="ko-KR" dirty="0"/>
              <a:t>, </a:t>
            </a:r>
            <a:r>
              <a:rPr lang="ko-KR" altLang="en-US" dirty="0"/>
              <a:t>한번 훑어보시면 됩니다</a:t>
            </a:r>
            <a:r>
              <a:rPr lang="en-US" altLang="ko-KR" dirty="0"/>
              <a:t>. </a:t>
            </a:r>
            <a:r>
              <a:rPr lang="ko-KR" altLang="en-US" dirty="0"/>
              <a:t>시험에 나올 수도 있으니 기능과 단축키 정도는 숙지해 두시면 좋겠습니다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잠깐 확인 질문</a:t>
            </a:r>
            <a:r>
              <a:rPr lang="en-US" altLang="ko-KR" dirty="0"/>
              <a:t>: </a:t>
            </a:r>
            <a:r>
              <a:rPr lang="ko-KR" altLang="en-US" dirty="0" err="1"/>
              <a:t>코랩</a:t>
            </a:r>
            <a:r>
              <a:rPr lang="ko-KR" altLang="en-US" dirty="0"/>
              <a:t> 노트북의 셀 두 종류가 </a:t>
            </a:r>
            <a:r>
              <a:rPr lang="ko-KR" altLang="en-US" dirty="0" err="1"/>
              <a:t>뭐였죠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 반응 기다림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네</a:t>
            </a:r>
            <a:r>
              <a:rPr lang="en-US" altLang="ko-KR" dirty="0"/>
              <a:t>, </a:t>
            </a:r>
            <a:r>
              <a:rPr lang="ko-KR" altLang="en-US" dirty="0"/>
              <a:t>코드 셀과 텍스트 셀입니다</a:t>
            </a:r>
            <a:r>
              <a:rPr lang="en-US" altLang="ko-KR" dirty="0"/>
              <a:t>. </a:t>
            </a:r>
            <a:r>
              <a:rPr lang="ko-KR" altLang="en-US" dirty="0"/>
              <a:t>코드 셀은 </a:t>
            </a:r>
            <a:r>
              <a:rPr lang="ko-KR" altLang="en-US" dirty="0" err="1"/>
              <a:t>파이썬</a:t>
            </a:r>
            <a:r>
              <a:rPr lang="ko-KR" altLang="en-US" dirty="0"/>
              <a:t> 코드를</a:t>
            </a:r>
            <a:r>
              <a:rPr lang="en-US" altLang="ko-KR" dirty="0"/>
              <a:t>, </a:t>
            </a:r>
            <a:r>
              <a:rPr lang="ko-KR" altLang="en-US" dirty="0"/>
              <a:t>텍스트 셀은 마크다운으로 작성한 설명을 담습니다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27" name="Google Shape;42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마크다운 문법 정리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마지막으로 텍스트 셀에서 사용할 수 있는 마크다운</a:t>
            </a:r>
            <a:r>
              <a:rPr lang="en-US" altLang="ko-KR" dirty="0"/>
              <a:t>(Markdown) </a:t>
            </a:r>
            <a:r>
              <a:rPr lang="ko-KR" altLang="en-US" dirty="0"/>
              <a:t>문법을 정리하겠습니다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마크다운이 </a:t>
            </a:r>
            <a:r>
              <a:rPr lang="ko-KR" altLang="en-US" dirty="0" err="1"/>
              <a:t>뭐냐면</a:t>
            </a:r>
            <a:r>
              <a:rPr lang="en-US" altLang="ko-KR" dirty="0"/>
              <a:t>, </a:t>
            </a:r>
            <a:r>
              <a:rPr lang="ko-KR" altLang="en-US" dirty="0"/>
              <a:t>간단한 기호를 사용해서 텍스트에 서식을 적용하는 방법입니다</a:t>
            </a:r>
            <a:r>
              <a:rPr lang="en-US" altLang="ko-KR" dirty="0"/>
              <a:t>. HTML</a:t>
            </a:r>
            <a:r>
              <a:rPr lang="ko-KR" altLang="en-US" dirty="0"/>
              <a:t>보다 훨씬 간편해요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가장 많이 쓰는 것들만 같이 실습해 봅시다</a:t>
            </a:r>
            <a:r>
              <a:rPr lang="en-US" altLang="ko-KR" dirty="0"/>
              <a:t>. </a:t>
            </a:r>
            <a:r>
              <a:rPr lang="ko-KR" altLang="en-US" dirty="0"/>
              <a:t>새 텍스트 셀을 추가하고 아래 내용을 하나씩 입력해 보세요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제목 만들기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```markdown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 </a:t>
            </a:r>
            <a:r>
              <a:rPr lang="ko-KR" altLang="en-US" dirty="0"/>
              <a:t>제목</a:t>
            </a:r>
            <a:r>
              <a:rPr lang="en-US" altLang="ko-KR" dirty="0"/>
              <a:t>1 (</a:t>
            </a:r>
            <a:r>
              <a:rPr lang="ko-KR" altLang="en-US" dirty="0"/>
              <a:t>가장 큰 제목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 </a:t>
            </a:r>
            <a:r>
              <a:rPr lang="ko-KR" altLang="en-US" dirty="0"/>
              <a:t>제목</a:t>
            </a:r>
            <a:r>
              <a:rPr lang="en-US" altLang="ko-KR" dirty="0"/>
              <a:t>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제목</a:t>
            </a:r>
            <a:r>
              <a:rPr lang="en-US" altLang="ko-KR" dirty="0"/>
              <a:t>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#### </a:t>
            </a:r>
            <a:r>
              <a:rPr lang="ko-KR" altLang="en-US" dirty="0"/>
              <a:t>제목</a:t>
            </a:r>
            <a:r>
              <a:rPr lang="en-US" altLang="ko-KR" dirty="0"/>
              <a:t>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`#`</a:t>
            </a:r>
            <a:r>
              <a:rPr lang="ko-KR" altLang="en-US" dirty="0"/>
              <a:t>의 개수로 제목 크기를 조절합니다</a:t>
            </a:r>
            <a:r>
              <a:rPr lang="en-US" altLang="ko-KR" dirty="0"/>
              <a:t>. `#`</a:t>
            </a:r>
            <a:r>
              <a:rPr lang="ko-KR" altLang="en-US" dirty="0"/>
              <a:t>이 하나면 가장 크고</a:t>
            </a:r>
            <a:r>
              <a:rPr lang="en-US" altLang="ko-KR" dirty="0"/>
              <a:t>, </a:t>
            </a:r>
            <a:r>
              <a:rPr lang="ko-KR" altLang="en-US" dirty="0"/>
              <a:t>많을수록 작아집니다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실습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2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글자 스타일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```markdown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굵은 글씨 </a:t>
            </a:r>
            <a:r>
              <a:rPr lang="en-US" altLang="ko-KR" dirty="0"/>
              <a:t>(</a:t>
            </a:r>
            <a:r>
              <a:rPr lang="ko-KR" altLang="en-US" dirty="0"/>
              <a:t>별 </a:t>
            </a:r>
            <a:r>
              <a:rPr lang="en-US" altLang="ko-KR" dirty="0"/>
              <a:t>2</a:t>
            </a:r>
            <a:r>
              <a:rPr lang="ko-KR" altLang="en-US" dirty="0"/>
              <a:t>개로 감싸기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*</a:t>
            </a:r>
            <a:r>
              <a:rPr lang="ko-KR" altLang="en-US" dirty="0" err="1"/>
              <a:t>기울임꼴</a:t>
            </a:r>
            <a:r>
              <a:rPr lang="ko-KR" altLang="en-US" dirty="0"/>
              <a:t>* </a:t>
            </a:r>
            <a:r>
              <a:rPr lang="en-US" altLang="ko-KR" dirty="0"/>
              <a:t>(</a:t>
            </a:r>
            <a:r>
              <a:rPr lang="ko-KR" altLang="en-US" dirty="0"/>
              <a:t>별 </a:t>
            </a:r>
            <a:r>
              <a:rPr lang="en-US" altLang="ko-KR" dirty="0"/>
              <a:t>1</a:t>
            </a:r>
            <a:r>
              <a:rPr lang="ko-KR" altLang="en-US" dirty="0"/>
              <a:t>개로 감싸기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~~</a:t>
            </a:r>
            <a:r>
              <a:rPr lang="ko-KR" altLang="en-US" dirty="0"/>
              <a:t>취소선</a:t>
            </a:r>
            <a:r>
              <a:rPr lang="en-US" altLang="ko-KR" dirty="0"/>
              <a:t>~~ (</a:t>
            </a:r>
            <a:r>
              <a:rPr lang="ko-KR" altLang="en-US" dirty="0"/>
              <a:t>물결 </a:t>
            </a:r>
            <a:r>
              <a:rPr lang="en-US" altLang="ko-KR" dirty="0"/>
              <a:t>2</a:t>
            </a:r>
            <a:r>
              <a:rPr lang="ko-KR" altLang="en-US" dirty="0"/>
              <a:t>개로 감싸기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</a:t>
            </a:r>
            <a:r>
              <a:rPr lang="ko-KR" altLang="en-US" dirty="0"/>
              <a:t>코드 서체</a:t>
            </a:r>
            <a:r>
              <a:rPr lang="en-US" altLang="ko-KR" dirty="0"/>
              <a:t>` (</a:t>
            </a:r>
            <a:r>
              <a:rPr lang="ko-KR" altLang="en-US" dirty="0" err="1"/>
              <a:t>백틱으로</a:t>
            </a:r>
            <a:r>
              <a:rPr lang="ko-KR" altLang="en-US" dirty="0"/>
              <a:t> 감싸기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특히 코드 서체가 중요합니다</a:t>
            </a:r>
            <a:r>
              <a:rPr lang="en-US" altLang="ko-KR" dirty="0"/>
              <a:t>. </a:t>
            </a:r>
            <a:r>
              <a:rPr lang="ko-KR" altLang="en-US" dirty="0"/>
              <a:t>코드에서 나오는 함수 이름이나 변수를 설명할 때 자주 씁니다</a:t>
            </a:r>
            <a:r>
              <a:rPr lang="en-US" altLang="ko-KR" dirty="0"/>
              <a:t>. </a:t>
            </a:r>
            <a:r>
              <a:rPr lang="ko-KR" altLang="en-US" dirty="0"/>
              <a:t>예를 들어 </a:t>
            </a:r>
            <a:r>
              <a:rPr lang="en-US" altLang="ko-KR" dirty="0"/>
              <a:t>"`print()` </a:t>
            </a:r>
            <a:r>
              <a:rPr lang="ko-KR" altLang="en-US" dirty="0"/>
              <a:t>함수를 사용하면 출력됩니다</a:t>
            </a:r>
            <a:r>
              <a:rPr lang="en-US" altLang="ko-KR" dirty="0"/>
              <a:t>" </a:t>
            </a:r>
            <a:r>
              <a:rPr lang="ko-KR" altLang="en-US" dirty="0"/>
              <a:t>이런 </a:t>
            </a:r>
            <a:r>
              <a:rPr lang="ko-KR" altLang="en-US" dirty="0" err="1"/>
              <a:t>식으로요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실습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2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기타 유용한 문법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```markdown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&gt; </a:t>
            </a:r>
            <a:r>
              <a:rPr lang="ko-KR" altLang="en-US" dirty="0"/>
              <a:t>들여쓰기 </a:t>
            </a:r>
            <a:r>
              <a:rPr lang="en-US" altLang="ko-KR" dirty="0"/>
              <a:t>(</a:t>
            </a:r>
            <a:r>
              <a:rPr lang="ko-KR" altLang="en-US" dirty="0"/>
              <a:t>인용 블록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* </a:t>
            </a:r>
            <a:r>
              <a:rPr lang="ko-KR" altLang="en-US" dirty="0"/>
              <a:t>글머리 기호 목록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글머리 기호 목록 </a:t>
            </a:r>
            <a:r>
              <a:rPr lang="en-US" altLang="ko-KR" dirty="0"/>
              <a:t>(</a:t>
            </a:r>
            <a:r>
              <a:rPr lang="ko-KR" altLang="en-US" dirty="0"/>
              <a:t>같은 효과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한빛미디어</a:t>
            </a:r>
            <a:r>
              <a:rPr lang="en-US" altLang="ko-KR" dirty="0"/>
              <a:t>](http://www.hanbit.co.kr/) (</a:t>
            </a:r>
            <a:r>
              <a:rPr lang="ko-KR" altLang="en-US" dirty="0"/>
              <a:t>링크 만들기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![</a:t>
            </a:r>
            <a:r>
              <a:rPr lang="ko-KR" altLang="en-US" dirty="0"/>
              <a:t>이미지 설명</a:t>
            </a:r>
            <a:r>
              <a:rPr lang="en-US" altLang="ko-KR" dirty="0"/>
              <a:t>](</a:t>
            </a:r>
            <a:r>
              <a:rPr lang="ko-KR" altLang="en-US" dirty="0"/>
              <a:t>이미지 </a:t>
            </a:r>
            <a:r>
              <a:rPr lang="en-US" altLang="ko-KR" dirty="0"/>
              <a:t>URL) (</a:t>
            </a:r>
            <a:r>
              <a:rPr lang="ko-KR" altLang="en-US" dirty="0"/>
              <a:t>이미지 삽입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$ y = x \times z $ (LaTeX </a:t>
            </a:r>
            <a:r>
              <a:rPr lang="ko-KR" altLang="en-US" dirty="0"/>
              <a:t>수식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슬라이드 하단에 </a:t>
            </a:r>
            <a:r>
              <a:rPr lang="ko-KR" altLang="en-US" dirty="0" err="1"/>
              <a:t>레이텍</a:t>
            </a:r>
            <a:r>
              <a:rPr lang="en-US" altLang="ko-KR" dirty="0"/>
              <a:t>(LaTeX)</a:t>
            </a:r>
            <a:r>
              <a:rPr lang="ko-KR" altLang="en-US" dirty="0"/>
              <a:t>이라는 말이 나오는데요</a:t>
            </a:r>
            <a:r>
              <a:rPr lang="en-US" altLang="ko-KR" dirty="0"/>
              <a:t>, </a:t>
            </a:r>
            <a:r>
              <a:rPr lang="ko-KR" altLang="en-US" dirty="0"/>
              <a:t>이건 수식을 예쁘게 표현하는 도구입니다</a:t>
            </a:r>
            <a:r>
              <a:rPr lang="en-US" altLang="ko-KR" dirty="0"/>
              <a:t>. </a:t>
            </a:r>
            <a:r>
              <a:rPr lang="ko-KR" altLang="en-US" dirty="0"/>
              <a:t>논문 쓸 때 많이 사용합니다</a:t>
            </a:r>
            <a:r>
              <a:rPr lang="en-US" altLang="ko-KR" dirty="0"/>
              <a:t>. </a:t>
            </a:r>
            <a:r>
              <a:rPr lang="ko-KR" altLang="en-US" dirty="0"/>
              <a:t>달러 기호</a:t>
            </a:r>
            <a:r>
              <a:rPr lang="en-US" altLang="ko-KR" dirty="0"/>
              <a:t>(`$`)</a:t>
            </a:r>
            <a:r>
              <a:rPr lang="ko-KR" altLang="en-US" dirty="0"/>
              <a:t>로 감싸면 수학 수식을 렌더링해 줍니다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예를 들어 </a:t>
            </a:r>
            <a:r>
              <a:rPr lang="en-US" altLang="ko-KR" dirty="0"/>
              <a:t>`$ y = ax + b $`</a:t>
            </a:r>
            <a:r>
              <a:rPr lang="ko-KR" altLang="en-US" dirty="0"/>
              <a:t>라고 쓰면</a:t>
            </a:r>
            <a:r>
              <a:rPr lang="en-US" altLang="ko-KR" dirty="0"/>
              <a:t>, </a:t>
            </a:r>
            <a:r>
              <a:rPr lang="ko-KR" altLang="en-US" dirty="0"/>
              <a:t>실제 수식으로 </a:t>
            </a:r>
            <a:r>
              <a:rPr lang="en-US" altLang="ko-KR" dirty="0"/>
              <a:t>$y = ax + b$</a:t>
            </a:r>
            <a:r>
              <a:rPr lang="ko-KR" altLang="en-US" dirty="0"/>
              <a:t>가 표시됩니다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실습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3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마크다운 요약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실무적으로 가장 많이 쓰는 마크다운 문법은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`#` </a:t>
            </a:r>
            <a:r>
              <a:rPr lang="ko-KR" altLang="en-US" dirty="0"/>
              <a:t>제목 </a:t>
            </a:r>
            <a:r>
              <a:rPr lang="en-US" altLang="ko-KR" dirty="0"/>
              <a:t>— </a:t>
            </a:r>
            <a:r>
              <a:rPr lang="ko-KR" altLang="en-US" dirty="0"/>
              <a:t>셀의 구조를 잡을 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`</a:t>
            </a:r>
            <a:r>
              <a:rPr lang="ko-KR" altLang="en-US" dirty="0" err="1"/>
              <a:t>굵은글씨</a:t>
            </a:r>
            <a:r>
              <a:rPr lang="en-US" altLang="ko-KR" dirty="0"/>
              <a:t>` — </a:t>
            </a:r>
            <a:r>
              <a:rPr lang="ko-KR" altLang="en-US" dirty="0"/>
              <a:t>강조할 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3. `` `</a:t>
            </a:r>
            <a:r>
              <a:rPr lang="ko-KR" altLang="en-US" dirty="0" err="1"/>
              <a:t>코드서체</a:t>
            </a:r>
            <a:r>
              <a:rPr lang="en-US" altLang="ko-KR" dirty="0"/>
              <a:t>` `` — </a:t>
            </a:r>
            <a:r>
              <a:rPr lang="ko-KR" altLang="en-US" dirty="0"/>
              <a:t>코드 관련 내용을 설명할 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4. `- </a:t>
            </a:r>
            <a:r>
              <a:rPr lang="ko-KR" altLang="en-US" dirty="0"/>
              <a:t>목록</a:t>
            </a:r>
            <a:r>
              <a:rPr lang="en-US" altLang="ko-KR" dirty="0"/>
              <a:t>` — </a:t>
            </a:r>
            <a:r>
              <a:rPr lang="ko-KR" altLang="en-US" dirty="0"/>
              <a:t>항목을 나열할 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네 가지만 알아도 텍스트 셀을 충분히 활용할 수 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36" name="Google Shape;4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Section 1-2</a:t>
            </a:r>
            <a:r>
              <a:rPr lang="ko-KR" altLang="en-US" dirty="0"/>
              <a:t>를 마무리하면서 확인 문제를 풀어봅시다</a:t>
            </a:r>
            <a:r>
              <a:rPr lang="en-US" altLang="ko-KR" dirty="0"/>
              <a:t>. </a:t>
            </a:r>
            <a:r>
              <a:rPr lang="ko-KR" altLang="en-US" dirty="0"/>
              <a:t>교재에 있는 문제들입니다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1: </a:t>
            </a:r>
            <a:r>
              <a:rPr lang="ko-KR" altLang="en-US" dirty="0"/>
              <a:t>구글에서 제공하는 웹 브라우저 기반의 </a:t>
            </a:r>
            <a:r>
              <a:rPr lang="ko-KR" altLang="en-US" dirty="0" err="1"/>
              <a:t>파이썬</a:t>
            </a:r>
            <a:r>
              <a:rPr lang="ko-KR" altLang="en-US" dirty="0"/>
              <a:t> 실행 환경은 무엇인가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① </a:t>
            </a:r>
            <a:r>
              <a:rPr lang="ko-KR" altLang="en-US" dirty="0"/>
              <a:t>주피터 노트북　② </a:t>
            </a:r>
            <a:r>
              <a:rPr lang="ko-KR" altLang="en-US" dirty="0" err="1"/>
              <a:t>코랩</a:t>
            </a:r>
            <a:r>
              <a:rPr lang="ko-KR" altLang="en-US" dirty="0"/>
              <a:t>　③ 크롬　④ 아나콘다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어떤 게 정답일까요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 반응 기다림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네</a:t>
            </a:r>
            <a:r>
              <a:rPr lang="en-US" altLang="ko-KR" dirty="0"/>
              <a:t>, ② </a:t>
            </a:r>
            <a:r>
              <a:rPr lang="ko-KR" altLang="en-US" dirty="0" err="1"/>
              <a:t>코랩이</a:t>
            </a:r>
            <a:r>
              <a:rPr lang="ko-KR" altLang="en-US" dirty="0"/>
              <a:t> 정답입니다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함정이 좀 있는 문제예요</a:t>
            </a:r>
            <a:r>
              <a:rPr lang="en-US" altLang="ko-KR" dirty="0"/>
              <a:t>. </a:t>
            </a:r>
            <a:r>
              <a:rPr lang="ko-KR" altLang="en-US" dirty="0"/>
              <a:t>주피터 노트북도 </a:t>
            </a:r>
            <a:r>
              <a:rPr lang="ko-KR" altLang="en-US" dirty="0" err="1"/>
              <a:t>파이썬</a:t>
            </a:r>
            <a:r>
              <a:rPr lang="ko-KR" altLang="en-US" dirty="0"/>
              <a:t> 실행 환경이긴 합니다</a:t>
            </a:r>
            <a:r>
              <a:rPr lang="en-US" altLang="ko-KR" dirty="0"/>
              <a:t>. </a:t>
            </a:r>
            <a:r>
              <a:rPr lang="ko-KR" altLang="en-US" dirty="0"/>
              <a:t>하지만 문제에서 </a:t>
            </a:r>
            <a:r>
              <a:rPr lang="en-US" altLang="ko-KR" dirty="0"/>
              <a:t>"</a:t>
            </a:r>
            <a:r>
              <a:rPr lang="ko-KR" altLang="en-US" dirty="0"/>
              <a:t>구글에서 제공하는</a:t>
            </a:r>
            <a:r>
              <a:rPr lang="en-US" altLang="ko-KR" dirty="0"/>
              <a:t>"</a:t>
            </a:r>
            <a:r>
              <a:rPr lang="ko-KR" altLang="en-US" dirty="0"/>
              <a:t>이라고 했죠</a:t>
            </a:r>
            <a:r>
              <a:rPr lang="en-US" altLang="ko-KR" dirty="0"/>
              <a:t>? </a:t>
            </a:r>
            <a:r>
              <a:rPr lang="ko-KR" altLang="en-US" dirty="0"/>
              <a:t>주피터 노트북은 구글이 아니라 주피터 프로젝트에서 만든 것이고</a:t>
            </a:r>
            <a:r>
              <a:rPr lang="en-US" altLang="ko-KR" dirty="0"/>
              <a:t>, </a:t>
            </a:r>
            <a:r>
              <a:rPr lang="ko-KR" altLang="en-US" dirty="0"/>
              <a:t>구글이 이걸 </a:t>
            </a:r>
            <a:r>
              <a:rPr lang="ko-KR" altLang="en-US" dirty="0" err="1"/>
              <a:t>커스터마이징한</a:t>
            </a:r>
            <a:r>
              <a:rPr lang="ko-KR" altLang="en-US" dirty="0"/>
              <a:t> 게 </a:t>
            </a:r>
            <a:r>
              <a:rPr lang="ko-KR" altLang="en-US" dirty="0" err="1"/>
              <a:t>코랩입니다</a:t>
            </a:r>
            <a:r>
              <a:rPr lang="en-US" altLang="ko-KR" dirty="0"/>
              <a:t>. </a:t>
            </a:r>
            <a:r>
              <a:rPr lang="ko-KR" altLang="en-US" dirty="0"/>
              <a:t>크롬은 웹 브라우저이지 </a:t>
            </a:r>
            <a:r>
              <a:rPr lang="ko-KR" altLang="en-US" dirty="0" err="1"/>
              <a:t>파이썬</a:t>
            </a:r>
            <a:r>
              <a:rPr lang="ko-KR" altLang="en-US" dirty="0"/>
              <a:t> 실행 환경은 아니고요</a:t>
            </a:r>
            <a:r>
              <a:rPr lang="en-US" altLang="ko-KR" dirty="0"/>
              <a:t>. </a:t>
            </a:r>
            <a:r>
              <a:rPr lang="ko-KR" altLang="en-US" dirty="0"/>
              <a:t>아나콘다는 </a:t>
            </a:r>
            <a:r>
              <a:rPr lang="ko-KR" altLang="en-US" dirty="0" err="1"/>
              <a:t>파이썬</a:t>
            </a:r>
            <a:r>
              <a:rPr lang="ko-KR" altLang="en-US" dirty="0"/>
              <a:t> </a:t>
            </a:r>
            <a:r>
              <a:rPr lang="ko-KR" altLang="en-US" dirty="0" err="1"/>
              <a:t>배포판인데</a:t>
            </a:r>
            <a:r>
              <a:rPr lang="en-US" altLang="ko-KR" dirty="0"/>
              <a:t>, </a:t>
            </a:r>
            <a:r>
              <a:rPr lang="ko-KR" altLang="en-US" dirty="0"/>
              <a:t>구글 서비스가 아닙니다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아나콘다를 잠깐 </a:t>
            </a:r>
            <a:r>
              <a:rPr lang="ko-KR" altLang="en-US" dirty="0" err="1"/>
              <a:t>설명드리면</a:t>
            </a:r>
            <a:r>
              <a:rPr lang="en-US" altLang="ko-KR" dirty="0"/>
              <a:t>, </a:t>
            </a:r>
            <a:r>
              <a:rPr lang="ko-KR" altLang="en-US" dirty="0"/>
              <a:t>이건 자기 컴퓨터에 </a:t>
            </a:r>
            <a:r>
              <a:rPr lang="ko-KR" altLang="en-US" dirty="0" err="1"/>
              <a:t>파이썬과</a:t>
            </a:r>
            <a:r>
              <a:rPr lang="ko-KR" altLang="en-US" dirty="0"/>
              <a:t> 관련 라이브러리를 한꺼번에 설치해주는 패키지입니다</a:t>
            </a:r>
            <a:r>
              <a:rPr lang="en-US" altLang="ko-KR" dirty="0"/>
              <a:t>. </a:t>
            </a:r>
            <a:r>
              <a:rPr lang="ko-KR" altLang="en-US" dirty="0"/>
              <a:t>로컬에서 작업하고 싶을 때 많이 쓰이는데</a:t>
            </a:r>
            <a:r>
              <a:rPr lang="en-US" altLang="ko-KR" dirty="0"/>
              <a:t>, </a:t>
            </a:r>
            <a:r>
              <a:rPr lang="ko-KR" altLang="en-US" dirty="0"/>
              <a:t>우리 수업에서는 </a:t>
            </a:r>
            <a:r>
              <a:rPr lang="ko-KR" altLang="en-US" dirty="0" err="1"/>
              <a:t>코랩을</a:t>
            </a:r>
            <a:r>
              <a:rPr lang="ko-KR" altLang="en-US" dirty="0"/>
              <a:t> 쓸 거니까 설치할 필요 없습니다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---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2: </a:t>
            </a:r>
            <a:r>
              <a:rPr lang="ko-KR" altLang="en-US" dirty="0" err="1"/>
              <a:t>코랩</a:t>
            </a:r>
            <a:r>
              <a:rPr lang="ko-KR" altLang="en-US" dirty="0"/>
              <a:t> 노트북에서 쓸 수 있는 마크다운 중에서 기울임 꼴로 쓰는 것은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① \*\*</a:t>
            </a:r>
            <a:r>
              <a:rPr lang="ko-KR" altLang="en-US" dirty="0" err="1"/>
              <a:t>혼공머신</a:t>
            </a:r>
            <a:r>
              <a:rPr lang="en-US" altLang="ko-KR" dirty="0"/>
              <a:t>\*\*</a:t>
            </a:r>
            <a:r>
              <a:rPr lang="ko-KR" altLang="en-US" dirty="0"/>
              <a:t>　② </a:t>
            </a:r>
            <a:r>
              <a:rPr lang="en-US" altLang="ko-KR" dirty="0"/>
              <a:t>\~\~</a:t>
            </a:r>
            <a:r>
              <a:rPr lang="ko-KR" altLang="en-US" dirty="0" err="1"/>
              <a:t>혼공머신</a:t>
            </a:r>
            <a:r>
              <a:rPr lang="en-US" altLang="ko-KR" dirty="0"/>
              <a:t>\~\~</a:t>
            </a:r>
            <a:r>
              <a:rPr lang="ko-KR" altLang="en-US" dirty="0"/>
              <a:t>　③ </a:t>
            </a:r>
            <a:r>
              <a:rPr lang="en-US" altLang="ko-KR" dirty="0"/>
              <a:t>\`'</a:t>
            </a:r>
            <a:r>
              <a:rPr lang="ko-KR" altLang="en-US" dirty="0" err="1"/>
              <a:t>혼공머신</a:t>
            </a:r>
            <a:r>
              <a:rPr lang="en-US" altLang="ko-KR" dirty="0"/>
              <a:t>'\`</a:t>
            </a:r>
            <a:r>
              <a:rPr lang="ko-KR" altLang="en-US" dirty="0"/>
              <a:t>　④ </a:t>
            </a:r>
            <a:r>
              <a:rPr lang="en-US" altLang="ko-KR" dirty="0"/>
              <a:t>\_</a:t>
            </a:r>
            <a:r>
              <a:rPr lang="ko-KR" altLang="en-US" dirty="0" err="1"/>
              <a:t>혼공머신</a:t>
            </a:r>
            <a:r>
              <a:rPr lang="en-US" altLang="ko-KR" dirty="0"/>
              <a:t>\_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정답은 </a:t>
            </a:r>
            <a:r>
              <a:rPr lang="ko-KR" altLang="en-US" dirty="0" err="1"/>
              <a:t>뭘까요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 반응 기다림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④ \_</a:t>
            </a:r>
            <a:r>
              <a:rPr lang="ko-KR" altLang="en-US" dirty="0" err="1"/>
              <a:t>혼공머신</a:t>
            </a:r>
            <a:r>
              <a:rPr lang="en-US" altLang="ko-KR" dirty="0"/>
              <a:t>\_ 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별 하나</a:t>
            </a:r>
            <a:r>
              <a:rPr lang="en-US" altLang="ko-KR" dirty="0"/>
              <a:t>(`*`)</a:t>
            </a:r>
            <a:r>
              <a:rPr lang="ko-KR" altLang="en-US" dirty="0"/>
              <a:t>나 밑줄 하나</a:t>
            </a:r>
            <a:r>
              <a:rPr lang="en-US" altLang="ko-KR" dirty="0"/>
              <a:t>(`_`)</a:t>
            </a:r>
            <a:r>
              <a:rPr lang="ko-KR" altLang="en-US" dirty="0"/>
              <a:t>로 감싸면 </a:t>
            </a:r>
            <a:r>
              <a:rPr lang="ko-KR" altLang="en-US" dirty="0" err="1"/>
              <a:t>기울임꼴이에요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나머지도 복습하면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①</a:t>
            </a:r>
            <a:r>
              <a:rPr lang="ko-KR" altLang="en-US" dirty="0"/>
              <a:t>은 별 </a:t>
            </a:r>
            <a:r>
              <a:rPr lang="en-US" altLang="ko-KR" dirty="0"/>
              <a:t>2</a:t>
            </a:r>
            <a:r>
              <a:rPr lang="ko-KR" altLang="en-US" dirty="0"/>
              <a:t>개로 감쌌으니 굵은 글씨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②</a:t>
            </a:r>
            <a:r>
              <a:rPr lang="ko-KR" altLang="en-US" dirty="0"/>
              <a:t>는 물결 </a:t>
            </a:r>
            <a:r>
              <a:rPr lang="en-US" altLang="ko-KR" dirty="0"/>
              <a:t>2</a:t>
            </a:r>
            <a:r>
              <a:rPr lang="ko-KR" altLang="en-US" dirty="0"/>
              <a:t>개니까 </a:t>
            </a:r>
            <a:r>
              <a:rPr lang="en-US" altLang="ko-KR" dirty="0"/>
              <a:t>~~</a:t>
            </a:r>
            <a:r>
              <a:rPr lang="ko-KR" altLang="en-US" dirty="0"/>
              <a:t>취소선</a:t>
            </a:r>
            <a:r>
              <a:rPr lang="en-US" altLang="ko-KR" dirty="0"/>
              <a:t>~~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③</a:t>
            </a:r>
            <a:r>
              <a:rPr lang="ko-KR" altLang="en-US" dirty="0"/>
              <a:t>은 </a:t>
            </a:r>
            <a:r>
              <a:rPr lang="ko-KR" altLang="en-US" dirty="0" err="1"/>
              <a:t>백틱이니까</a:t>
            </a:r>
            <a:r>
              <a:rPr lang="ko-KR" altLang="en-US" dirty="0"/>
              <a:t> </a:t>
            </a:r>
            <a:r>
              <a:rPr lang="en-US" altLang="ko-KR" dirty="0"/>
              <a:t>`</a:t>
            </a:r>
            <a:r>
              <a:rPr lang="ko-KR" altLang="en-US" dirty="0"/>
              <a:t>코드 서체</a:t>
            </a:r>
            <a:r>
              <a:rPr lang="en-US" altLang="ko-KR" dirty="0"/>
              <a:t>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아까 마크다운 실습할 때 다 해봤던 거죠</a:t>
            </a:r>
            <a:r>
              <a:rPr lang="en-US" altLang="ko-KR" dirty="0"/>
              <a:t>? </a:t>
            </a:r>
            <a:r>
              <a:rPr lang="ko-KR" altLang="en-US" dirty="0"/>
              <a:t>기억나시죠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---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3: </a:t>
            </a:r>
            <a:r>
              <a:rPr lang="ko-KR" altLang="en-US" dirty="0" err="1"/>
              <a:t>코랩</a:t>
            </a:r>
            <a:r>
              <a:rPr lang="ko-KR" altLang="en-US" dirty="0"/>
              <a:t> 노트북은 어디에서 실행되는가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① </a:t>
            </a:r>
            <a:r>
              <a:rPr lang="ko-KR" altLang="en-US" dirty="0"/>
              <a:t>내 컴퓨터　② 구글 드라이브　③ 구글 클라우드　④ 아마존 웹서비스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 반응 기다림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③ </a:t>
            </a:r>
            <a:r>
              <a:rPr lang="ko-KR" altLang="en-US" dirty="0"/>
              <a:t>구글 클라우드가 정답입니다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아까 설명했죠</a:t>
            </a:r>
            <a:r>
              <a:rPr lang="en-US" altLang="ko-KR" dirty="0"/>
              <a:t>? </a:t>
            </a:r>
            <a:r>
              <a:rPr lang="ko-KR" altLang="en-US" dirty="0"/>
              <a:t>여러분이 </a:t>
            </a:r>
            <a:r>
              <a:rPr lang="ko-KR" altLang="en-US" dirty="0" err="1"/>
              <a:t>코랩에서</a:t>
            </a:r>
            <a:r>
              <a:rPr lang="ko-KR" altLang="en-US" dirty="0"/>
              <a:t> 코드를 실행하면</a:t>
            </a:r>
            <a:r>
              <a:rPr lang="en-US" altLang="ko-KR" dirty="0"/>
              <a:t>, </a:t>
            </a:r>
            <a:r>
              <a:rPr lang="ko-KR" altLang="en-US" dirty="0"/>
              <a:t>여러분 컴퓨터가 아니라 구글 클라우드의 가상 서버</a:t>
            </a:r>
            <a:r>
              <a:rPr lang="en-US" altLang="ko-KR" dirty="0"/>
              <a:t>(VM)</a:t>
            </a:r>
            <a:r>
              <a:rPr lang="ko-KR" altLang="en-US" dirty="0"/>
              <a:t>에서 돌아갑니다</a:t>
            </a:r>
            <a:r>
              <a:rPr lang="en-US" altLang="ko-KR" dirty="0"/>
              <a:t>. </a:t>
            </a:r>
            <a:r>
              <a:rPr lang="ko-KR" altLang="en-US" dirty="0"/>
              <a:t>구글 드라이브는 저장소이지 실행 환경은 </a:t>
            </a:r>
            <a:r>
              <a:rPr lang="ko-KR" altLang="en-US" dirty="0" err="1"/>
              <a:t>아니에요</a:t>
            </a:r>
            <a:r>
              <a:rPr lang="en-US" altLang="ko-KR" dirty="0"/>
              <a:t>. </a:t>
            </a:r>
            <a:r>
              <a:rPr lang="ko-KR" altLang="en-US" dirty="0"/>
              <a:t>노트북 파일은 구글 드라이브에 저장되지만</a:t>
            </a:r>
            <a:r>
              <a:rPr lang="en-US" altLang="ko-KR" dirty="0"/>
              <a:t>, </a:t>
            </a:r>
            <a:r>
              <a:rPr lang="ko-KR" altLang="en-US" dirty="0"/>
              <a:t>코드 실행은 구글 클라우드 </a:t>
            </a:r>
            <a:r>
              <a:rPr lang="ko-KR" altLang="en-US" dirty="0" err="1"/>
              <a:t>컴퓨트</a:t>
            </a:r>
            <a:r>
              <a:rPr lang="ko-KR" altLang="en-US" dirty="0"/>
              <a:t> 엔진에서 합니다</a:t>
            </a:r>
            <a:r>
              <a:rPr lang="en-US" altLang="ko-KR" dirty="0"/>
              <a:t>. </a:t>
            </a:r>
            <a:r>
              <a:rPr lang="ko-KR" altLang="en-US" dirty="0"/>
              <a:t>이 차이를 잘 </a:t>
            </a:r>
            <a:r>
              <a:rPr lang="ko-KR" altLang="en-US" dirty="0" err="1"/>
              <a:t>구분하셔야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Section 1-2 </a:t>
            </a:r>
            <a:r>
              <a:rPr lang="ko-KR" altLang="en-US" dirty="0"/>
              <a:t>확인 문제까지 다 풀었습니다</a:t>
            </a:r>
            <a:r>
              <a:rPr lang="en-US" altLang="ko-KR" dirty="0"/>
              <a:t>. </a:t>
            </a:r>
            <a:r>
              <a:rPr lang="ko-KR" altLang="en-US" dirty="0"/>
              <a:t>이제 본격적으로 가장 재미있는 파트로 넘어갑니다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오늘 수업을 정리하겠습니다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Section 1-1</a:t>
            </a:r>
            <a:r>
              <a:rPr lang="ko-KR" altLang="en-US" dirty="0"/>
              <a:t>에서 배운 것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인공지능 → </a:t>
            </a:r>
            <a:r>
              <a:rPr lang="ko-KR" altLang="en-US" dirty="0" err="1"/>
              <a:t>머신러닝</a:t>
            </a:r>
            <a:r>
              <a:rPr lang="ko-KR" altLang="en-US" dirty="0"/>
              <a:t> → </a:t>
            </a:r>
            <a:r>
              <a:rPr lang="ko-KR" altLang="en-US" dirty="0" err="1"/>
              <a:t>딥러닝의</a:t>
            </a:r>
            <a:r>
              <a:rPr lang="ko-KR" altLang="en-US" dirty="0"/>
              <a:t> 포함 관계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AI</a:t>
            </a:r>
            <a:r>
              <a:rPr lang="ko-KR" altLang="en-US" dirty="0"/>
              <a:t>의 역사</a:t>
            </a:r>
            <a:r>
              <a:rPr lang="en-US" altLang="ko-KR" dirty="0"/>
              <a:t>: </a:t>
            </a:r>
            <a:r>
              <a:rPr lang="ko-KR" altLang="en-US" dirty="0"/>
              <a:t>태동기부터 </a:t>
            </a:r>
            <a:r>
              <a:rPr lang="en-US" altLang="ko-KR" dirty="0" err="1"/>
              <a:t>ChatGPT</a:t>
            </a:r>
            <a:r>
              <a:rPr lang="ko-KR" altLang="en-US" dirty="0"/>
              <a:t>까지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강인공지능 </a:t>
            </a:r>
            <a:r>
              <a:rPr lang="en-US" altLang="ko-KR" dirty="0"/>
              <a:t>vs </a:t>
            </a:r>
            <a:r>
              <a:rPr lang="ko-KR" altLang="en-US" dirty="0"/>
              <a:t>약인공지능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사이킷런</a:t>
            </a:r>
            <a:r>
              <a:rPr lang="en-US" altLang="ko-KR" dirty="0"/>
              <a:t>, </a:t>
            </a:r>
            <a:r>
              <a:rPr lang="ko-KR" altLang="en-US" dirty="0" err="1"/>
              <a:t>텐서플로</a:t>
            </a:r>
            <a:r>
              <a:rPr lang="en-US" altLang="ko-KR" dirty="0"/>
              <a:t>, </a:t>
            </a:r>
            <a:r>
              <a:rPr lang="ko-KR" altLang="en-US" dirty="0" err="1"/>
              <a:t>파이토치</a:t>
            </a:r>
            <a:r>
              <a:rPr lang="ko-KR" altLang="en-US" dirty="0"/>
              <a:t> 같은 핵심 라이브러리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Section 1-2</a:t>
            </a:r>
            <a:r>
              <a:rPr lang="ko-KR" altLang="en-US" dirty="0"/>
              <a:t>에서 배운 것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구글 </a:t>
            </a:r>
            <a:r>
              <a:rPr lang="ko-KR" altLang="en-US" dirty="0" err="1"/>
              <a:t>코랩</a:t>
            </a:r>
            <a:r>
              <a:rPr lang="ko-KR" altLang="en-US" dirty="0"/>
              <a:t> 접속</a:t>
            </a:r>
            <a:r>
              <a:rPr lang="en-US" altLang="ko-KR" dirty="0"/>
              <a:t>, </a:t>
            </a:r>
            <a:r>
              <a:rPr lang="ko-KR" altLang="en-US" dirty="0"/>
              <a:t>노트북 생성</a:t>
            </a:r>
            <a:r>
              <a:rPr lang="en-US" altLang="ko-KR" dirty="0"/>
              <a:t>, </a:t>
            </a:r>
            <a:r>
              <a:rPr lang="ko-KR" altLang="en-US" dirty="0"/>
              <a:t>저장</a:t>
            </a:r>
            <a:r>
              <a:rPr lang="en-US" altLang="ko-KR" dirty="0"/>
              <a:t>, </a:t>
            </a:r>
            <a:r>
              <a:rPr lang="ko-KR" altLang="en-US" dirty="0"/>
              <a:t>열기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코드 셀과 텍스트 셀의 차이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마크다운 기본 문법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다음 주에는 </a:t>
            </a:r>
            <a:r>
              <a:rPr lang="en-US" altLang="ko-KR" dirty="0"/>
              <a:t>Section 1-3 "</a:t>
            </a:r>
            <a:r>
              <a:rPr lang="ko-KR" altLang="en-US" dirty="0"/>
              <a:t>마켓과 </a:t>
            </a:r>
            <a:r>
              <a:rPr lang="ko-KR" altLang="en-US" dirty="0" err="1"/>
              <a:t>머신러닝</a:t>
            </a:r>
            <a:r>
              <a:rPr lang="en-US" altLang="ko-KR" dirty="0"/>
              <a:t>"</a:t>
            </a:r>
            <a:r>
              <a:rPr lang="ko-KR" altLang="en-US" dirty="0"/>
              <a:t>을 다룹니다</a:t>
            </a:r>
            <a:r>
              <a:rPr lang="en-US" altLang="ko-KR" dirty="0"/>
              <a:t>. </a:t>
            </a:r>
            <a:r>
              <a:rPr lang="ko-KR" altLang="en-US" dirty="0"/>
              <a:t>드디어 첫 번째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프로그램을 만들어 봅니다</a:t>
            </a:r>
            <a:r>
              <a:rPr lang="en-US" altLang="ko-KR" dirty="0"/>
              <a:t>. </a:t>
            </a:r>
            <a:r>
              <a:rPr lang="ko-KR" altLang="en-US" dirty="0"/>
              <a:t>도미와 빙어를 분류하는 </a:t>
            </a:r>
            <a:r>
              <a:rPr lang="en-US" altLang="ko-KR" dirty="0"/>
              <a:t>k-</a:t>
            </a:r>
            <a:r>
              <a:rPr lang="ko-KR" altLang="en-US" dirty="0" err="1"/>
              <a:t>최근접</a:t>
            </a:r>
            <a:r>
              <a:rPr lang="ko-KR" altLang="en-US" dirty="0"/>
              <a:t> 이웃 알고리즘을 직접 코딩하고 실행할 겁니다</a:t>
            </a:r>
            <a:r>
              <a:rPr lang="en-US" altLang="ko-KR" dirty="0"/>
              <a:t>. </a:t>
            </a:r>
            <a:r>
              <a:rPr lang="ko-KR" altLang="en-US" dirty="0"/>
              <a:t>실습 시간에는 </a:t>
            </a:r>
            <a:r>
              <a:rPr lang="ko-KR" altLang="en-US" dirty="0" err="1"/>
              <a:t>코랩에서</a:t>
            </a:r>
            <a:r>
              <a:rPr lang="ko-KR" altLang="en-US" dirty="0"/>
              <a:t> 직접 코드를 작성하면서 진행하니까</a:t>
            </a:r>
            <a:r>
              <a:rPr lang="en-US" altLang="ko-KR" dirty="0"/>
              <a:t>, </a:t>
            </a:r>
            <a:r>
              <a:rPr lang="ko-KR" altLang="en-US" dirty="0"/>
              <a:t>노트북 잊지 말고 가져오세요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과제 안내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이번 주 실습 시간에 진행한 </a:t>
            </a:r>
            <a:r>
              <a:rPr lang="en-US" altLang="ko-KR" dirty="0"/>
              <a:t>GitHub </a:t>
            </a:r>
            <a:r>
              <a:rPr lang="ko-KR" altLang="en-US" dirty="0"/>
              <a:t>세팅이 아직 안 된 분은</a:t>
            </a:r>
            <a:r>
              <a:rPr lang="en-US" altLang="ko-KR" dirty="0"/>
              <a:t>, GitHub </a:t>
            </a:r>
            <a:r>
              <a:rPr lang="ko-KR" altLang="en-US" dirty="0"/>
              <a:t>가입과 </a:t>
            </a:r>
            <a:r>
              <a:rPr lang="en-US" altLang="ko-KR" dirty="0"/>
              <a:t>GitHub Classroom </a:t>
            </a:r>
            <a:r>
              <a:rPr lang="ko-KR" altLang="en-US" dirty="0"/>
              <a:t>초대 링크 수락까지 완료해 주세요</a:t>
            </a:r>
            <a:r>
              <a:rPr lang="en-US" altLang="ko-KR" dirty="0"/>
              <a:t>. </a:t>
            </a:r>
            <a:r>
              <a:rPr lang="ko-KR" altLang="en-US" dirty="0"/>
              <a:t>다음 주부터 과제 제출은 </a:t>
            </a:r>
            <a:r>
              <a:rPr lang="en-US" altLang="ko-KR" dirty="0"/>
              <a:t>GitHub Classroom</a:t>
            </a:r>
            <a:r>
              <a:rPr lang="ko-KR" altLang="en-US" dirty="0"/>
              <a:t>으로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수고하셨습니다</a:t>
            </a:r>
            <a:r>
              <a:rPr lang="en-US" altLang="ko-KR" dirty="0"/>
              <a:t>. </a:t>
            </a:r>
            <a:r>
              <a:rPr lang="ko-KR" altLang="en-US" dirty="0"/>
              <a:t>질문 있으신 분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448" name="Google Shape;44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여러분</a:t>
            </a:r>
            <a:r>
              <a:rPr lang="en-US" altLang="ko-KR" dirty="0"/>
              <a:t>, </a:t>
            </a:r>
            <a:r>
              <a:rPr lang="ko-KR" altLang="en-US" dirty="0"/>
              <a:t>드디어 이번 챕터의 하이라이트입니다</a:t>
            </a:r>
            <a:r>
              <a:rPr lang="en-US" altLang="ko-KR" dirty="0"/>
              <a:t>. Section 1-3 </a:t>
            </a:r>
            <a:r>
              <a:rPr lang="ko-KR" altLang="en-US" dirty="0"/>
              <a:t>마켓과 </a:t>
            </a:r>
            <a:r>
              <a:rPr lang="ko-KR" altLang="en-US" dirty="0" err="1"/>
              <a:t>머신러닝</a:t>
            </a:r>
            <a:r>
              <a:rPr lang="en-US" altLang="ko-KR" dirty="0"/>
              <a:t>. </a:t>
            </a:r>
            <a:r>
              <a:rPr lang="ko-KR" altLang="en-US" dirty="0"/>
              <a:t>여기서 첫 번째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프로그램을 만들어 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섹션에서는 </a:t>
            </a:r>
            <a:r>
              <a:rPr lang="en-US" altLang="ko-KR" dirty="0"/>
              <a:t>k-</a:t>
            </a:r>
            <a:r>
              <a:rPr lang="ko-KR" altLang="en-US" dirty="0" err="1"/>
              <a:t>최근접</a:t>
            </a:r>
            <a:r>
              <a:rPr lang="ko-KR" altLang="en-US" dirty="0"/>
              <a:t> 이웃</a:t>
            </a:r>
            <a:r>
              <a:rPr lang="en-US" altLang="ko-KR" dirty="0"/>
              <a:t>(k-Nearest Neighbors) </a:t>
            </a:r>
            <a:r>
              <a:rPr lang="ko-KR" altLang="en-US" dirty="0"/>
              <a:t>알고리즘을 사용해서 두 종류의 생선을 분류하는 모델을 훈련할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가상 시나리오 설정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교재에서는 재미있는 시나리오를 설정합니다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"</a:t>
            </a:r>
            <a:r>
              <a:rPr lang="ko-KR" altLang="en-US" dirty="0"/>
              <a:t>한빛 마켓</a:t>
            </a:r>
            <a:r>
              <a:rPr lang="en-US" altLang="ko-KR" dirty="0"/>
              <a:t>"</a:t>
            </a:r>
            <a:r>
              <a:rPr lang="ko-KR" altLang="en-US" dirty="0"/>
              <a:t>이라는 가상의 앱 마켓이 있다고 가정합시다</a:t>
            </a:r>
            <a:r>
              <a:rPr lang="en-US" altLang="ko-KR" dirty="0"/>
              <a:t>. </a:t>
            </a:r>
            <a:r>
              <a:rPr lang="ko-KR" altLang="en-US" dirty="0"/>
              <a:t>이 마켓은 앱 마켓 최초로 살아 있는 생선을 판매하기 시작합니다</a:t>
            </a:r>
            <a:r>
              <a:rPr lang="en-US" altLang="ko-KR" dirty="0"/>
              <a:t>. </a:t>
            </a:r>
            <a:r>
              <a:rPr lang="ko-KR" altLang="en-US" dirty="0"/>
              <a:t>고객이 온라인으로 주문하면</a:t>
            </a:r>
            <a:r>
              <a:rPr lang="en-US" altLang="ko-KR" dirty="0"/>
              <a:t>, </a:t>
            </a:r>
            <a:r>
              <a:rPr lang="ko-KR" altLang="en-US" dirty="0"/>
              <a:t>가장 빠른 물류 센터에서 신선한 생선을 곧바로 배송하는 </a:t>
            </a:r>
            <a:r>
              <a:rPr lang="ko-KR" altLang="en-US" dirty="0" err="1"/>
              <a:t>시스템이에요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그런데 문제가 발생합니다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물류 센터에서 생선을 고르는 직원이 생선 이름을 도통 외우지 못하는 겁니다</a:t>
            </a:r>
            <a:r>
              <a:rPr lang="en-US" altLang="ko-KR" dirty="0"/>
              <a:t>. "</a:t>
            </a:r>
            <a:r>
              <a:rPr lang="ko-KR" altLang="en-US" dirty="0"/>
              <a:t>이 생선 이름이 </a:t>
            </a:r>
            <a:r>
              <a:rPr lang="ko-KR" altLang="en-US" dirty="0" err="1"/>
              <a:t>뭐예요</a:t>
            </a:r>
            <a:r>
              <a:rPr lang="en-US" altLang="ko-KR" dirty="0"/>
              <a:t>?" </a:t>
            </a:r>
            <a:r>
              <a:rPr lang="ko-KR" altLang="en-US" dirty="0"/>
              <a:t>하고 항상 주위 사람에게 물어봐서 배송이 지연되기 일쑤입니다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이걸 어떻게 해결할까요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해결 방법</a:t>
            </a:r>
            <a:r>
              <a:rPr lang="en-US" altLang="ko-KR" dirty="0"/>
              <a:t>: </a:t>
            </a:r>
            <a:r>
              <a:rPr lang="ko-KR" altLang="en-US" dirty="0" err="1"/>
              <a:t>머신러닝으로</a:t>
            </a:r>
            <a:r>
              <a:rPr lang="ko-KR" altLang="en-US" dirty="0"/>
              <a:t> 생선 이름을 자동으로 알려주는 프로그램을 만들자</a:t>
            </a:r>
            <a:r>
              <a:rPr lang="en-US" altLang="ko-KR" dirty="0"/>
              <a:t>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생선의 길이와 무게를 측정하면</a:t>
            </a:r>
            <a:r>
              <a:rPr lang="en-US" altLang="ko-KR" dirty="0"/>
              <a:t>, </a:t>
            </a:r>
            <a:r>
              <a:rPr lang="ko-KR" altLang="en-US" dirty="0"/>
              <a:t>프로그램이 자동으로 </a:t>
            </a:r>
            <a:r>
              <a:rPr lang="en-US" altLang="ko-KR" dirty="0"/>
              <a:t>"</a:t>
            </a:r>
            <a:r>
              <a:rPr lang="ko-KR" altLang="en-US" dirty="0"/>
              <a:t>이건 도미입니다</a:t>
            </a:r>
            <a:r>
              <a:rPr lang="en-US" altLang="ko-KR" dirty="0"/>
              <a:t>", "</a:t>
            </a:r>
            <a:r>
              <a:rPr lang="ko-KR" altLang="en-US" dirty="0"/>
              <a:t>이건 빙어입니다</a:t>
            </a:r>
            <a:r>
              <a:rPr lang="en-US" altLang="ko-KR" dirty="0"/>
              <a:t>" </a:t>
            </a:r>
            <a:r>
              <a:rPr lang="ko-KR" altLang="en-US" dirty="0"/>
              <a:t>하고 알려주는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이게 바로 분류</a:t>
            </a:r>
            <a:r>
              <a:rPr lang="en-US" altLang="ko-KR" dirty="0"/>
              <a:t>(classification) </a:t>
            </a:r>
            <a:r>
              <a:rPr lang="ko-KR" altLang="en-US" dirty="0"/>
              <a:t>문제입니다</a:t>
            </a:r>
            <a:r>
              <a:rPr lang="en-US" altLang="ko-KR" dirty="0"/>
              <a:t>. </a:t>
            </a:r>
            <a:r>
              <a:rPr lang="ko-KR" altLang="en-US" dirty="0" err="1"/>
              <a:t>머신러닝에서</a:t>
            </a:r>
            <a:r>
              <a:rPr lang="ko-KR" altLang="en-US" dirty="0"/>
              <a:t> 가장 기본적인 문제 유형 중 하나예요</a:t>
            </a:r>
            <a:r>
              <a:rPr lang="en-US" altLang="ko-KR" dirty="0"/>
              <a:t>. </a:t>
            </a:r>
            <a:r>
              <a:rPr lang="ko-KR" altLang="en-US" dirty="0"/>
              <a:t>주어진 데이터를 보고 </a:t>
            </a:r>
            <a:r>
              <a:rPr lang="en-US" altLang="ko-KR" dirty="0"/>
              <a:t>"</a:t>
            </a:r>
            <a:r>
              <a:rPr lang="ko-KR" altLang="en-US" dirty="0"/>
              <a:t>이건 </a:t>
            </a:r>
            <a:r>
              <a:rPr lang="en-US" altLang="ko-KR" dirty="0"/>
              <a:t>A</a:t>
            </a:r>
            <a:r>
              <a:rPr lang="ko-KR" altLang="en-US" dirty="0"/>
              <a:t>야</a:t>
            </a:r>
            <a:r>
              <a:rPr lang="en-US" altLang="ko-KR" dirty="0"/>
              <a:t>, </a:t>
            </a:r>
            <a:r>
              <a:rPr lang="ko-KR" altLang="en-US" dirty="0"/>
              <a:t>저건 </a:t>
            </a:r>
            <a:r>
              <a:rPr lang="en-US" altLang="ko-KR" dirty="0"/>
              <a:t>B</a:t>
            </a:r>
            <a:r>
              <a:rPr lang="ko-KR" altLang="en-US" dirty="0"/>
              <a:t>야</a:t>
            </a:r>
            <a:r>
              <a:rPr lang="en-US" altLang="ko-KR" dirty="0"/>
              <a:t>" </a:t>
            </a:r>
            <a:r>
              <a:rPr lang="ko-KR" altLang="en-US" dirty="0"/>
              <a:t>하고 카테고리를 나누는 거죠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여러분 일상에서도 분류 문제는 많습니다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이메일이 스팸인지 아닌지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사진에 고양이가 있는지 개가 있는지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리뷰가 긍정적인지 부정적인지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오늘은 </a:t>
            </a:r>
            <a:r>
              <a:rPr lang="ko-KR" altLang="en-US" dirty="0" err="1"/>
              <a:t>그중에서</a:t>
            </a:r>
            <a:r>
              <a:rPr lang="ko-KR" altLang="en-US" dirty="0"/>
              <a:t> 가장 단순한 형태인 두 가지 중 하나를 고르는 이진 분류를 해봅니다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56" name="Google Shape;45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생선 분류 문제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한빛 마켓에서 팔기 시작한 생선은 총 </a:t>
            </a:r>
            <a:r>
              <a:rPr lang="en-US" altLang="ko-KR" dirty="0"/>
              <a:t>7</a:t>
            </a:r>
            <a:r>
              <a:rPr lang="ko-KR" altLang="en-US" dirty="0"/>
              <a:t>종류입니다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도미</a:t>
            </a:r>
            <a:r>
              <a:rPr lang="en-US" altLang="ko-KR" dirty="0"/>
              <a:t>, </a:t>
            </a:r>
            <a:r>
              <a:rPr lang="ko-KR" altLang="en-US" dirty="0"/>
              <a:t>곤들매기</a:t>
            </a:r>
            <a:r>
              <a:rPr lang="en-US" altLang="ko-KR" dirty="0"/>
              <a:t>, </a:t>
            </a:r>
            <a:r>
              <a:rPr lang="ko-KR" altLang="en-US" dirty="0"/>
              <a:t>농어</a:t>
            </a:r>
            <a:r>
              <a:rPr lang="en-US" altLang="ko-KR" dirty="0"/>
              <a:t>, </a:t>
            </a:r>
            <a:r>
              <a:rPr lang="ko-KR" altLang="en-US" dirty="0" err="1"/>
              <a:t>강꼬치고기</a:t>
            </a:r>
            <a:r>
              <a:rPr lang="en-US" altLang="ko-KR" dirty="0"/>
              <a:t>, </a:t>
            </a:r>
            <a:r>
              <a:rPr lang="ko-KR" altLang="en-US" dirty="0" err="1"/>
              <a:t>로치</a:t>
            </a:r>
            <a:r>
              <a:rPr lang="en-US" altLang="ko-KR" dirty="0"/>
              <a:t>, </a:t>
            </a:r>
            <a:r>
              <a:rPr lang="ko-KR" altLang="en-US" dirty="0"/>
              <a:t>빙어</a:t>
            </a:r>
            <a:r>
              <a:rPr lang="en-US" altLang="ko-KR" dirty="0"/>
              <a:t>, </a:t>
            </a:r>
            <a:r>
              <a:rPr lang="ko-KR" altLang="en-US" dirty="0"/>
              <a:t>송어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생선들은 물류 센터에 충분히 준비되어 있고</a:t>
            </a:r>
            <a:r>
              <a:rPr lang="en-US" altLang="ko-KR" dirty="0"/>
              <a:t>, </a:t>
            </a:r>
            <a:r>
              <a:rPr lang="ko-KR" altLang="en-US" dirty="0"/>
              <a:t>이 생선들을 프로그램으로 분류한다고 가정합니다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데이터셋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사용할 데이터는 </a:t>
            </a:r>
            <a:r>
              <a:rPr lang="ko-KR" altLang="en-US" dirty="0" err="1"/>
              <a:t>캐글</a:t>
            </a:r>
            <a:r>
              <a:rPr lang="en-US" altLang="ko-KR" dirty="0"/>
              <a:t>(Kaggle)</a:t>
            </a:r>
            <a:r>
              <a:rPr lang="ko-KR" altLang="en-US" dirty="0"/>
              <a:t>에 공개된 </a:t>
            </a:r>
            <a:r>
              <a:rPr lang="ko-KR" altLang="en-US" dirty="0" err="1"/>
              <a:t>데이터셋입니다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URL: https://www.kaggle.com/aungpyaeap/fish-market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캐글이</a:t>
            </a:r>
            <a:r>
              <a:rPr lang="ko-KR" altLang="en-US" dirty="0"/>
              <a:t> </a:t>
            </a:r>
            <a:r>
              <a:rPr lang="ko-KR" altLang="en-US" dirty="0" err="1"/>
              <a:t>뭔지</a:t>
            </a:r>
            <a:r>
              <a:rPr lang="ko-KR" altLang="en-US" dirty="0"/>
              <a:t> 잠깐 </a:t>
            </a:r>
            <a:r>
              <a:rPr lang="ko-KR" altLang="en-US" dirty="0" err="1"/>
              <a:t>설명드리면</a:t>
            </a:r>
            <a:r>
              <a:rPr lang="en-US" altLang="ko-KR" dirty="0"/>
              <a:t>, 2010</a:t>
            </a:r>
            <a:r>
              <a:rPr lang="ko-KR" altLang="en-US" dirty="0"/>
              <a:t>년에 설립된 전 세계에서 가장 큰 </a:t>
            </a:r>
            <a:r>
              <a:rPr lang="ko-KR" altLang="en-US" dirty="0" err="1"/>
              <a:t>머신러닝</a:t>
            </a:r>
            <a:r>
              <a:rPr lang="ko-KR" altLang="en-US" dirty="0"/>
              <a:t> 경연 대회 사이트입니다</a:t>
            </a:r>
            <a:r>
              <a:rPr lang="en-US" altLang="ko-KR" dirty="0"/>
              <a:t>. </a:t>
            </a:r>
            <a:r>
              <a:rPr lang="ko-KR" altLang="en-US" dirty="0"/>
              <a:t>기업이 </a:t>
            </a:r>
            <a:r>
              <a:rPr lang="en-US" altLang="ko-KR" dirty="0"/>
              <a:t>"</a:t>
            </a:r>
            <a:r>
              <a:rPr lang="ko-KR" altLang="en-US" dirty="0"/>
              <a:t>이 데이터로 이 문제를 풀어주세요</a:t>
            </a:r>
            <a:r>
              <a:rPr lang="en-US" altLang="ko-KR" dirty="0"/>
              <a:t>" </a:t>
            </a:r>
            <a:r>
              <a:rPr lang="ko-KR" altLang="en-US" dirty="0"/>
              <a:t>하고 올리면</a:t>
            </a:r>
            <a:r>
              <a:rPr lang="en-US" altLang="ko-KR" dirty="0"/>
              <a:t>, </a:t>
            </a:r>
            <a:r>
              <a:rPr lang="ko-KR" altLang="en-US" dirty="0"/>
              <a:t>전 세계의 데이터 과학자들이 경쟁하면서 최고의 모델을 만듭니다</a:t>
            </a:r>
            <a:r>
              <a:rPr lang="en-US" altLang="ko-KR" dirty="0"/>
              <a:t>. </a:t>
            </a:r>
            <a:r>
              <a:rPr lang="ko-KR" altLang="en-US" dirty="0"/>
              <a:t>상금이 걸린 대회도 많아요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경연 </a:t>
            </a:r>
            <a:r>
              <a:rPr lang="ko-KR" altLang="en-US" dirty="0" err="1"/>
              <a:t>대회뿐만</a:t>
            </a:r>
            <a:r>
              <a:rPr lang="ko-KR" altLang="en-US" dirty="0"/>
              <a:t> 아니라 공개 데이터셋도 엄청나게 많습니다</a:t>
            </a:r>
            <a:r>
              <a:rPr lang="en-US" altLang="ko-KR" dirty="0"/>
              <a:t>. </a:t>
            </a:r>
            <a:r>
              <a:rPr lang="ko-KR" altLang="en-US" dirty="0"/>
              <a:t>나중에 </a:t>
            </a:r>
            <a:r>
              <a:rPr lang="ko-KR" altLang="en-US" dirty="0" err="1"/>
              <a:t>머신러닝</a:t>
            </a:r>
            <a:r>
              <a:rPr lang="ko-KR" altLang="en-US" dirty="0"/>
              <a:t> 프로젝트를 하고 싶은데 데이터가 없을 때</a:t>
            </a:r>
            <a:r>
              <a:rPr lang="en-US" altLang="ko-KR" dirty="0"/>
              <a:t>, </a:t>
            </a:r>
            <a:r>
              <a:rPr lang="ko-KR" altLang="en-US" dirty="0" err="1"/>
              <a:t>캐글에서</a:t>
            </a:r>
            <a:r>
              <a:rPr lang="ko-KR" altLang="en-US" dirty="0"/>
              <a:t> 찾으면 됩니다</a:t>
            </a:r>
            <a:r>
              <a:rPr lang="en-US" altLang="ko-KR" dirty="0"/>
              <a:t>. </a:t>
            </a:r>
            <a:r>
              <a:rPr lang="ko-KR" altLang="en-US" dirty="0"/>
              <a:t>계정을 만들어 두시면 나중에 도움이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오늘은 이 </a:t>
            </a:r>
            <a:r>
              <a:rPr lang="en-US" altLang="ko-KR" dirty="0"/>
              <a:t>7</a:t>
            </a:r>
            <a:r>
              <a:rPr lang="ko-KR" altLang="en-US" dirty="0"/>
              <a:t>종류 중에서 도미와 빙어</a:t>
            </a:r>
            <a:r>
              <a:rPr lang="en-US" altLang="ko-KR" dirty="0"/>
              <a:t>, </a:t>
            </a:r>
            <a:r>
              <a:rPr lang="ko-KR" altLang="en-US" dirty="0"/>
              <a:t>딱 </a:t>
            </a:r>
            <a:r>
              <a:rPr lang="en-US" altLang="ko-KR" dirty="0"/>
              <a:t>2</a:t>
            </a:r>
            <a:r>
              <a:rPr lang="ko-KR" altLang="en-US" dirty="0"/>
              <a:t>종류만 분류해보겠습니다</a:t>
            </a:r>
            <a:r>
              <a:rPr lang="en-US" altLang="ko-KR" dirty="0"/>
              <a:t>. </a:t>
            </a:r>
            <a:r>
              <a:rPr lang="ko-KR" altLang="en-US" dirty="0"/>
              <a:t>간단한 것부터 시작하는 거예요</a:t>
            </a:r>
            <a:r>
              <a:rPr lang="en-US" altLang="ko-KR" dirty="0"/>
              <a:t>. </a:t>
            </a:r>
            <a:r>
              <a:rPr lang="ko-KR" altLang="en-US" dirty="0"/>
              <a:t>나중에 </a:t>
            </a:r>
            <a:r>
              <a:rPr lang="en-US" altLang="ko-KR" dirty="0"/>
              <a:t>7</a:t>
            </a:r>
            <a:r>
              <a:rPr lang="ko-KR" altLang="en-US" dirty="0"/>
              <a:t>종류 전부를 분류하는 것은 다중 분류라고 하는데</a:t>
            </a:r>
            <a:r>
              <a:rPr lang="en-US" altLang="ko-KR" dirty="0"/>
              <a:t>, CHAPTER 04</a:t>
            </a:r>
            <a:r>
              <a:rPr lang="ko-KR" altLang="en-US" dirty="0"/>
              <a:t>에서 다룹니다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65" name="Google Shape;46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전통적 접근 </a:t>
            </a:r>
            <a:r>
              <a:rPr lang="en-US" altLang="ko-KR" dirty="0"/>
              <a:t>vs </a:t>
            </a:r>
            <a:r>
              <a:rPr lang="ko-KR" altLang="en-US" dirty="0" err="1"/>
              <a:t>머신러닝</a:t>
            </a:r>
            <a:r>
              <a:rPr lang="ko-KR" altLang="en-US" dirty="0"/>
              <a:t> 접근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도미를 분류하려면 어떻게 해야 할까요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첫 번째 시도</a:t>
            </a:r>
            <a:r>
              <a:rPr lang="en-US" altLang="ko-KR" dirty="0"/>
              <a:t>: </a:t>
            </a:r>
            <a:r>
              <a:rPr lang="ko-KR" altLang="en-US" dirty="0"/>
              <a:t>전통적 프로그래밍 방식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"</a:t>
            </a:r>
            <a:r>
              <a:rPr lang="ko-KR" altLang="en-US" dirty="0"/>
              <a:t>생선 길이가 </a:t>
            </a:r>
            <a:r>
              <a:rPr lang="en-US" altLang="ko-KR" dirty="0"/>
              <a:t>30cm </a:t>
            </a:r>
            <a:r>
              <a:rPr lang="ko-KR" altLang="en-US" dirty="0"/>
              <a:t>이상이면 도미다</a:t>
            </a:r>
            <a:r>
              <a:rPr lang="en-US" altLang="ko-KR" dirty="0"/>
              <a:t>" </a:t>
            </a:r>
            <a:r>
              <a:rPr lang="ko-KR" altLang="en-US" dirty="0"/>
              <a:t>라는 규칙을 코드로 짭니다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if </a:t>
            </a:r>
            <a:r>
              <a:rPr lang="en-US" altLang="ko-KR" dirty="0" err="1"/>
              <a:t>fish_length</a:t>
            </a:r>
            <a:r>
              <a:rPr lang="en-US" altLang="ko-KR" dirty="0"/>
              <a:t> &gt;= 30: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print("</a:t>
            </a:r>
            <a:r>
              <a:rPr lang="ko-KR" altLang="en-US" dirty="0"/>
              <a:t>도미</a:t>
            </a:r>
            <a:r>
              <a:rPr lang="en-US" altLang="ko-KR" dirty="0"/>
              <a:t>")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간단하죠</a:t>
            </a:r>
            <a:r>
              <a:rPr lang="en-US" altLang="ko-KR" dirty="0"/>
              <a:t>? </a:t>
            </a:r>
            <a:r>
              <a:rPr lang="ko-KR" altLang="en-US" dirty="0"/>
              <a:t>그런데 문제가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- 30cm</a:t>
            </a:r>
            <a:r>
              <a:rPr lang="ko-KR" altLang="en-US" dirty="0"/>
              <a:t>보다 큰 생선이 전부 도미일까요</a:t>
            </a:r>
            <a:r>
              <a:rPr lang="en-US" altLang="ko-KR" dirty="0"/>
              <a:t>? </a:t>
            </a:r>
            <a:r>
              <a:rPr lang="ko-KR" altLang="en-US" dirty="0"/>
              <a:t>아닙니다</a:t>
            </a:r>
            <a:r>
              <a:rPr lang="en-US" altLang="ko-KR" dirty="0"/>
              <a:t>. </a:t>
            </a:r>
            <a:r>
              <a:rPr lang="ko-KR" altLang="en-US" dirty="0"/>
              <a:t>농어도 </a:t>
            </a:r>
            <a:r>
              <a:rPr lang="en-US" altLang="ko-KR" dirty="0"/>
              <a:t>30cm</a:t>
            </a:r>
            <a:r>
              <a:rPr lang="ko-KR" altLang="en-US" dirty="0"/>
              <a:t>가 넘을 수 있어요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도미의 크기가 모두 같을까요</a:t>
            </a:r>
            <a:r>
              <a:rPr lang="en-US" altLang="ko-KR" dirty="0"/>
              <a:t>? </a:t>
            </a:r>
            <a:r>
              <a:rPr lang="ko-KR" altLang="en-US" dirty="0"/>
              <a:t>아닙니다</a:t>
            </a:r>
            <a:r>
              <a:rPr lang="en-US" altLang="ko-KR" dirty="0"/>
              <a:t>. </a:t>
            </a:r>
            <a:r>
              <a:rPr lang="ko-KR" altLang="en-US" dirty="0"/>
              <a:t>작은 도미도 있고 큰 도미도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이런 식으로 절대 바뀌지 않을 기준을 정하기가 매우 어렵습니다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규칙을 더 </a:t>
            </a:r>
            <a:r>
              <a:rPr lang="ko-KR" altLang="en-US" dirty="0" err="1"/>
              <a:t>추가하면요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if </a:t>
            </a:r>
            <a:r>
              <a:rPr lang="en-US" altLang="ko-KR" dirty="0" err="1"/>
              <a:t>fish_length</a:t>
            </a:r>
            <a:r>
              <a:rPr lang="en-US" altLang="ko-KR" dirty="0"/>
              <a:t> &gt;= 25 and </a:t>
            </a:r>
            <a:r>
              <a:rPr lang="en-US" altLang="ko-KR" dirty="0" err="1"/>
              <a:t>fish_length</a:t>
            </a:r>
            <a:r>
              <a:rPr lang="en-US" altLang="ko-KR" dirty="0"/>
              <a:t> &lt;= 41 and </a:t>
            </a:r>
            <a:r>
              <a:rPr lang="en-US" altLang="ko-KR" dirty="0" err="1"/>
              <a:t>fish_weight</a:t>
            </a:r>
            <a:r>
              <a:rPr lang="en-US" altLang="ko-KR" dirty="0"/>
              <a:t> &gt;= 200: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print("</a:t>
            </a:r>
            <a:r>
              <a:rPr lang="ko-KR" altLang="en-US" dirty="0"/>
              <a:t>도미</a:t>
            </a:r>
            <a:r>
              <a:rPr lang="en-US" altLang="ko-KR" dirty="0"/>
              <a:t>")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점점 복잡해지죠</a:t>
            </a:r>
            <a:r>
              <a:rPr lang="en-US" altLang="ko-KR" dirty="0"/>
              <a:t>? </a:t>
            </a:r>
            <a:r>
              <a:rPr lang="ko-KR" altLang="en-US" dirty="0"/>
              <a:t>그리고 새로운 생선 종류가 추가될 때마다 규칙을 계속 수정해야 합니다</a:t>
            </a:r>
            <a:r>
              <a:rPr lang="en-US" altLang="ko-KR" dirty="0"/>
              <a:t>. </a:t>
            </a:r>
            <a:r>
              <a:rPr lang="ko-KR" altLang="en-US" dirty="0"/>
              <a:t>이 방법은 확장성이 없어요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두 번째 시도</a:t>
            </a:r>
            <a:r>
              <a:rPr lang="en-US" altLang="ko-KR" dirty="0"/>
              <a:t>: </a:t>
            </a:r>
            <a:r>
              <a:rPr lang="ko-KR" altLang="en-US" dirty="0" err="1"/>
              <a:t>머신러닝</a:t>
            </a:r>
            <a:r>
              <a:rPr lang="ko-KR" altLang="en-US" dirty="0"/>
              <a:t> 방식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머신러닝은</a:t>
            </a:r>
            <a:r>
              <a:rPr lang="ko-KR" altLang="en-US" dirty="0"/>
              <a:t> 접근 방식 자체가 다릅니다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&gt; </a:t>
            </a:r>
            <a:r>
              <a:rPr lang="ko-KR" altLang="en-US" dirty="0"/>
              <a:t>보통 프로그램은 </a:t>
            </a:r>
            <a:r>
              <a:rPr lang="en-US" altLang="ko-KR" dirty="0"/>
              <a:t>"</a:t>
            </a:r>
            <a:r>
              <a:rPr lang="ko-KR" altLang="en-US" dirty="0"/>
              <a:t>누군가 정해준 기준대로 일</a:t>
            </a:r>
            <a:r>
              <a:rPr lang="en-US" altLang="ko-KR" dirty="0"/>
              <a:t>"</a:t>
            </a:r>
            <a:r>
              <a:rPr lang="ko-KR" altLang="en-US" dirty="0"/>
              <a:t>을 수행합니다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&gt; </a:t>
            </a:r>
            <a:r>
              <a:rPr lang="ko-KR" altLang="en-US" dirty="0"/>
              <a:t>반대로 </a:t>
            </a:r>
            <a:r>
              <a:rPr lang="ko-KR" altLang="en-US" dirty="0" err="1"/>
              <a:t>머신러닝은</a:t>
            </a:r>
            <a:r>
              <a:rPr lang="ko-KR" altLang="en-US" dirty="0"/>
              <a:t> </a:t>
            </a:r>
            <a:r>
              <a:rPr lang="en-US" altLang="ko-KR" dirty="0"/>
              <a:t>"</a:t>
            </a:r>
            <a:r>
              <a:rPr lang="ko-KR" altLang="en-US" dirty="0"/>
              <a:t>누구도 알려주지 않는 기준을 찾아서 일</a:t>
            </a:r>
            <a:r>
              <a:rPr lang="en-US" altLang="ko-KR" dirty="0"/>
              <a:t>"</a:t>
            </a:r>
            <a:r>
              <a:rPr lang="ko-KR" altLang="en-US" dirty="0"/>
              <a:t>을 수행합니다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우리가 </a:t>
            </a:r>
            <a:r>
              <a:rPr lang="en-US" altLang="ko-KR" dirty="0"/>
              <a:t>"30cm </a:t>
            </a:r>
            <a:r>
              <a:rPr lang="ko-KR" altLang="en-US" dirty="0"/>
              <a:t>이상이면 도미야</a:t>
            </a:r>
            <a:r>
              <a:rPr lang="en-US" altLang="ko-KR" dirty="0"/>
              <a:t>"</a:t>
            </a:r>
            <a:r>
              <a:rPr lang="ko-KR" altLang="en-US" dirty="0"/>
              <a:t>라고 알려주는 게 아니라</a:t>
            </a:r>
            <a:r>
              <a:rPr lang="en-US" altLang="ko-KR" dirty="0"/>
              <a:t>, </a:t>
            </a:r>
            <a:r>
              <a:rPr lang="ko-KR" altLang="en-US" dirty="0"/>
              <a:t>도미 데이터와 빙어 데이터를 잔뜩 주면서 </a:t>
            </a:r>
            <a:r>
              <a:rPr lang="en-US" altLang="ko-KR" dirty="0"/>
              <a:t>"</a:t>
            </a:r>
            <a:r>
              <a:rPr lang="ko-KR" altLang="en-US" dirty="0" err="1"/>
              <a:t>니가</a:t>
            </a:r>
            <a:r>
              <a:rPr lang="ko-KR" altLang="en-US" dirty="0"/>
              <a:t> 알아서 기준을 찾아</a:t>
            </a:r>
            <a:r>
              <a:rPr lang="en-US" altLang="ko-KR" dirty="0"/>
              <a:t>"</a:t>
            </a:r>
            <a:r>
              <a:rPr lang="ko-KR" altLang="en-US" dirty="0"/>
              <a:t>라고 하는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그러면 </a:t>
            </a:r>
            <a:r>
              <a:rPr lang="ko-KR" altLang="en-US" dirty="0" err="1"/>
              <a:t>머신러닝이</a:t>
            </a:r>
            <a:r>
              <a:rPr lang="ko-KR" altLang="en-US" dirty="0"/>
              <a:t> 데이터를 분석해서 스스로 </a:t>
            </a:r>
            <a:r>
              <a:rPr lang="en-US" altLang="ko-KR" dirty="0"/>
              <a:t>"</a:t>
            </a:r>
            <a:r>
              <a:rPr lang="ko-KR" altLang="en-US" dirty="0"/>
              <a:t>아</a:t>
            </a:r>
            <a:r>
              <a:rPr lang="en-US" altLang="ko-KR" dirty="0"/>
              <a:t>, 25~41cm </a:t>
            </a:r>
            <a:r>
              <a:rPr lang="ko-KR" altLang="en-US" dirty="0"/>
              <a:t>정도이고 무게가 </a:t>
            </a:r>
            <a:r>
              <a:rPr lang="en-US" altLang="ko-KR" dirty="0"/>
              <a:t>200g </a:t>
            </a:r>
            <a:r>
              <a:rPr lang="ko-KR" altLang="en-US" dirty="0"/>
              <a:t>이상이면 도미이구나</a:t>
            </a:r>
            <a:r>
              <a:rPr lang="en-US" altLang="ko-KR" dirty="0"/>
              <a:t>"</a:t>
            </a:r>
            <a:r>
              <a:rPr lang="ko-KR" altLang="en-US" dirty="0"/>
              <a:t>라는 기준을 자동으로 학습합니다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이것이 </a:t>
            </a:r>
            <a:r>
              <a:rPr lang="ko-KR" altLang="en-US" dirty="0" err="1"/>
              <a:t>머신러닝의</a:t>
            </a:r>
            <a:r>
              <a:rPr lang="ko-KR" altLang="en-US" dirty="0"/>
              <a:t> 핵심입니다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기준을 찾을 뿐만 아니라</a:t>
            </a:r>
            <a:r>
              <a:rPr lang="en-US" altLang="ko-KR" dirty="0"/>
              <a:t>, </a:t>
            </a:r>
            <a:r>
              <a:rPr lang="ko-KR" altLang="en-US" dirty="0"/>
              <a:t>이 기준을 이용해 새로운 생선이 도미인지 아닌지 판별까지 해줍니다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새로운 생선 종류가 추가되어도</a:t>
            </a:r>
            <a:r>
              <a:rPr lang="en-US" altLang="ko-KR" dirty="0"/>
              <a:t>, </a:t>
            </a:r>
            <a:r>
              <a:rPr lang="ko-KR" altLang="en-US" dirty="0"/>
              <a:t>데이터만 더 주면 됩니다</a:t>
            </a:r>
            <a:r>
              <a:rPr lang="en-US" altLang="ko-KR" dirty="0"/>
              <a:t>. </a:t>
            </a:r>
            <a:r>
              <a:rPr lang="ko-KR" altLang="en-US" dirty="0"/>
              <a:t>규칙을 수정할 필요 없어요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차이가 </a:t>
            </a:r>
            <a:r>
              <a:rPr lang="ko-KR" altLang="en-US" dirty="0" err="1"/>
              <a:t>느껴지시나요</a:t>
            </a:r>
            <a:r>
              <a:rPr lang="en-US" altLang="ko-KR" dirty="0"/>
              <a:t>? </a:t>
            </a:r>
            <a:r>
              <a:rPr lang="ko-KR" altLang="en-US" dirty="0"/>
              <a:t>전통적 프로그래밍과 </a:t>
            </a:r>
            <a:r>
              <a:rPr lang="ko-KR" altLang="en-US" dirty="0" err="1"/>
              <a:t>머신러닝의</a:t>
            </a:r>
            <a:r>
              <a:rPr lang="ko-KR" altLang="en-US" dirty="0"/>
              <a:t> 근본적인 차이입니다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74" name="Google Shape;47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8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도미 데이터 준비하기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 err="1"/>
              <a:t>머신러닝이</a:t>
            </a:r>
            <a:r>
              <a:rPr lang="ko-KR" altLang="en-US" dirty="0"/>
              <a:t> 데이터로부터 규칙을 학습한다고 했죠</a:t>
            </a:r>
            <a:r>
              <a:rPr lang="en-US" altLang="ko-KR" dirty="0"/>
              <a:t>? </a:t>
            </a:r>
            <a:r>
              <a:rPr lang="ko-KR" altLang="en-US" dirty="0"/>
              <a:t>그러면 먼저 데이터를 준비해야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머신러닝의</a:t>
            </a:r>
            <a:r>
              <a:rPr lang="ko-KR" altLang="en-US" dirty="0"/>
              <a:t> 첫 번째 단계는 언제나 데이터 준비입니다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생선의 길이</a:t>
            </a:r>
            <a:r>
              <a:rPr lang="en-US" altLang="ko-KR" dirty="0"/>
              <a:t>(cm)</a:t>
            </a:r>
            <a:r>
              <a:rPr lang="ko-KR" altLang="en-US" dirty="0"/>
              <a:t>와 무게</a:t>
            </a:r>
            <a:r>
              <a:rPr lang="en-US" altLang="ko-KR" dirty="0"/>
              <a:t>(g)</a:t>
            </a:r>
            <a:r>
              <a:rPr lang="ko-KR" altLang="en-US" dirty="0"/>
              <a:t>를 측정해서 데이터를 모읍니다</a:t>
            </a:r>
            <a:r>
              <a:rPr lang="en-US" altLang="ko-KR" dirty="0"/>
              <a:t>. </a:t>
            </a:r>
            <a:r>
              <a:rPr lang="ko-KR" altLang="en-US" dirty="0"/>
              <a:t>무게와 길이를 함께 재어 주는 저울이 있다고 가정합시다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먼저 도미와 빙어</a:t>
            </a:r>
            <a:r>
              <a:rPr lang="en-US" altLang="ko-KR" dirty="0"/>
              <a:t>, </a:t>
            </a:r>
            <a:r>
              <a:rPr lang="ko-KR" altLang="en-US" dirty="0"/>
              <a:t>이 두 종류의 생선을 준비합니다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</a:t>
            </a:r>
            <a:r>
              <a:rPr lang="en-US" altLang="ko-KR" dirty="0"/>
              <a:t>"</a:t>
            </a:r>
            <a:r>
              <a:rPr lang="ko-KR" altLang="en-US" dirty="0"/>
              <a:t>특성</a:t>
            </a:r>
            <a:r>
              <a:rPr lang="en-US" altLang="ko-KR" dirty="0"/>
              <a:t>(feature)"</a:t>
            </a:r>
            <a:r>
              <a:rPr lang="ko-KR" altLang="en-US" dirty="0"/>
              <a:t>이라는 중요한 용어가 나옵니다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특성</a:t>
            </a:r>
            <a:r>
              <a:rPr lang="en-US" altLang="ko-KR" dirty="0"/>
              <a:t>: </a:t>
            </a:r>
            <a:r>
              <a:rPr lang="ko-KR" altLang="en-US" dirty="0"/>
              <a:t>데이터를 표현하는 하나의 성질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경우</a:t>
            </a:r>
            <a:r>
              <a:rPr lang="en-US" altLang="ko-KR" dirty="0"/>
              <a:t>, </a:t>
            </a:r>
            <a:r>
              <a:rPr lang="ko-KR" altLang="en-US" dirty="0"/>
              <a:t>각 생선을 길이와 무게라는 두 가지 특성으로 표현합니다</a:t>
            </a:r>
            <a:r>
              <a:rPr lang="en-US" altLang="ko-KR" dirty="0"/>
              <a:t>. </a:t>
            </a:r>
            <a:r>
              <a:rPr lang="ko-KR" altLang="en-US" dirty="0"/>
              <a:t>즉 하나의 생선 </a:t>
            </a:r>
            <a:r>
              <a:rPr lang="en-US" altLang="ko-KR" dirty="0"/>
              <a:t>= [</a:t>
            </a:r>
            <a:r>
              <a:rPr lang="ko-KR" altLang="en-US" dirty="0"/>
              <a:t>길이</a:t>
            </a:r>
            <a:r>
              <a:rPr lang="en-US" altLang="ko-KR" dirty="0"/>
              <a:t>, </a:t>
            </a:r>
            <a:r>
              <a:rPr lang="ko-KR" altLang="en-US" dirty="0"/>
              <a:t>무게</a:t>
            </a:r>
            <a:r>
              <a:rPr lang="en-US" altLang="ko-KR" dirty="0"/>
              <a:t>] </a:t>
            </a:r>
            <a:r>
              <a:rPr lang="ko-KR" altLang="en-US" dirty="0"/>
              <a:t>이렇게 두 개의 숫자로 나타내는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머신러닝에서는</a:t>
            </a:r>
            <a:r>
              <a:rPr lang="ko-KR" altLang="en-US" dirty="0"/>
              <a:t> 이 </a:t>
            </a:r>
            <a:r>
              <a:rPr lang="en-US" altLang="ko-KR" dirty="0"/>
              <a:t>"</a:t>
            </a:r>
            <a:r>
              <a:rPr lang="ko-KR" altLang="en-US" dirty="0"/>
              <a:t>특성</a:t>
            </a:r>
            <a:r>
              <a:rPr lang="en-US" altLang="ko-KR" dirty="0"/>
              <a:t>"</a:t>
            </a:r>
            <a:r>
              <a:rPr lang="ko-KR" altLang="en-US" dirty="0"/>
              <a:t>이라는 개념이 아주 중요합니다</a:t>
            </a:r>
            <a:r>
              <a:rPr lang="en-US" altLang="ko-KR" dirty="0"/>
              <a:t>. CHAPTER 02</a:t>
            </a:r>
            <a:r>
              <a:rPr lang="ko-KR" altLang="en-US" dirty="0"/>
              <a:t>에서 더 자세히 다루겠지만</a:t>
            </a:r>
            <a:r>
              <a:rPr lang="en-US" altLang="ko-KR" dirty="0"/>
              <a:t>, </a:t>
            </a:r>
            <a:r>
              <a:rPr lang="ko-KR" altLang="en-US" dirty="0"/>
              <a:t>지금은 </a:t>
            </a:r>
            <a:r>
              <a:rPr lang="en-US" altLang="ko-KR" dirty="0"/>
              <a:t>"</a:t>
            </a:r>
            <a:r>
              <a:rPr lang="ko-KR" altLang="en-US" dirty="0"/>
              <a:t>데이터를 숫자로 표현할 때 사용하는 항목</a:t>
            </a:r>
            <a:r>
              <a:rPr lang="en-US" altLang="ko-KR" dirty="0"/>
              <a:t>" </a:t>
            </a:r>
            <a:r>
              <a:rPr lang="ko-KR" altLang="en-US" dirty="0"/>
              <a:t>정도로 이해하시면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예를 들어 사람 데이터라면</a:t>
            </a:r>
            <a:r>
              <a:rPr lang="en-US" altLang="ko-KR" dirty="0"/>
              <a:t>? </a:t>
            </a:r>
            <a:r>
              <a:rPr lang="ko-KR" altLang="en-US" dirty="0"/>
              <a:t>키</a:t>
            </a:r>
            <a:r>
              <a:rPr lang="en-US" altLang="ko-KR" dirty="0"/>
              <a:t>, </a:t>
            </a:r>
            <a:r>
              <a:rPr lang="ko-KR" altLang="en-US" dirty="0"/>
              <a:t>몸무게</a:t>
            </a:r>
            <a:r>
              <a:rPr lang="en-US" altLang="ko-KR" dirty="0"/>
              <a:t>, 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 같은 것들이 특성이 되겠죠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실습 준비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이제 </a:t>
            </a:r>
            <a:r>
              <a:rPr lang="ko-KR" altLang="en-US" dirty="0" err="1"/>
              <a:t>코랩에서</a:t>
            </a:r>
            <a:r>
              <a:rPr lang="ko-KR" altLang="en-US" dirty="0"/>
              <a:t> 직접 코딩을 시작합니다</a:t>
            </a:r>
            <a:r>
              <a:rPr lang="en-US" altLang="ko-KR" dirty="0"/>
              <a:t>. </a:t>
            </a:r>
            <a:r>
              <a:rPr lang="ko-KR" altLang="en-US" dirty="0"/>
              <a:t>노트북을 꺼내시고 </a:t>
            </a:r>
            <a:r>
              <a:rPr lang="ko-KR" altLang="en-US" dirty="0" err="1"/>
              <a:t>코랩을</a:t>
            </a:r>
            <a:r>
              <a:rPr lang="ko-KR" altLang="en-US" dirty="0"/>
              <a:t> 열어주세요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새 노트북을 만들겠습니다</a:t>
            </a:r>
            <a:r>
              <a:rPr lang="en-US" altLang="ko-KR" dirty="0"/>
              <a:t>. [</a:t>
            </a:r>
            <a:r>
              <a:rPr lang="ko-KR" altLang="en-US" dirty="0"/>
              <a:t>파일</a:t>
            </a:r>
            <a:r>
              <a:rPr lang="en-US" altLang="ko-KR" dirty="0"/>
              <a:t>] → [</a:t>
            </a:r>
            <a:r>
              <a:rPr lang="ko-KR" altLang="en-US" dirty="0"/>
              <a:t>새 노트</a:t>
            </a:r>
            <a:r>
              <a:rPr lang="en-US" altLang="ko-KR" dirty="0"/>
              <a:t>]</a:t>
            </a:r>
            <a:r>
              <a:rPr lang="ko-KR" altLang="en-US" dirty="0"/>
              <a:t>를 클릭하고</a:t>
            </a:r>
            <a:r>
              <a:rPr lang="en-US" altLang="ko-KR" dirty="0"/>
              <a:t>, </a:t>
            </a:r>
            <a:r>
              <a:rPr lang="ko-KR" altLang="en-US" dirty="0"/>
              <a:t>제목을 </a:t>
            </a:r>
            <a:r>
              <a:rPr lang="en-US" altLang="ko-KR" dirty="0"/>
              <a:t>"</a:t>
            </a:r>
            <a:r>
              <a:rPr lang="en-US" altLang="ko-KR" dirty="0" err="1"/>
              <a:t>BreamAndSmelt</a:t>
            </a:r>
            <a:r>
              <a:rPr lang="en-US" altLang="ko-KR" dirty="0"/>
              <a:t>"</a:t>
            </a:r>
            <a:r>
              <a:rPr lang="ko-KR" altLang="en-US" dirty="0"/>
              <a:t>로 바꿔주세요</a:t>
            </a:r>
            <a:r>
              <a:rPr lang="en-US" altLang="ko-KR" dirty="0"/>
              <a:t>. Bream</a:t>
            </a:r>
            <a:r>
              <a:rPr lang="ko-KR" altLang="en-US" dirty="0"/>
              <a:t>이 도미</a:t>
            </a:r>
            <a:r>
              <a:rPr lang="en-US" altLang="ko-KR" dirty="0"/>
              <a:t>, Smelt</a:t>
            </a:r>
            <a:r>
              <a:rPr lang="ko-KR" altLang="en-US" dirty="0"/>
              <a:t>가 빙어입니다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세팅 기다림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3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다 되셨나요</a:t>
            </a:r>
            <a:r>
              <a:rPr lang="en-US" altLang="ko-KR" dirty="0"/>
              <a:t>? </a:t>
            </a:r>
            <a:r>
              <a:rPr lang="ko-KR" altLang="en-US" dirty="0"/>
              <a:t>그러면 이 노트북에서 이후 과정을 진행하겠습니다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3" name="Google Shape;48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9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도미 데이터 입력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35</a:t>
            </a:r>
            <a:r>
              <a:rPr lang="ko-KR" altLang="en-US" dirty="0"/>
              <a:t>마리의 도미를 준비했고</a:t>
            </a:r>
            <a:r>
              <a:rPr lang="en-US" altLang="ko-KR" dirty="0"/>
              <a:t>, </a:t>
            </a:r>
            <a:r>
              <a:rPr lang="ko-KR" altLang="en-US" dirty="0"/>
              <a:t>저울로 잰 길이와 무게를 </a:t>
            </a:r>
            <a:r>
              <a:rPr lang="ko-KR" altLang="en-US" dirty="0" err="1"/>
              <a:t>파이썬</a:t>
            </a:r>
            <a:r>
              <a:rPr lang="ko-KR" altLang="en-US" dirty="0"/>
              <a:t> 리스트로 만들겠습니다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코드 셀에 다음을 입력해 주세요</a:t>
            </a:r>
            <a:r>
              <a:rPr lang="en-US" altLang="ko-KR" dirty="0"/>
              <a:t>. </a:t>
            </a:r>
            <a:r>
              <a:rPr lang="ko-KR" altLang="en-US" dirty="0"/>
              <a:t>데이터가 길어서 타이핑하기 귀찮으면 교재 사이트</a:t>
            </a:r>
            <a:r>
              <a:rPr lang="en-US" altLang="ko-KR" dirty="0"/>
              <a:t>(http://bit.ly/bream_list)</a:t>
            </a:r>
            <a:r>
              <a:rPr lang="ko-KR" altLang="en-US" dirty="0"/>
              <a:t>에서 복사해도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bream_length</a:t>
            </a:r>
            <a:r>
              <a:rPr lang="en-US" altLang="ko-KR" dirty="0"/>
              <a:t> = [25.4, 26.3, 26.5, 29.0, 29.0, 29.7, 29.7, 30.0, 30.0, 30.7,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        31.0, 31.0, 31.5, 32.0, 32.0, 32.0, 33.0, 33.0, 33.5, 33.5,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        34.0, 34.0, 34.5, 35.0, 35.0, 35.0, 35.0, 36.0, 36.0, 37.0,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        38.5, 38.5, 39.5, 41.0, 41.0]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bream_weight</a:t>
            </a:r>
            <a:r>
              <a:rPr lang="en-US" altLang="ko-KR" dirty="0"/>
              <a:t> = [242.0, 290.0, 340.0, 363.0, 430.0, 450.0, 500.0, 390.0, 450.0, 500.0,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        475.0, 500.0, 500.0, 340.0, 600.0, 600.0, 700.0, 700.0, 610.0, 650.0,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        575.0, 685.0, 620.0, 680.0, 700.0, 725.0, 720.0, 714.0, 850.0, 1000.0,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        920.0, 955.0, 925.0, 975.0, 950.0]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입력 기다림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5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입력하셨으면 </a:t>
            </a:r>
            <a:r>
              <a:rPr lang="en-US" altLang="ko-KR" dirty="0" err="1"/>
              <a:t>Shift+Enter</a:t>
            </a:r>
            <a:r>
              <a:rPr lang="ko-KR" altLang="en-US" dirty="0"/>
              <a:t>로 실행해 주세요</a:t>
            </a:r>
            <a:r>
              <a:rPr lang="en-US" altLang="ko-KR" dirty="0"/>
              <a:t>. </a:t>
            </a:r>
            <a:r>
              <a:rPr lang="ko-KR" altLang="en-US" dirty="0"/>
              <a:t>오류가 없으면 아무 출력 없이 넘어갑니다</a:t>
            </a:r>
            <a:r>
              <a:rPr lang="en-US" altLang="ko-KR" dirty="0"/>
              <a:t>. </a:t>
            </a:r>
            <a:r>
              <a:rPr lang="ko-KR" altLang="en-US" dirty="0"/>
              <a:t>그게 </a:t>
            </a:r>
            <a:r>
              <a:rPr lang="ko-KR" altLang="en-US" dirty="0" err="1"/>
              <a:t>정상이에요</a:t>
            </a:r>
            <a:r>
              <a:rPr lang="en-US" altLang="ko-KR" dirty="0"/>
              <a:t>. </a:t>
            </a:r>
            <a:r>
              <a:rPr lang="ko-KR" altLang="en-US" dirty="0"/>
              <a:t>변수에 데이터를 저장만 한 거니까요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데이터를 살펴봅시다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`</a:t>
            </a:r>
            <a:r>
              <a:rPr lang="en-US" altLang="ko-KR" dirty="0" err="1"/>
              <a:t>bream_length</a:t>
            </a:r>
            <a:r>
              <a:rPr lang="en-US" altLang="ko-KR" dirty="0"/>
              <a:t>`</a:t>
            </a:r>
            <a:r>
              <a:rPr lang="ko-KR" altLang="en-US" dirty="0"/>
              <a:t>는 도미의 길이 </a:t>
            </a:r>
            <a:r>
              <a:rPr lang="en-US" altLang="ko-KR" dirty="0"/>
              <a:t>35</a:t>
            </a:r>
            <a:r>
              <a:rPr lang="ko-KR" altLang="en-US" dirty="0"/>
              <a:t>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`</a:t>
            </a:r>
            <a:r>
              <a:rPr lang="en-US" altLang="ko-KR" dirty="0" err="1"/>
              <a:t>bream_weight</a:t>
            </a:r>
            <a:r>
              <a:rPr lang="en-US" altLang="ko-KR" dirty="0"/>
              <a:t>`</a:t>
            </a:r>
            <a:r>
              <a:rPr lang="ko-KR" altLang="en-US" dirty="0"/>
              <a:t>는 도미의 무게 </a:t>
            </a:r>
            <a:r>
              <a:rPr lang="en-US" altLang="ko-KR" dirty="0"/>
              <a:t>35</a:t>
            </a:r>
            <a:r>
              <a:rPr lang="ko-KR" altLang="en-US" dirty="0"/>
              <a:t>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첫 번째 도미</a:t>
            </a:r>
            <a:r>
              <a:rPr lang="en-US" altLang="ko-KR" dirty="0"/>
              <a:t>: </a:t>
            </a:r>
            <a:r>
              <a:rPr lang="ko-KR" altLang="en-US" dirty="0"/>
              <a:t>길이 </a:t>
            </a:r>
            <a:r>
              <a:rPr lang="en-US" altLang="ko-KR" dirty="0"/>
              <a:t>25.4cm, </a:t>
            </a:r>
            <a:r>
              <a:rPr lang="ko-KR" altLang="en-US" dirty="0"/>
              <a:t>무게 </a:t>
            </a:r>
            <a:r>
              <a:rPr lang="en-US" altLang="ko-KR" dirty="0"/>
              <a:t>242.0g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두 번째 도미</a:t>
            </a:r>
            <a:r>
              <a:rPr lang="en-US" altLang="ko-KR" dirty="0"/>
              <a:t>: </a:t>
            </a:r>
            <a:r>
              <a:rPr lang="ko-KR" altLang="en-US" dirty="0"/>
              <a:t>길이 </a:t>
            </a:r>
            <a:r>
              <a:rPr lang="en-US" altLang="ko-KR" dirty="0"/>
              <a:t>26.3cm, </a:t>
            </a:r>
            <a:r>
              <a:rPr lang="ko-KR" altLang="en-US" dirty="0"/>
              <a:t>무게 </a:t>
            </a:r>
            <a:r>
              <a:rPr lang="en-US" altLang="ko-KR" dirty="0"/>
              <a:t>290.0g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이런 식으로 </a:t>
            </a:r>
            <a:r>
              <a:rPr lang="en-US" altLang="ko-KR" dirty="0"/>
              <a:t>35</a:t>
            </a:r>
            <a:r>
              <a:rPr lang="ko-KR" altLang="en-US" dirty="0"/>
              <a:t>마리의 도미에 대한 데이터가 들어있습니다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길이와 무게</a:t>
            </a:r>
            <a:r>
              <a:rPr lang="en-US" altLang="ko-KR" dirty="0"/>
              <a:t>, </a:t>
            </a:r>
            <a:r>
              <a:rPr lang="ko-KR" altLang="en-US" dirty="0"/>
              <a:t>이 두 가지가 바로 특성</a:t>
            </a:r>
            <a:r>
              <a:rPr lang="en-US" altLang="ko-KR" dirty="0"/>
              <a:t>(feature)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각 도미를 두 개의 숫자로 표현하고 있는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데이터 확인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정말 </a:t>
            </a:r>
            <a:r>
              <a:rPr lang="en-US" altLang="ko-KR" dirty="0"/>
              <a:t>35</a:t>
            </a:r>
            <a:r>
              <a:rPr lang="ko-KR" altLang="en-US" dirty="0"/>
              <a:t>개씩 들어있는지 확인해 볼까요</a:t>
            </a:r>
            <a:r>
              <a:rPr lang="en-US" altLang="ko-KR" dirty="0"/>
              <a:t>? </a:t>
            </a:r>
            <a:r>
              <a:rPr lang="ko-KR" altLang="en-US" dirty="0"/>
              <a:t>새 코드 셀에 다음을 입력하고 실행해 보세요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print(</a:t>
            </a:r>
            <a:r>
              <a:rPr lang="en-US" altLang="ko-KR" dirty="0" err="1"/>
              <a:t>len</a:t>
            </a:r>
            <a:r>
              <a:rPr lang="en-US" altLang="ko-KR" dirty="0"/>
              <a:t>(</a:t>
            </a:r>
            <a:r>
              <a:rPr lang="en-US" altLang="ko-KR" dirty="0" err="1"/>
              <a:t>bream_length</a:t>
            </a:r>
            <a:r>
              <a:rPr lang="en-US" altLang="ko-KR" dirty="0"/>
              <a:t>))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print(</a:t>
            </a:r>
            <a:r>
              <a:rPr lang="en-US" altLang="ko-KR" dirty="0" err="1"/>
              <a:t>len</a:t>
            </a:r>
            <a:r>
              <a:rPr lang="en-US" altLang="ko-KR" dirty="0"/>
              <a:t>(</a:t>
            </a:r>
            <a:r>
              <a:rPr lang="en-US" altLang="ko-KR" dirty="0" err="1"/>
              <a:t>bream_weight</a:t>
            </a:r>
            <a:r>
              <a:rPr lang="en-US" altLang="ko-KR" dirty="0"/>
              <a:t>))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실행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35, 35</a:t>
            </a:r>
            <a:r>
              <a:rPr lang="ko-KR" altLang="en-US" dirty="0"/>
              <a:t>가 출력되면 정상입니다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91" name="Google Shape;49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0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산점도</a:t>
            </a:r>
            <a:r>
              <a:rPr lang="en-US" altLang="ko-KR" dirty="0"/>
              <a:t>(scatter plot)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데이터를 숫자로만 보면 감이 잘 안 오죠</a:t>
            </a:r>
            <a:r>
              <a:rPr lang="en-US" altLang="ko-KR" dirty="0"/>
              <a:t>? </a:t>
            </a:r>
            <a:r>
              <a:rPr lang="ko-KR" altLang="en-US" dirty="0"/>
              <a:t>그래프로 시각화해 봅시다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두 개의 특성</a:t>
            </a:r>
            <a:r>
              <a:rPr lang="en-US" altLang="ko-KR" dirty="0"/>
              <a:t>(</a:t>
            </a:r>
            <a:r>
              <a:rPr lang="ko-KR" altLang="en-US" dirty="0"/>
              <a:t>길이</a:t>
            </a:r>
            <a:r>
              <a:rPr lang="en-US" altLang="ko-KR" dirty="0"/>
              <a:t>, </a:t>
            </a:r>
            <a:r>
              <a:rPr lang="ko-KR" altLang="en-US" dirty="0"/>
              <a:t>무게</a:t>
            </a:r>
            <a:r>
              <a:rPr lang="en-US" altLang="ko-KR" dirty="0"/>
              <a:t>)</a:t>
            </a:r>
            <a:r>
              <a:rPr lang="ko-KR" altLang="en-US" dirty="0"/>
              <a:t>을 각각 </a:t>
            </a:r>
            <a:r>
              <a:rPr lang="en-US" altLang="ko-KR" dirty="0"/>
              <a:t>x</a:t>
            </a:r>
            <a:r>
              <a:rPr lang="ko-KR" altLang="en-US" dirty="0"/>
              <a:t>축과 </a:t>
            </a:r>
            <a:r>
              <a:rPr lang="en-US" altLang="ko-KR" dirty="0"/>
              <a:t>y</a:t>
            </a:r>
            <a:r>
              <a:rPr lang="ko-KR" altLang="en-US" dirty="0"/>
              <a:t>축에 놓고</a:t>
            </a:r>
            <a:r>
              <a:rPr lang="en-US" altLang="ko-KR" dirty="0"/>
              <a:t>, </a:t>
            </a:r>
            <a:r>
              <a:rPr lang="ko-KR" altLang="en-US" dirty="0"/>
              <a:t>각 도미를 점으로 표시합니다</a:t>
            </a:r>
            <a:r>
              <a:rPr lang="en-US" altLang="ko-KR" dirty="0"/>
              <a:t>. </a:t>
            </a:r>
            <a:r>
              <a:rPr lang="ko-KR" altLang="en-US" dirty="0"/>
              <a:t>이런 그래프를 </a:t>
            </a:r>
            <a:r>
              <a:rPr lang="ko-KR" altLang="en-US" dirty="0" err="1"/>
              <a:t>산점도</a:t>
            </a:r>
            <a:r>
              <a:rPr lang="en-US" altLang="ko-KR" dirty="0"/>
              <a:t>(scatter plot)</a:t>
            </a:r>
            <a:r>
              <a:rPr lang="ko-KR" altLang="en-US" dirty="0"/>
              <a:t>라고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파이썬에서</a:t>
            </a:r>
            <a:r>
              <a:rPr lang="ko-KR" altLang="en-US" dirty="0"/>
              <a:t> 그래프를 그리는 대표적인 패키지가 </a:t>
            </a:r>
            <a:r>
              <a:rPr lang="ko-KR" altLang="en-US" dirty="0" err="1"/>
              <a:t>맷플롯립</a:t>
            </a:r>
            <a:r>
              <a:rPr lang="en-US" altLang="ko-KR" dirty="0"/>
              <a:t>(matplotlib)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이 패키지를 임포트하고</a:t>
            </a:r>
            <a:r>
              <a:rPr lang="en-US" altLang="ko-KR" dirty="0"/>
              <a:t>, `scatter()` </a:t>
            </a:r>
            <a:r>
              <a:rPr lang="ko-KR" altLang="en-US" dirty="0"/>
              <a:t>함수를 사용해서 </a:t>
            </a:r>
            <a:r>
              <a:rPr lang="ko-KR" altLang="en-US" dirty="0" err="1"/>
              <a:t>산점도를</a:t>
            </a:r>
            <a:r>
              <a:rPr lang="ko-KR" altLang="en-US" dirty="0"/>
              <a:t> 그리겠습니다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새 코드 셀에 다음을 입력하고 실행해 주세요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import </a:t>
            </a:r>
            <a:r>
              <a:rPr lang="en-US" altLang="ko-KR" dirty="0" err="1"/>
              <a:t>matplotlib.pyplot</a:t>
            </a:r>
            <a:r>
              <a:rPr lang="en-US" altLang="ko-KR" dirty="0"/>
              <a:t> as </a:t>
            </a:r>
            <a:r>
              <a:rPr lang="en-US" altLang="ko-KR" dirty="0" err="1"/>
              <a:t>plt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plt.scatter</a:t>
            </a:r>
            <a:r>
              <a:rPr lang="en-US" altLang="ko-KR" dirty="0"/>
              <a:t>(</a:t>
            </a:r>
            <a:r>
              <a:rPr lang="en-US" altLang="ko-KR" dirty="0" err="1"/>
              <a:t>bream_length</a:t>
            </a:r>
            <a:r>
              <a:rPr lang="en-US" altLang="ko-KR" dirty="0"/>
              <a:t>, </a:t>
            </a:r>
            <a:r>
              <a:rPr lang="en-US" altLang="ko-KR" dirty="0" err="1"/>
              <a:t>bream_weight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plt.xlabel</a:t>
            </a:r>
            <a:r>
              <a:rPr lang="en-US" altLang="ko-KR" dirty="0"/>
              <a:t>('length')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plt.ylabel</a:t>
            </a:r>
            <a:r>
              <a:rPr lang="en-US" altLang="ko-KR" dirty="0"/>
              <a:t>('weight')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plt.show</a:t>
            </a:r>
            <a:r>
              <a:rPr lang="en-US" altLang="ko-KR" dirty="0"/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입력 및 실행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3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그래프가 나왔나요</a:t>
            </a:r>
            <a:r>
              <a:rPr lang="en-US" altLang="ko-KR" dirty="0"/>
              <a:t>? </a:t>
            </a:r>
            <a:r>
              <a:rPr lang="ko-KR" altLang="en-US" dirty="0"/>
              <a:t>어떤 모양인가요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 반응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네</a:t>
            </a:r>
            <a:r>
              <a:rPr lang="en-US" altLang="ko-KR" dirty="0"/>
              <a:t>, </a:t>
            </a:r>
            <a:r>
              <a:rPr lang="ko-KR" altLang="en-US" dirty="0"/>
              <a:t>오른쪽 위로 올라가는 형태입니다</a:t>
            </a:r>
            <a:r>
              <a:rPr lang="en-US" altLang="ko-KR" dirty="0"/>
              <a:t>. </a:t>
            </a:r>
            <a:r>
              <a:rPr lang="ko-KR" altLang="en-US" dirty="0"/>
              <a:t>길이가 길수록 무게가 많이 나가는 거죠</a:t>
            </a:r>
            <a:r>
              <a:rPr lang="en-US" altLang="ko-KR" dirty="0"/>
              <a:t>. </a:t>
            </a:r>
            <a:r>
              <a:rPr lang="ko-KR" altLang="en-US" dirty="0"/>
              <a:t>생선이 길수록 무겁다</a:t>
            </a:r>
            <a:r>
              <a:rPr lang="en-US" altLang="ko-KR" dirty="0"/>
              <a:t>, </a:t>
            </a:r>
            <a:r>
              <a:rPr lang="ko-KR" altLang="en-US" dirty="0"/>
              <a:t>당연한 결과예요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코드를 한 </a:t>
            </a:r>
            <a:r>
              <a:rPr lang="ko-KR" altLang="en-US" dirty="0" err="1"/>
              <a:t>줄씩</a:t>
            </a:r>
            <a:r>
              <a:rPr lang="ko-KR" altLang="en-US" dirty="0"/>
              <a:t>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`import </a:t>
            </a:r>
            <a:r>
              <a:rPr lang="en-US" altLang="ko-KR" dirty="0" err="1"/>
              <a:t>matplotlib.pyplot</a:t>
            </a:r>
            <a:r>
              <a:rPr lang="en-US" altLang="ko-KR" dirty="0"/>
              <a:t> as </a:t>
            </a:r>
            <a:r>
              <a:rPr lang="en-US" altLang="ko-KR" dirty="0" err="1"/>
              <a:t>plt</a:t>
            </a:r>
            <a:r>
              <a:rPr lang="en-US" altLang="ko-KR" dirty="0"/>
              <a:t>` — </a:t>
            </a:r>
            <a:r>
              <a:rPr lang="ko-KR" altLang="en-US" dirty="0" err="1"/>
              <a:t>맷플롯립</a:t>
            </a:r>
            <a:r>
              <a:rPr lang="ko-KR" altLang="en-US" dirty="0"/>
              <a:t> 패키지에서 </a:t>
            </a:r>
            <a:r>
              <a:rPr lang="en-US" altLang="ko-KR" dirty="0" err="1"/>
              <a:t>pyplot</a:t>
            </a:r>
            <a:r>
              <a:rPr lang="en-US" altLang="ko-KR" dirty="0"/>
              <a:t> </a:t>
            </a:r>
            <a:r>
              <a:rPr lang="ko-KR" altLang="en-US" dirty="0"/>
              <a:t>모듈을 </a:t>
            </a:r>
            <a:r>
              <a:rPr lang="ko-KR" altLang="en-US" dirty="0" err="1"/>
              <a:t>임포트합니다</a:t>
            </a:r>
            <a:r>
              <a:rPr lang="en-US" altLang="ko-KR" dirty="0"/>
              <a:t>. `</a:t>
            </a:r>
            <a:r>
              <a:rPr lang="en-US" altLang="ko-KR" dirty="0" err="1"/>
              <a:t>plt</a:t>
            </a:r>
            <a:r>
              <a:rPr lang="en-US" altLang="ko-KR" dirty="0"/>
              <a:t>`</a:t>
            </a:r>
            <a:r>
              <a:rPr lang="ko-KR" altLang="en-US" dirty="0"/>
              <a:t>라는 별칭을 줘서 타이핑을 줄인 거예요</a:t>
            </a:r>
            <a:r>
              <a:rPr lang="en-US" altLang="ko-KR" dirty="0"/>
              <a:t>. </a:t>
            </a:r>
            <a:r>
              <a:rPr lang="ko-KR" altLang="en-US" dirty="0"/>
              <a:t>이건 관례적인 약어입니다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`</a:t>
            </a:r>
            <a:r>
              <a:rPr lang="en-US" altLang="ko-KR" dirty="0" err="1"/>
              <a:t>plt.scatter</a:t>
            </a:r>
            <a:r>
              <a:rPr lang="en-US" altLang="ko-KR" dirty="0"/>
              <a:t>(</a:t>
            </a:r>
            <a:r>
              <a:rPr lang="en-US" altLang="ko-KR" dirty="0" err="1"/>
              <a:t>bream_length</a:t>
            </a:r>
            <a:r>
              <a:rPr lang="en-US" altLang="ko-KR" dirty="0"/>
              <a:t>, </a:t>
            </a:r>
            <a:r>
              <a:rPr lang="en-US" altLang="ko-KR" dirty="0" err="1"/>
              <a:t>bream_weight</a:t>
            </a:r>
            <a:r>
              <a:rPr lang="en-US" altLang="ko-KR" dirty="0"/>
              <a:t>)` — </a:t>
            </a:r>
            <a:r>
              <a:rPr lang="ko-KR" altLang="en-US" dirty="0" err="1"/>
              <a:t>산점도를</a:t>
            </a:r>
            <a:r>
              <a:rPr lang="ko-KR" altLang="en-US" dirty="0"/>
              <a:t> 그립니다</a:t>
            </a:r>
            <a:r>
              <a:rPr lang="en-US" altLang="ko-KR" dirty="0"/>
              <a:t>. </a:t>
            </a:r>
            <a:r>
              <a:rPr lang="ko-KR" altLang="en-US" dirty="0"/>
              <a:t>첫 번째 매개변수가 </a:t>
            </a:r>
            <a:r>
              <a:rPr lang="en-US" altLang="ko-KR" dirty="0"/>
              <a:t>x</a:t>
            </a:r>
            <a:r>
              <a:rPr lang="ko-KR" altLang="en-US" dirty="0"/>
              <a:t>축</a:t>
            </a:r>
            <a:r>
              <a:rPr lang="en-US" altLang="ko-KR" dirty="0"/>
              <a:t>(</a:t>
            </a:r>
            <a:r>
              <a:rPr lang="ko-KR" altLang="en-US" dirty="0"/>
              <a:t>길이</a:t>
            </a:r>
            <a:r>
              <a:rPr lang="en-US" altLang="ko-KR" dirty="0"/>
              <a:t>), </a:t>
            </a:r>
            <a:r>
              <a:rPr lang="ko-KR" altLang="en-US" dirty="0"/>
              <a:t>두 번째가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(</a:t>
            </a:r>
            <a:r>
              <a:rPr lang="ko-KR" altLang="en-US" dirty="0"/>
              <a:t>무게</a:t>
            </a:r>
            <a:r>
              <a:rPr lang="en-US" altLang="ko-KR" dirty="0"/>
              <a:t>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3. `</a:t>
            </a:r>
            <a:r>
              <a:rPr lang="en-US" altLang="ko-KR" dirty="0" err="1"/>
              <a:t>plt.xlabel</a:t>
            </a:r>
            <a:r>
              <a:rPr lang="en-US" altLang="ko-KR" dirty="0"/>
              <a:t>('length')` — x</a:t>
            </a:r>
            <a:r>
              <a:rPr lang="ko-KR" altLang="en-US" dirty="0"/>
              <a:t>축의 라벨을 </a:t>
            </a:r>
            <a:r>
              <a:rPr lang="en-US" altLang="ko-KR" dirty="0"/>
              <a:t>"length"</a:t>
            </a:r>
            <a:r>
              <a:rPr lang="ko-KR" altLang="en-US" dirty="0"/>
              <a:t>로 설정합니다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4. `</a:t>
            </a:r>
            <a:r>
              <a:rPr lang="en-US" altLang="ko-KR" dirty="0" err="1"/>
              <a:t>plt.ylabel</a:t>
            </a:r>
            <a:r>
              <a:rPr lang="en-US" altLang="ko-KR" dirty="0"/>
              <a:t>('weight')` — y</a:t>
            </a:r>
            <a:r>
              <a:rPr lang="ko-KR" altLang="en-US" dirty="0"/>
              <a:t>축의 라벨을 </a:t>
            </a:r>
            <a:r>
              <a:rPr lang="en-US" altLang="ko-KR" dirty="0"/>
              <a:t>"weight"</a:t>
            </a:r>
            <a:r>
              <a:rPr lang="ko-KR" altLang="en-US" dirty="0"/>
              <a:t>로 설정합니다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5. `</a:t>
            </a:r>
            <a:r>
              <a:rPr lang="en-US" altLang="ko-KR" dirty="0" err="1"/>
              <a:t>plt.show</a:t>
            </a:r>
            <a:r>
              <a:rPr lang="en-US" altLang="ko-KR" dirty="0"/>
              <a:t>()` — </a:t>
            </a:r>
            <a:r>
              <a:rPr lang="ko-KR" altLang="en-US" dirty="0"/>
              <a:t>그래프를 화면에 표시합니다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선형</a:t>
            </a:r>
            <a:r>
              <a:rPr lang="en-US" altLang="ko-KR" dirty="0"/>
              <a:t>(linear)</a:t>
            </a:r>
            <a:r>
              <a:rPr lang="ko-KR" altLang="en-US" dirty="0"/>
              <a:t>적 관계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이렇게 </a:t>
            </a:r>
            <a:r>
              <a:rPr lang="ko-KR" altLang="en-US" dirty="0" err="1"/>
              <a:t>산점도</a:t>
            </a:r>
            <a:r>
              <a:rPr lang="ko-KR" altLang="en-US" dirty="0"/>
              <a:t> 그래프가 일직선에 가까운 형태로 나타나는 경우를 선형</a:t>
            </a:r>
            <a:r>
              <a:rPr lang="en-US" altLang="ko-KR" dirty="0"/>
              <a:t>(linear)</a:t>
            </a:r>
            <a:r>
              <a:rPr lang="ko-KR" altLang="en-US" dirty="0"/>
              <a:t>적이라고 표현합니다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"</a:t>
            </a:r>
            <a:r>
              <a:rPr lang="ko-KR" altLang="en-US" dirty="0"/>
              <a:t>선형</a:t>
            </a:r>
            <a:r>
              <a:rPr lang="en-US" altLang="ko-KR" dirty="0"/>
              <a:t>"</a:t>
            </a:r>
            <a:r>
              <a:rPr lang="ko-KR" altLang="en-US" dirty="0"/>
              <a:t>이라는 단어는 앞으로 수업에서 엄청 자주 나올 겁니다</a:t>
            </a:r>
            <a:r>
              <a:rPr lang="en-US" altLang="ko-KR" dirty="0"/>
              <a:t>. CHAPTER 03</a:t>
            </a:r>
            <a:r>
              <a:rPr lang="ko-KR" altLang="en-US" dirty="0"/>
              <a:t>의 선형 회귀</a:t>
            </a:r>
            <a:r>
              <a:rPr lang="en-US" altLang="ko-KR" dirty="0"/>
              <a:t>, CHAPTER 04</a:t>
            </a:r>
            <a:r>
              <a:rPr lang="ko-KR" altLang="en-US" dirty="0"/>
              <a:t>의 로지스틱 회귀 등에서 계속 등장해요</a:t>
            </a:r>
            <a:r>
              <a:rPr lang="en-US" altLang="ko-KR" dirty="0"/>
              <a:t>. </a:t>
            </a:r>
            <a:r>
              <a:rPr lang="ko-KR" altLang="en-US" dirty="0"/>
              <a:t>지금은 </a:t>
            </a:r>
            <a:r>
              <a:rPr lang="en-US" altLang="ko-KR" dirty="0"/>
              <a:t>"</a:t>
            </a:r>
            <a:r>
              <a:rPr lang="ko-KR" altLang="en-US" dirty="0"/>
              <a:t>점들이 대체로 직선 모양을 따른다</a:t>
            </a:r>
            <a:r>
              <a:rPr lang="en-US" altLang="ko-KR" dirty="0"/>
              <a:t>" </a:t>
            </a:r>
            <a:r>
              <a:rPr lang="ko-KR" altLang="en-US" dirty="0"/>
              <a:t>정도로 이해하시면 됩니다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505" name="Google Shape;50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빙어 데이터 준비하기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도미 데이터만 있으면 안 되겠죠</a:t>
            </a:r>
            <a:r>
              <a:rPr lang="en-US" altLang="ko-KR" dirty="0"/>
              <a:t>? </a:t>
            </a:r>
            <a:r>
              <a:rPr lang="ko-KR" altLang="en-US" dirty="0"/>
              <a:t>비교 대상인 빙어 데이터도 준비합니다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빙어 </a:t>
            </a:r>
            <a:r>
              <a:rPr lang="en-US" altLang="ko-KR" dirty="0"/>
              <a:t>14</a:t>
            </a:r>
            <a:r>
              <a:rPr lang="ko-KR" altLang="en-US" dirty="0"/>
              <a:t>마리의 길이와 무게를 </a:t>
            </a:r>
            <a:r>
              <a:rPr lang="ko-KR" altLang="en-US" dirty="0" err="1"/>
              <a:t>파이썬</a:t>
            </a:r>
            <a:r>
              <a:rPr lang="ko-KR" altLang="en-US" dirty="0"/>
              <a:t> 리스트로 만듭니다</a:t>
            </a:r>
            <a:r>
              <a:rPr lang="en-US" altLang="ko-KR" dirty="0"/>
              <a:t>. </a:t>
            </a:r>
            <a:r>
              <a:rPr lang="ko-KR" altLang="en-US" dirty="0"/>
              <a:t>새 코드 셀에 입력해 주세요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smelt_length</a:t>
            </a:r>
            <a:r>
              <a:rPr lang="en-US" altLang="ko-KR" dirty="0"/>
              <a:t> = [9.8, 10.5, 10.6, 11.0, 11.2, 11.3, 11.8, 11.8,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        12.0, 12.2, 12.4, 13.0, 14.3, 15.0]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smelt_weight</a:t>
            </a:r>
            <a:r>
              <a:rPr lang="en-US" altLang="ko-KR" dirty="0"/>
              <a:t> = [6.7, 7.5, 7.0, 9.7, 9.8, 8.7, 10.0, 9.9,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        9.8, 12.2, 13.4, 12.2, 19.7, 19.9]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입력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2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도미는 </a:t>
            </a:r>
            <a:r>
              <a:rPr lang="en-US" altLang="ko-KR" dirty="0"/>
              <a:t>35</a:t>
            </a:r>
            <a:r>
              <a:rPr lang="ko-KR" altLang="en-US" dirty="0"/>
              <a:t>마리</a:t>
            </a:r>
            <a:r>
              <a:rPr lang="en-US" altLang="ko-KR" dirty="0"/>
              <a:t>, </a:t>
            </a:r>
            <a:r>
              <a:rPr lang="ko-KR" altLang="en-US" dirty="0"/>
              <a:t>빙어는 </a:t>
            </a:r>
            <a:r>
              <a:rPr lang="en-US" altLang="ko-KR" dirty="0"/>
              <a:t>14</a:t>
            </a:r>
            <a:r>
              <a:rPr lang="ko-KR" altLang="en-US" dirty="0"/>
              <a:t>마리입니다</a:t>
            </a:r>
            <a:r>
              <a:rPr lang="en-US" altLang="ko-KR" dirty="0"/>
              <a:t>. </a:t>
            </a:r>
            <a:r>
              <a:rPr lang="ko-KR" altLang="en-US" dirty="0"/>
              <a:t>데이터 개수가 다르죠</a:t>
            </a:r>
            <a:r>
              <a:rPr lang="en-US" altLang="ko-KR" dirty="0"/>
              <a:t>? </a:t>
            </a:r>
            <a:r>
              <a:rPr lang="ko-KR" altLang="en-US" dirty="0"/>
              <a:t>실제 상황에서는 이렇게 클래스별로 데이터 양이 다른 경우가 흔합니다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"</a:t>
            </a:r>
            <a:r>
              <a:rPr lang="ko-KR" altLang="en-US" dirty="0"/>
              <a:t>불균형 데이터</a:t>
            </a:r>
            <a:r>
              <a:rPr lang="en-US" altLang="ko-KR" dirty="0"/>
              <a:t>"</a:t>
            </a:r>
            <a:r>
              <a:rPr lang="ko-KR" altLang="en-US" dirty="0"/>
              <a:t>라고 하는데</a:t>
            </a:r>
            <a:r>
              <a:rPr lang="en-US" altLang="ko-KR" dirty="0"/>
              <a:t>, </a:t>
            </a:r>
            <a:r>
              <a:rPr lang="ko-KR" altLang="en-US" dirty="0"/>
              <a:t>나중에 더 배우게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두 생선을 한 그래프에 그리기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이제 도미와 빙어를 한 그래프에 같이 그려봅시다</a:t>
            </a:r>
            <a:r>
              <a:rPr lang="en-US" altLang="ko-KR" dirty="0"/>
              <a:t>. `scatter()` </a:t>
            </a:r>
            <a:r>
              <a:rPr lang="ko-KR" altLang="en-US" dirty="0"/>
              <a:t>함수를 연달아 사용하면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plt.scatter</a:t>
            </a:r>
            <a:r>
              <a:rPr lang="en-US" altLang="ko-KR" dirty="0"/>
              <a:t>(</a:t>
            </a:r>
            <a:r>
              <a:rPr lang="en-US" altLang="ko-KR" dirty="0" err="1"/>
              <a:t>bream_length</a:t>
            </a:r>
            <a:r>
              <a:rPr lang="en-US" altLang="ko-KR" dirty="0"/>
              <a:t>, </a:t>
            </a:r>
            <a:r>
              <a:rPr lang="en-US" altLang="ko-KR" dirty="0" err="1"/>
              <a:t>bream_weight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plt.scatter</a:t>
            </a:r>
            <a:r>
              <a:rPr lang="en-US" altLang="ko-KR" dirty="0"/>
              <a:t>(</a:t>
            </a:r>
            <a:r>
              <a:rPr lang="en-US" altLang="ko-KR" dirty="0" err="1"/>
              <a:t>smelt_length</a:t>
            </a:r>
            <a:r>
              <a:rPr lang="en-US" altLang="ko-KR" dirty="0"/>
              <a:t>, </a:t>
            </a:r>
            <a:r>
              <a:rPr lang="en-US" altLang="ko-KR" dirty="0" err="1"/>
              <a:t>smelt_weight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plt.xlabel</a:t>
            </a:r>
            <a:r>
              <a:rPr lang="en-US" altLang="ko-KR" dirty="0"/>
              <a:t>('length')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plt.ylabel</a:t>
            </a:r>
            <a:r>
              <a:rPr lang="en-US" altLang="ko-KR" dirty="0"/>
              <a:t>('weight')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plt.show</a:t>
            </a:r>
            <a:r>
              <a:rPr lang="en-US" altLang="ko-KR" dirty="0"/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실행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2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어떤가요</a:t>
            </a:r>
            <a:r>
              <a:rPr lang="en-US" altLang="ko-KR" dirty="0"/>
              <a:t>? </a:t>
            </a:r>
            <a:r>
              <a:rPr lang="ko-KR" altLang="en-US" dirty="0"/>
              <a:t>두 그룹이 확실히 분리되어 보이죠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주황색 점들이 </a:t>
            </a:r>
            <a:r>
              <a:rPr lang="ko-KR" altLang="en-US" dirty="0" err="1"/>
              <a:t>빙어고</a:t>
            </a:r>
            <a:r>
              <a:rPr lang="en-US" altLang="ko-KR" dirty="0"/>
              <a:t>, </a:t>
            </a:r>
            <a:r>
              <a:rPr lang="ko-KR" altLang="en-US" dirty="0"/>
              <a:t>파란색 점들이 도미입니다</a:t>
            </a:r>
            <a:r>
              <a:rPr lang="en-US" altLang="ko-KR" dirty="0"/>
              <a:t>. </a:t>
            </a:r>
            <a:r>
              <a:rPr lang="ko-KR" altLang="en-US" dirty="0" err="1"/>
              <a:t>맷플롯립이</a:t>
            </a:r>
            <a:r>
              <a:rPr lang="ko-KR" altLang="en-US" dirty="0"/>
              <a:t> 자동으로 색을 다르게 칠해줍니다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도미는 오른쪽 위</a:t>
            </a:r>
            <a:r>
              <a:rPr lang="en-US" altLang="ko-KR" dirty="0"/>
              <a:t>(</a:t>
            </a:r>
            <a:r>
              <a:rPr lang="ko-KR" altLang="en-US" dirty="0"/>
              <a:t>길고 무겁다</a:t>
            </a:r>
            <a:r>
              <a:rPr lang="en-US" altLang="ko-KR" dirty="0"/>
              <a:t>), </a:t>
            </a:r>
            <a:r>
              <a:rPr lang="ko-KR" altLang="en-US" dirty="0"/>
              <a:t>빙어는 왼쪽 아래</a:t>
            </a:r>
            <a:r>
              <a:rPr lang="en-US" altLang="ko-KR" dirty="0"/>
              <a:t>(</a:t>
            </a:r>
            <a:r>
              <a:rPr lang="ko-KR" altLang="en-US" dirty="0"/>
              <a:t>짧고 가볍다</a:t>
            </a:r>
            <a:r>
              <a:rPr lang="en-US" altLang="ko-KR" dirty="0"/>
              <a:t>)</a:t>
            </a:r>
            <a:r>
              <a:rPr lang="ko-KR" altLang="en-US" dirty="0"/>
              <a:t>에 모여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사람 눈으로 봐도 </a:t>
            </a:r>
            <a:r>
              <a:rPr lang="en-US" altLang="ko-KR" dirty="0"/>
              <a:t>"</a:t>
            </a:r>
            <a:r>
              <a:rPr lang="ko-KR" altLang="en-US" dirty="0"/>
              <a:t>아</a:t>
            </a:r>
            <a:r>
              <a:rPr lang="en-US" altLang="ko-KR" dirty="0"/>
              <a:t>, </a:t>
            </a:r>
            <a:r>
              <a:rPr lang="ko-KR" altLang="en-US" dirty="0"/>
              <a:t>이 두 그룹은 구분이 되는구나</a:t>
            </a:r>
            <a:r>
              <a:rPr lang="en-US" altLang="ko-KR" dirty="0"/>
              <a:t>"</a:t>
            </a:r>
            <a:r>
              <a:rPr lang="ko-KR" altLang="en-US" dirty="0"/>
              <a:t>라는 게 바로 보이죠</a:t>
            </a:r>
            <a:r>
              <a:rPr lang="en-US" altLang="ko-KR" dirty="0"/>
              <a:t>? </a:t>
            </a:r>
            <a:r>
              <a:rPr lang="ko-KR" altLang="en-US" dirty="0" err="1"/>
              <a:t>머신러닝도</a:t>
            </a:r>
            <a:r>
              <a:rPr lang="ko-KR" altLang="en-US" dirty="0"/>
              <a:t> 이 패턴을 찾아내는 겁니다</a:t>
            </a:r>
            <a:r>
              <a:rPr lang="en-US" altLang="ko-KR" dirty="0"/>
              <a:t>. </a:t>
            </a:r>
            <a:r>
              <a:rPr lang="ko-KR" altLang="en-US" dirty="0"/>
              <a:t>다만 사람은 눈으로 보고 직관적으로 판단하지만</a:t>
            </a:r>
            <a:r>
              <a:rPr lang="en-US" altLang="ko-KR" dirty="0"/>
              <a:t>, </a:t>
            </a:r>
            <a:r>
              <a:rPr lang="ko-KR" altLang="en-US" dirty="0" err="1"/>
              <a:t>머신러닝은</a:t>
            </a:r>
            <a:r>
              <a:rPr lang="ko-KR" altLang="en-US" dirty="0"/>
              <a:t> 수학적인 방법으로 이 경계를 찾습니다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한 가지 질문</a:t>
            </a:r>
            <a:r>
              <a:rPr lang="en-US" altLang="ko-KR" dirty="0"/>
              <a:t>. </a:t>
            </a:r>
            <a:r>
              <a:rPr lang="ko-KR" altLang="en-US" dirty="0"/>
              <a:t>만약에 도미와 빙어가 이렇게 깔끔하게 분리되지 않고 뒤섞여 있으면 어떻게 될까요</a:t>
            </a:r>
            <a:r>
              <a:rPr lang="en-US" altLang="ko-KR" dirty="0"/>
              <a:t>? </a:t>
            </a:r>
            <a:r>
              <a:rPr lang="ko-KR" altLang="en-US" dirty="0"/>
              <a:t>그러면 분류가 어려워지겠죠</a:t>
            </a:r>
            <a:r>
              <a:rPr lang="en-US" altLang="ko-KR" dirty="0"/>
              <a:t>? </a:t>
            </a:r>
            <a:r>
              <a:rPr lang="ko-KR" altLang="en-US" dirty="0"/>
              <a:t>그래서 좋은 특성을 고르는 것이 </a:t>
            </a:r>
            <a:r>
              <a:rPr lang="ko-KR" altLang="en-US" dirty="0" err="1"/>
              <a:t>머신러닝에서</a:t>
            </a:r>
            <a:r>
              <a:rPr lang="ko-KR" altLang="en-US" dirty="0"/>
              <a:t> 매우 중요합니다</a:t>
            </a:r>
            <a:r>
              <a:rPr lang="en-US" altLang="ko-KR" dirty="0"/>
              <a:t>. </a:t>
            </a:r>
            <a:r>
              <a:rPr lang="ko-KR" altLang="en-US" dirty="0"/>
              <a:t>이번에는 길이와 무게가 좋은 특성이었지만</a:t>
            </a:r>
            <a:r>
              <a:rPr lang="en-US" altLang="ko-KR" dirty="0"/>
              <a:t>, </a:t>
            </a:r>
            <a:r>
              <a:rPr lang="ko-KR" altLang="en-US" dirty="0"/>
              <a:t>항상 그런 건 아닙니다</a:t>
            </a:r>
            <a:r>
              <a:rPr lang="en-US" altLang="ko-KR" dirty="0"/>
              <a:t>. </a:t>
            </a:r>
            <a:r>
              <a:rPr lang="ko-KR" altLang="en-US" dirty="0"/>
              <a:t>이 주제는 이후 챕터에서 더 다룹니다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6" name="Google Shape;51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첫 번째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 시작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이제 본격적으로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프로그램을 만들어 봅시다</a:t>
            </a:r>
            <a:r>
              <a:rPr lang="en-US" altLang="ko-KR" dirty="0"/>
              <a:t>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k-</a:t>
            </a:r>
            <a:r>
              <a:rPr lang="ko-KR" altLang="en-US" dirty="0" err="1"/>
              <a:t>최근접</a:t>
            </a:r>
            <a:r>
              <a:rPr lang="ko-KR" altLang="en-US" dirty="0"/>
              <a:t> 이웃</a:t>
            </a:r>
            <a:r>
              <a:rPr lang="en-US" altLang="ko-KR" dirty="0"/>
              <a:t>(k-Nearest Neighbors) </a:t>
            </a:r>
            <a:r>
              <a:rPr lang="ko-KR" altLang="en-US" dirty="0"/>
              <a:t>알고리즘을 사용해서 도미와 빙어를 구분합니다</a:t>
            </a:r>
            <a:r>
              <a:rPr lang="en-US" altLang="ko-KR" dirty="0"/>
              <a:t>. </a:t>
            </a:r>
            <a:r>
              <a:rPr lang="ko-KR" altLang="en-US" dirty="0"/>
              <a:t>알고리즘의 원리는 잠시 후에 자세히 </a:t>
            </a:r>
            <a:r>
              <a:rPr lang="ko-KR" altLang="en-US" dirty="0" err="1"/>
              <a:t>설명드리고</a:t>
            </a:r>
            <a:r>
              <a:rPr lang="en-US" altLang="ko-KR" dirty="0"/>
              <a:t>, </a:t>
            </a:r>
            <a:r>
              <a:rPr lang="ko-KR" altLang="en-US" dirty="0"/>
              <a:t>먼저 코드를 작성하면서 전체 흐름을 파악합시다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데이터 합치기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사이킷런을</a:t>
            </a:r>
            <a:r>
              <a:rPr lang="ko-KR" altLang="en-US" dirty="0"/>
              <a:t> 사용하려면</a:t>
            </a:r>
            <a:r>
              <a:rPr lang="en-US" altLang="ko-KR" dirty="0"/>
              <a:t>, </a:t>
            </a:r>
            <a:r>
              <a:rPr lang="ko-KR" altLang="en-US" dirty="0"/>
              <a:t>지금처럼 도미 따로 빙어 따로 있는 게 아니라 하나의 데이터로 합쳐야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파이썬에서</a:t>
            </a:r>
            <a:r>
              <a:rPr lang="ko-KR" altLang="en-US" dirty="0"/>
              <a:t> 두 리스트를 더하면 하나로 합쳐집니다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length = </a:t>
            </a:r>
            <a:r>
              <a:rPr lang="en-US" altLang="ko-KR" dirty="0" err="1"/>
              <a:t>bream_length</a:t>
            </a:r>
            <a:r>
              <a:rPr lang="en-US" altLang="ko-KR" dirty="0"/>
              <a:t> + </a:t>
            </a:r>
            <a:r>
              <a:rPr lang="en-US" altLang="ko-KR" dirty="0" err="1"/>
              <a:t>smelt_length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weight = </a:t>
            </a:r>
            <a:r>
              <a:rPr lang="en-US" altLang="ko-KR" dirty="0" err="1"/>
              <a:t>bream_weight</a:t>
            </a:r>
            <a:r>
              <a:rPr lang="en-US" altLang="ko-KR" dirty="0"/>
              <a:t> + </a:t>
            </a:r>
            <a:r>
              <a:rPr lang="en-US" altLang="ko-KR" dirty="0" err="1"/>
              <a:t>smelt_weight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입력 및 실행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이제 </a:t>
            </a:r>
            <a:r>
              <a:rPr lang="en-US" altLang="ko-KR" dirty="0"/>
              <a:t>`length`</a:t>
            </a:r>
            <a:r>
              <a:rPr lang="ko-KR" altLang="en-US" dirty="0"/>
              <a:t>에는 도미 </a:t>
            </a:r>
            <a:r>
              <a:rPr lang="en-US" altLang="ko-KR" dirty="0"/>
              <a:t>35</a:t>
            </a:r>
            <a:r>
              <a:rPr lang="ko-KR" altLang="en-US" dirty="0"/>
              <a:t>개 </a:t>
            </a:r>
            <a:r>
              <a:rPr lang="en-US" altLang="ko-KR" dirty="0"/>
              <a:t>+ </a:t>
            </a:r>
            <a:r>
              <a:rPr lang="ko-KR" altLang="en-US" dirty="0"/>
              <a:t>빙어 </a:t>
            </a:r>
            <a:r>
              <a:rPr lang="en-US" altLang="ko-KR" dirty="0"/>
              <a:t>14</a:t>
            </a:r>
            <a:r>
              <a:rPr lang="ko-KR" altLang="en-US" dirty="0"/>
              <a:t>개 </a:t>
            </a:r>
            <a:r>
              <a:rPr lang="en-US" altLang="ko-KR" dirty="0"/>
              <a:t>= </a:t>
            </a:r>
            <a:r>
              <a:rPr lang="ko-KR" altLang="en-US" dirty="0"/>
              <a:t>총 </a:t>
            </a:r>
            <a:r>
              <a:rPr lang="en-US" altLang="ko-KR" dirty="0"/>
              <a:t>49</a:t>
            </a:r>
            <a:r>
              <a:rPr lang="ko-KR" altLang="en-US" dirty="0"/>
              <a:t>개의 길이 데이터가 들어있고</a:t>
            </a:r>
            <a:r>
              <a:rPr lang="en-US" altLang="ko-KR" dirty="0"/>
              <a:t>, `weight`</a:t>
            </a:r>
            <a:r>
              <a:rPr lang="ko-KR" altLang="en-US" dirty="0"/>
              <a:t>에도 </a:t>
            </a:r>
            <a:r>
              <a:rPr lang="en-US" altLang="ko-KR" dirty="0"/>
              <a:t>49</a:t>
            </a:r>
            <a:r>
              <a:rPr lang="ko-KR" altLang="en-US" dirty="0"/>
              <a:t>개의 무게 데이터가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확인해 볼까요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print(</a:t>
            </a:r>
            <a:r>
              <a:rPr lang="en-US" altLang="ko-KR" dirty="0" err="1"/>
              <a:t>len</a:t>
            </a:r>
            <a:r>
              <a:rPr lang="en-US" altLang="ko-KR" dirty="0"/>
              <a:t>(length))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49</a:t>
            </a:r>
            <a:r>
              <a:rPr lang="ko-KR" altLang="en-US" dirty="0"/>
              <a:t>가 출력되면 정상입니다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주의할 점</a:t>
            </a:r>
            <a:r>
              <a:rPr lang="en-US" altLang="ko-KR" dirty="0"/>
              <a:t>: </a:t>
            </a:r>
            <a:r>
              <a:rPr lang="ko-KR" altLang="en-US" dirty="0"/>
              <a:t>리스트를 합칠 때 도미가 앞에</a:t>
            </a:r>
            <a:r>
              <a:rPr lang="en-US" altLang="ko-KR" dirty="0"/>
              <a:t>, </a:t>
            </a:r>
            <a:r>
              <a:rPr lang="ko-KR" altLang="en-US" dirty="0"/>
              <a:t>빙어가 뒤에 오도록 했습니다</a:t>
            </a:r>
            <a:r>
              <a:rPr lang="en-US" altLang="ko-KR" dirty="0"/>
              <a:t>. </a:t>
            </a:r>
            <a:r>
              <a:rPr lang="ko-KR" altLang="en-US" dirty="0"/>
              <a:t>인덱스 </a:t>
            </a:r>
            <a:r>
              <a:rPr lang="en-US" altLang="ko-KR" dirty="0"/>
              <a:t>0~34</a:t>
            </a:r>
            <a:r>
              <a:rPr lang="ko-KR" altLang="en-US" dirty="0"/>
              <a:t>가 도미</a:t>
            </a:r>
            <a:r>
              <a:rPr lang="en-US" altLang="ko-KR" dirty="0"/>
              <a:t>, 35~48</a:t>
            </a:r>
            <a:r>
              <a:rPr lang="ko-KR" altLang="en-US" dirty="0"/>
              <a:t>이 빙어예요</a:t>
            </a:r>
            <a:r>
              <a:rPr lang="en-US" altLang="ko-KR" dirty="0"/>
              <a:t>. </a:t>
            </a:r>
            <a:r>
              <a:rPr lang="ko-KR" altLang="en-US" dirty="0"/>
              <a:t>이 순서를 기억해 둬야 합니다</a:t>
            </a:r>
            <a:r>
              <a:rPr lang="en-US" altLang="ko-KR" dirty="0"/>
              <a:t>. </a:t>
            </a:r>
            <a:r>
              <a:rPr lang="ko-KR" altLang="en-US" dirty="0"/>
              <a:t>나중에 정답 데이터를 만들 때 이 순서에 맞춰야 하거든요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528" name="Google Shape;52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2</a:t>
            </a:r>
            <a:r>
              <a:rPr lang="ko-KR" altLang="en-US" dirty="0"/>
              <a:t>차원 리스트 만들기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사이킷런</a:t>
            </a:r>
            <a:r>
              <a:rPr lang="ko-KR" altLang="en-US" dirty="0"/>
              <a:t> 패키지를 사용하려면 데이터를 특별한 형태로 만들어야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지금은 길이 리스트와 무게 리스트가 따로따로 </a:t>
            </a:r>
            <a:r>
              <a:rPr lang="ko-KR" altLang="en-US" dirty="0" err="1"/>
              <a:t>있잖아요</a:t>
            </a:r>
            <a:r>
              <a:rPr lang="en-US" altLang="ko-KR" dirty="0"/>
              <a:t>? </a:t>
            </a:r>
            <a:r>
              <a:rPr lang="ko-KR" altLang="en-US" dirty="0"/>
              <a:t>이걸 </a:t>
            </a:r>
            <a:r>
              <a:rPr lang="en-US" altLang="ko-KR" dirty="0"/>
              <a:t>"</a:t>
            </a:r>
            <a:r>
              <a:rPr lang="ko-KR" altLang="en-US" dirty="0"/>
              <a:t>각 생선의 </a:t>
            </a:r>
            <a:r>
              <a:rPr lang="en-US" altLang="ko-KR" dirty="0"/>
              <a:t>[</a:t>
            </a:r>
            <a:r>
              <a:rPr lang="ko-KR" altLang="en-US" dirty="0"/>
              <a:t>길이</a:t>
            </a:r>
            <a:r>
              <a:rPr lang="en-US" altLang="ko-KR" dirty="0"/>
              <a:t>, </a:t>
            </a:r>
            <a:r>
              <a:rPr lang="ko-KR" altLang="en-US" dirty="0"/>
              <a:t>무게</a:t>
            </a:r>
            <a:r>
              <a:rPr lang="en-US" altLang="ko-KR" dirty="0"/>
              <a:t>]" </a:t>
            </a:r>
            <a:r>
              <a:rPr lang="ko-KR" altLang="en-US" dirty="0"/>
              <a:t>형태로 묶어서 </a:t>
            </a:r>
            <a:r>
              <a:rPr lang="en-US" altLang="ko-KR" dirty="0"/>
              <a:t>2</a:t>
            </a:r>
            <a:r>
              <a:rPr lang="ko-KR" altLang="en-US" dirty="0"/>
              <a:t>차원 리스트를 만들어야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그림으로 보면 이런 형태입니다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현재</a:t>
            </a:r>
            <a:r>
              <a:rPr lang="en-US" altLang="ko-KR" dirty="0"/>
              <a:t>:   length = [25.4, 26.3, 26.5, ...]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weight = [242.0, 290.0, 340.0, ...]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목표</a:t>
            </a:r>
            <a:r>
              <a:rPr lang="en-US" altLang="ko-KR" dirty="0"/>
              <a:t>:   </a:t>
            </a:r>
            <a:r>
              <a:rPr lang="en-US" altLang="ko-KR" dirty="0" err="1"/>
              <a:t>fish_data</a:t>
            </a:r>
            <a:r>
              <a:rPr lang="en-US" altLang="ko-KR" dirty="0"/>
              <a:t> = [[25.4, 242.0],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             [26.3, 290.0],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             [26.5, 340.0],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             ...]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각 생선의 길이와 무게가 한 쌍으로 묶인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이걸 만들기 위해 </a:t>
            </a:r>
            <a:r>
              <a:rPr lang="ko-KR" altLang="en-US" dirty="0" err="1"/>
              <a:t>파이썬의</a:t>
            </a:r>
            <a:r>
              <a:rPr lang="ko-KR" altLang="en-US" dirty="0"/>
              <a:t> </a:t>
            </a:r>
            <a:r>
              <a:rPr lang="en-US" altLang="ko-KR" dirty="0"/>
              <a:t>`zip()` </a:t>
            </a:r>
            <a:r>
              <a:rPr lang="ko-KR" altLang="en-US" dirty="0"/>
              <a:t>함수와 리스트 내포</a:t>
            </a:r>
            <a:r>
              <a:rPr lang="en-US" altLang="ko-KR" dirty="0"/>
              <a:t>(list comprehension) </a:t>
            </a:r>
            <a:r>
              <a:rPr lang="ko-KR" altLang="en-US" dirty="0"/>
              <a:t>구문을 사용합니다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fish_data</a:t>
            </a:r>
            <a:r>
              <a:rPr lang="en-US" altLang="ko-KR" dirty="0"/>
              <a:t> = [[l, w] for l, w in zip(length, weight)]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한 줄이 좀 복잡해 보일 수 있는데</a:t>
            </a:r>
            <a:r>
              <a:rPr lang="en-US" altLang="ko-KR" dirty="0"/>
              <a:t>, </a:t>
            </a:r>
            <a:r>
              <a:rPr lang="ko-KR" altLang="en-US" dirty="0"/>
              <a:t>하나씩 뜯어보겠습니다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`zip(length, weight)`: length</a:t>
            </a:r>
            <a:r>
              <a:rPr lang="ko-KR" altLang="en-US" dirty="0"/>
              <a:t>와 </a:t>
            </a:r>
            <a:r>
              <a:rPr lang="en-US" altLang="ko-KR" dirty="0"/>
              <a:t>weight </a:t>
            </a:r>
            <a:r>
              <a:rPr lang="ko-KR" altLang="en-US" dirty="0"/>
              <a:t>리스트에서 원소를 하나씩 꺼내서 쌍으로 묶어줍니다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첫 번째</a:t>
            </a:r>
            <a:r>
              <a:rPr lang="en-US" altLang="ko-KR" dirty="0"/>
              <a:t>: (25.4, 242.0)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두 번째</a:t>
            </a:r>
            <a:r>
              <a:rPr lang="en-US" altLang="ko-KR" dirty="0"/>
              <a:t>: (26.3, 290.0)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세 번째</a:t>
            </a:r>
            <a:r>
              <a:rPr lang="en-US" altLang="ko-KR" dirty="0"/>
              <a:t>: (26.5, 340.0)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...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`[l, w] for l, w in ...`: </a:t>
            </a:r>
            <a:r>
              <a:rPr lang="ko-KR" altLang="en-US" dirty="0"/>
              <a:t>이건 리스트 내포 구문입니다</a:t>
            </a:r>
            <a:r>
              <a:rPr lang="en-US" altLang="ko-KR" dirty="0"/>
              <a:t>. for</a:t>
            </a:r>
            <a:r>
              <a:rPr lang="ko-KR" altLang="en-US" dirty="0"/>
              <a:t>문을 한 줄로 쓴 거예요</a:t>
            </a:r>
            <a:r>
              <a:rPr lang="en-US" altLang="ko-KR" dirty="0"/>
              <a:t>. </a:t>
            </a:r>
            <a:r>
              <a:rPr lang="ko-KR" altLang="en-US" dirty="0"/>
              <a:t>각 쌍 </a:t>
            </a:r>
            <a:r>
              <a:rPr lang="en-US" altLang="ko-KR" dirty="0"/>
              <a:t>(l, w)</a:t>
            </a:r>
            <a:r>
              <a:rPr lang="ko-KR" altLang="en-US" dirty="0"/>
              <a:t>를 </a:t>
            </a:r>
            <a:r>
              <a:rPr lang="en-US" altLang="ko-KR" dirty="0"/>
              <a:t>[l, w] </a:t>
            </a:r>
            <a:r>
              <a:rPr lang="ko-KR" altLang="en-US" dirty="0"/>
              <a:t>리스트로 만듭니다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결과적으로 </a:t>
            </a:r>
            <a:r>
              <a:rPr lang="en-US" altLang="ko-KR" dirty="0"/>
              <a:t>`</a:t>
            </a:r>
            <a:r>
              <a:rPr lang="en-US" altLang="ko-KR" dirty="0" err="1"/>
              <a:t>fish_data</a:t>
            </a:r>
            <a:r>
              <a:rPr lang="en-US" altLang="ko-KR" dirty="0"/>
              <a:t>`</a:t>
            </a:r>
            <a:r>
              <a:rPr lang="ko-KR" altLang="en-US" dirty="0"/>
              <a:t>는 리스트 안에 리스트가 들어있는 </a:t>
            </a:r>
            <a:r>
              <a:rPr lang="en-US" altLang="ko-KR" dirty="0"/>
              <a:t>2</a:t>
            </a:r>
            <a:r>
              <a:rPr lang="ko-KR" altLang="en-US" dirty="0"/>
              <a:t>차원 리스트가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파이썬</a:t>
            </a:r>
            <a:r>
              <a:rPr lang="ko-KR" altLang="en-US" dirty="0"/>
              <a:t> 리스트 내포가 </a:t>
            </a:r>
            <a:r>
              <a:rPr lang="ko-KR" altLang="en-US" dirty="0" err="1"/>
              <a:t>처음이신</a:t>
            </a:r>
            <a:r>
              <a:rPr lang="ko-KR" altLang="en-US" dirty="0"/>
              <a:t> 분은 좀 어려울 수 있는데</a:t>
            </a:r>
            <a:r>
              <a:rPr lang="en-US" altLang="ko-KR" dirty="0"/>
              <a:t>, </a:t>
            </a:r>
            <a:r>
              <a:rPr lang="ko-KR" altLang="en-US" dirty="0"/>
              <a:t>이건 </a:t>
            </a:r>
            <a:r>
              <a:rPr lang="ko-KR" altLang="en-US" dirty="0" err="1"/>
              <a:t>파이썬</a:t>
            </a:r>
            <a:r>
              <a:rPr lang="ko-KR" altLang="en-US" dirty="0"/>
              <a:t> 고유의 문법이니까 익숙해지면 매우 편리합니다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같은 것을 일반 </a:t>
            </a:r>
            <a:r>
              <a:rPr lang="en-US" altLang="ko-KR" dirty="0"/>
              <a:t>for</a:t>
            </a:r>
            <a:r>
              <a:rPr lang="ko-KR" altLang="en-US" dirty="0"/>
              <a:t>문으로 쓰면 이렇게 됩니다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fish_data</a:t>
            </a:r>
            <a:r>
              <a:rPr lang="en-US" altLang="ko-KR" dirty="0"/>
              <a:t> = []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for l, w in zip(length, weight):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</a:t>
            </a:r>
            <a:r>
              <a:rPr lang="en-US" altLang="ko-KR" dirty="0" err="1"/>
              <a:t>fish_data.append</a:t>
            </a:r>
            <a:r>
              <a:rPr lang="en-US" altLang="ko-KR" dirty="0"/>
              <a:t>([l, w])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이해가 더 쉽죠</a:t>
            </a:r>
            <a:r>
              <a:rPr lang="en-US" altLang="ko-KR" dirty="0"/>
              <a:t>? </a:t>
            </a:r>
            <a:r>
              <a:rPr lang="ko-KR" altLang="en-US" dirty="0"/>
              <a:t>결과는 똑같습니다</a:t>
            </a:r>
            <a:r>
              <a:rPr lang="en-US" altLang="ko-KR" dirty="0"/>
              <a:t>. </a:t>
            </a:r>
            <a:r>
              <a:rPr lang="ko-KR" altLang="en-US" dirty="0"/>
              <a:t>하지만 리스트 내포가 더 짧고 </a:t>
            </a:r>
            <a:r>
              <a:rPr lang="ko-KR" altLang="en-US" dirty="0" err="1"/>
              <a:t>파이썬스러운</a:t>
            </a:r>
            <a:r>
              <a:rPr lang="en-US" altLang="ko-KR" dirty="0"/>
              <a:t>(Pythonic) </a:t>
            </a:r>
            <a:r>
              <a:rPr lang="ko-KR" altLang="en-US" dirty="0"/>
              <a:t>코드예요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입력하고 실행한 다음</a:t>
            </a:r>
            <a:r>
              <a:rPr lang="en-US" altLang="ko-KR" dirty="0"/>
              <a:t>, </a:t>
            </a:r>
            <a:r>
              <a:rPr lang="ko-KR" altLang="en-US" dirty="0"/>
              <a:t>잘 만들어졌는지 확인해 봅시다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print(</a:t>
            </a:r>
            <a:r>
              <a:rPr lang="en-US" altLang="ko-KR" dirty="0" err="1"/>
              <a:t>fish_data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실행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`[[25.4, 242.0], [26.3, 290.0], [26.5, 340.0], ...]` </a:t>
            </a:r>
            <a:r>
              <a:rPr lang="ko-KR" altLang="en-US" dirty="0"/>
              <a:t>이런 형태로 출력되면 성공입니다</a:t>
            </a:r>
            <a:r>
              <a:rPr lang="en-US" altLang="ko-KR" dirty="0"/>
              <a:t>. </a:t>
            </a:r>
            <a:r>
              <a:rPr lang="ko-KR" altLang="en-US" dirty="0"/>
              <a:t>첫 번째 생선의 길이 </a:t>
            </a:r>
            <a:r>
              <a:rPr lang="en-US" altLang="ko-KR" dirty="0"/>
              <a:t>25.4</a:t>
            </a:r>
            <a:r>
              <a:rPr lang="ko-KR" altLang="en-US" dirty="0"/>
              <a:t>와 무게 </a:t>
            </a:r>
            <a:r>
              <a:rPr lang="en-US" altLang="ko-KR" dirty="0"/>
              <a:t>242.0</a:t>
            </a:r>
            <a:r>
              <a:rPr lang="ko-KR" altLang="en-US" dirty="0"/>
              <a:t>이 한 쌍으로 묶여 있죠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538" name="Google Shape;53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정답 데이터 준비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데이터는 준비했는데</a:t>
            </a:r>
            <a:r>
              <a:rPr lang="en-US" altLang="ko-KR" dirty="0"/>
              <a:t>, </a:t>
            </a:r>
            <a:r>
              <a:rPr lang="ko-KR" altLang="en-US" dirty="0"/>
              <a:t>한 가지 더 필요한 게 있습니다</a:t>
            </a:r>
            <a:r>
              <a:rPr lang="en-US" altLang="ko-KR" dirty="0"/>
              <a:t>. </a:t>
            </a:r>
            <a:r>
              <a:rPr lang="ko-KR" altLang="en-US" dirty="0"/>
              <a:t>바로 정답</a:t>
            </a:r>
            <a:r>
              <a:rPr lang="en-US" altLang="ko-KR" dirty="0"/>
              <a:t>(target)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머신러닝은</a:t>
            </a:r>
            <a:r>
              <a:rPr lang="ko-KR" altLang="en-US" dirty="0"/>
              <a:t> 데이터를 보고 학습한다고 했죠</a:t>
            </a:r>
            <a:r>
              <a:rPr lang="en-US" altLang="ko-KR" dirty="0"/>
              <a:t>? </a:t>
            </a:r>
            <a:r>
              <a:rPr lang="ko-KR" altLang="en-US" dirty="0"/>
              <a:t>그런데 학습하려면 </a:t>
            </a:r>
            <a:r>
              <a:rPr lang="en-US" altLang="ko-KR" dirty="0"/>
              <a:t>"</a:t>
            </a:r>
            <a:r>
              <a:rPr lang="ko-KR" altLang="en-US" dirty="0"/>
              <a:t>이건 도미야</a:t>
            </a:r>
            <a:r>
              <a:rPr lang="en-US" altLang="ko-KR" dirty="0"/>
              <a:t>, </a:t>
            </a:r>
            <a:r>
              <a:rPr lang="ko-KR" altLang="en-US" dirty="0"/>
              <a:t>저건 빙어야</a:t>
            </a:r>
            <a:r>
              <a:rPr lang="en-US" altLang="ko-KR" dirty="0"/>
              <a:t>"</a:t>
            </a:r>
            <a:r>
              <a:rPr lang="ko-KR" altLang="en-US" dirty="0"/>
              <a:t>라는 정답도 함께 줘야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이걸 지도 학습</a:t>
            </a:r>
            <a:r>
              <a:rPr lang="en-US" altLang="ko-KR" dirty="0"/>
              <a:t>(supervised learning)</a:t>
            </a:r>
            <a:r>
              <a:rPr lang="ko-KR" altLang="en-US" dirty="0"/>
              <a:t>이라고 합니다</a:t>
            </a:r>
            <a:r>
              <a:rPr lang="en-US" altLang="ko-KR" dirty="0"/>
              <a:t>. </a:t>
            </a:r>
            <a:r>
              <a:rPr lang="ko-KR" altLang="en-US" dirty="0"/>
              <a:t>선생님이 학생에게 문제와 정답을 함께 주고 공부시키는 것과 같아요</a:t>
            </a:r>
            <a:r>
              <a:rPr lang="en-US" altLang="ko-KR" dirty="0"/>
              <a:t>. "</a:t>
            </a:r>
            <a:r>
              <a:rPr lang="ko-KR" altLang="en-US" dirty="0"/>
              <a:t>이 생선은 도미입니다</a:t>
            </a:r>
            <a:r>
              <a:rPr lang="en-US" altLang="ko-KR" dirty="0"/>
              <a:t>" → </a:t>
            </a:r>
            <a:r>
              <a:rPr lang="ko-KR" altLang="en-US" dirty="0"/>
              <a:t>학습 → 나중에 새 생선이 왔을 때 </a:t>
            </a:r>
            <a:r>
              <a:rPr lang="en-US" altLang="ko-KR" dirty="0"/>
              <a:t>"</a:t>
            </a:r>
            <a:r>
              <a:rPr lang="ko-KR" altLang="en-US" dirty="0"/>
              <a:t>이건 도미</a:t>
            </a:r>
            <a:r>
              <a:rPr lang="en-US" altLang="ko-KR" dirty="0"/>
              <a:t>!"</a:t>
            </a:r>
            <a:r>
              <a:rPr lang="ko-KR" altLang="en-US" dirty="0"/>
              <a:t>라고 맞추는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정답 데이터에서 도미는 </a:t>
            </a:r>
            <a:r>
              <a:rPr lang="en-US" altLang="ko-KR" dirty="0"/>
              <a:t>1, </a:t>
            </a:r>
            <a:r>
              <a:rPr lang="ko-KR" altLang="en-US" dirty="0"/>
              <a:t>빙어는 </a:t>
            </a:r>
            <a:r>
              <a:rPr lang="en-US" altLang="ko-KR" dirty="0"/>
              <a:t>0</a:t>
            </a:r>
            <a:r>
              <a:rPr lang="ko-KR" altLang="en-US" dirty="0"/>
              <a:t>으로 표현합니다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앞서 데이터를 합칠 때 도미 </a:t>
            </a:r>
            <a:r>
              <a:rPr lang="en-US" altLang="ko-KR" dirty="0"/>
              <a:t>35</a:t>
            </a:r>
            <a:r>
              <a:rPr lang="ko-KR" altLang="en-US" dirty="0"/>
              <a:t>개가 먼저</a:t>
            </a:r>
            <a:r>
              <a:rPr lang="en-US" altLang="ko-KR" dirty="0"/>
              <a:t>, </a:t>
            </a:r>
            <a:r>
              <a:rPr lang="ko-KR" altLang="en-US" dirty="0"/>
              <a:t>빙어 </a:t>
            </a:r>
            <a:r>
              <a:rPr lang="en-US" altLang="ko-KR" dirty="0"/>
              <a:t>14</a:t>
            </a:r>
            <a:r>
              <a:rPr lang="ko-KR" altLang="en-US" dirty="0"/>
              <a:t>개가 나중에 오도록 했으니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fish_target</a:t>
            </a:r>
            <a:r>
              <a:rPr lang="en-US" altLang="ko-KR" dirty="0"/>
              <a:t> = [1] * 35 + [0] * 14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print(</a:t>
            </a:r>
            <a:r>
              <a:rPr lang="en-US" altLang="ko-KR" dirty="0" err="1"/>
              <a:t>fish_target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입력 및 실행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출력을 보면</a:t>
            </a:r>
            <a:r>
              <a:rPr lang="en-US" altLang="ko-KR" dirty="0"/>
              <a:t>: `[1, 1, 1, ..., 1, 0, 0, 0, ..., 0]`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</a:t>
            </a:r>
            <a:r>
              <a:rPr lang="ko-KR" altLang="en-US" dirty="0"/>
              <a:t>이 </a:t>
            </a:r>
            <a:r>
              <a:rPr lang="en-US" altLang="ko-KR" dirty="0"/>
              <a:t>35</a:t>
            </a:r>
            <a:r>
              <a:rPr lang="ko-KR" altLang="en-US" dirty="0"/>
              <a:t>번</a:t>
            </a:r>
            <a:r>
              <a:rPr lang="en-US" altLang="ko-KR" dirty="0"/>
              <a:t>, 0</a:t>
            </a:r>
            <a:r>
              <a:rPr lang="ko-KR" altLang="en-US" dirty="0"/>
              <a:t>이 </a:t>
            </a:r>
            <a:r>
              <a:rPr lang="en-US" altLang="ko-KR" dirty="0"/>
              <a:t>14</a:t>
            </a:r>
            <a:r>
              <a:rPr lang="ko-KR" altLang="en-US" dirty="0"/>
              <a:t>번 나옵니다</a:t>
            </a:r>
            <a:r>
              <a:rPr lang="en-US" altLang="ko-KR" dirty="0"/>
              <a:t>. </a:t>
            </a:r>
            <a:r>
              <a:rPr lang="ko-KR" altLang="en-US" dirty="0"/>
              <a:t>총 </a:t>
            </a:r>
            <a:r>
              <a:rPr lang="en-US" altLang="ko-KR" dirty="0"/>
              <a:t>49</a:t>
            </a:r>
            <a:r>
              <a:rPr lang="ko-KR" altLang="en-US" dirty="0"/>
              <a:t>개</a:t>
            </a:r>
            <a:r>
              <a:rPr lang="en-US" altLang="ko-KR" dirty="0"/>
              <a:t>, `</a:t>
            </a:r>
            <a:r>
              <a:rPr lang="en-US" altLang="ko-KR" dirty="0" err="1"/>
              <a:t>fish_data</a:t>
            </a:r>
            <a:r>
              <a:rPr lang="en-US" altLang="ko-KR" dirty="0"/>
              <a:t>`</a:t>
            </a:r>
            <a:r>
              <a:rPr lang="ko-KR" altLang="en-US" dirty="0"/>
              <a:t>와 개수가 일치하죠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</a:t>
            </a:r>
            <a:r>
              <a:rPr lang="en-US" altLang="ko-KR" dirty="0"/>
              <a:t>`[1] * 35`</a:t>
            </a:r>
            <a:r>
              <a:rPr lang="ko-KR" altLang="en-US" dirty="0"/>
              <a:t>라는 </a:t>
            </a:r>
            <a:r>
              <a:rPr lang="ko-KR" altLang="en-US" dirty="0" err="1"/>
              <a:t>파이썬</a:t>
            </a:r>
            <a:r>
              <a:rPr lang="ko-KR" altLang="en-US" dirty="0"/>
              <a:t> 문법이 나오는데요</a:t>
            </a:r>
            <a:r>
              <a:rPr lang="en-US" altLang="ko-KR" dirty="0"/>
              <a:t>, </a:t>
            </a:r>
            <a:r>
              <a:rPr lang="ko-KR" altLang="en-US" dirty="0"/>
              <a:t>리스트에 곱셈 연산자를 쓰면 원소를 반복합니다</a:t>
            </a:r>
            <a:r>
              <a:rPr lang="en-US" altLang="ko-KR" dirty="0"/>
              <a:t>. `[1] * 35`</a:t>
            </a:r>
            <a:r>
              <a:rPr lang="ko-KR" altLang="en-US" dirty="0"/>
              <a:t>는 </a:t>
            </a:r>
            <a:r>
              <a:rPr lang="en-US" altLang="ko-KR" dirty="0"/>
              <a:t>`[1, 1, 1, ..., 1]` (1</a:t>
            </a:r>
            <a:r>
              <a:rPr lang="ko-KR" altLang="en-US" dirty="0"/>
              <a:t>이 </a:t>
            </a:r>
            <a:r>
              <a:rPr lang="en-US" altLang="ko-KR" dirty="0"/>
              <a:t>35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  <a:r>
              <a:rPr lang="ko-KR" altLang="en-US" dirty="0"/>
              <a:t>을 만들어 줍니다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그리고 </a:t>
            </a:r>
            <a:r>
              <a:rPr lang="en-US" altLang="ko-KR" dirty="0"/>
              <a:t>`+`</a:t>
            </a:r>
            <a:r>
              <a:rPr lang="ko-KR" altLang="en-US" dirty="0"/>
              <a:t>로 두 리스트를 합치면 </a:t>
            </a:r>
            <a:r>
              <a:rPr lang="en-US" altLang="ko-KR" dirty="0"/>
              <a:t>1</a:t>
            </a:r>
            <a:r>
              <a:rPr lang="ko-KR" altLang="en-US" dirty="0"/>
              <a:t>이 </a:t>
            </a:r>
            <a:r>
              <a:rPr lang="en-US" altLang="ko-KR" dirty="0"/>
              <a:t>35</a:t>
            </a:r>
            <a:r>
              <a:rPr lang="ko-KR" altLang="en-US" dirty="0"/>
              <a:t>개 뒤에 </a:t>
            </a:r>
            <a:r>
              <a:rPr lang="en-US" altLang="ko-KR" dirty="0"/>
              <a:t>0</a:t>
            </a:r>
            <a:r>
              <a:rPr lang="ko-KR" altLang="en-US" dirty="0"/>
              <a:t>이 </a:t>
            </a:r>
            <a:r>
              <a:rPr lang="en-US" altLang="ko-KR" dirty="0"/>
              <a:t>14</a:t>
            </a:r>
            <a:r>
              <a:rPr lang="ko-KR" altLang="en-US" dirty="0"/>
              <a:t>개 붙는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중요한 개념 정리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/>
              <a:t>용어 </a:t>
            </a:r>
            <a:r>
              <a:rPr lang="en-US" altLang="ko-KR" dirty="0"/>
              <a:t>| </a:t>
            </a:r>
            <a:r>
              <a:rPr lang="ko-KR" altLang="en-US" dirty="0"/>
              <a:t>설명 </a:t>
            </a:r>
            <a:r>
              <a:rPr lang="en-US" altLang="ko-KR" dirty="0"/>
              <a:t>| </a:t>
            </a:r>
            <a:r>
              <a:rPr lang="ko-KR" altLang="en-US" dirty="0"/>
              <a:t>예시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|---|---|---|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/>
              <a:t>특성</a:t>
            </a:r>
            <a:r>
              <a:rPr lang="en-US" altLang="ko-KR" dirty="0"/>
              <a:t>(feature) | </a:t>
            </a:r>
            <a:r>
              <a:rPr lang="ko-KR" altLang="en-US" dirty="0"/>
              <a:t>데이터를 표현하는 성질 </a:t>
            </a:r>
            <a:r>
              <a:rPr lang="en-US" altLang="ko-KR" dirty="0"/>
              <a:t>| </a:t>
            </a:r>
            <a:r>
              <a:rPr lang="ko-KR" altLang="en-US" dirty="0"/>
              <a:t>길이</a:t>
            </a:r>
            <a:r>
              <a:rPr lang="en-US" altLang="ko-KR" dirty="0"/>
              <a:t>, </a:t>
            </a:r>
            <a:r>
              <a:rPr lang="ko-KR" altLang="en-US" dirty="0"/>
              <a:t>무게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/>
              <a:t>입력 데이터 </a:t>
            </a:r>
            <a:r>
              <a:rPr lang="en-US" altLang="ko-KR" dirty="0"/>
              <a:t>| </a:t>
            </a:r>
            <a:r>
              <a:rPr lang="ko-KR" altLang="en-US" dirty="0"/>
              <a:t>특성으로 구성된 데이터 </a:t>
            </a:r>
            <a:r>
              <a:rPr lang="en-US" altLang="ko-KR" dirty="0"/>
              <a:t>| </a:t>
            </a:r>
            <a:r>
              <a:rPr lang="en-US" altLang="ko-KR" dirty="0" err="1"/>
              <a:t>fish_data</a:t>
            </a:r>
            <a:r>
              <a:rPr lang="en-US" altLang="ko-KR" dirty="0"/>
              <a:t> 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/>
              <a:t>타겟</a:t>
            </a:r>
            <a:r>
              <a:rPr lang="en-US" altLang="ko-KR" dirty="0"/>
              <a:t>(target) | </a:t>
            </a:r>
            <a:r>
              <a:rPr lang="ko-KR" altLang="en-US" dirty="0"/>
              <a:t>정답 레이블 </a:t>
            </a:r>
            <a:r>
              <a:rPr lang="en-US" altLang="ko-KR" dirty="0"/>
              <a:t>| </a:t>
            </a:r>
            <a:r>
              <a:rPr lang="en-US" altLang="ko-KR" dirty="0" err="1"/>
              <a:t>fish_target</a:t>
            </a:r>
            <a:r>
              <a:rPr lang="en-US" altLang="ko-KR" dirty="0"/>
              <a:t> (1=</a:t>
            </a:r>
            <a:r>
              <a:rPr lang="ko-KR" altLang="en-US" dirty="0"/>
              <a:t>도미</a:t>
            </a:r>
            <a:r>
              <a:rPr lang="en-US" altLang="ko-KR" dirty="0"/>
              <a:t>, 0=</a:t>
            </a:r>
            <a:r>
              <a:rPr lang="ko-KR" altLang="en-US" dirty="0"/>
              <a:t>빙어</a:t>
            </a:r>
            <a:r>
              <a:rPr lang="en-US" altLang="ko-KR" dirty="0"/>
              <a:t>) 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세 가지는 </a:t>
            </a:r>
            <a:r>
              <a:rPr lang="ko-KR" altLang="en-US" dirty="0" err="1"/>
              <a:t>머신러닝에서</a:t>
            </a:r>
            <a:r>
              <a:rPr lang="ko-KR" altLang="en-US" dirty="0"/>
              <a:t> 계속 나오는 핵심 용어입니다</a:t>
            </a:r>
            <a:r>
              <a:rPr lang="en-US" altLang="ko-KR" dirty="0"/>
              <a:t>. </a:t>
            </a:r>
            <a:r>
              <a:rPr lang="ko-KR" altLang="en-US" dirty="0"/>
              <a:t>꼭 기억해 두세요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548" name="Google Shape;54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 err="1"/>
              <a:t>사이킷런으로</a:t>
            </a:r>
            <a:r>
              <a:rPr lang="ko-KR" altLang="en-US" dirty="0"/>
              <a:t> 모델 만들기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드디어 </a:t>
            </a:r>
            <a:r>
              <a:rPr lang="ko-KR" altLang="en-US" dirty="0" err="1"/>
              <a:t>머신러닝</a:t>
            </a:r>
            <a:r>
              <a:rPr lang="ko-KR" altLang="en-US" dirty="0"/>
              <a:t> 모델을 만드는 코드입니다</a:t>
            </a:r>
            <a:r>
              <a:rPr lang="en-US" altLang="ko-KR" dirty="0"/>
              <a:t>! </a:t>
            </a:r>
            <a:r>
              <a:rPr lang="ko-KR" altLang="en-US" dirty="0"/>
              <a:t>여기가 하이라이트예요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 err="1"/>
              <a:t>사이킷런에서</a:t>
            </a:r>
            <a:r>
              <a:rPr lang="ko-KR" altLang="en-US" dirty="0"/>
              <a:t> 알고리즘 가져오기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from </a:t>
            </a:r>
            <a:r>
              <a:rPr lang="en-US" altLang="ko-KR" dirty="0" err="1"/>
              <a:t>sklearn.neighbors</a:t>
            </a:r>
            <a:r>
              <a:rPr lang="en-US" altLang="ko-KR" dirty="0"/>
              <a:t> import </a:t>
            </a:r>
            <a:r>
              <a:rPr lang="en-US" altLang="ko-KR" dirty="0" err="1"/>
              <a:t>KNeighborsClassifier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</a:t>
            </a:r>
            <a:r>
              <a:rPr lang="en-US" altLang="ko-KR" dirty="0" err="1"/>
              <a:t>sklearn</a:t>
            </a:r>
            <a:r>
              <a:rPr lang="en-US" altLang="ko-KR" dirty="0"/>
              <a:t>`</a:t>
            </a:r>
            <a:r>
              <a:rPr lang="ko-KR" altLang="en-US" dirty="0"/>
              <a:t>은 </a:t>
            </a:r>
            <a:r>
              <a:rPr lang="ko-KR" altLang="en-US" dirty="0" err="1"/>
              <a:t>사이킷런의</a:t>
            </a:r>
            <a:r>
              <a:rPr lang="ko-KR" altLang="en-US" dirty="0"/>
              <a:t> 패키지 이름이고</a:t>
            </a:r>
            <a:r>
              <a:rPr lang="en-US" altLang="ko-KR" dirty="0"/>
              <a:t>, `neighbors` </a:t>
            </a:r>
            <a:r>
              <a:rPr lang="ko-KR" altLang="en-US" dirty="0"/>
              <a:t>모듈에서 </a:t>
            </a:r>
            <a:r>
              <a:rPr lang="en-US" altLang="ko-KR" dirty="0"/>
              <a:t>`</a:t>
            </a:r>
            <a:r>
              <a:rPr lang="en-US" altLang="ko-KR" dirty="0" err="1"/>
              <a:t>KNeighborsClassifier</a:t>
            </a:r>
            <a:r>
              <a:rPr lang="en-US" altLang="ko-KR" dirty="0"/>
              <a:t>` </a:t>
            </a:r>
            <a:r>
              <a:rPr lang="ko-KR" altLang="en-US" dirty="0"/>
              <a:t>클래스를 </a:t>
            </a:r>
            <a:r>
              <a:rPr lang="ko-KR" altLang="en-US" dirty="0" err="1"/>
              <a:t>임포트합니다</a:t>
            </a:r>
            <a:r>
              <a:rPr lang="en-US" altLang="ko-KR" dirty="0"/>
              <a:t>. </a:t>
            </a:r>
            <a:r>
              <a:rPr lang="ko-KR" altLang="en-US" dirty="0"/>
              <a:t>이름이 길죠</a:t>
            </a:r>
            <a:r>
              <a:rPr lang="en-US" altLang="ko-KR" dirty="0"/>
              <a:t>? </a:t>
            </a:r>
            <a:r>
              <a:rPr lang="ko-KR" altLang="en-US" dirty="0"/>
              <a:t>하지만 이름 자체가 뜻을 담고 있어요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K — k</a:t>
            </a:r>
            <a:r>
              <a:rPr lang="ko-KR" altLang="en-US" dirty="0"/>
              <a:t>개의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Neighbors — </a:t>
            </a:r>
            <a:r>
              <a:rPr lang="ko-KR" altLang="en-US" dirty="0"/>
              <a:t>이웃을 보는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Classifier — </a:t>
            </a:r>
            <a:r>
              <a:rPr lang="ko-KR" altLang="en-US" dirty="0"/>
              <a:t>분류기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즉</a:t>
            </a:r>
            <a:r>
              <a:rPr lang="en-US" altLang="ko-KR" dirty="0"/>
              <a:t>, "k</a:t>
            </a:r>
            <a:r>
              <a:rPr lang="ko-KR" altLang="en-US" dirty="0"/>
              <a:t>개의 이웃을 보고 분류하는 도구</a:t>
            </a:r>
            <a:r>
              <a:rPr lang="en-US" altLang="ko-KR" dirty="0"/>
              <a:t>"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모델 객체 만들기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</a:t>
            </a:r>
            <a:r>
              <a:rPr lang="en-US" altLang="ko-KR" dirty="0"/>
              <a:t> = </a:t>
            </a:r>
            <a:r>
              <a:rPr lang="en-US" altLang="ko-KR" dirty="0" err="1"/>
              <a:t>KNeighborsClassifier</a:t>
            </a:r>
            <a:r>
              <a:rPr lang="en-US" altLang="ko-KR" dirty="0"/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</a:t>
            </a:r>
            <a:r>
              <a:rPr lang="en-US" altLang="ko-KR" dirty="0" err="1"/>
              <a:t>KNeighborsClassifier</a:t>
            </a:r>
            <a:r>
              <a:rPr lang="en-US" altLang="ko-KR" dirty="0"/>
              <a:t>()` </a:t>
            </a:r>
            <a:r>
              <a:rPr lang="ko-KR" altLang="en-US" dirty="0"/>
              <a:t>클래스의 인스턴스</a:t>
            </a:r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를 만들어서 </a:t>
            </a:r>
            <a:r>
              <a:rPr lang="en-US" altLang="ko-KR" dirty="0"/>
              <a:t>`</a:t>
            </a:r>
            <a:r>
              <a:rPr lang="en-US" altLang="ko-KR" dirty="0" err="1"/>
              <a:t>kn</a:t>
            </a:r>
            <a:r>
              <a:rPr lang="en-US" altLang="ko-KR" dirty="0"/>
              <a:t>`</a:t>
            </a:r>
            <a:r>
              <a:rPr lang="ko-KR" altLang="en-US" dirty="0"/>
              <a:t>이라는 변수에 저장합니다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en-US" altLang="ko-KR" dirty="0"/>
              <a:t>`</a:t>
            </a:r>
            <a:r>
              <a:rPr lang="en-US" altLang="ko-KR" dirty="0" err="1"/>
              <a:t>kn</a:t>
            </a:r>
            <a:r>
              <a:rPr lang="en-US" altLang="ko-KR" dirty="0"/>
              <a:t>`</a:t>
            </a:r>
            <a:r>
              <a:rPr lang="ko-KR" altLang="en-US" dirty="0"/>
              <a:t>이 바로 우리의 모델</a:t>
            </a:r>
            <a:r>
              <a:rPr lang="en-US" altLang="ko-KR" dirty="0"/>
              <a:t>(model)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훈련</a:t>
            </a:r>
            <a:r>
              <a:rPr lang="en-US" altLang="ko-KR" dirty="0"/>
              <a:t>(training)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kn.fit</a:t>
            </a:r>
            <a:r>
              <a:rPr lang="en-US" altLang="ko-KR" dirty="0"/>
              <a:t>(</a:t>
            </a:r>
            <a:r>
              <a:rPr lang="en-US" altLang="ko-KR" dirty="0" err="1"/>
              <a:t>fish_data</a:t>
            </a:r>
            <a:r>
              <a:rPr lang="en-US" altLang="ko-KR" dirty="0"/>
              <a:t>, </a:t>
            </a:r>
            <a:r>
              <a:rPr lang="en-US" altLang="ko-KR" dirty="0" err="1"/>
              <a:t>fish_target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`fit()` </a:t>
            </a:r>
            <a:r>
              <a:rPr lang="ko-KR" altLang="en-US" dirty="0"/>
              <a:t>메서드가 훈련을 담당합니다</a:t>
            </a:r>
            <a:r>
              <a:rPr lang="en-US" altLang="ko-KR" dirty="0"/>
              <a:t>. "</a:t>
            </a:r>
            <a:r>
              <a:rPr lang="ko-KR" altLang="en-US" dirty="0"/>
              <a:t>이 데이터</a:t>
            </a:r>
            <a:r>
              <a:rPr lang="en-US" altLang="ko-KR" dirty="0"/>
              <a:t>(</a:t>
            </a:r>
            <a:r>
              <a:rPr lang="en-US" altLang="ko-KR" dirty="0" err="1"/>
              <a:t>fish_data</a:t>
            </a:r>
            <a:r>
              <a:rPr lang="en-US" altLang="ko-KR" dirty="0"/>
              <a:t>)</a:t>
            </a:r>
            <a:r>
              <a:rPr lang="ko-KR" altLang="en-US" dirty="0"/>
              <a:t>와 이 정답</a:t>
            </a:r>
            <a:r>
              <a:rPr lang="en-US" altLang="ko-KR" dirty="0"/>
              <a:t>(</a:t>
            </a:r>
            <a:r>
              <a:rPr lang="en-US" altLang="ko-KR" dirty="0" err="1"/>
              <a:t>fish_target</a:t>
            </a:r>
            <a:r>
              <a:rPr lang="en-US" altLang="ko-KR" dirty="0"/>
              <a:t>)</a:t>
            </a:r>
            <a:r>
              <a:rPr lang="ko-KR" altLang="en-US" dirty="0"/>
              <a:t>으로 학습해라</a:t>
            </a:r>
            <a:r>
              <a:rPr lang="en-US" altLang="ko-KR" dirty="0"/>
              <a:t>"</a:t>
            </a:r>
            <a:r>
              <a:rPr lang="ko-KR" altLang="en-US" dirty="0"/>
              <a:t>라고 명령하는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사이킷런에서는</a:t>
            </a:r>
            <a:r>
              <a:rPr lang="ko-KR" altLang="en-US" dirty="0"/>
              <a:t> 훈련 </a:t>
            </a:r>
            <a:r>
              <a:rPr lang="en-US" altLang="ko-KR" dirty="0"/>
              <a:t>= fit </a:t>
            </a:r>
            <a:r>
              <a:rPr lang="ko-KR" altLang="en-US" dirty="0"/>
              <a:t>이라고 기억하시면 됩니다</a:t>
            </a:r>
            <a:r>
              <a:rPr lang="en-US" altLang="ko-KR" dirty="0"/>
              <a:t>. </a:t>
            </a:r>
            <a:r>
              <a:rPr lang="ko-KR" altLang="en-US" dirty="0"/>
              <a:t>이 패턴은 앞으로 한 학기 내내 똑같이 반복됩니다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4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평가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kn.score</a:t>
            </a:r>
            <a:r>
              <a:rPr lang="en-US" altLang="ko-KR" dirty="0"/>
              <a:t>(</a:t>
            </a:r>
            <a:r>
              <a:rPr lang="en-US" altLang="ko-KR" dirty="0" err="1"/>
              <a:t>fish_data</a:t>
            </a:r>
            <a:r>
              <a:rPr lang="en-US" altLang="ko-KR" dirty="0"/>
              <a:t>, </a:t>
            </a:r>
            <a:r>
              <a:rPr lang="en-US" altLang="ko-KR" dirty="0" err="1"/>
              <a:t>fish_target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`score()` </a:t>
            </a:r>
            <a:r>
              <a:rPr lang="ko-KR" altLang="en-US" dirty="0"/>
              <a:t>메서드로 모델이 얼마나 잘 훈련되었는지 평가합니다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반환값은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에서 </a:t>
            </a:r>
            <a:r>
              <a:rPr lang="en-US" altLang="ko-KR" dirty="0"/>
              <a:t>1 </a:t>
            </a:r>
            <a:r>
              <a:rPr lang="ko-KR" altLang="en-US" dirty="0"/>
              <a:t>사이의 숫자입니다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- 1.0 → </a:t>
            </a:r>
            <a:r>
              <a:rPr lang="ko-KR" altLang="en-US" dirty="0"/>
              <a:t>모든 데이터를 정확히 맞혔다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- 0.5 → </a:t>
            </a:r>
            <a:r>
              <a:rPr lang="ko-KR" altLang="en-US" dirty="0"/>
              <a:t>절반만 맞혔다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- 0.0 → </a:t>
            </a:r>
            <a:r>
              <a:rPr lang="ko-KR" altLang="en-US" dirty="0"/>
              <a:t>하나도 못 맞혔다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코드를 전부 입력하고 실행해 봅시다</a:t>
            </a:r>
            <a:r>
              <a:rPr lang="en-US" altLang="ko-KR" dirty="0"/>
              <a:t>. </a:t>
            </a:r>
            <a:r>
              <a:rPr lang="ko-KR" altLang="en-US" dirty="0"/>
              <a:t>한 셀에 다 넣어도 되고</a:t>
            </a:r>
            <a:r>
              <a:rPr lang="en-US" altLang="ko-KR" dirty="0"/>
              <a:t>, </a:t>
            </a:r>
            <a:r>
              <a:rPr lang="ko-KR" altLang="en-US" dirty="0"/>
              <a:t>나눠서 넣어도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from </a:t>
            </a:r>
            <a:r>
              <a:rPr lang="en-US" altLang="ko-KR" dirty="0" err="1"/>
              <a:t>sklearn.neighbors</a:t>
            </a:r>
            <a:r>
              <a:rPr lang="en-US" altLang="ko-KR" dirty="0"/>
              <a:t> import </a:t>
            </a:r>
            <a:r>
              <a:rPr lang="en-US" altLang="ko-KR" dirty="0" err="1"/>
              <a:t>KNeighborsClassifier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</a:t>
            </a:r>
            <a:r>
              <a:rPr lang="en-US" altLang="ko-KR" dirty="0"/>
              <a:t> = </a:t>
            </a:r>
            <a:r>
              <a:rPr lang="en-US" altLang="ko-KR" dirty="0" err="1"/>
              <a:t>KNeighborsClassifier</a:t>
            </a:r>
            <a:r>
              <a:rPr lang="en-US" altLang="ko-KR" dirty="0"/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kn.fit</a:t>
            </a:r>
            <a:r>
              <a:rPr lang="en-US" altLang="ko-KR" dirty="0"/>
              <a:t>(</a:t>
            </a:r>
            <a:r>
              <a:rPr lang="en-US" altLang="ko-KR" dirty="0" err="1"/>
              <a:t>fish_data</a:t>
            </a:r>
            <a:r>
              <a:rPr lang="en-US" altLang="ko-KR" dirty="0"/>
              <a:t>, </a:t>
            </a:r>
            <a:r>
              <a:rPr lang="en-US" altLang="ko-KR" dirty="0" err="1"/>
              <a:t>fish_target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kn.score</a:t>
            </a:r>
            <a:r>
              <a:rPr lang="en-US" altLang="ko-KR" dirty="0"/>
              <a:t>(</a:t>
            </a:r>
            <a:r>
              <a:rPr lang="en-US" altLang="ko-KR" dirty="0" err="1"/>
              <a:t>fish_data</a:t>
            </a:r>
            <a:r>
              <a:rPr lang="en-US" altLang="ko-KR" dirty="0"/>
              <a:t>, </a:t>
            </a:r>
            <a:r>
              <a:rPr lang="en-US" altLang="ko-KR" dirty="0" err="1"/>
              <a:t>fish_target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입력 및 실행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5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결과가 얼마로 나왔나요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 반응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1.0! </a:t>
            </a:r>
            <a:r>
              <a:rPr lang="ko-KR" altLang="en-US" dirty="0"/>
              <a:t>완벽한 점수입니다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49</a:t>
            </a:r>
            <a:r>
              <a:rPr lang="ko-KR" altLang="en-US" dirty="0"/>
              <a:t>개의 생선 데이터를 전부 정확하게 맞혔다는 뜻입니다</a:t>
            </a:r>
            <a:r>
              <a:rPr lang="en-US" altLang="ko-KR" dirty="0"/>
              <a:t>. </a:t>
            </a:r>
            <a:r>
              <a:rPr lang="ko-KR" altLang="en-US" dirty="0"/>
              <a:t>도미 </a:t>
            </a:r>
            <a:r>
              <a:rPr lang="en-US" altLang="ko-KR" dirty="0"/>
              <a:t>35</a:t>
            </a:r>
            <a:r>
              <a:rPr lang="ko-KR" altLang="en-US" dirty="0"/>
              <a:t>개는 전부 도미라고</a:t>
            </a:r>
            <a:r>
              <a:rPr lang="en-US" altLang="ko-KR" dirty="0"/>
              <a:t>, </a:t>
            </a:r>
            <a:r>
              <a:rPr lang="ko-KR" altLang="en-US" dirty="0"/>
              <a:t>빙어 </a:t>
            </a:r>
            <a:r>
              <a:rPr lang="en-US" altLang="ko-KR" dirty="0"/>
              <a:t>14</a:t>
            </a:r>
            <a:r>
              <a:rPr lang="ko-KR" altLang="en-US" dirty="0"/>
              <a:t>개는 전부 빙어라고 올바르게 분류한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축하합니다</a:t>
            </a:r>
            <a:r>
              <a:rPr lang="en-US" altLang="ko-KR" dirty="0"/>
              <a:t>! </a:t>
            </a:r>
            <a:r>
              <a:rPr lang="ko-KR" altLang="en-US" dirty="0"/>
              <a:t>여러분이 방금 첫 번째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프로그램을 만들었습니다</a:t>
            </a:r>
            <a:r>
              <a:rPr lang="en-US" altLang="ko-KR" dirty="0"/>
              <a:t>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핵심 코드만 보면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</a:t>
            </a:r>
            <a:r>
              <a:rPr lang="en-US" altLang="ko-KR" dirty="0"/>
              <a:t> = </a:t>
            </a:r>
            <a:r>
              <a:rPr lang="en-US" altLang="ko-KR" dirty="0" err="1"/>
              <a:t>KNeighborsClassifier</a:t>
            </a:r>
            <a:r>
              <a:rPr lang="en-US" altLang="ko-KR" dirty="0"/>
              <a:t>()   # </a:t>
            </a:r>
            <a:r>
              <a:rPr lang="ko-KR" altLang="en-US" dirty="0"/>
              <a:t>모델 생성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kn.fit</a:t>
            </a:r>
            <a:r>
              <a:rPr lang="en-US" altLang="ko-KR" dirty="0"/>
              <a:t>(</a:t>
            </a:r>
            <a:r>
              <a:rPr lang="en-US" altLang="ko-KR" dirty="0" err="1"/>
              <a:t>fish_data</a:t>
            </a:r>
            <a:r>
              <a:rPr lang="en-US" altLang="ko-KR" dirty="0"/>
              <a:t>, </a:t>
            </a:r>
            <a:r>
              <a:rPr lang="en-US" altLang="ko-KR" dirty="0" err="1"/>
              <a:t>fish_target</a:t>
            </a:r>
            <a:r>
              <a:rPr lang="en-US" altLang="ko-KR" dirty="0"/>
              <a:t>) # </a:t>
            </a:r>
            <a:r>
              <a:rPr lang="ko-KR" altLang="en-US" dirty="0"/>
              <a:t>훈련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kn.score</a:t>
            </a:r>
            <a:r>
              <a:rPr lang="en-US" altLang="ko-KR" dirty="0"/>
              <a:t>(</a:t>
            </a:r>
            <a:r>
              <a:rPr lang="en-US" altLang="ko-KR" dirty="0" err="1"/>
              <a:t>fish_data</a:t>
            </a:r>
            <a:r>
              <a:rPr lang="en-US" altLang="ko-KR" dirty="0"/>
              <a:t>, </a:t>
            </a:r>
            <a:r>
              <a:rPr lang="en-US" altLang="ko-KR" dirty="0" err="1"/>
              <a:t>fish_target</a:t>
            </a:r>
            <a:r>
              <a:rPr lang="en-US" altLang="ko-KR" dirty="0"/>
              <a:t>) # </a:t>
            </a:r>
            <a:r>
              <a:rPr lang="ko-KR" altLang="en-US" dirty="0"/>
              <a:t>평가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고작 </a:t>
            </a:r>
            <a:r>
              <a:rPr lang="en-US" altLang="ko-KR" dirty="0"/>
              <a:t>3</a:t>
            </a:r>
            <a:r>
              <a:rPr lang="ko-KR" altLang="en-US" dirty="0"/>
              <a:t>줄입니다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en-US" altLang="ko-KR" dirty="0"/>
              <a:t>3</a:t>
            </a:r>
            <a:r>
              <a:rPr lang="ko-KR" altLang="en-US" dirty="0"/>
              <a:t>줄 안에 </a:t>
            </a:r>
            <a:r>
              <a:rPr lang="ko-KR" altLang="en-US" dirty="0" err="1"/>
              <a:t>머신러닝의</a:t>
            </a:r>
            <a:r>
              <a:rPr lang="ko-KR" altLang="en-US" dirty="0"/>
              <a:t> 기본 과정이 전부 들어있어요</a:t>
            </a:r>
            <a:r>
              <a:rPr lang="en-US" altLang="ko-KR" dirty="0"/>
              <a:t>. </a:t>
            </a:r>
            <a:r>
              <a:rPr lang="ko-KR" altLang="en-US" dirty="0" err="1"/>
              <a:t>머신러닝은</a:t>
            </a:r>
            <a:r>
              <a:rPr lang="ko-KR" altLang="en-US" dirty="0"/>
              <a:t> 결국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</a:t>
            </a:r>
            <a:r>
              <a:rPr lang="ko-KR" altLang="en-US" dirty="0"/>
              <a:t>모델을 선택하고 </a:t>
            </a:r>
            <a:r>
              <a:rPr lang="en-US" altLang="ko-KR" dirty="0"/>
              <a:t>(</a:t>
            </a:r>
            <a:r>
              <a:rPr lang="en-US" altLang="ko-KR" dirty="0" err="1"/>
              <a:t>KNeighborsClassifier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</a:t>
            </a:r>
            <a:r>
              <a:rPr lang="ko-KR" altLang="en-US" dirty="0"/>
              <a:t>데이터로 훈련하고 </a:t>
            </a:r>
            <a:r>
              <a:rPr lang="en-US" altLang="ko-KR" dirty="0"/>
              <a:t>(fit)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3. </a:t>
            </a:r>
            <a:r>
              <a:rPr lang="ko-KR" altLang="en-US" dirty="0"/>
              <a:t>성능을 평가한다 </a:t>
            </a:r>
            <a:r>
              <a:rPr lang="en-US" altLang="ko-KR" dirty="0"/>
              <a:t>(score)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세 단계입니다</a:t>
            </a:r>
            <a:r>
              <a:rPr lang="en-US" altLang="ko-KR" dirty="0"/>
              <a:t>. </a:t>
            </a:r>
            <a:r>
              <a:rPr lang="ko-KR" altLang="en-US" dirty="0"/>
              <a:t>알고리즘이 바뀌어도 이 패턴은 동일합니다</a:t>
            </a:r>
            <a:r>
              <a:rPr lang="en-US" altLang="ko-KR" dirty="0"/>
              <a:t>. </a:t>
            </a:r>
            <a:r>
              <a:rPr lang="ko-KR" altLang="en-US" dirty="0" err="1"/>
              <a:t>사이킷런의</a:t>
            </a:r>
            <a:r>
              <a:rPr lang="ko-KR" altLang="en-US" dirty="0"/>
              <a:t> 모든 모델은 </a:t>
            </a:r>
            <a:r>
              <a:rPr lang="en-US" altLang="ko-KR" dirty="0"/>
              <a:t>fit(), score() </a:t>
            </a:r>
            <a:r>
              <a:rPr lang="ko-KR" altLang="en-US" dirty="0"/>
              <a:t>메서드를 가지고 있어요</a:t>
            </a:r>
            <a:r>
              <a:rPr lang="en-US" altLang="ko-KR" dirty="0"/>
              <a:t>. </a:t>
            </a:r>
            <a:r>
              <a:rPr lang="ko-KR" altLang="en-US" dirty="0"/>
              <a:t>이게 </a:t>
            </a:r>
            <a:r>
              <a:rPr lang="ko-KR" altLang="en-US" dirty="0" err="1"/>
              <a:t>사이킷런의</a:t>
            </a:r>
            <a:r>
              <a:rPr lang="ko-KR" altLang="en-US" dirty="0"/>
              <a:t> 장점입니다 </a:t>
            </a:r>
            <a:r>
              <a:rPr lang="en-US" altLang="ko-KR" dirty="0"/>
              <a:t>— </a:t>
            </a:r>
            <a:r>
              <a:rPr lang="ko-KR" altLang="en-US" dirty="0"/>
              <a:t>일관된 인터페이스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559" name="Google Shape;55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k-</a:t>
            </a:r>
            <a:r>
              <a:rPr lang="ko-KR" altLang="en-US" dirty="0" err="1"/>
              <a:t>최근접</a:t>
            </a:r>
            <a:r>
              <a:rPr lang="ko-KR" altLang="en-US" dirty="0"/>
              <a:t> 이웃 알고리즘의 원리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모델을 만들었으니</a:t>
            </a:r>
            <a:r>
              <a:rPr lang="en-US" altLang="ko-KR" dirty="0"/>
              <a:t>, </a:t>
            </a:r>
            <a:r>
              <a:rPr lang="ko-KR" altLang="en-US" dirty="0"/>
              <a:t>이제 이 알고리즘이 어떻게 작동하는지 원리를 이해해 봅시다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k-</a:t>
            </a:r>
            <a:r>
              <a:rPr lang="ko-KR" altLang="en-US" dirty="0" err="1"/>
              <a:t>최근접</a:t>
            </a:r>
            <a:r>
              <a:rPr lang="ko-KR" altLang="en-US" dirty="0"/>
              <a:t> 이웃 알고리즘의 핵심은 아주 간단합니다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&gt; "</a:t>
            </a:r>
            <a:r>
              <a:rPr lang="ko-KR" altLang="en-US" dirty="0"/>
              <a:t>주위의 다른 데이터를 보고</a:t>
            </a:r>
            <a:r>
              <a:rPr lang="en-US" altLang="ko-KR" dirty="0"/>
              <a:t>, </a:t>
            </a:r>
            <a:r>
              <a:rPr lang="ko-KR" altLang="en-US" dirty="0"/>
              <a:t>다수를 차지하는 것을 정답으로 사용한다</a:t>
            </a:r>
            <a:r>
              <a:rPr lang="en-US" altLang="ko-KR" dirty="0"/>
              <a:t>."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마치 근묵자흑</a:t>
            </a:r>
            <a:r>
              <a:rPr lang="en-US" altLang="ko-KR" dirty="0"/>
              <a:t>(</a:t>
            </a:r>
            <a:r>
              <a:rPr lang="ko-KR" altLang="en-US" dirty="0"/>
              <a:t>近墨者黑</a:t>
            </a:r>
            <a:r>
              <a:rPr lang="en-US" altLang="ko-KR" dirty="0"/>
              <a:t>)</a:t>
            </a:r>
            <a:r>
              <a:rPr lang="ko-KR" altLang="en-US" dirty="0"/>
              <a:t>과 같습니다</a:t>
            </a:r>
            <a:r>
              <a:rPr lang="en-US" altLang="ko-KR" dirty="0"/>
              <a:t>. </a:t>
            </a:r>
            <a:r>
              <a:rPr lang="ko-KR" altLang="en-US" dirty="0"/>
              <a:t>먹을 가까이하면 </a:t>
            </a:r>
            <a:r>
              <a:rPr lang="ko-KR" altLang="en-US" dirty="0" err="1"/>
              <a:t>검어진다는</a:t>
            </a:r>
            <a:r>
              <a:rPr lang="ko-KR" altLang="en-US" dirty="0"/>
              <a:t> 뜻이죠</a:t>
            </a:r>
            <a:r>
              <a:rPr lang="en-US" altLang="ko-KR" dirty="0"/>
              <a:t>. </a:t>
            </a:r>
            <a:r>
              <a:rPr lang="ko-KR" altLang="en-US" dirty="0"/>
              <a:t>비슷한 것끼리 모인다는 원리입니다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슬라이드의 그래프를 보세요</a:t>
            </a:r>
            <a:r>
              <a:rPr lang="en-US" altLang="ko-KR" dirty="0"/>
              <a:t>. </a:t>
            </a:r>
            <a:r>
              <a:rPr lang="ko-KR" altLang="en-US" dirty="0"/>
              <a:t>삼각형</a:t>
            </a:r>
            <a:r>
              <a:rPr lang="en-US" altLang="ko-KR" dirty="0"/>
              <a:t>(▲)</a:t>
            </a:r>
            <a:r>
              <a:rPr lang="ko-KR" altLang="en-US" dirty="0"/>
              <a:t>으로 표시된 새로운 데이터가 있다고 합시다</a:t>
            </a:r>
            <a:r>
              <a:rPr lang="en-US" altLang="ko-KR" dirty="0"/>
              <a:t>. </a:t>
            </a:r>
            <a:r>
              <a:rPr lang="ko-KR" altLang="en-US" dirty="0"/>
              <a:t>이 삼각형은 도미일까요</a:t>
            </a:r>
            <a:r>
              <a:rPr lang="en-US" altLang="ko-KR" dirty="0"/>
              <a:t>, </a:t>
            </a:r>
            <a:r>
              <a:rPr lang="ko-KR" altLang="en-US" dirty="0"/>
              <a:t>빙어일까요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주변을 봅니다</a:t>
            </a:r>
            <a:r>
              <a:rPr lang="en-US" altLang="ko-KR" dirty="0"/>
              <a:t>. </a:t>
            </a:r>
            <a:r>
              <a:rPr lang="ko-KR" altLang="en-US" dirty="0"/>
              <a:t>삼각형 근처에 있는 데이터들은 대부분 도미</a:t>
            </a:r>
            <a:r>
              <a:rPr lang="en-US" altLang="ko-KR" dirty="0"/>
              <a:t>(</a:t>
            </a:r>
            <a:r>
              <a:rPr lang="ko-KR" altLang="en-US" dirty="0"/>
              <a:t>파란 점</a:t>
            </a:r>
            <a:r>
              <a:rPr lang="en-US" altLang="ko-KR" dirty="0"/>
              <a:t>)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그러니까 이 삼각형도 도미라고 판단하는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좀 더 구체적으로 말하면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</a:t>
            </a:r>
            <a:r>
              <a:rPr lang="ko-KR" altLang="en-US" dirty="0"/>
              <a:t>새로운 데이터가 들어온다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</a:t>
            </a:r>
            <a:r>
              <a:rPr lang="ko-KR" altLang="en-US" dirty="0"/>
              <a:t>이 데이터와 기존 모든 데이터 사이의 거리를 계산한다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3. </a:t>
            </a:r>
            <a:r>
              <a:rPr lang="ko-KR" altLang="en-US" dirty="0"/>
              <a:t>가장 가까운 </a:t>
            </a:r>
            <a:r>
              <a:rPr lang="en-US" altLang="ko-KR" dirty="0"/>
              <a:t>k</a:t>
            </a:r>
            <a:r>
              <a:rPr lang="ko-KR" altLang="en-US" dirty="0"/>
              <a:t>개의 데이터를 찾는다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4. </a:t>
            </a:r>
            <a:r>
              <a:rPr lang="ko-KR" altLang="en-US" dirty="0"/>
              <a:t>그 </a:t>
            </a:r>
            <a:r>
              <a:rPr lang="en-US" altLang="ko-KR" dirty="0"/>
              <a:t>k</a:t>
            </a:r>
            <a:r>
              <a:rPr lang="ko-KR" altLang="en-US" dirty="0"/>
              <a:t>개 중에서 다수결로 정답을 결정한다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이게 전부입니다</a:t>
            </a:r>
            <a:r>
              <a:rPr lang="en-US" altLang="ko-KR" dirty="0"/>
              <a:t>. </a:t>
            </a:r>
            <a:r>
              <a:rPr lang="ko-KR" altLang="en-US" dirty="0"/>
              <a:t>수학적으로 복잡한 계산이 없어요</a:t>
            </a:r>
            <a:r>
              <a:rPr lang="en-US" altLang="ko-KR" dirty="0"/>
              <a:t>. </a:t>
            </a:r>
            <a:r>
              <a:rPr lang="ko-KR" altLang="en-US" dirty="0"/>
              <a:t>거리 재고</a:t>
            </a:r>
            <a:r>
              <a:rPr lang="en-US" altLang="ko-KR" dirty="0"/>
              <a:t>, </a:t>
            </a:r>
            <a:r>
              <a:rPr lang="ko-KR" altLang="en-US" dirty="0"/>
              <a:t>가장 가까운 것들 보고</a:t>
            </a:r>
            <a:r>
              <a:rPr lang="en-US" altLang="ko-KR" dirty="0"/>
              <a:t>, </a:t>
            </a:r>
            <a:r>
              <a:rPr lang="ko-KR" altLang="en-US" dirty="0"/>
              <a:t>다수결로 결정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</a:t>
            </a:r>
            <a:r>
              <a:rPr lang="en-US" altLang="ko-KR" dirty="0"/>
              <a:t>"k"</a:t>
            </a:r>
            <a:r>
              <a:rPr lang="ko-KR" altLang="en-US" dirty="0"/>
              <a:t>가 </a:t>
            </a:r>
            <a:r>
              <a:rPr lang="ko-KR" altLang="en-US" dirty="0" err="1"/>
              <a:t>뭐냐면</a:t>
            </a:r>
            <a:r>
              <a:rPr lang="en-US" altLang="ko-KR" dirty="0"/>
              <a:t>, </a:t>
            </a:r>
            <a:r>
              <a:rPr lang="ko-KR" altLang="en-US" dirty="0"/>
              <a:t>참고할 이웃의 수입니다</a:t>
            </a:r>
            <a:r>
              <a:rPr lang="en-US" altLang="ko-KR" dirty="0"/>
              <a:t>. `</a:t>
            </a:r>
            <a:r>
              <a:rPr lang="en-US" altLang="ko-KR" dirty="0" err="1"/>
              <a:t>KNeighborsClassifier</a:t>
            </a:r>
            <a:r>
              <a:rPr lang="en-US" altLang="ko-KR" dirty="0"/>
              <a:t>`</a:t>
            </a:r>
            <a:r>
              <a:rPr lang="ko-KR" altLang="en-US" dirty="0"/>
              <a:t>의 기본값은 </a:t>
            </a:r>
            <a:r>
              <a:rPr lang="en-US" altLang="ko-KR" dirty="0"/>
              <a:t>k=5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가장 가까운 </a:t>
            </a:r>
            <a:r>
              <a:rPr lang="en-US" altLang="ko-KR" dirty="0"/>
              <a:t>5</a:t>
            </a:r>
            <a:r>
              <a:rPr lang="ko-KR" altLang="en-US" dirty="0"/>
              <a:t>개의 데이터를 보고 다수결로 판단하는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5</a:t>
            </a:r>
            <a:r>
              <a:rPr lang="ko-KR" altLang="en-US" dirty="0"/>
              <a:t>개 중에 도미가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빙어가 </a:t>
            </a:r>
            <a:r>
              <a:rPr lang="en-US" altLang="ko-KR" dirty="0"/>
              <a:t>2</a:t>
            </a:r>
            <a:r>
              <a:rPr lang="ko-KR" altLang="en-US" dirty="0"/>
              <a:t>개면</a:t>
            </a:r>
            <a:r>
              <a:rPr lang="en-US" altLang="ko-KR" dirty="0"/>
              <a:t>? → </a:t>
            </a:r>
            <a:r>
              <a:rPr lang="ko-KR" altLang="en-US" dirty="0"/>
              <a:t>도미</a:t>
            </a:r>
            <a:r>
              <a:rPr lang="en-US" altLang="ko-KR" dirty="0"/>
              <a:t>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5</a:t>
            </a:r>
            <a:r>
              <a:rPr lang="ko-KR" altLang="en-US" dirty="0"/>
              <a:t>개 중에 도미가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빙어가 </a:t>
            </a:r>
            <a:r>
              <a:rPr lang="en-US" altLang="ko-KR" dirty="0"/>
              <a:t>4</a:t>
            </a:r>
            <a:r>
              <a:rPr lang="ko-KR" altLang="en-US" dirty="0"/>
              <a:t>개면</a:t>
            </a:r>
            <a:r>
              <a:rPr lang="en-US" altLang="ko-KR" dirty="0"/>
              <a:t>? → </a:t>
            </a:r>
            <a:r>
              <a:rPr lang="ko-KR" altLang="en-US" dirty="0"/>
              <a:t>빙어</a:t>
            </a:r>
            <a:r>
              <a:rPr lang="en-US" altLang="ko-KR" dirty="0"/>
              <a:t>!</a:t>
            </a:r>
            <a:endParaRPr dirty="0"/>
          </a:p>
        </p:txBody>
      </p:sp>
      <p:sp>
        <p:nvSpPr>
          <p:cNvPr id="573" name="Google Shape;57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predict() </a:t>
            </a:r>
            <a:r>
              <a:rPr lang="ko-KR" altLang="en-US" dirty="0"/>
              <a:t>메서드로 예측하기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모델이 훈련되었으니 새로운 데이터로 예측을 해봅시다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`predict()` </a:t>
            </a:r>
            <a:r>
              <a:rPr lang="ko-KR" altLang="en-US" dirty="0"/>
              <a:t>메서드는 새로운 데이터의 정답을 예측합니다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길이 </a:t>
            </a:r>
            <a:r>
              <a:rPr lang="en-US" altLang="ko-KR" dirty="0"/>
              <a:t>30cm, </a:t>
            </a:r>
            <a:r>
              <a:rPr lang="ko-KR" altLang="en-US" dirty="0"/>
              <a:t>무게 </a:t>
            </a:r>
            <a:r>
              <a:rPr lang="en-US" altLang="ko-KR" dirty="0"/>
              <a:t>600g</a:t>
            </a:r>
            <a:r>
              <a:rPr lang="ko-KR" altLang="en-US" dirty="0"/>
              <a:t>인 생선은 도미일까 빙어일까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kn.predict</a:t>
            </a:r>
            <a:r>
              <a:rPr lang="en-US" altLang="ko-KR" dirty="0"/>
              <a:t>([[30, 600]])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실행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결과</a:t>
            </a:r>
            <a:r>
              <a:rPr lang="en-US" altLang="ko-KR" dirty="0"/>
              <a:t>: `array([1])`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1, </a:t>
            </a:r>
            <a:r>
              <a:rPr lang="ko-KR" altLang="en-US" dirty="0"/>
              <a:t>즉 도미로 예측했습니다</a:t>
            </a:r>
            <a:r>
              <a:rPr lang="en-US" altLang="ko-KR" dirty="0"/>
              <a:t>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코드를 보면 </a:t>
            </a:r>
            <a:r>
              <a:rPr lang="en-US" altLang="ko-KR" dirty="0"/>
              <a:t>`[[30, 600]]`</a:t>
            </a:r>
            <a:r>
              <a:rPr lang="ko-KR" altLang="en-US" dirty="0"/>
              <a:t>처럼 리스트를 </a:t>
            </a:r>
            <a:r>
              <a:rPr lang="en-US" altLang="ko-KR" dirty="0"/>
              <a:t>2</a:t>
            </a:r>
            <a:r>
              <a:rPr lang="ko-KR" altLang="en-US" dirty="0"/>
              <a:t>번 감쌌습니다</a:t>
            </a:r>
            <a:r>
              <a:rPr lang="en-US" altLang="ko-KR" dirty="0"/>
              <a:t>. </a:t>
            </a:r>
            <a:r>
              <a:rPr lang="ko-KR" altLang="en-US" dirty="0"/>
              <a:t>왜 그럴까요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fit()</a:t>
            </a:r>
            <a:r>
              <a:rPr lang="ko-KR" altLang="en-US" dirty="0"/>
              <a:t>할 때 </a:t>
            </a:r>
            <a:r>
              <a:rPr lang="en-US" altLang="ko-KR" dirty="0"/>
              <a:t>`</a:t>
            </a:r>
            <a:r>
              <a:rPr lang="en-US" altLang="ko-KR" dirty="0" err="1"/>
              <a:t>fish_data</a:t>
            </a:r>
            <a:r>
              <a:rPr lang="en-US" altLang="ko-KR" dirty="0"/>
              <a:t>`</a:t>
            </a:r>
            <a:r>
              <a:rPr lang="ko-KR" altLang="en-US" dirty="0"/>
              <a:t>가 </a:t>
            </a:r>
            <a:r>
              <a:rPr lang="en-US" altLang="ko-KR" dirty="0"/>
              <a:t>2</a:t>
            </a:r>
            <a:r>
              <a:rPr lang="ko-KR" altLang="en-US" dirty="0"/>
              <a:t>차원 </a:t>
            </a:r>
            <a:r>
              <a:rPr lang="ko-KR" altLang="en-US" dirty="0" err="1"/>
              <a:t>리스트였잖아요</a:t>
            </a:r>
            <a:r>
              <a:rPr lang="en-US" altLang="ko-KR" dirty="0"/>
              <a:t>? predict()</a:t>
            </a:r>
            <a:r>
              <a:rPr lang="ko-KR" altLang="en-US" dirty="0"/>
              <a:t>에도 같은 형태를 넣어줘야 합니다</a:t>
            </a:r>
            <a:r>
              <a:rPr lang="en-US" altLang="ko-KR" dirty="0"/>
              <a:t>. `[30, 600]`</a:t>
            </a:r>
            <a:r>
              <a:rPr lang="ko-KR" altLang="en-US" dirty="0"/>
              <a:t>은 </a:t>
            </a:r>
            <a:r>
              <a:rPr lang="en-US" altLang="ko-KR" dirty="0"/>
              <a:t>1</a:t>
            </a:r>
            <a:r>
              <a:rPr lang="ko-KR" altLang="en-US" dirty="0"/>
              <a:t>차원 리스트고</a:t>
            </a:r>
            <a:r>
              <a:rPr lang="en-US" altLang="ko-KR" dirty="0"/>
              <a:t>, `[[30, 600]]`</a:t>
            </a:r>
            <a:r>
              <a:rPr lang="ko-KR" altLang="en-US" dirty="0"/>
              <a:t>이 </a:t>
            </a:r>
            <a:r>
              <a:rPr lang="en-US" altLang="ko-KR" dirty="0"/>
              <a:t>2</a:t>
            </a:r>
            <a:r>
              <a:rPr lang="ko-KR" altLang="en-US" dirty="0"/>
              <a:t>차원 리스트입니다</a:t>
            </a:r>
            <a:r>
              <a:rPr lang="en-US" altLang="ko-KR" dirty="0"/>
              <a:t>. </a:t>
            </a:r>
            <a:r>
              <a:rPr lang="ko-KR" altLang="en-US" dirty="0" err="1"/>
              <a:t>사이킷런은</a:t>
            </a:r>
            <a:r>
              <a:rPr lang="ko-KR" altLang="en-US" dirty="0"/>
              <a:t> 항상 </a:t>
            </a:r>
            <a:r>
              <a:rPr lang="en-US" altLang="ko-KR" dirty="0"/>
              <a:t>2</a:t>
            </a:r>
            <a:r>
              <a:rPr lang="ko-KR" altLang="en-US" dirty="0"/>
              <a:t>차원 형태의 입력을 기대합니다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산점도를</a:t>
            </a:r>
            <a:r>
              <a:rPr lang="ko-KR" altLang="en-US" dirty="0"/>
              <a:t> 떠올려 보면</a:t>
            </a:r>
            <a:r>
              <a:rPr lang="en-US" altLang="ko-KR" dirty="0"/>
              <a:t>, </a:t>
            </a:r>
            <a:r>
              <a:rPr lang="ko-KR" altLang="en-US" dirty="0"/>
              <a:t>길이 </a:t>
            </a:r>
            <a:r>
              <a:rPr lang="en-US" altLang="ko-KR" dirty="0"/>
              <a:t>30cm·</a:t>
            </a:r>
            <a:r>
              <a:rPr lang="ko-KR" altLang="en-US" dirty="0"/>
              <a:t>무게 </a:t>
            </a:r>
            <a:r>
              <a:rPr lang="en-US" altLang="ko-KR" dirty="0"/>
              <a:t>600g</a:t>
            </a:r>
            <a:r>
              <a:rPr lang="ko-KR" altLang="en-US" dirty="0"/>
              <a:t>은 도미 그룹 한가운데에 있으니까</a:t>
            </a:r>
            <a:r>
              <a:rPr lang="en-US" altLang="ko-KR" dirty="0"/>
              <a:t>, </a:t>
            </a:r>
            <a:r>
              <a:rPr lang="ko-KR" altLang="en-US" dirty="0"/>
              <a:t>주변 </a:t>
            </a:r>
            <a:r>
              <a:rPr lang="en-US" altLang="ko-KR" dirty="0"/>
              <a:t>5</a:t>
            </a:r>
            <a:r>
              <a:rPr lang="ko-KR" altLang="en-US" dirty="0"/>
              <a:t>개 데이터가 전부 도미일 거예요</a:t>
            </a:r>
            <a:r>
              <a:rPr lang="en-US" altLang="ko-KR" dirty="0"/>
              <a:t>. </a:t>
            </a:r>
            <a:r>
              <a:rPr lang="ko-KR" altLang="en-US" dirty="0"/>
              <a:t>당연히 도미로 예측하겠죠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k-</a:t>
            </a:r>
            <a:r>
              <a:rPr lang="ko-KR" altLang="en-US" dirty="0" err="1"/>
              <a:t>최근접</a:t>
            </a:r>
            <a:r>
              <a:rPr lang="ko-KR" altLang="en-US" dirty="0"/>
              <a:t> 이웃의 특징과 단점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중요한 점이 하나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k-</a:t>
            </a:r>
            <a:r>
              <a:rPr lang="ko-KR" altLang="en-US" dirty="0" err="1"/>
              <a:t>최근접</a:t>
            </a:r>
            <a:r>
              <a:rPr lang="ko-KR" altLang="en-US" dirty="0"/>
              <a:t> 이웃 알고리즘은 사실 무언가를 </a:t>
            </a:r>
            <a:r>
              <a:rPr lang="en-US" altLang="ko-KR" dirty="0"/>
              <a:t>"</a:t>
            </a:r>
            <a:r>
              <a:rPr lang="ko-KR" altLang="en-US" dirty="0"/>
              <a:t>학습</a:t>
            </a:r>
            <a:r>
              <a:rPr lang="en-US" altLang="ko-KR" dirty="0"/>
              <a:t>"</a:t>
            </a:r>
            <a:r>
              <a:rPr lang="ko-KR" altLang="en-US" dirty="0"/>
              <a:t>하는 게 아닙니다</a:t>
            </a:r>
            <a:r>
              <a:rPr lang="en-US" altLang="ko-KR" dirty="0"/>
              <a:t>. fit() </a:t>
            </a:r>
            <a:r>
              <a:rPr lang="ko-KR" altLang="en-US" dirty="0"/>
              <a:t>메서드에 전달한 데이터를 그대로 메모리에 저장하고 있다가</a:t>
            </a:r>
            <a:r>
              <a:rPr lang="en-US" altLang="ko-KR" dirty="0"/>
              <a:t>, </a:t>
            </a:r>
            <a:r>
              <a:rPr lang="ko-KR" altLang="en-US" dirty="0"/>
              <a:t>새로운 데이터가 오면 가장 가까운 것을 찾는 것이 전부예요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그래서 장점은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이해하기 쉽다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구현이 간단하다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별도의 훈련 과정이 필요 없다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단점은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데이터가 아주 많으면 느리다 </a:t>
            </a:r>
            <a:r>
              <a:rPr lang="en-US" altLang="ko-KR" dirty="0"/>
              <a:t>— </a:t>
            </a:r>
            <a:r>
              <a:rPr lang="ko-KR" altLang="en-US" dirty="0"/>
              <a:t>모든 데이터를 메모리에 저장하니까 메모리가 많이 필요하고</a:t>
            </a:r>
            <a:r>
              <a:rPr lang="en-US" altLang="ko-KR" dirty="0"/>
              <a:t>, </a:t>
            </a:r>
            <a:r>
              <a:rPr lang="ko-KR" altLang="en-US" dirty="0"/>
              <a:t>모든 데이터와의 거리를 계산해야 하니까 시간도 오래 걸립니다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실제로 </a:t>
            </a:r>
            <a:r>
              <a:rPr lang="en-US" altLang="ko-KR" dirty="0"/>
              <a:t>`</a:t>
            </a:r>
            <a:r>
              <a:rPr lang="en-US" altLang="ko-KR" dirty="0" err="1"/>
              <a:t>kn</a:t>
            </a:r>
            <a:r>
              <a:rPr lang="en-US" altLang="ko-KR" dirty="0"/>
              <a:t>._</a:t>
            </a:r>
            <a:r>
              <a:rPr lang="en-US" altLang="ko-KR" dirty="0" err="1"/>
              <a:t>fit_X</a:t>
            </a:r>
            <a:r>
              <a:rPr lang="en-US" altLang="ko-KR" dirty="0"/>
              <a:t>` </a:t>
            </a:r>
            <a:r>
              <a:rPr lang="ko-KR" altLang="en-US" dirty="0"/>
              <a:t>속성에는 우리가 전달한 </a:t>
            </a:r>
            <a:r>
              <a:rPr lang="en-US" altLang="ko-KR" dirty="0"/>
              <a:t>`</a:t>
            </a:r>
            <a:r>
              <a:rPr lang="en-US" altLang="ko-KR" dirty="0" err="1"/>
              <a:t>fish_data</a:t>
            </a:r>
            <a:r>
              <a:rPr lang="en-US" altLang="ko-KR" dirty="0"/>
              <a:t>`</a:t>
            </a:r>
            <a:r>
              <a:rPr lang="ko-KR" altLang="en-US" dirty="0"/>
              <a:t>가 통째로 저장되어 있고</a:t>
            </a:r>
            <a:r>
              <a:rPr lang="en-US" altLang="ko-KR" dirty="0"/>
              <a:t>, `</a:t>
            </a:r>
            <a:r>
              <a:rPr lang="en-US" altLang="ko-KR" dirty="0" err="1"/>
              <a:t>kn</a:t>
            </a:r>
            <a:r>
              <a:rPr lang="en-US" altLang="ko-KR" dirty="0"/>
              <a:t>._y`</a:t>
            </a:r>
            <a:r>
              <a:rPr lang="ko-KR" altLang="en-US" dirty="0"/>
              <a:t>에는 </a:t>
            </a:r>
            <a:r>
              <a:rPr lang="en-US" altLang="ko-KR" dirty="0"/>
              <a:t>`</a:t>
            </a:r>
            <a:r>
              <a:rPr lang="en-US" altLang="ko-KR" dirty="0" err="1"/>
              <a:t>fish_target</a:t>
            </a:r>
            <a:r>
              <a:rPr lang="en-US" altLang="ko-KR" dirty="0"/>
              <a:t>`</a:t>
            </a:r>
            <a:r>
              <a:rPr lang="ko-KR" altLang="en-US" dirty="0"/>
              <a:t>이 저장되어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확인해 볼까요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print(</a:t>
            </a:r>
            <a:r>
              <a:rPr lang="en-US" altLang="ko-KR" dirty="0" err="1"/>
              <a:t>kn</a:t>
            </a:r>
            <a:r>
              <a:rPr lang="en-US" altLang="ko-KR" dirty="0"/>
              <a:t>._</a:t>
            </a:r>
            <a:r>
              <a:rPr lang="en-US" altLang="ko-KR" dirty="0" err="1"/>
              <a:t>fit_X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실행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fish_data</a:t>
            </a:r>
            <a:r>
              <a:rPr lang="ko-KR" altLang="en-US" dirty="0"/>
              <a:t>와 똑같은 데이터가 출력되죠</a:t>
            </a:r>
            <a:r>
              <a:rPr lang="en-US" altLang="ko-KR" dirty="0"/>
              <a:t>? </a:t>
            </a:r>
            <a:r>
              <a:rPr lang="ko-KR" altLang="en-US" dirty="0"/>
              <a:t>이 모델은 정말 데이터를 그대로 가지고 있는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7" name="Google Shape;58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8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en-US" altLang="ko-KR" dirty="0" err="1"/>
              <a:t>n_neighbors</a:t>
            </a:r>
            <a:r>
              <a:rPr lang="en-US" altLang="ko-KR" dirty="0"/>
              <a:t> </a:t>
            </a:r>
            <a:r>
              <a:rPr lang="ko-KR" altLang="en-US" dirty="0"/>
              <a:t>매개변수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k-</a:t>
            </a:r>
            <a:r>
              <a:rPr lang="ko-KR" altLang="en-US" dirty="0" err="1"/>
              <a:t>최근접</a:t>
            </a:r>
            <a:r>
              <a:rPr lang="ko-KR" altLang="en-US" dirty="0"/>
              <a:t> 이웃에서 </a:t>
            </a:r>
            <a:r>
              <a:rPr lang="en-US" altLang="ko-KR" dirty="0"/>
              <a:t>k</a:t>
            </a:r>
            <a:r>
              <a:rPr lang="ko-KR" altLang="en-US" dirty="0"/>
              <a:t>값을 바꾸면 어떻게 될까요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기본값은 </a:t>
            </a:r>
            <a:r>
              <a:rPr lang="en-US" altLang="ko-KR" dirty="0"/>
              <a:t>5</a:t>
            </a:r>
            <a:r>
              <a:rPr lang="ko-KR" altLang="en-US" dirty="0"/>
              <a:t>였죠</a:t>
            </a:r>
            <a:r>
              <a:rPr lang="en-US" altLang="ko-KR" dirty="0"/>
              <a:t>? </a:t>
            </a:r>
            <a:r>
              <a:rPr lang="ko-KR" altLang="en-US" dirty="0"/>
              <a:t>이 값은 </a:t>
            </a:r>
            <a:r>
              <a:rPr lang="en-US" altLang="ko-KR" dirty="0"/>
              <a:t>`</a:t>
            </a:r>
            <a:r>
              <a:rPr lang="en-US" altLang="ko-KR" dirty="0" err="1"/>
              <a:t>n_neighbors</a:t>
            </a:r>
            <a:r>
              <a:rPr lang="en-US" altLang="ko-KR" dirty="0"/>
              <a:t>` </a:t>
            </a:r>
            <a:r>
              <a:rPr lang="ko-KR" altLang="en-US" dirty="0"/>
              <a:t>매개변수로 바꿀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극단적인 예를 들어봅시다</a:t>
            </a:r>
            <a:r>
              <a:rPr lang="en-US" altLang="ko-KR" dirty="0"/>
              <a:t>. k=49</a:t>
            </a:r>
            <a:r>
              <a:rPr lang="ko-KR" altLang="en-US" dirty="0"/>
              <a:t>로 설정하면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kn49 = </a:t>
            </a:r>
            <a:r>
              <a:rPr lang="en-US" altLang="ko-KR" dirty="0" err="1"/>
              <a:t>KNeighborsClassifier</a:t>
            </a:r>
            <a:r>
              <a:rPr lang="en-US" altLang="ko-KR" dirty="0"/>
              <a:t>(</a:t>
            </a:r>
            <a:r>
              <a:rPr lang="en-US" altLang="ko-KR" dirty="0" err="1"/>
              <a:t>n_neighbors</a:t>
            </a:r>
            <a:r>
              <a:rPr lang="en-US" altLang="ko-KR" dirty="0"/>
              <a:t>=49)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kn49.fit(</a:t>
            </a:r>
            <a:r>
              <a:rPr lang="en-US" altLang="ko-KR" dirty="0" err="1"/>
              <a:t>fish_data</a:t>
            </a:r>
            <a:r>
              <a:rPr lang="en-US" altLang="ko-KR" dirty="0"/>
              <a:t>, </a:t>
            </a:r>
            <a:r>
              <a:rPr lang="en-US" altLang="ko-KR" dirty="0" err="1"/>
              <a:t>fish_target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kn49.score(</a:t>
            </a:r>
            <a:r>
              <a:rPr lang="en-US" altLang="ko-KR" dirty="0" err="1"/>
              <a:t>fish_data</a:t>
            </a:r>
            <a:r>
              <a:rPr lang="en-US" altLang="ko-KR" dirty="0"/>
              <a:t>, </a:t>
            </a:r>
            <a:r>
              <a:rPr lang="en-US" altLang="ko-KR" dirty="0" err="1"/>
              <a:t>fish_target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실행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결과</a:t>
            </a:r>
            <a:r>
              <a:rPr lang="en-US" altLang="ko-KR" dirty="0"/>
              <a:t>: 0.7142857142857143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1.0</a:t>
            </a:r>
            <a:r>
              <a:rPr lang="ko-KR" altLang="en-US" dirty="0"/>
              <a:t>이 아니라 약 </a:t>
            </a:r>
            <a:r>
              <a:rPr lang="en-US" altLang="ko-KR" dirty="0"/>
              <a:t>0.71</a:t>
            </a:r>
            <a:r>
              <a:rPr lang="ko-KR" altLang="en-US" dirty="0"/>
              <a:t>입니다</a:t>
            </a:r>
            <a:r>
              <a:rPr lang="en-US" altLang="ko-KR" dirty="0"/>
              <a:t>! </a:t>
            </a:r>
            <a:r>
              <a:rPr lang="ko-KR" altLang="en-US" dirty="0"/>
              <a:t>왜 이럴까요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fish_data</a:t>
            </a:r>
            <a:r>
              <a:rPr lang="ko-KR" altLang="en-US" dirty="0"/>
              <a:t>에는 총 </a:t>
            </a:r>
            <a:r>
              <a:rPr lang="en-US" altLang="ko-KR" dirty="0"/>
              <a:t>49</a:t>
            </a:r>
            <a:r>
              <a:rPr lang="ko-KR" altLang="en-US" dirty="0"/>
              <a:t>개의 데이터가 있습니다</a:t>
            </a:r>
            <a:r>
              <a:rPr lang="en-US" altLang="ko-KR" dirty="0"/>
              <a:t>. </a:t>
            </a:r>
            <a:r>
              <a:rPr lang="en-US" altLang="ko-KR" dirty="0" err="1"/>
              <a:t>n_neighbors</a:t>
            </a:r>
            <a:r>
              <a:rPr lang="en-US" altLang="ko-KR" dirty="0"/>
              <a:t>=49</a:t>
            </a:r>
            <a:r>
              <a:rPr lang="ko-KR" altLang="en-US" dirty="0"/>
              <a:t>로 설정하면</a:t>
            </a:r>
            <a:r>
              <a:rPr lang="en-US" altLang="ko-KR" dirty="0"/>
              <a:t>, </a:t>
            </a:r>
            <a:r>
              <a:rPr lang="ko-KR" altLang="en-US" dirty="0"/>
              <a:t>가장 가까운 </a:t>
            </a:r>
            <a:r>
              <a:rPr lang="en-US" altLang="ko-KR" dirty="0"/>
              <a:t>49</a:t>
            </a:r>
            <a:r>
              <a:rPr lang="ko-KR" altLang="en-US" dirty="0"/>
              <a:t>개의 데이터를 참고하겠다는 뜻인데</a:t>
            </a:r>
            <a:r>
              <a:rPr lang="en-US" altLang="ko-KR" dirty="0"/>
              <a:t>... </a:t>
            </a:r>
            <a:r>
              <a:rPr lang="ko-KR" altLang="en-US" dirty="0"/>
              <a:t>전체 데이터가 </a:t>
            </a:r>
            <a:r>
              <a:rPr lang="en-US" altLang="ko-KR" dirty="0"/>
              <a:t>49</a:t>
            </a:r>
            <a:r>
              <a:rPr lang="ko-KR" altLang="en-US" dirty="0"/>
              <a:t>개이므로 모든 데이터를 다 참고하는 </a:t>
            </a:r>
            <a:r>
              <a:rPr lang="ko-KR" altLang="en-US" dirty="0" err="1"/>
              <a:t>셈이에요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그러면 어떤 새로운 데이터가 들어와도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- 49</a:t>
            </a:r>
            <a:r>
              <a:rPr lang="ko-KR" altLang="en-US" dirty="0"/>
              <a:t>개 중 도미가 </a:t>
            </a:r>
            <a:r>
              <a:rPr lang="en-US" altLang="ko-KR" dirty="0"/>
              <a:t>35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빙어가 </a:t>
            </a:r>
            <a:r>
              <a:rPr lang="en-US" altLang="ko-KR" dirty="0"/>
              <a:t>14</a:t>
            </a:r>
            <a:r>
              <a:rPr lang="ko-KR" altLang="en-US" dirty="0"/>
              <a:t>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다수결 → 항상 도미로 예측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모든 데이터를 도미로 예측하니까</a:t>
            </a:r>
            <a:r>
              <a:rPr lang="en-US" altLang="ko-KR" dirty="0"/>
              <a:t>, </a:t>
            </a:r>
            <a:r>
              <a:rPr lang="ko-KR" altLang="en-US" dirty="0"/>
              <a:t>도미 </a:t>
            </a:r>
            <a:r>
              <a:rPr lang="en-US" altLang="ko-KR" dirty="0"/>
              <a:t>35</a:t>
            </a:r>
            <a:r>
              <a:rPr lang="ko-KR" altLang="en-US" dirty="0"/>
              <a:t>개는 맞히지만 빙어 </a:t>
            </a:r>
            <a:r>
              <a:rPr lang="en-US" altLang="ko-KR" dirty="0"/>
              <a:t>14</a:t>
            </a:r>
            <a:r>
              <a:rPr lang="ko-KR" altLang="en-US" dirty="0"/>
              <a:t>개는 전부 틀립니다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정확도 </a:t>
            </a:r>
            <a:r>
              <a:rPr lang="en-US" altLang="ko-KR" dirty="0"/>
              <a:t>= 35 / 49 ≈ 0.714</a:t>
            </a:r>
            <a:endParaRPr dirty="0"/>
          </a:p>
        </p:txBody>
      </p:sp>
      <p:sp>
        <p:nvSpPr>
          <p:cNvPr id="599" name="Google Shape;59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9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이걸 코드로 확인해 봅시다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print(35/49)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결과</a:t>
            </a:r>
            <a:r>
              <a:rPr lang="en-US" altLang="ko-KR" dirty="0"/>
              <a:t>: `0.7142857142857143`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score() </a:t>
            </a:r>
            <a:r>
              <a:rPr lang="ko-KR" altLang="en-US" dirty="0"/>
              <a:t>메서드의 결과와 정확히 같죠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예시가 보여주는 교훈은 </a:t>
            </a:r>
            <a:r>
              <a:rPr lang="ko-KR" altLang="en-US" dirty="0" err="1"/>
              <a:t>뭘까요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n_neighbors</a:t>
            </a:r>
            <a:r>
              <a:rPr lang="en-US" altLang="ko-KR" dirty="0"/>
              <a:t> </a:t>
            </a:r>
            <a:r>
              <a:rPr lang="ko-KR" altLang="en-US" dirty="0"/>
              <a:t>값이 너무 크면 안 됩니다</a:t>
            </a:r>
            <a:r>
              <a:rPr lang="en-US" altLang="ko-KR" dirty="0"/>
              <a:t>. </a:t>
            </a:r>
            <a:r>
              <a:rPr lang="ko-KR" altLang="en-US" dirty="0"/>
              <a:t>참고 데이터를 너무 많이 쓰면</a:t>
            </a:r>
            <a:r>
              <a:rPr lang="en-US" altLang="ko-KR" dirty="0"/>
              <a:t>, </a:t>
            </a:r>
            <a:r>
              <a:rPr lang="ko-KR" altLang="en-US" dirty="0"/>
              <a:t>결국 전체 데이터의 다수결에 따라 항상 같은 답을 내놓게 됩니다</a:t>
            </a:r>
            <a:r>
              <a:rPr lang="en-US" altLang="ko-KR" dirty="0"/>
              <a:t>. </a:t>
            </a:r>
            <a:r>
              <a:rPr lang="ko-KR" altLang="en-US" dirty="0"/>
              <a:t>이러면 모델이 의미가 없어요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반대로 너무 작으면</a:t>
            </a:r>
            <a:r>
              <a:rPr lang="en-US" altLang="ko-KR" dirty="0"/>
              <a:t>? </a:t>
            </a:r>
            <a:r>
              <a:rPr lang="en-US" altLang="ko-KR" dirty="0" err="1"/>
              <a:t>n_neighbors</a:t>
            </a:r>
            <a:r>
              <a:rPr lang="en-US" altLang="ko-KR" dirty="0"/>
              <a:t>=1</a:t>
            </a:r>
            <a:r>
              <a:rPr lang="ko-KR" altLang="en-US" dirty="0"/>
              <a:t>이면 가장 가까운 </a:t>
            </a:r>
            <a:r>
              <a:rPr lang="en-US" altLang="ko-KR" dirty="0"/>
              <a:t>1</a:t>
            </a:r>
            <a:r>
              <a:rPr lang="ko-KR" altLang="en-US" dirty="0"/>
              <a:t>개만 보고 판단합니다</a:t>
            </a:r>
            <a:r>
              <a:rPr lang="en-US" altLang="ko-KR" dirty="0"/>
              <a:t>. </a:t>
            </a:r>
            <a:r>
              <a:rPr lang="ko-KR" altLang="en-US" dirty="0"/>
              <a:t>이러면 약간의 노이즈에도 민감하게 반응할 수 있어요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적절한 </a:t>
            </a:r>
            <a:r>
              <a:rPr lang="en-US" altLang="ko-KR" dirty="0"/>
              <a:t>k</a:t>
            </a:r>
            <a:r>
              <a:rPr lang="ko-KR" altLang="en-US" dirty="0"/>
              <a:t>값을 찾는 것이 중요한데</a:t>
            </a:r>
            <a:r>
              <a:rPr lang="en-US" altLang="ko-KR" dirty="0"/>
              <a:t>, </a:t>
            </a:r>
            <a:r>
              <a:rPr lang="ko-KR" altLang="en-US" dirty="0"/>
              <a:t>기본값 </a:t>
            </a:r>
            <a:r>
              <a:rPr lang="en-US" altLang="ko-KR" dirty="0"/>
              <a:t>5</a:t>
            </a:r>
            <a:r>
              <a:rPr lang="ko-KR" altLang="en-US" dirty="0"/>
              <a:t>가 보통 꽤 잘 작동합니다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코드 셀의 출력 규칙 </a:t>
            </a:r>
            <a:r>
              <a:rPr lang="en-US" altLang="ko-KR" dirty="0"/>
              <a:t>— </a:t>
            </a:r>
            <a:r>
              <a:rPr lang="ko-KR" altLang="en-US" dirty="0"/>
              <a:t>보충 설명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슬라이드 아래쪽에 재미있는 보충 설명이 있습니다</a:t>
            </a:r>
            <a:r>
              <a:rPr lang="en-US" altLang="ko-KR" dirty="0"/>
              <a:t>. "</a:t>
            </a:r>
            <a:r>
              <a:rPr lang="ko-KR" altLang="en-US" dirty="0" err="1"/>
              <a:t>결괏값은</a:t>
            </a:r>
            <a:r>
              <a:rPr lang="ko-KR" altLang="en-US" dirty="0"/>
              <a:t> 왜 한 번만 출력될까</a:t>
            </a:r>
            <a:r>
              <a:rPr lang="en-US" altLang="ko-KR" dirty="0"/>
              <a:t>?"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코드 셀에 여러 줄의 코드를 넣으면</a:t>
            </a:r>
            <a:r>
              <a:rPr lang="en-US" altLang="ko-KR" dirty="0"/>
              <a:t>, </a:t>
            </a:r>
            <a:r>
              <a:rPr lang="ko-KR" altLang="en-US" dirty="0"/>
              <a:t>마지막 줄의 </a:t>
            </a:r>
            <a:r>
              <a:rPr lang="ko-KR" altLang="en-US" dirty="0" err="1"/>
              <a:t>반환값만</a:t>
            </a:r>
            <a:r>
              <a:rPr lang="ko-KR" altLang="en-US" dirty="0"/>
              <a:t> 자동으로 출력됩니다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예를 들어 한 셀에 이렇게 넣으면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kn49.score(</a:t>
            </a:r>
            <a:r>
              <a:rPr lang="en-US" altLang="ko-KR" dirty="0" err="1"/>
              <a:t>fish_data</a:t>
            </a:r>
            <a:r>
              <a:rPr lang="en-US" altLang="ko-KR" dirty="0"/>
              <a:t>, </a:t>
            </a:r>
            <a:r>
              <a:rPr lang="en-US" altLang="ko-KR" dirty="0" err="1"/>
              <a:t>fish_target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print(35/49)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score()</a:t>
            </a:r>
            <a:r>
              <a:rPr lang="ko-KR" altLang="en-US" dirty="0"/>
              <a:t>의 </a:t>
            </a:r>
            <a:r>
              <a:rPr lang="ko-KR" altLang="en-US" dirty="0" err="1"/>
              <a:t>반환값은</a:t>
            </a:r>
            <a:r>
              <a:rPr lang="ko-KR" altLang="en-US" dirty="0"/>
              <a:t> 출력되지 않고</a:t>
            </a:r>
            <a:r>
              <a:rPr lang="en-US" altLang="ko-KR" dirty="0"/>
              <a:t>, print()</a:t>
            </a:r>
            <a:r>
              <a:rPr lang="ko-KR" altLang="en-US" dirty="0"/>
              <a:t>의 결과만 나옵니다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모든 값을 출력하려면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 </a:t>
            </a:r>
            <a:r>
              <a:rPr lang="ko-KR" altLang="en-US" dirty="0"/>
              <a:t>각각 </a:t>
            </a:r>
            <a:r>
              <a:rPr lang="en-US" altLang="ko-KR" dirty="0"/>
              <a:t>`print()`</a:t>
            </a:r>
            <a:r>
              <a:rPr lang="ko-KR" altLang="en-US" dirty="0"/>
              <a:t>로 감싸거나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2. </a:t>
            </a:r>
            <a:r>
              <a:rPr lang="ko-KR" altLang="en-US" dirty="0"/>
              <a:t>여러 개의 코드 셀로 나누어 작성하면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이건 </a:t>
            </a:r>
            <a:r>
              <a:rPr lang="ko-KR" altLang="en-US" dirty="0" err="1"/>
              <a:t>코랩</a:t>
            </a:r>
            <a:r>
              <a:rPr lang="en-US" altLang="ko-KR" dirty="0"/>
              <a:t>(</a:t>
            </a:r>
            <a:r>
              <a:rPr lang="ko-KR" altLang="en-US" dirty="0"/>
              <a:t>주피터</a:t>
            </a:r>
            <a:r>
              <a:rPr lang="en-US" altLang="ko-KR" dirty="0"/>
              <a:t>) </a:t>
            </a:r>
            <a:r>
              <a:rPr lang="ko-KR" altLang="en-US" dirty="0"/>
              <a:t>노트북의 특성이니까 </a:t>
            </a:r>
            <a:r>
              <a:rPr lang="ko-KR" altLang="en-US" dirty="0" err="1"/>
              <a:t>알아두세요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그러면 </a:t>
            </a:r>
            <a:r>
              <a:rPr lang="en-US" altLang="ko-KR" dirty="0" err="1"/>
              <a:t>n_neighbors</a:t>
            </a:r>
            <a:r>
              <a:rPr lang="ko-KR" altLang="en-US" dirty="0"/>
              <a:t>를 </a:t>
            </a:r>
            <a:r>
              <a:rPr lang="en-US" altLang="ko-KR" dirty="0"/>
              <a:t>49</a:t>
            </a:r>
            <a:r>
              <a:rPr lang="ko-KR" altLang="en-US" dirty="0"/>
              <a:t>로 두는 건 좋지 않다는 걸 확인했으니</a:t>
            </a:r>
            <a:r>
              <a:rPr lang="en-US" altLang="ko-KR" dirty="0"/>
              <a:t>, </a:t>
            </a:r>
            <a:r>
              <a:rPr lang="ko-KR" altLang="en-US" dirty="0"/>
              <a:t>기본값 </a:t>
            </a:r>
            <a:r>
              <a:rPr lang="en-US" altLang="ko-KR" dirty="0"/>
              <a:t>5</a:t>
            </a:r>
            <a:r>
              <a:rPr lang="ko-KR" altLang="en-US" dirty="0"/>
              <a:t>를 사용한 모델 </a:t>
            </a:r>
            <a:r>
              <a:rPr lang="en-US" altLang="ko-KR" dirty="0"/>
              <a:t>`</a:t>
            </a:r>
            <a:r>
              <a:rPr lang="en-US" altLang="ko-KR" dirty="0" err="1"/>
              <a:t>kn</a:t>
            </a:r>
            <a:r>
              <a:rPr lang="en-US" altLang="ko-KR" dirty="0"/>
              <a:t>`</a:t>
            </a:r>
            <a:r>
              <a:rPr lang="ko-KR" altLang="en-US" dirty="0"/>
              <a:t>을 앞으로 계속 사용하겠습니다</a:t>
            </a:r>
            <a:r>
              <a:rPr lang="en-US" altLang="ko-KR" dirty="0"/>
              <a:t>. </a:t>
            </a:r>
            <a:r>
              <a:rPr lang="ko-KR" altLang="en-US" dirty="0"/>
              <a:t>이 모델이 도미와 빙어를 완벽하게 분류했으니까요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611" name="Google Shape;61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0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전체 과정 정리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지금까지 한 과정을 처음부터 끝까지 정리하겠습니다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분류 준비 과정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도미 </a:t>
            </a:r>
            <a:r>
              <a:rPr lang="en-US" altLang="ko-KR" dirty="0"/>
              <a:t>35</a:t>
            </a:r>
            <a:r>
              <a:rPr lang="ko-KR" altLang="en-US" dirty="0"/>
              <a:t>마리와 빙어 </a:t>
            </a:r>
            <a:r>
              <a:rPr lang="en-US" altLang="ko-KR" dirty="0"/>
              <a:t>14</a:t>
            </a:r>
            <a:r>
              <a:rPr lang="ko-KR" altLang="en-US" dirty="0"/>
              <a:t>마리의 길이와 무게를 측정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파이썬</a:t>
            </a:r>
            <a:r>
              <a:rPr lang="ko-KR" altLang="en-US" dirty="0"/>
              <a:t> 리스트로 데이터를 만들고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도미와 빙어 데이터를 합쳐서 리스트의 리스트</a:t>
            </a:r>
            <a:r>
              <a:rPr lang="en-US" altLang="ko-KR" dirty="0"/>
              <a:t>(2</a:t>
            </a:r>
            <a:r>
              <a:rPr lang="ko-KR" altLang="en-US" dirty="0"/>
              <a:t>차원 리스트</a:t>
            </a:r>
            <a:r>
              <a:rPr lang="en-US" altLang="ko-KR" dirty="0"/>
              <a:t>)</a:t>
            </a:r>
            <a:r>
              <a:rPr lang="ko-KR" altLang="en-US" dirty="0"/>
              <a:t>로 변환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정답</a:t>
            </a:r>
            <a:r>
              <a:rPr lang="en-US" altLang="ko-KR" dirty="0"/>
              <a:t>(</a:t>
            </a:r>
            <a:r>
              <a:rPr lang="ko-KR" altLang="en-US" dirty="0"/>
              <a:t>타겟</a:t>
            </a:r>
            <a:r>
              <a:rPr lang="en-US" altLang="ko-KR" dirty="0"/>
              <a:t>) </a:t>
            </a:r>
            <a:r>
              <a:rPr lang="ko-KR" altLang="en-US" dirty="0"/>
              <a:t>데이터를 만들었음 </a:t>
            </a:r>
            <a:r>
              <a:rPr lang="en-US" altLang="ko-KR" dirty="0"/>
              <a:t>(</a:t>
            </a:r>
            <a:r>
              <a:rPr lang="ko-KR" altLang="en-US" dirty="0"/>
              <a:t>도미</a:t>
            </a:r>
            <a:r>
              <a:rPr lang="en-US" altLang="ko-KR" dirty="0"/>
              <a:t>=1, </a:t>
            </a:r>
            <a:r>
              <a:rPr lang="ko-KR" altLang="en-US" dirty="0"/>
              <a:t>빙어</a:t>
            </a:r>
            <a:r>
              <a:rPr lang="en-US" altLang="ko-KR" dirty="0"/>
              <a:t>=0)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첫 번째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사이킷런의</a:t>
            </a:r>
            <a:r>
              <a:rPr lang="ko-KR" altLang="en-US" dirty="0"/>
              <a:t> </a:t>
            </a:r>
            <a:r>
              <a:rPr lang="en-US" altLang="ko-KR" dirty="0"/>
              <a:t>k-</a:t>
            </a:r>
            <a:r>
              <a:rPr lang="ko-KR" altLang="en-US" dirty="0" err="1"/>
              <a:t>최근접</a:t>
            </a:r>
            <a:r>
              <a:rPr lang="ko-KR" altLang="en-US" dirty="0"/>
              <a:t> 이웃 알고리즘 사용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주변에서 가장 가까운 </a:t>
            </a:r>
            <a:r>
              <a:rPr lang="en-US" altLang="ko-KR" dirty="0"/>
              <a:t>5</a:t>
            </a:r>
            <a:r>
              <a:rPr lang="ko-KR" altLang="en-US" dirty="0"/>
              <a:t>개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)</a:t>
            </a:r>
            <a:r>
              <a:rPr lang="ko-KR" altLang="en-US" dirty="0"/>
              <a:t>의 데이터를 보고 다수결로 예측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이 모델은 준비한 도미와 빙어 데이터를 모두 완벽하게 맞힘 </a:t>
            </a:r>
            <a:r>
              <a:rPr lang="en-US" altLang="ko-KR" dirty="0"/>
              <a:t>(</a:t>
            </a:r>
            <a:r>
              <a:rPr lang="ko-KR" altLang="en-US" dirty="0"/>
              <a:t>정확도 </a:t>
            </a:r>
            <a:r>
              <a:rPr lang="en-US" altLang="ko-KR" dirty="0"/>
              <a:t>1.0)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사용한 </a:t>
            </a:r>
            <a:r>
              <a:rPr lang="ko-KR" altLang="en-US" dirty="0" err="1"/>
              <a:t>사이킷런</a:t>
            </a:r>
            <a:r>
              <a:rPr lang="ko-KR" altLang="en-US" dirty="0"/>
              <a:t> 메서드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`fit()` — </a:t>
            </a:r>
            <a:r>
              <a:rPr lang="ko-KR" altLang="en-US" dirty="0"/>
              <a:t>모델을 훈련시키는 메서드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`score()` — </a:t>
            </a:r>
            <a:r>
              <a:rPr lang="ko-KR" altLang="en-US" dirty="0"/>
              <a:t>모델의 성능을 평가하는 메서드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`predict()` — </a:t>
            </a:r>
            <a:r>
              <a:rPr lang="ko-KR" altLang="en-US" dirty="0"/>
              <a:t>새로운 데이터의 정답을 예측하는 메서드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세 메서드</a:t>
            </a:r>
            <a:r>
              <a:rPr lang="en-US" altLang="ko-KR" dirty="0"/>
              <a:t>, fit → score → predict, </a:t>
            </a:r>
            <a:r>
              <a:rPr lang="ko-KR" altLang="en-US" dirty="0"/>
              <a:t>이 흐름을 꼭 기억하세요</a:t>
            </a:r>
            <a:r>
              <a:rPr lang="en-US" altLang="ko-KR" dirty="0"/>
              <a:t>. </a:t>
            </a:r>
            <a:r>
              <a:rPr lang="ko-KR" altLang="en-US" dirty="0"/>
              <a:t>이 패턴은 </a:t>
            </a:r>
            <a:r>
              <a:rPr lang="ko-KR" altLang="en-US" dirty="0" err="1"/>
              <a:t>사이킷런의</a:t>
            </a:r>
            <a:r>
              <a:rPr lang="ko-KR" altLang="en-US" dirty="0"/>
              <a:t> 모든 알고리즘에 공통으로 적용됩니다</a:t>
            </a:r>
            <a:r>
              <a:rPr lang="en-US" altLang="ko-KR" dirty="0"/>
              <a:t>. CHAPTER 03</a:t>
            </a:r>
            <a:r>
              <a:rPr lang="ko-KR" altLang="en-US" dirty="0"/>
              <a:t>에서 선형 회귀를 배울 때도</a:t>
            </a:r>
            <a:r>
              <a:rPr lang="en-US" altLang="ko-KR" dirty="0"/>
              <a:t>, CHAPTER 05</a:t>
            </a:r>
            <a:r>
              <a:rPr lang="ko-KR" altLang="en-US" dirty="0"/>
              <a:t>에서 랜덤 </a:t>
            </a:r>
            <a:r>
              <a:rPr lang="ko-KR" altLang="en-US" dirty="0" err="1"/>
              <a:t>포레스트를</a:t>
            </a:r>
            <a:r>
              <a:rPr lang="ko-KR" altLang="en-US" dirty="0"/>
              <a:t> 배울 때도</a:t>
            </a:r>
            <a:r>
              <a:rPr lang="en-US" altLang="ko-KR" dirty="0"/>
              <a:t>, </a:t>
            </a:r>
            <a:r>
              <a:rPr lang="ko-KR" altLang="en-US" dirty="0"/>
              <a:t>전부 </a:t>
            </a:r>
            <a:r>
              <a:rPr lang="en-US" altLang="ko-KR" dirty="0"/>
              <a:t>fit(), score(), predict() </a:t>
            </a:r>
            <a:r>
              <a:rPr lang="ko-KR" altLang="en-US" dirty="0"/>
              <a:t>순서입니다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624" name="Google Shape;62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키워드로 끝내는 핵심 포인트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시험에 나올 수 있는 핵심 용어들을 정리합니다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특성</a:t>
            </a:r>
            <a:r>
              <a:rPr lang="en-US" altLang="ko-KR" dirty="0"/>
              <a:t>(feature)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데이터를 표현하는 하나의 성질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이번 실습에서는 생선의 길이와 무게가 특성이었음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다른 예</a:t>
            </a:r>
            <a:r>
              <a:rPr lang="en-US" altLang="ko-KR" dirty="0"/>
              <a:t>: </a:t>
            </a:r>
            <a:r>
              <a:rPr lang="ko-KR" altLang="en-US" dirty="0"/>
              <a:t>국가 데이터라면 인구 수</a:t>
            </a:r>
            <a:r>
              <a:rPr lang="en-US" altLang="ko-KR" dirty="0"/>
              <a:t>, GDP, </a:t>
            </a:r>
            <a:r>
              <a:rPr lang="ko-KR" altLang="en-US" dirty="0"/>
              <a:t>면적 등이 특성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훈련</a:t>
            </a:r>
            <a:r>
              <a:rPr lang="en-US" altLang="ko-KR" dirty="0"/>
              <a:t>(training)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알고리즘이 데이터에서 규칙을 찾는 과정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사이킷런에서는</a:t>
            </a:r>
            <a:r>
              <a:rPr lang="ko-KR" altLang="en-US" dirty="0"/>
              <a:t> </a:t>
            </a:r>
            <a:r>
              <a:rPr lang="en-US" altLang="ko-KR" dirty="0"/>
              <a:t>fit() </a:t>
            </a:r>
            <a:r>
              <a:rPr lang="ko-KR" altLang="en-US" dirty="0"/>
              <a:t>메서드가 이 역할을 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k-</a:t>
            </a:r>
            <a:r>
              <a:rPr lang="ko-KR" altLang="en-US" dirty="0" err="1"/>
              <a:t>최근접</a:t>
            </a:r>
            <a:r>
              <a:rPr lang="ko-KR" altLang="en-US" dirty="0"/>
              <a:t> 이웃 알고리즘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가장 간단한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 중 하나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어떤 규칙을 학습하는 게 아니라</a:t>
            </a:r>
            <a:r>
              <a:rPr lang="en-US" altLang="ko-KR" dirty="0"/>
              <a:t>, </a:t>
            </a:r>
            <a:r>
              <a:rPr lang="ko-KR" altLang="en-US" dirty="0"/>
              <a:t>전체 데이터를 메모리에 가지고 있는 것이 전부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새 데이터가 오면 가장 가까운 </a:t>
            </a:r>
            <a:r>
              <a:rPr lang="en-US" altLang="ko-KR" dirty="0"/>
              <a:t>k</a:t>
            </a:r>
            <a:r>
              <a:rPr lang="ko-KR" altLang="en-US" dirty="0"/>
              <a:t>개를 찾아 다수결로 판단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모델</a:t>
            </a:r>
            <a:r>
              <a:rPr lang="en-US" altLang="ko-KR" dirty="0"/>
              <a:t>(model)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머신러닝</a:t>
            </a:r>
            <a:r>
              <a:rPr lang="ko-KR" altLang="en-US" dirty="0"/>
              <a:t> 프로그램에서 알고리즘이 구현된 객체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예</a:t>
            </a:r>
            <a:r>
              <a:rPr lang="en-US" altLang="ko-KR" dirty="0"/>
              <a:t>: `</a:t>
            </a:r>
            <a:r>
              <a:rPr lang="en-US" altLang="ko-KR" dirty="0" err="1"/>
              <a:t>kn</a:t>
            </a:r>
            <a:r>
              <a:rPr lang="en-US" altLang="ko-KR" dirty="0"/>
              <a:t> = </a:t>
            </a:r>
            <a:r>
              <a:rPr lang="en-US" altLang="ko-KR" dirty="0" err="1"/>
              <a:t>KNeighborsClassifier</a:t>
            </a:r>
            <a:r>
              <a:rPr lang="en-US" altLang="ko-KR" dirty="0"/>
              <a:t>()` </a:t>
            </a:r>
            <a:r>
              <a:rPr lang="ko-KR" altLang="en-US" dirty="0"/>
              <a:t>에서 </a:t>
            </a:r>
            <a:r>
              <a:rPr lang="en-US" altLang="ko-KR" dirty="0"/>
              <a:t>`</a:t>
            </a:r>
            <a:r>
              <a:rPr lang="en-US" altLang="ko-KR" dirty="0" err="1"/>
              <a:t>kn</a:t>
            </a:r>
            <a:r>
              <a:rPr lang="en-US" altLang="ko-KR" dirty="0"/>
              <a:t>`</a:t>
            </a:r>
            <a:r>
              <a:rPr lang="ko-KR" altLang="en-US" dirty="0"/>
              <a:t>이 모델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때로는 알고리즘 자체를 모델이라고 부르기도 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정확도</a:t>
            </a:r>
            <a:r>
              <a:rPr lang="en-US" altLang="ko-KR" dirty="0"/>
              <a:t>(accuracy)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정확한 답을 몇 개 </a:t>
            </a:r>
            <a:r>
              <a:rPr lang="ko-KR" altLang="en-US" dirty="0" err="1"/>
              <a:t>맞혔는지의</a:t>
            </a:r>
            <a:r>
              <a:rPr lang="ko-KR" altLang="en-US" dirty="0"/>
              <a:t> 비율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정확도 </a:t>
            </a:r>
            <a:r>
              <a:rPr lang="en-US" altLang="ko-KR" dirty="0"/>
              <a:t>= (</a:t>
            </a:r>
            <a:r>
              <a:rPr lang="ko-KR" altLang="en-US" dirty="0"/>
              <a:t>정확히 맞힌 개수</a:t>
            </a:r>
            <a:r>
              <a:rPr lang="en-US" altLang="ko-KR" dirty="0"/>
              <a:t>) / (</a:t>
            </a:r>
            <a:r>
              <a:rPr lang="ko-KR" altLang="en-US" dirty="0"/>
              <a:t>전체 데이터 개수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사이킷런에서는</a:t>
            </a:r>
            <a:r>
              <a:rPr lang="ko-KR" altLang="en-US" dirty="0"/>
              <a:t> </a:t>
            </a:r>
            <a:r>
              <a:rPr lang="en-US" altLang="ko-KR" dirty="0"/>
              <a:t>0~1 </a:t>
            </a:r>
            <a:r>
              <a:rPr lang="ko-KR" altLang="en-US" dirty="0"/>
              <a:t>사이의 값으로 출력 </a:t>
            </a:r>
            <a:r>
              <a:rPr lang="en-US" altLang="ko-KR" dirty="0"/>
              <a:t>(1.0 = 100%)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용어들은 앞으로 매 챕터마다 반복되니까</a:t>
            </a:r>
            <a:r>
              <a:rPr lang="en-US" altLang="ko-KR" dirty="0"/>
              <a:t>, </a:t>
            </a:r>
            <a:r>
              <a:rPr lang="ko-KR" altLang="en-US" dirty="0"/>
              <a:t>지금 확실히 정리해 두세요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632" name="Google Shape;63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핵심 패키지와 함수 </a:t>
            </a:r>
            <a:r>
              <a:rPr lang="en-US" altLang="ko-KR" dirty="0"/>
              <a:t>— matplotlib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matplotlib </a:t>
            </a:r>
            <a:r>
              <a:rPr lang="ko-KR" altLang="en-US" dirty="0"/>
              <a:t>패키지의 </a:t>
            </a:r>
            <a:r>
              <a:rPr lang="en-US" altLang="ko-KR" dirty="0"/>
              <a:t>`scatter()` </a:t>
            </a:r>
            <a:r>
              <a:rPr lang="ko-KR" altLang="en-US" dirty="0"/>
              <a:t>함수를 정리합니다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plt.scatter</a:t>
            </a:r>
            <a:r>
              <a:rPr lang="en-US" altLang="ko-KR" dirty="0"/>
              <a:t>(x</a:t>
            </a:r>
            <a:r>
              <a:rPr lang="ko-KR" altLang="en-US" dirty="0"/>
              <a:t>축</a:t>
            </a:r>
            <a:r>
              <a:rPr lang="en-US" altLang="ko-KR" dirty="0"/>
              <a:t>_</a:t>
            </a:r>
            <a:r>
              <a:rPr lang="ko-KR" altLang="en-US" dirty="0"/>
              <a:t>데이터</a:t>
            </a:r>
            <a:r>
              <a:rPr lang="en-US" altLang="ko-KR" dirty="0"/>
              <a:t>, y</a:t>
            </a:r>
            <a:r>
              <a:rPr lang="ko-KR" altLang="en-US" dirty="0"/>
              <a:t>축</a:t>
            </a:r>
            <a:r>
              <a:rPr lang="en-US" altLang="ko-KR" dirty="0"/>
              <a:t>_</a:t>
            </a:r>
            <a:r>
              <a:rPr lang="ko-KR" altLang="en-US" dirty="0"/>
              <a:t>데이터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처음 </a:t>
            </a:r>
            <a:r>
              <a:rPr lang="en-US" altLang="ko-KR" dirty="0"/>
              <a:t>2</a:t>
            </a:r>
            <a:r>
              <a:rPr lang="ko-KR" altLang="en-US" dirty="0"/>
              <a:t>개의 매개변수</a:t>
            </a:r>
            <a:r>
              <a:rPr lang="en-US" altLang="ko-KR" dirty="0"/>
              <a:t>: x</a:t>
            </a:r>
            <a:r>
              <a:rPr lang="ko-KR" altLang="en-US" dirty="0"/>
              <a:t>축 값과 </a:t>
            </a:r>
            <a:r>
              <a:rPr lang="en-US" altLang="ko-KR" dirty="0"/>
              <a:t>y</a:t>
            </a:r>
            <a:r>
              <a:rPr lang="ko-KR" altLang="en-US" dirty="0"/>
              <a:t>축 값 </a:t>
            </a:r>
            <a:r>
              <a:rPr lang="en-US" altLang="ko-KR" dirty="0"/>
              <a:t>(</a:t>
            </a:r>
            <a:r>
              <a:rPr lang="ko-KR" altLang="en-US" dirty="0" err="1"/>
              <a:t>파이썬</a:t>
            </a:r>
            <a:r>
              <a:rPr lang="ko-KR" altLang="en-US" dirty="0"/>
              <a:t> 리스트 또는 </a:t>
            </a:r>
            <a:r>
              <a:rPr lang="ko-KR" altLang="en-US" dirty="0" err="1"/>
              <a:t>넘파이</a:t>
            </a:r>
            <a:r>
              <a:rPr lang="ko-KR" altLang="en-US" dirty="0"/>
              <a:t> 배열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`c` </a:t>
            </a:r>
            <a:r>
              <a:rPr lang="ko-KR" altLang="en-US" dirty="0"/>
              <a:t>매개변수</a:t>
            </a:r>
            <a:r>
              <a:rPr lang="en-US" altLang="ko-KR" dirty="0"/>
              <a:t>: </a:t>
            </a:r>
            <a:r>
              <a:rPr lang="ko-KR" altLang="en-US" dirty="0"/>
              <a:t>색깔 지정</a:t>
            </a:r>
            <a:r>
              <a:rPr lang="en-US" altLang="ko-KR" dirty="0"/>
              <a:t>. </a:t>
            </a:r>
            <a:r>
              <a:rPr lang="ko-KR" altLang="en-US" dirty="0"/>
              <a:t>지정하지 않으면 자동으로 </a:t>
            </a:r>
            <a:r>
              <a:rPr lang="en-US" altLang="ko-KR" dirty="0"/>
              <a:t>10</a:t>
            </a:r>
            <a:r>
              <a:rPr lang="ko-KR" altLang="en-US" dirty="0"/>
              <a:t>개의 기본 색 순환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`marker` </a:t>
            </a:r>
            <a:r>
              <a:rPr lang="ko-KR" altLang="en-US" dirty="0"/>
              <a:t>매개변수</a:t>
            </a:r>
            <a:r>
              <a:rPr lang="en-US" altLang="ko-KR" dirty="0"/>
              <a:t>: </a:t>
            </a:r>
            <a:r>
              <a:rPr lang="ko-KR" altLang="en-US" dirty="0"/>
              <a:t>마커 스타일 지정</a:t>
            </a:r>
            <a:r>
              <a:rPr lang="en-US" altLang="ko-KR" dirty="0"/>
              <a:t>. </a:t>
            </a:r>
            <a:r>
              <a:rPr lang="ko-KR" altLang="en-US" dirty="0"/>
              <a:t>기본값은 </a:t>
            </a:r>
            <a:r>
              <a:rPr lang="en-US" altLang="ko-KR" dirty="0"/>
              <a:t>`o`(</a:t>
            </a:r>
            <a:r>
              <a:rPr lang="ko-KR" altLang="en-US" dirty="0"/>
              <a:t>원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예를 들어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plt.scatter</a:t>
            </a:r>
            <a:r>
              <a:rPr lang="en-US" altLang="ko-KR" dirty="0"/>
              <a:t>(</a:t>
            </a:r>
            <a:r>
              <a:rPr lang="en-US" altLang="ko-KR" dirty="0" err="1"/>
              <a:t>bream_length</a:t>
            </a:r>
            <a:r>
              <a:rPr lang="en-US" altLang="ko-KR" dirty="0"/>
              <a:t>, </a:t>
            </a:r>
            <a:r>
              <a:rPr lang="en-US" altLang="ko-KR" dirty="0" err="1"/>
              <a:t>bream_weight</a:t>
            </a:r>
            <a:r>
              <a:rPr lang="en-US" altLang="ko-KR" dirty="0"/>
              <a:t>, c='blue', marker='^')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이렇게 하면 파란색 삼각형으로 점을 찍습니다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색깔이나 마커를 굳이 외울 필요는 없고</a:t>
            </a:r>
            <a:r>
              <a:rPr lang="en-US" altLang="ko-KR" dirty="0"/>
              <a:t>, </a:t>
            </a:r>
            <a:r>
              <a:rPr lang="ko-KR" altLang="en-US" dirty="0"/>
              <a:t>필요할 때 </a:t>
            </a:r>
            <a:r>
              <a:rPr lang="ko-KR" altLang="en-US" dirty="0" err="1"/>
              <a:t>찾아쓰면</a:t>
            </a:r>
            <a:r>
              <a:rPr lang="ko-KR" altLang="en-US" dirty="0"/>
              <a:t> 됩니다</a:t>
            </a:r>
            <a:r>
              <a:rPr lang="en-US" altLang="ko-KR" dirty="0"/>
              <a:t>. matplotlib </a:t>
            </a:r>
            <a:r>
              <a:rPr lang="ko-KR" altLang="en-US" dirty="0"/>
              <a:t>공식 문서가 잘 정리되어 있으니까요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우리 수업에서 </a:t>
            </a:r>
            <a:r>
              <a:rPr lang="ko-KR" altLang="en-US" dirty="0" err="1"/>
              <a:t>맷플롯립은</a:t>
            </a:r>
            <a:r>
              <a:rPr lang="ko-KR" altLang="en-US" dirty="0"/>
              <a:t> 데이터를 </a:t>
            </a:r>
            <a:r>
              <a:rPr lang="ko-KR" altLang="en-US" dirty="0" err="1"/>
              <a:t>시각화할</a:t>
            </a:r>
            <a:r>
              <a:rPr lang="ko-KR" altLang="en-US" dirty="0"/>
              <a:t> 때 자주 사용합니다</a:t>
            </a:r>
            <a:r>
              <a:rPr lang="en-US" altLang="ko-KR" dirty="0"/>
              <a:t>. </a:t>
            </a:r>
            <a:r>
              <a:rPr lang="ko-KR" altLang="en-US" dirty="0" err="1"/>
              <a:t>산점도뿐만</a:t>
            </a:r>
            <a:r>
              <a:rPr lang="ko-KR" altLang="en-US" dirty="0"/>
              <a:t> 아니라 히스토그램</a:t>
            </a:r>
            <a:r>
              <a:rPr lang="en-US" altLang="ko-KR" dirty="0"/>
              <a:t>, </a:t>
            </a:r>
            <a:r>
              <a:rPr lang="ko-KR" altLang="en-US" dirty="0"/>
              <a:t>선 그래프</a:t>
            </a:r>
            <a:r>
              <a:rPr lang="en-US" altLang="ko-KR" dirty="0"/>
              <a:t>, </a:t>
            </a:r>
            <a:r>
              <a:rPr lang="ko-KR" altLang="en-US" dirty="0"/>
              <a:t>막대 그래프 등 다양한 그래프를 그릴 수 있어요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0" name="Google Shape;64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핵심 패키지와 함수 </a:t>
            </a:r>
            <a:r>
              <a:rPr lang="en-US" altLang="ko-KR" dirty="0"/>
              <a:t>— </a:t>
            </a:r>
            <a:r>
              <a:rPr lang="en-US" altLang="ko-KR" dirty="0" err="1"/>
              <a:t>scikit</a:t>
            </a:r>
            <a:r>
              <a:rPr lang="en-US" altLang="ko-KR" dirty="0"/>
              <a:t>-learn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사이킷런</a:t>
            </a:r>
            <a:r>
              <a:rPr lang="ko-KR" altLang="en-US" dirty="0"/>
              <a:t> 패키지의 핵심 클래스와 메서드를 정리합니다</a:t>
            </a:r>
            <a:r>
              <a:rPr lang="en-US" altLang="ko-KR" dirty="0"/>
              <a:t>. </a:t>
            </a:r>
            <a:r>
              <a:rPr lang="ko-KR" altLang="en-US" dirty="0"/>
              <a:t>이건 정말 중요하니까 꼼꼼히 보겠습니다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KNeighborsClassifier</a:t>
            </a:r>
            <a:r>
              <a:rPr lang="en-US" altLang="ko-KR" dirty="0"/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k-</a:t>
            </a:r>
            <a:r>
              <a:rPr lang="ko-KR" altLang="en-US" dirty="0" err="1"/>
              <a:t>최근접</a:t>
            </a:r>
            <a:r>
              <a:rPr lang="ko-KR" altLang="en-US" dirty="0"/>
              <a:t> 이웃 분류 모델을 만드는 클래스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주요 매개변수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</a:t>
            </a:r>
            <a:r>
              <a:rPr lang="ko-KR" altLang="en-US" dirty="0"/>
              <a:t>매개변수 </a:t>
            </a:r>
            <a:r>
              <a:rPr lang="en-US" altLang="ko-KR" dirty="0"/>
              <a:t>| </a:t>
            </a:r>
            <a:r>
              <a:rPr lang="ko-KR" altLang="en-US" dirty="0"/>
              <a:t>설명 </a:t>
            </a:r>
            <a:r>
              <a:rPr lang="en-US" altLang="ko-KR" dirty="0"/>
              <a:t>| </a:t>
            </a:r>
            <a:r>
              <a:rPr lang="ko-KR" altLang="en-US" dirty="0"/>
              <a:t>기본값 </a:t>
            </a:r>
            <a:r>
              <a:rPr lang="en-US" altLang="ko-KR" dirty="0"/>
              <a:t>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|---|---|---|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`</a:t>
            </a:r>
            <a:r>
              <a:rPr lang="en-US" altLang="ko-KR" dirty="0" err="1"/>
              <a:t>n_neighbors</a:t>
            </a:r>
            <a:r>
              <a:rPr lang="en-US" altLang="ko-KR" dirty="0"/>
              <a:t>` | </a:t>
            </a:r>
            <a:r>
              <a:rPr lang="ko-KR" altLang="en-US" dirty="0"/>
              <a:t>이웃의 개수 </a:t>
            </a:r>
            <a:r>
              <a:rPr lang="en-US" altLang="ko-KR" dirty="0"/>
              <a:t>(k</a:t>
            </a:r>
            <a:r>
              <a:rPr lang="ko-KR" altLang="en-US" dirty="0"/>
              <a:t>값</a:t>
            </a:r>
            <a:r>
              <a:rPr lang="en-US" altLang="ko-KR" dirty="0"/>
              <a:t>) | 5 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`p` | </a:t>
            </a:r>
            <a:r>
              <a:rPr lang="ko-KR" altLang="en-US" dirty="0"/>
              <a:t>거리 측정 방법</a:t>
            </a:r>
            <a:r>
              <a:rPr lang="en-US" altLang="ko-KR" dirty="0"/>
              <a:t>. 1=</a:t>
            </a:r>
            <a:r>
              <a:rPr lang="ko-KR" altLang="en-US" dirty="0"/>
              <a:t>맨해튼 거리</a:t>
            </a:r>
            <a:r>
              <a:rPr lang="en-US" altLang="ko-KR" dirty="0"/>
              <a:t>, 2=</a:t>
            </a:r>
            <a:r>
              <a:rPr lang="ko-KR" altLang="en-US" dirty="0" err="1"/>
              <a:t>유클리디안</a:t>
            </a:r>
            <a:r>
              <a:rPr lang="ko-KR" altLang="en-US" dirty="0"/>
              <a:t> 거리 </a:t>
            </a:r>
            <a:r>
              <a:rPr lang="en-US" altLang="ko-KR" dirty="0"/>
              <a:t>| 2 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| `</a:t>
            </a:r>
            <a:r>
              <a:rPr lang="en-US" altLang="ko-KR" dirty="0" err="1"/>
              <a:t>n_jobs</a:t>
            </a:r>
            <a:r>
              <a:rPr lang="en-US" altLang="ko-KR" dirty="0"/>
              <a:t>` | </a:t>
            </a:r>
            <a:r>
              <a:rPr lang="ko-KR" altLang="en-US" dirty="0"/>
              <a:t>사용할 </a:t>
            </a:r>
            <a:r>
              <a:rPr lang="en-US" altLang="ko-KR" dirty="0"/>
              <a:t>CPU </a:t>
            </a:r>
            <a:r>
              <a:rPr lang="ko-KR" altLang="en-US" dirty="0"/>
              <a:t>코어 수</a:t>
            </a:r>
            <a:r>
              <a:rPr lang="en-US" altLang="ko-KR" dirty="0"/>
              <a:t>. -1</a:t>
            </a:r>
            <a:r>
              <a:rPr lang="ko-KR" altLang="en-US" dirty="0"/>
              <a:t>이면 모든 코어 사용 </a:t>
            </a:r>
            <a:r>
              <a:rPr lang="en-US" altLang="ko-KR" dirty="0"/>
              <a:t>| 1 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거리 측정 방법에 대해 잠깐 </a:t>
            </a:r>
            <a:r>
              <a:rPr lang="ko-KR" altLang="en-US" dirty="0" err="1"/>
              <a:t>설명드리면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유클리디안</a:t>
            </a:r>
            <a:r>
              <a:rPr lang="ko-KR" altLang="en-US" dirty="0"/>
              <a:t> 거리</a:t>
            </a:r>
            <a:r>
              <a:rPr lang="en-US" altLang="ko-KR" dirty="0"/>
              <a:t>(p=2)</a:t>
            </a:r>
            <a:r>
              <a:rPr lang="ko-KR" altLang="en-US" dirty="0"/>
              <a:t>는 우리가 일반적으로 아는 직선 거리입니다</a:t>
            </a:r>
            <a:r>
              <a:rPr lang="en-US" altLang="ko-KR" dirty="0"/>
              <a:t>. </a:t>
            </a:r>
            <a:r>
              <a:rPr lang="ko-KR" altLang="en-US" dirty="0"/>
              <a:t>피타고라스 정리 기억나시죠</a:t>
            </a:r>
            <a:r>
              <a:rPr lang="en-US" altLang="ko-KR" dirty="0"/>
              <a:t>? $d = \sqrt{(x_2-x_1)^2 + (y_2-y_1)^2}$ </a:t>
            </a:r>
            <a:r>
              <a:rPr lang="ko-KR" altLang="en-US" dirty="0" err="1"/>
              <a:t>이겁니다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맨해튼 거리</a:t>
            </a:r>
            <a:r>
              <a:rPr lang="en-US" altLang="ko-KR" dirty="0"/>
              <a:t>(p=1)</a:t>
            </a:r>
            <a:r>
              <a:rPr lang="ko-KR" altLang="en-US" dirty="0"/>
              <a:t>는 격자 모양의 도로를 따라가는 거리예요</a:t>
            </a:r>
            <a:r>
              <a:rPr lang="en-US" altLang="ko-KR" dirty="0"/>
              <a:t>. </a:t>
            </a:r>
            <a:r>
              <a:rPr lang="ko-KR" altLang="en-US" dirty="0"/>
              <a:t>맨해튼의 바둑판 도로처럼</a:t>
            </a:r>
            <a:r>
              <a:rPr lang="en-US" altLang="ko-KR" dirty="0"/>
              <a:t>, </a:t>
            </a:r>
            <a:r>
              <a:rPr lang="ko-KR" altLang="en-US" dirty="0"/>
              <a:t>대각선으로 못 가고 직각으로만 이동하는 거리입니다</a:t>
            </a:r>
            <a:r>
              <a:rPr lang="en-US" altLang="ko-KR" dirty="0"/>
              <a:t>. $d = |x_2-x_1| + |y_2-y_1|$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보통은 기본값인 </a:t>
            </a:r>
            <a:r>
              <a:rPr lang="ko-KR" altLang="en-US" dirty="0" err="1"/>
              <a:t>유클리디안</a:t>
            </a:r>
            <a:r>
              <a:rPr lang="ko-KR" altLang="en-US" dirty="0"/>
              <a:t> 거리</a:t>
            </a:r>
            <a:r>
              <a:rPr lang="en-US" altLang="ko-KR" dirty="0"/>
              <a:t>(p=2)</a:t>
            </a:r>
            <a:r>
              <a:rPr lang="ko-KR" altLang="en-US" dirty="0"/>
              <a:t>를 쓰면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---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핵심 메서드 </a:t>
            </a:r>
            <a:r>
              <a:rPr lang="en-US" altLang="ko-KR" dirty="0"/>
              <a:t>3</a:t>
            </a:r>
            <a:r>
              <a:rPr lang="ko-KR" altLang="en-US" dirty="0"/>
              <a:t>가지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fit(</a:t>
            </a:r>
            <a:r>
              <a:rPr lang="ko-KR" altLang="en-US" dirty="0"/>
              <a:t>특성</a:t>
            </a:r>
            <a:r>
              <a:rPr lang="en-US" altLang="ko-KR" dirty="0"/>
              <a:t>_</a:t>
            </a:r>
            <a:r>
              <a:rPr lang="ko-KR" altLang="en-US" dirty="0"/>
              <a:t>데이터</a:t>
            </a:r>
            <a:r>
              <a:rPr lang="en-US" altLang="ko-KR" dirty="0"/>
              <a:t>, </a:t>
            </a:r>
            <a:r>
              <a:rPr lang="ko-KR" altLang="en-US" dirty="0"/>
              <a:t>정답</a:t>
            </a:r>
            <a:r>
              <a:rPr lang="en-US" altLang="ko-KR" dirty="0"/>
              <a:t>_</a:t>
            </a:r>
            <a:r>
              <a:rPr lang="ko-KR" altLang="en-US" dirty="0"/>
              <a:t>데이터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모델을 훈련시킴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첫 번째 매개변수</a:t>
            </a:r>
            <a:r>
              <a:rPr lang="en-US" altLang="ko-KR" dirty="0"/>
              <a:t>: </a:t>
            </a:r>
            <a:r>
              <a:rPr lang="ko-KR" altLang="en-US" dirty="0"/>
              <a:t>특성</a:t>
            </a:r>
            <a:r>
              <a:rPr lang="en-US" altLang="ko-KR" dirty="0"/>
              <a:t>(feature) </a:t>
            </a:r>
            <a:r>
              <a:rPr lang="ko-KR" altLang="en-US" dirty="0"/>
              <a:t>데이터 </a:t>
            </a:r>
            <a:r>
              <a:rPr lang="en-US" altLang="ko-KR" dirty="0"/>
              <a:t>— </a:t>
            </a:r>
            <a:r>
              <a:rPr lang="en-US" altLang="ko-KR" dirty="0" err="1"/>
              <a:t>fish_data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두 번째 매개변수</a:t>
            </a:r>
            <a:r>
              <a:rPr lang="en-US" altLang="ko-KR" dirty="0"/>
              <a:t>: </a:t>
            </a:r>
            <a:r>
              <a:rPr lang="ko-KR" altLang="en-US" dirty="0"/>
              <a:t>정답</a:t>
            </a:r>
            <a:r>
              <a:rPr lang="en-US" altLang="ko-KR" dirty="0"/>
              <a:t>(target) </a:t>
            </a:r>
            <a:r>
              <a:rPr lang="ko-KR" altLang="en-US" dirty="0"/>
              <a:t>데이터 </a:t>
            </a:r>
            <a:r>
              <a:rPr lang="en-US" altLang="ko-KR" dirty="0"/>
              <a:t>— </a:t>
            </a:r>
            <a:r>
              <a:rPr lang="en-US" altLang="ko-KR" dirty="0" err="1"/>
              <a:t>fish_target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predict(</a:t>
            </a:r>
            <a:r>
              <a:rPr lang="ko-KR" altLang="en-US" dirty="0"/>
              <a:t>특성</a:t>
            </a:r>
            <a:r>
              <a:rPr lang="en-US" altLang="ko-KR" dirty="0"/>
              <a:t>_</a:t>
            </a:r>
            <a:r>
              <a:rPr lang="ko-KR" altLang="en-US" dirty="0"/>
              <a:t>데이터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새로운 데이터의 정답을 예측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매개변수가 하나만 필요 </a:t>
            </a:r>
            <a:r>
              <a:rPr lang="en-US" altLang="ko-KR" dirty="0"/>
              <a:t>(</a:t>
            </a:r>
            <a:r>
              <a:rPr lang="ko-KR" altLang="en-US" dirty="0"/>
              <a:t>특성 데이터만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정답 데이터는 넣지 않음 </a:t>
            </a:r>
            <a:r>
              <a:rPr lang="en-US" altLang="ko-KR" dirty="0"/>
              <a:t>— </a:t>
            </a:r>
            <a:r>
              <a:rPr lang="ko-KR" altLang="en-US" dirty="0"/>
              <a:t>예측하는 거니까 정답을 모르는 상태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score(</a:t>
            </a:r>
            <a:r>
              <a:rPr lang="ko-KR" altLang="en-US" dirty="0"/>
              <a:t>특성</a:t>
            </a:r>
            <a:r>
              <a:rPr lang="en-US" altLang="ko-KR" dirty="0"/>
              <a:t>_</a:t>
            </a:r>
            <a:r>
              <a:rPr lang="ko-KR" altLang="en-US" dirty="0"/>
              <a:t>데이터</a:t>
            </a:r>
            <a:r>
              <a:rPr lang="en-US" altLang="ko-KR" dirty="0"/>
              <a:t>, </a:t>
            </a:r>
            <a:r>
              <a:rPr lang="ko-KR" altLang="en-US" dirty="0"/>
              <a:t>정답</a:t>
            </a:r>
            <a:r>
              <a:rPr lang="en-US" altLang="ko-KR" dirty="0"/>
              <a:t>_</a:t>
            </a:r>
            <a:r>
              <a:rPr lang="ko-KR" altLang="en-US" dirty="0"/>
              <a:t>데이터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모델의 성능을 측정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내부적으로 </a:t>
            </a:r>
            <a:r>
              <a:rPr lang="en-US" altLang="ko-KR" dirty="0"/>
              <a:t>predict()</a:t>
            </a:r>
            <a:r>
              <a:rPr lang="ko-KR" altLang="en-US" dirty="0"/>
              <a:t>를 먼저 호출하고</a:t>
            </a:r>
            <a:r>
              <a:rPr lang="en-US" altLang="ko-KR" dirty="0"/>
              <a:t>, </a:t>
            </a:r>
            <a:r>
              <a:rPr lang="ko-KR" altLang="en-US" dirty="0"/>
              <a:t>그 결과를 실제 정답과 비교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정확히 맞힌 비율을 반환 </a:t>
            </a:r>
            <a:r>
              <a:rPr lang="en-US" altLang="ko-KR" dirty="0"/>
              <a:t>(0~1)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세 메서드의 매개변수 차이를 주의하세요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fit()</a:t>
            </a:r>
            <a:r>
              <a:rPr lang="ko-KR" altLang="en-US" dirty="0"/>
              <a:t>과 </a:t>
            </a:r>
            <a:r>
              <a:rPr lang="en-US" altLang="ko-KR" dirty="0"/>
              <a:t>score()</a:t>
            </a:r>
            <a:r>
              <a:rPr lang="ko-KR" altLang="en-US" dirty="0"/>
              <a:t>는 </a:t>
            </a:r>
            <a:r>
              <a:rPr lang="en-US" altLang="ko-KR" dirty="0"/>
              <a:t>2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특성 </a:t>
            </a:r>
            <a:r>
              <a:rPr lang="en-US" altLang="ko-KR" dirty="0"/>
              <a:t>+ </a:t>
            </a:r>
            <a:r>
              <a:rPr lang="ko-KR" altLang="en-US" dirty="0"/>
              <a:t>정답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predict()</a:t>
            </a:r>
            <a:r>
              <a:rPr lang="ko-KR" altLang="en-US" dirty="0"/>
              <a:t>는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특성만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이유는 간단해요</a:t>
            </a:r>
            <a:r>
              <a:rPr lang="en-US" altLang="ko-KR" dirty="0"/>
              <a:t>. fit()</a:t>
            </a:r>
            <a:r>
              <a:rPr lang="ko-KR" altLang="en-US" dirty="0"/>
              <a:t>은 정답을 보면서 학습하니까 정답이 필요하고</a:t>
            </a:r>
            <a:r>
              <a:rPr lang="en-US" altLang="ko-KR" dirty="0"/>
              <a:t>, score()</a:t>
            </a:r>
            <a:r>
              <a:rPr lang="ko-KR" altLang="en-US" dirty="0"/>
              <a:t>도 정답과 비교하니까 필요합니다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en-US" altLang="ko-KR" dirty="0"/>
              <a:t>predict()</a:t>
            </a:r>
            <a:r>
              <a:rPr lang="ko-KR" altLang="en-US" dirty="0"/>
              <a:t>는 </a:t>
            </a:r>
            <a:r>
              <a:rPr lang="en-US" altLang="ko-KR" dirty="0"/>
              <a:t>"</a:t>
            </a:r>
            <a:r>
              <a:rPr lang="ko-KR" altLang="en-US" dirty="0"/>
              <a:t>이 데이터의 정답이 </a:t>
            </a:r>
            <a:r>
              <a:rPr lang="ko-KR" altLang="en-US" dirty="0" err="1"/>
              <a:t>뭘까</a:t>
            </a:r>
            <a:r>
              <a:rPr lang="en-US" altLang="ko-KR" dirty="0"/>
              <a:t>?" </a:t>
            </a:r>
            <a:r>
              <a:rPr lang="ko-KR" altLang="en-US" dirty="0"/>
              <a:t>예측하는 거니까 정답이 없는 상태에서 호출합니다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48" name="Google Shape;64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43dd304a0c_0_3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확인 문제를 풀어봅시다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1: </a:t>
            </a:r>
            <a:r>
              <a:rPr lang="ko-KR" altLang="en-US" dirty="0" err="1"/>
              <a:t>머신러닝에서</a:t>
            </a:r>
            <a:r>
              <a:rPr lang="ko-KR" altLang="en-US" dirty="0"/>
              <a:t> 데이터를 표현하는 하나의 성질을 무엇이라 하나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① </a:t>
            </a:r>
            <a:r>
              <a:rPr lang="ko-KR" altLang="en-US" dirty="0"/>
              <a:t>특성　② 특질　③ 개성　④ 요소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 반응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① </a:t>
            </a:r>
            <a:r>
              <a:rPr lang="ko-KR" altLang="en-US" dirty="0"/>
              <a:t>특성</a:t>
            </a:r>
            <a:r>
              <a:rPr lang="en-US" altLang="ko-KR" dirty="0"/>
              <a:t>(feature)</a:t>
            </a:r>
            <a:r>
              <a:rPr lang="ko-KR" altLang="en-US" dirty="0"/>
              <a:t>이 정답입니다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영어로는 </a:t>
            </a:r>
            <a:r>
              <a:rPr lang="en-US" altLang="ko-KR" dirty="0"/>
              <a:t>feature</a:t>
            </a:r>
            <a:r>
              <a:rPr lang="ko-KR" altLang="en-US" dirty="0"/>
              <a:t>라고 하죠</a:t>
            </a:r>
            <a:r>
              <a:rPr lang="en-US" altLang="ko-KR" dirty="0"/>
              <a:t>. </a:t>
            </a:r>
            <a:r>
              <a:rPr lang="ko-KR" altLang="en-US" dirty="0"/>
              <a:t>이 수업에서 계속 나올 핵심 용어입니다</a:t>
            </a:r>
            <a:r>
              <a:rPr lang="en-US" altLang="ko-KR" dirty="0"/>
              <a:t>. </a:t>
            </a:r>
            <a:r>
              <a:rPr lang="ko-KR" altLang="en-US" dirty="0"/>
              <a:t>오늘 실습에서는 길이와 무게가 특성이었어요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---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2: </a:t>
            </a:r>
            <a:r>
              <a:rPr lang="ko-KR" altLang="en-US" dirty="0"/>
              <a:t>가장 가까운 이웃을 참고하여 정답을 예측하는 알고리즘이 구현된 </a:t>
            </a:r>
            <a:r>
              <a:rPr lang="ko-KR" altLang="en-US" dirty="0" err="1"/>
              <a:t>사이킷런</a:t>
            </a:r>
            <a:r>
              <a:rPr lang="ko-KR" altLang="en-US" dirty="0"/>
              <a:t> 클래스는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① </a:t>
            </a:r>
            <a:r>
              <a:rPr lang="en-US" altLang="ko-KR" dirty="0" err="1"/>
              <a:t>SGDClassifier</a:t>
            </a:r>
            <a:r>
              <a:rPr lang="ko-KR" altLang="en-US" dirty="0"/>
              <a:t>　② </a:t>
            </a:r>
            <a:r>
              <a:rPr lang="en-US" altLang="ko-KR" dirty="0" err="1"/>
              <a:t>LinearRegression</a:t>
            </a:r>
            <a:r>
              <a:rPr lang="ko-KR" altLang="en-US" dirty="0"/>
              <a:t>　③ </a:t>
            </a:r>
            <a:r>
              <a:rPr lang="en-US" altLang="ko-KR" dirty="0" err="1"/>
              <a:t>RandomForestClassifier</a:t>
            </a:r>
            <a:r>
              <a:rPr lang="ko-KR" altLang="en-US" dirty="0"/>
              <a:t>　④ </a:t>
            </a:r>
            <a:r>
              <a:rPr lang="en-US" altLang="ko-KR" dirty="0" err="1"/>
              <a:t>KNeighborsClassifier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 반응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④ </a:t>
            </a:r>
            <a:r>
              <a:rPr lang="en-US" altLang="ko-KR" dirty="0" err="1"/>
              <a:t>KNeighborsClassifier</a:t>
            </a:r>
            <a:r>
              <a:rPr lang="ko-KR" altLang="en-US" dirty="0"/>
              <a:t>가 정답입니다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나머지 보기도 전부 </a:t>
            </a:r>
            <a:r>
              <a:rPr lang="ko-KR" altLang="en-US" dirty="0" err="1"/>
              <a:t>사이킷런의</a:t>
            </a:r>
            <a:r>
              <a:rPr lang="ko-KR" altLang="en-US" dirty="0"/>
              <a:t> 클래스인데요</a:t>
            </a:r>
            <a:r>
              <a:rPr lang="en-US" altLang="ko-KR" dirty="0"/>
              <a:t>, </a:t>
            </a:r>
            <a:r>
              <a:rPr lang="ko-KR" altLang="en-US" dirty="0"/>
              <a:t>나중에 다 배우게 됩니다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en-US" altLang="ko-KR" dirty="0" err="1"/>
              <a:t>SGDClassifier</a:t>
            </a:r>
            <a:r>
              <a:rPr lang="en-US" altLang="ko-KR" dirty="0"/>
              <a:t> — CHAPTER 04</a:t>
            </a:r>
            <a:r>
              <a:rPr lang="ko-KR" altLang="en-US" dirty="0"/>
              <a:t>에서 배울 확률적 경사 </a:t>
            </a:r>
            <a:r>
              <a:rPr lang="ko-KR" altLang="en-US" dirty="0" err="1"/>
              <a:t>하강법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en-US" altLang="ko-KR" dirty="0" err="1"/>
              <a:t>LinearRegression</a:t>
            </a:r>
            <a:r>
              <a:rPr lang="en-US" altLang="ko-KR" dirty="0"/>
              <a:t> — CHAPTER 03</a:t>
            </a:r>
            <a:r>
              <a:rPr lang="ko-KR" altLang="en-US" dirty="0"/>
              <a:t>에서 배울 선형 회귀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en-US" altLang="ko-KR" dirty="0" err="1"/>
              <a:t>RandomForestClassifier</a:t>
            </a:r>
            <a:r>
              <a:rPr lang="en-US" altLang="ko-KR" dirty="0"/>
              <a:t> — CHAPTER 05</a:t>
            </a:r>
            <a:r>
              <a:rPr lang="ko-KR" altLang="en-US" dirty="0"/>
              <a:t>에서 배울 랜덤 </a:t>
            </a:r>
            <a:r>
              <a:rPr lang="ko-KR" altLang="en-US" dirty="0" err="1"/>
              <a:t>포레스트</a:t>
            </a:r>
            <a:endParaRPr dirty="0"/>
          </a:p>
        </p:txBody>
      </p:sp>
      <p:sp>
        <p:nvSpPr>
          <p:cNvPr id="656" name="Google Shape;656;g343dd304a0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3: </a:t>
            </a:r>
            <a:r>
              <a:rPr lang="ko-KR" altLang="en-US" dirty="0" err="1"/>
              <a:t>사이킷런</a:t>
            </a:r>
            <a:r>
              <a:rPr lang="ko-KR" altLang="en-US" dirty="0"/>
              <a:t> 모델을 훈련할 때 사용하는 메서드는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① predict()</a:t>
            </a:r>
            <a:r>
              <a:rPr lang="ko-KR" altLang="en-US" dirty="0"/>
              <a:t>　② </a:t>
            </a:r>
            <a:r>
              <a:rPr lang="en-US" altLang="ko-KR" dirty="0"/>
              <a:t>fit()</a:t>
            </a:r>
            <a:r>
              <a:rPr lang="ko-KR" altLang="en-US" dirty="0"/>
              <a:t>　③ </a:t>
            </a:r>
            <a:r>
              <a:rPr lang="en-US" altLang="ko-KR" dirty="0"/>
              <a:t>score()</a:t>
            </a:r>
            <a:r>
              <a:rPr lang="ko-KR" altLang="en-US" dirty="0"/>
              <a:t>　④ </a:t>
            </a:r>
            <a:r>
              <a:rPr lang="en-US" altLang="ko-KR" dirty="0"/>
              <a:t>transform()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 반응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② fit()</a:t>
            </a:r>
            <a:r>
              <a:rPr lang="ko-KR" altLang="en-US" dirty="0"/>
              <a:t>이 정답입니다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훈련 </a:t>
            </a:r>
            <a:r>
              <a:rPr lang="en-US" altLang="ko-KR" dirty="0"/>
              <a:t>= fit(), </a:t>
            </a:r>
            <a:r>
              <a:rPr lang="ko-KR" altLang="en-US" dirty="0"/>
              <a:t>이건 절대 잊지 마세요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참고로 </a:t>
            </a:r>
            <a:r>
              <a:rPr lang="en-US" altLang="ko-KR" dirty="0"/>
              <a:t>transform()</a:t>
            </a:r>
            <a:r>
              <a:rPr lang="ko-KR" altLang="en-US" dirty="0"/>
              <a:t>은 데이터를 변환할 때 사용하는 메서드인데</a:t>
            </a:r>
            <a:r>
              <a:rPr lang="en-US" altLang="ko-KR" dirty="0"/>
              <a:t>, CHAPTER 02</a:t>
            </a:r>
            <a:r>
              <a:rPr lang="ko-KR" altLang="en-US" dirty="0"/>
              <a:t>에서 데이터 전처리를 배울 때 나옵니다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---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4: </a:t>
            </a:r>
            <a:r>
              <a:rPr lang="ko-KR" altLang="en-US" dirty="0"/>
              <a:t>모델의 정확도를 계산하는 올바른 방법은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① (</a:t>
            </a:r>
            <a:r>
              <a:rPr lang="ko-KR" altLang="en-US" dirty="0"/>
              <a:t>틀린 개수</a:t>
            </a:r>
            <a:r>
              <a:rPr lang="en-US" altLang="ko-KR" dirty="0"/>
              <a:t>) / (</a:t>
            </a:r>
            <a:r>
              <a:rPr lang="ko-KR" altLang="en-US" dirty="0"/>
              <a:t>전체 데이터 개수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② (</a:t>
            </a:r>
            <a:r>
              <a:rPr lang="ko-KR" altLang="en-US" dirty="0"/>
              <a:t>전체 데이터 개수</a:t>
            </a:r>
            <a:r>
              <a:rPr lang="en-US" altLang="ko-KR" dirty="0"/>
              <a:t>) / (</a:t>
            </a:r>
            <a:r>
              <a:rPr lang="ko-KR" altLang="en-US" dirty="0"/>
              <a:t>틀린 개수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③ (</a:t>
            </a:r>
            <a:r>
              <a:rPr lang="ko-KR" altLang="en-US" dirty="0"/>
              <a:t>정확히 맞힌 개수</a:t>
            </a:r>
            <a:r>
              <a:rPr lang="en-US" altLang="ko-KR" dirty="0"/>
              <a:t>) / (</a:t>
            </a:r>
            <a:r>
              <a:rPr lang="ko-KR" altLang="en-US" dirty="0"/>
              <a:t>전체 데이터 개수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④ (</a:t>
            </a:r>
            <a:r>
              <a:rPr lang="ko-KR" altLang="en-US" dirty="0"/>
              <a:t>전체 데이터 개수</a:t>
            </a:r>
            <a:r>
              <a:rPr lang="en-US" altLang="ko-KR" dirty="0"/>
              <a:t>) / (</a:t>
            </a:r>
            <a:r>
              <a:rPr lang="ko-KR" altLang="en-US" dirty="0"/>
              <a:t>정확히 맞힌 개수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 반응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③ (</a:t>
            </a:r>
            <a:r>
              <a:rPr lang="ko-KR" altLang="en-US" dirty="0"/>
              <a:t>정확히 맞힌 개수</a:t>
            </a:r>
            <a:r>
              <a:rPr lang="en-US" altLang="ko-KR" dirty="0"/>
              <a:t>) / (</a:t>
            </a:r>
            <a:r>
              <a:rPr lang="ko-KR" altLang="en-US" dirty="0"/>
              <a:t>전체 데이터 개수</a:t>
            </a:r>
            <a:r>
              <a:rPr lang="en-US" altLang="ko-KR" dirty="0"/>
              <a:t>)</a:t>
            </a:r>
            <a:r>
              <a:rPr lang="ko-KR" altLang="en-US" dirty="0"/>
              <a:t>가 정답입니다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아까 </a:t>
            </a:r>
            <a:r>
              <a:rPr lang="en-US" altLang="ko-KR" dirty="0" err="1"/>
              <a:t>n_neighbors</a:t>
            </a:r>
            <a:r>
              <a:rPr lang="en-US" altLang="ko-KR" dirty="0"/>
              <a:t>=49</a:t>
            </a:r>
            <a:r>
              <a:rPr lang="ko-KR" altLang="en-US" dirty="0"/>
              <a:t>일 때 확인했죠</a:t>
            </a:r>
            <a:r>
              <a:rPr lang="en-US" altLang="ko-KR" dirty="0"/>
              <a:t>? 35</a:t>
            </a:r>
            <a:r>
              <a:rPr lang="ko-KR" altLang="en-US" dirty="0"/>
              <a:t>개 맞힘 </a:t>
            </a:r>
            <a:r>
              <a:rPr lang="en-US" altLang="ko-KR" dirty="0"/>
              <a:t>/ 49</a:t>
            </a:r>
            <a:r>
              <a:rPr lang="ko-KR" altLang="en-US" dirty="0"/>
              <a:t>개 전체 </a:t>
            </a:r>
            <a:r>
              <a:rPr lang="en-US" altLang="ko-KR" dirty="0"/>
              <a:t>= 0.714. score() </a:t>
            </a:r>
            <a:r>
              <a:rPr lang="ko-KR" altLang="en-US" dirty="0"/>
              <a:t>메서드의 결과와 정확히 일치했습니다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664" name="Google Shape;66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도전 문제</a:t>
            </a:r>
            <a:r>
              <a:rPr lang="en-US" altLang="ko-KR" dirty="0"/>
              <a:t>: </a:t>
            </a:r>
            <a:r>
              <a:rPr lang="ko-KR" altLang="en-US" dirty="0"/>
              <a:t>정확도가 떨어지는 이웃 개수 찾기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문제는 교재 </a:t>
            </a:r>
            <a:r>
              <a:rPr lang="en-US" altLang="ko-KR" dirty="0"/>
              <a:t>56</a:t>
            </a:r>
            <a:r>
              <a:rPr lang="ko-KR" altLang="en-US" dirty="0"/>
              <a:t>쪽에 나오는 문제입니다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n_neighbors</a:t>
            </a:r>
            <a:r>
              <a:rPr lang="ko-KR" altLang="en-US" dirty="0"/>
              <a:t>를 기본값 </a:t>
            </a:r>
            <a:r>
              <a:rPr lang="en-US" altLang="ko-KR" dirty="0"/>
              <a:t>5</a:t>
            </a:r>
            <a:r>
              <a:rPr lang="ko-KR" altLang="en-US" dirty="0"/>
              <a:t>부터 </a:t>
            </a:r>
            <a:r>
              <a:rPr lang="en-US" altLang="ko-KR" dirty="0"/>
              <a:t>49</a:t>
            </a:r>
            <a:r>
              <a:rPr lang="ko-KR" altLang="en-US" dirty="0"/>
              <a:t>까지 바꿔가면서</a:t>
            </a:r>
            <a:r>
              <a:rPr lang="en-US" altLang="ko-KR" dirty="0"/>
              <a:t>, </a:t>
            </a:r>
            <a:r>
              <a:rPr lang="ko-KR" altLang="en-US" dirty="0"/>
              <a:t>정확도</a:t>
            </a:r>
            <a:r>
              <a:rPr lang="en-US" altLang="ko-KR" dirty="0"/>
              <a:t>(score)</a:t>
            </a:r>
            <a:r>
              <a:rPr lang="ko-KR" altLang="en-US" dirty="0"/>
              <a:t>가 </a:t>
            </a:r>
            <a:r>
              <a:rPr lang="en-US" altLang="ko-KR" dirty="0"/>
              <a:t>1.0 </a:t>
            </a:r>
            <a:r>
              <a:rPr lang="ko-KR" altLang="en-US" dirty="0"/>
              <a:t>아래로 내려가기 시작하는 이웃의 개수를 찾아보세요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힌트가 있습니다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en-US" altLang="ko-KR" dirty="0" err="1"/>
              <a:t>KNeighborsClassifier</a:t>
            </a:r>
            <a:r>
              <a:rPr lang="en-US" altLang="ko-KR" dirty="0"/>
              <a:t> </a:t>
            </a:r>
            <a:r>
              <a:rPr lang="ko-KR" altLang="en-US" dirty="0"/>
              <a:t>객체를 매번 새로 만들 필요가 없습니다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fit()</a:t>
            </a:r>
            <a:r>
              <a:rPr lang="ko-KR" altLang="en-US" dirty="0"/>
              <a:t>으로 다시 훈련할 필요도 없습니다</a:t>
            </a:r>
            <a:r>
              <a:rPr lang="en-US" altLang="ko-KR" dirty="0"/>
              <a:t>. k-</a:t>
            </a:r>
            <a:r>
              <a:rPr lang="ko-KR" altLang="en-US" dirty="0" err="1"/>
              <a:t>최근접</a:t>
            </a:r>
            <a:r>
              <a:rPr lang="ko-KR" altLang="en-US" dirty="0"/>
              <a:t> 이웃은 데이터를 저장하는 게 전부이니까요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`</a:t>
            </a:r>
            <a:r>
              <a:rPr lang="en-US" altLang="ko-KR" dirty="0" err="1"/>
              <a:t>kn.n_neighbors</a:t>
            </a:r>
            <a:r>
              <a:rPr lang="en-US" altLang="ko-KR" dirty="0"/>
              <a:t> = n` </a:t>
            </a:r>
            <a:r>
              <a:rPr lang="ko-KR" altLang="en-US" dirty="0"/>
              <a:t>으로 이웃 개수만 바꾸고 </a:t>
            </a:r>
            <a:r>
              <a:rPr lang="en-US" altLang="ko-KR" dirty="0"/>
              <a:t>score()</a:t>
            </a:r>
            <a:r>
              <a:rPr lang="ko-KR" altLang="en-US" dirty="0"/>
              <a:t>를 다시 계산하면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코드 틀은 이렇습니다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</a:t>
            </a:r>
            <a:r>
              <a:rPr lang="en-US" altLang="ko-KR" dirty="0"/>
              <a:t> = </a:t>
            </a:r>
            <a:r>
              <a:rPr lang="en-US" altLang="ko-KR" dirty="0" err="1"/>
              <a:t>KNeighborsClassifier</a:t>
            </a:r>
            <a:r>
              <a:rPr lang="en-US" altLang="ko-KR" dirty="0"/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kn.fit</a:t>
            </a:r>
            <a:r>
              <a:rPr lang="en-US" altLang="ko-KR" dirty="0"/>
              <a:t>(</a:t>
            </a:r>
            <a:r>
              <a:rPr lang="en-US" altLang="ko-KR" dirty="0" err="1"/>
              <a:t>fish_data</a:t>
            </a:r>
            <a:r>
              <a:rPr lang="en-US" altLang="ko-KR" dirty="0"/>
              <a:t>, </a:t>
            </a:r>
            <a:r>
              <a:rPr lang="en-US" altLang="ko-KR" dirty="0" err="1"/>
              <a:t>fish_target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for n in range(5, 50):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</a:t>
            </a:r>
            <a:r>
              <a:rPr lang="en-US" altLang="ko-KR" dirty="0" err="1"/>
              <a:t>kn.n_neighbors</a:t>
            </a:r>
            <a:r>
              <a:rPr lang="en-US" altLang="ko-KR" dirty="0"/>
              <a:t> = n          # </a:t>
            </a:r>
            <a:r>
              <a:rPr lang="ko-KR" altLang="en-US" dirty="0"/>
              <a:t>이웃 개수 변경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    </a:t>
            </a:r>
            <a:r>
              <a:rPr lang="en-US" altLang="ko-KR" dirty="0"/>
              <a:t>score = </a:t>
            </a:r>
            <a:r>
              <a:rPr lang="en-US" altLang="ko-KR" dirty="0" err="1"/>
              <a:t>kn.score</a:t>
            </a:r>
            <a:r>
              <a:rPr lang="en-US" altLang="ko-KR" dirty="0"/>
              <a:t>(</a:t>
            </a:r>
            <a:r>
              <a:rPr lang="en-US" altLang="ko-KR" dirty="0" err="1"/>
              <a:t>fish_data</a:t>
            </a:r>
            <a:r>
              <a:rPr lang="en-US" altLang="ko-KR" dirty="0"/>
              <a:t>, </a:t>
            </a:r>
            <a:r>
              <a:rPr lang="en-US" altLang="ko-KR" dirty="0" err="1"/>
              <a:t>fish_target</a:t>
            </a:r>
            <a:r>
              <a:rPr lang="en-US" altLang="ko-KR" dirty="0"/>
              <a:t>)  # </a:t>
            </a:r>
            <a:r>
              <a:rPr lang="ko-KR" altLang="en-US" dirty="0"/>
              <a:t>점수 계산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    </a:t>
            </a:r>
            <a:r>
              <a:rPr lang="en-US" altLang="ko-KR" dirty="0"/>
              <a:t>if score &lt; 1: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print(n, score)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break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같이 입력하고 실행해 봅시다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학생들 입력 및 실행 </a:t>
            </a:r>
            <a:r>
              <a:rPr lang="en-US" altLang="ko-KR" dirty="0"/>
              <a:t>— </a:t>
            </a:r>
            <a:r>
              <a:rPr lang="ko-KR" altLang="en-US" dirty="0"/>
              <a:t>약 </a:t>
            </a:r>
            <a:r>
              <a:rPr lang="en-US" altLang="ko-KR" dirty="0"/>
              <a:t>5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결과가 어떻게 나왔나요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(</a:t>
            </a:r>
            <a:r>
              <a:rPr lang="ko-KR" altLang="en-US" dirty="0"/>
              <a:t>학생 반응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네</a:t>
            </a:r>
            <a:r>
              <a:rPr lang="en-US" altLang="ko-KR" dirty="0"/>
              <a:t>, n=18</a:t>
            </a:r>
            <a:r>
              <a:rPr lang="ko-KR" altLang="en-US" dirty="0"/>
              <a:t>에서 처음으로 정확도가 </a:t>
            </a:r>
            <a:r>
              <a:rPr lang="en-US" altLang="ko-KR" dirty="0"/>
              <a:t>1.0 </a:t>
            </a:r>
            <a:r>
              <a:rPr lang="ko-KR" altLang="en-US" dirty="0"/>
              <a:t>아래로 떨어집니다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이웃을 </a:t>
            </a:r>
            <a:r>
              <a:rPr lang="en-US" altLang="ko-KR" dirty="0"/>
              <a:t>17</a:t>
            </a:r>
            <a:r>
              <a:rPr lang="ko-KR" altLang="en-US" dirty="0"/>
              <a:t>개까지 참고하면 모든 데이터를 정확히 분류하지만</a:t>
            </a:r>
            <a:r>
              <a:rPr lang="en-US" altLang="ko-KR" dirty="0"/>
              <a:t>, 18</a:t>
            </a:r>
            <a:r>
              <a:rPr lang="ko-KR" altLang="en-US" dirty="0"/>
              <a:t>개부터는 실수하기 시작한다는 뜻입니다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왜 그럴까요</a:t>
            </a:r>
            <a:r>
              <a:rPr lang="en-US" altLang="ko-KR" dirty="0"/>
              <a:t>? </a:t>
            </a:r>
            <a:r>
              <a:rPr lang="ko-KR" altLang="en-US" dirty="0"/>
              <a:t>이웃의 수가 늘어나면</a:t>
            </a:r>
            <a:r>
              <a:rPr lang="en-US" altLang="ko-KR" dirty="0"/>
              <a:t>, </a:t>
            </a:r>
            <a:r>
              <a:rPr lang="ko-KR" altLang="en-US" dirty="0"/>
              <a:t>점점 더 먼 곳의 데이터까지 참고하게 됩니다</a:t>
            </a:r>
            <a:r>
              <a:rPr lang="en-US" altLang="ko-KR" dirty="0"/>
              <a:t>. </a:t>
            </a:r>
            <a:r>
              <a:rPr lang="ko-KR" altLang="en-US" dirty="0"/>
              <a:t>그러다 보면 도미와 빙어의 경계 부근에 있는 데이터에서 반대쪽 그룹의 데이터가 포함되기 시작하는 거예요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이걸 </a:t>
            </a:r>
            <a:r>
              <a:rPr lang="en-US" altLang="ko-KR" dirty="0"/>
              <a:t>`break` </a:t>
            </a:r>
            <a:r>
              <a:rPr lang="ko-KR" altLang="en-US" dirty="0"/>
              <a:t>없이 전체 결과를 보고 싶다면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</a:t>
            </a:r>
            <a:r>
              <a:rPr lang="en-US" altLang="ko-KR" dirty="0"/>
              <a:t> = </a:t>
            </a:r>
            <a:r>
              <a:rPr lang="en-US" altLang="ko-KR" dirty="0" err="1"/>
              <a:t>KNeighborsClassifier</a:t>
            </a:r>
            <a:r>
              <a:rPr lang="en-US" altLang="ko-KR" dirty="0"/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/>
              <a:t>kn.fit</a:t>
            </a:r>
            <a:r>
              <a:rPr lang="en-US" altLang="ko-KR" dirty="0"/>
              <a:t>(</a:t>
            </a:r>
            <a:r>
              <a:rPr lang="en-US" altLang="ko-KR" dirty="0" err="1"/>
              <a:t>fish_data</a:t>
            </a:r>
            <a:r>
              <a:rPr lang="en-US" altLang="ko-KR" dirty="0"/>
              <a:t>, </a:t>
            </a:r>
            <a:r>
              <a:rPr lang="en-US" altLang="ko-KR" dirty="0" err="1"/>
              <a:t>fish_target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for n in range(5, 50):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</a:t>
            </a:r>
            <a:r>
              <a:rPr lang="en-US" altLang="ko-KR" dirty="0" err="1"/>
              <a:t>kn.n_neighbors</a:t>
            </a:r>
            <a:r>
              <a:rPr lang="en-US" altLang="ko-KR" dirty="0"/>
              <a:t> = 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score = </a:t>
            </a:r>
            <a:r>
              <a:rPr lang="en-US" altLang="ko-KR" dirty="0" err="1"/>
              <a:t>kn.score</a:t>
            </a:r>
            <a:r>
              <a:rPr lang="en-US" altLang="ko-KR" dirty="0"/>
              <a:t>(</a:t>
            </a:r>
            <a:r>
              <a:rPr lang="en-US" altLang="ko-KR" dirty="0" err="1"/>
              <a:t>fish_data</a:t>
            </a:r>
            <a:r>
              <a:rPr lang="en-US" altLang="ko-KR" dirty="0"/>
              <a:t>, </a:t>
            </a:r>
            <a:r>
              <a:rPr lang="en-US" altLang="ko-KR" dirty="0" err="1"/>
              <a:t>fish_target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if score &lt; 1: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        print(n, score)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```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break</a:t>
            </a:r>
            <a:r>
              <a:rPr lang="ko-KR" altLang="en-US" dirty="0"/>
              <a:t>를 빼면 점수가 </a:t>
            </a:r>
            <a:r>
              <a:rPr lang="en-US" altLang="ko-KR" dirty="0"/>
              <a:t>1.0 </a:t>
            </a:r>
            <a:r>
              <a:rPr lang="ko-KR" altLang="en-US" dirty="0"/>
              <a:t>미만인 모든 경우가 출력됩니다</a:t>
            </a:r>
            <a:r>
              <a:rPr lang="en-US" altLang="ko-KR" dirty="0"/>
              <a:t>. n</a:t>
            </a:r>
            <a:r>
              <a:rPr lang="ko-KR" altLang="en-US" dirty="0"/>
              <a:t>이 커질수록 점수가 점점 떨어지는 걸 확인할 수 있어요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문제가 보여주는 것은 </a:t>
            </a:r>
            <a:r>
              <a:rPr lang="ko-KR" altLang="en-US" dirty="0" err="1"/>
              <a:t>하이퍼파라미터</a:t>
            </a:r>
            <a:r>
              <a:rPr lang="en-US" altLang="ko-KR" dirty="0"/>
              <a:t>(hyper parameter)</a:t>
            </a:r>
            <a:r>
              <a:rPr lang="ko-KR" altLang="en-US" dirty="0"/>
              <a:t>의 중요성입니다</a:t>
            </a:r>
            <a:r>
              <a:rPr lang="en-US" altLang="ko-KR" dirty="0"/>
              <a:t>. </a:t>
            </a:r>
            <a:r>
              <a:rPr lang="en-US" altLang="ko-KR" dirty="0" err="1"/>
              <a:t>n_neighbors</a:t>
            </a:r>
            <a:r>
              <a:rPr lang="en-US" altLang="ko-KR" dirty="0"/>
              <a:t> </a:t>
            </a:r>
            <a:r>
              <a:rPr lang="ko-KR" altLang="en-US" dirty="0"/>
              <a:t>같은 값을 </a:t>
            </a:r>
            <a:r>
              <a:rPr lang="ko-KR" altLang="en-US" dirty="0" err="1"/>
              <a:t>하이퍼파라미터라고</a:t>
            </a:r>
            <a:r>
              <a:rPr lang="ko-KR" altLang="en-US" dirty="0"/>
              <a:t> 하는데</a:t>
            </a:r>
            <a:r>
              <a:rPr lang="en-US" altLang="ko-KR" dirty="0"/>
              <a:t>, </a:t>
            </a:r>
            <a:r>
              <a:rPr lang="ko-KR" altLang="en-US" dirty="0"/>
              <a:t>모델의 성능에 큰 영향을 미칩니다</a:t>
            </a:r>
            <a:r>
              <a:rPr lang="en-US" altLang="ko-KR" dirty="0"/>
              <a:t>. </a:t>
            </a:r>
            <a:r>
              <a:rPr lang="ko-KR" altLang="en-US" dirty="0"/>
              <a:t>적절한 값을 찾는 것이 중요하고</a:t>
            </a:r>
            <a:r>
              <a:rPr lang="en-US" altLang="ko-KR" dirty="0"/>
              <a:t>, CHAPTER 05</a:t>
            </a:r>
            <a:r>
              <a:rPr lang="ko-KR" altLang="en-US" dirty="0"/>
              <a:t>에서 이걸 자동으로 찾는 방법</a:t>
            </a:r>
            <a:r>
              <a:rPr lang="en-US" altLang="ko-KR" dirty="0"/>
              <a:t>(</a:t>
            </a:r>
            <a:r>
              <a:rPr lang="ko-KR" altLang="en-US" dirty="0"/>
              <a:t>그리드 </a:t>
            </a:r>
            <a:r>
              <a:rPr lang="ko-KR" altLang="en-US" dirty="0" err="1"/>
              <a:t>서치</a:t>
            </a:r>
            <a:r>
              <a:rPr lang="en-US" altLang="ko-KR" dirty="0"/>
              <a:t>)</a:t>
            </a:r>
            <a:r>
              <a:rPr lang="ko-KR" altLang="en-US" dirty="0"/>
              <a:t>을 배우게 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---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 </a:t>
            </a:r>
            <a:r>
              <a:rPr lang="ko-KR" altLang="en-US" dirty="0"/>
              <a:t>최종 수업 마무리 </a:t>
            </a:r>
            <a:r>
              <a:rPr lang="en-US" altLang="ko-KR" dirty="0"/>
              <a:t>(10</a:t>
            </a:r>
            <a:r>
              <a:rPr lang="ko-KR" altLang="en-US" dirty="0"/>
              <a:t>분</a:t>
            </a:r>
            <a:r>
              <a:rPr lang="en-US" altLang="ko-K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</a:t>
            </a:r>
            <a:r>
              <a:rPr lang="en-US" altLang="ko-KR" dirty="0"/>
              <a:t>, CHAPTER 01</a:t>
            </a:r>
            <a:r>
              <a:rPr lang="ko-KR" altLang="en-US" dirty="0"/>
              <a:t>의 모든 내용을 마쳤습니다</a:t>
            </a:r>
            <a:r>
              <a:rPr lang="en-US" altLang="ko-KR" dirty="0"/>
              <a:t>. </a:t>
            </a:r>
            <a:r>
              <a:rPr lang="ko-KR" altLang="en-US" dirty="0"/>
              <a:t>수고하셨습니다</a:t>
            </a:r>
            <a:r>
              <a:rPr lang="en-US" altLang="ko-KR" dirty="0"/>
              <a:t>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전체 정리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Section 1-1: </a:t>
            </a:r>
            <a:r>
              <a:rPr lang="ko-KR" altLang="en-US" dirty="0"/>
              <a:t>인공지능과 </a:t>
            </a:r>
            <a:r>
              <a:rPr lang="ko-KR" altLang="en-US" dirty="0" err="1"/>
              <a:t>머신러닝</a:t>
            </a:r>
            <a:r>
              <a:rPr lang="en-US" altLang="ko-KR" dirty="0"/>
              <a:t>, </a:t>
            </a:r>
            <a:r>
              <a:rPr lang="ko-KR" altLang="en-US" dirty="0" err="1"/>
              <a:t>딥러닝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AI ⊃ ML ⊃ DL </a:t>
            </a:r>
            <a:r>
              <a:rPr lang="ko-KR" altLang="en-US" dirty="0"/>
              <a:t>포함 관계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강인공지능 </a:t>
            </a:r>
            <a:r>
              <a:rPr lang="en-US" altLang="ko-KR" dirty="0"/>
              <a:t>vs </a:t>
            </a:r>
            <a:r>
              <a:rPr lang="ko-KR" altLang="en-US" dirty="0"/>
              <a:t>약인공지능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사이킷런</a:t>
            </a:r>
            <a:r>
              <a:rPr lang="en-US" altLang="ko-KR" dirty="0"/>
              <a:t>, </a:t>
            </a:r>
            <a:r>
              <a:rPr lang="ko-KR" altLang="en-US" dirty="0" err="1"/>
              <a:t>텐서플로</a:t>
            </a:r>
            <a:r>
              <a:rPr lang="en-US" altLang="ko-KR" dirty="0"/>
              <a:t>, </a:t>
            </a:r>
            <a:r>
              <a:rPr lang="ko-KR" altLang="en-US" dirty="0" err="1"/>
              <a:t>파이토치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Section 1-2: </a:t>
            </a:r>
            <a:r>
              <a:rPr lang="ko-KR" altLang="en-US" dirty="0" err="1"/>
              <a:t>코랩과</a:t>
            </a:r>
            <a:r>
              <a:rPr lang="ko-KR" altLang="en-US" dirty="0"/>
              <a:t> 주피터 노트북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코랩</a:t>
            </a:r>
            <a:r>
              <a:rPr lang="ko-KR" altLang="en-US" dirty="0"/>
              <a:t> 접속</a:t>
            </a:r>
            <a:r>
              <a:rPr lang="en-US" altLang="ko-KR" dirty="0"/>
              <a:t>, </a:t>
            </a:r>
            <a:r>
              <a:rPr lang="ko-KR" altLang="en-US" dirty="0"/>
              <a:t>노트북 생성</a:t>
            </a:r>
            <a:r>
              <a:rPr lang="en-US" altLang="ko-KR" dirty="0"/>
              <a:t>/</a:t>
            </a:r>
            <a:r>
              <a:rPr lang="ko-KR" altLang="en-US" dirty="0"/>
              <a:t>저장</a:t>
            </a:r>
            <a:r>
              <a:rPr lang="en-US" altLang="ko-KR" dirty="0"/>
              <a:t>/</a:t>
            </a:r>
            <a:r>
              <a:rPr lang="ko-KR" altLang="en-US" dirty="0"/>
              <a:t>열기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코드 셀과 텍스트 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마크다운 기본 문법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Section 1-3: </a:t>
            </a:r>
            <a:r>
              <a:rPr lang="ko-KR" altLang="en-US" dirty="0"/>
              <a:t>마켓과 </a:t>
            </a:r>
            <a:r>
              <a:rPr lang="ko-KR" altLang="en-US" dirty="0" err="1"/>
              <a:t>머신러닝</a:t>
            </a: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데이터 준비 → 모델 훈련</a:t>
            </a:r>
            <a:r>
              <a:rPr lang="en-US" altLang="ko-KR" dirty="0"/>
              <a:t>(fit) → </a:t>
            </a:r>
            <a:r>
              <a:rPr lang="ko-KR" altLang="en-US" dirty="0"/>
              <a:t>평가</a:t>
            </a:r>
            <a:r>
              <a:rPr lang="en-US" altLang="ko-KR" dirty="0"/>
              <a:t>(score) → </a:t>
            </a:r>
            <a:r>
              <a:rPr lang="ko-KR" altLang="en-US" dirty="0"/>
              <a:t>예측</a:t>
            </a:r>
            <a:r>
              <a:rPr lang="en-US" altLang="ko-KR" dirty="0"/>
              <a:t>(predict)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k-</a:t>
            </a:r>
            <a:r>
              <a:rPr lang="ko-KR" altLang="en-US" dirty="0" err="1"/>
              <a:t>최근접</a:t>
            </a:r>
            <a:r>
              <a:rPr lang="ko-KR" altLang="en-US" dirty="0"/>
              <a:t> 이웃 알고리즘의 원리</a:t>
            </a:r>
            <a:r>
              <a:rPr lang="en-US" altLang="ko-KR" dirty="0"/>
              <a:t>: </a:t>
            </a:r>
            <a:r>
              <a:rPr lang="ko-KR" altLang="en-US" dirty="0"/>
              <a:t>가장 가까운 </a:t>
            </a:r>
            <a:r>
              <a:rPr lang="en-US" altLang="ko-KR" dirty="0"/>
              <a:t>k</a:t>
            </a:r>
            <a:r>
              <a:rPr lang="ko-KR" altLang="en-US" dirty="0"/>
              <a:t>개 이웃으로 다수결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matplotlib</a:t>
            </a:r>
            <a:r>
              <a:rPr lang="ko-KR" altLang="en-US" dirty="0"/>
              <a:t>으로 </a:t>
            </a:r>
            <a:r>
              <a:rPr lang="ko-KR" altLang="en-US" dirty="0" err="1"/>
              <a:t>산점도</a:t>
            </a:r>
            <a:r>
              <a:rPr lang="ko-KR" altLang="en-US" dirty="0"/>
              <a:t> 그리기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다음 시간 예고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다음 주부터는 </a:t>
            </a:r>
            <a:r>
              <a:rPr lang="en-US" altLang="ko-KR" dirty="0"/>
              <a:t>CHAPTER 02 "</a:t>
            </a:r>
            <a:r>
              <a:rPr lang="ko-KR" altLang="en-US" dirty="0"/>
              <a:t>데이터 다루기</a:t>
            </a:r>
            <a:r>
              <a:rPr lang="en-US" altLang="ko-KR" dirty="0"/>
              <a:t>"</a:t>
            </a:r>
            <a:r>
              <a:rPr lang="ko-KR" altLang="en-US" dirty="0"/>
              <a:t>에 들어갑니다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오늘은 </a:t>
            </a:r>
            <a:r>
              <a:rPr lang="en-US" altLang="ko-KR" dirty="0" err="1"/>
              <a:t>fish_data</a:t>
            </a:r>
            <a:r>
              <a:rPr lang="ko-KR" altLang="en-US" dirty="0"/>
              <a:t>와 </a:t>
            </a:r>
            <a:r>
              <a:rPr lang="en-US" altLang="ko-KR" dirty="0" err="1"/>
              <a:t>fish_target</a:t>
            </a:r>
            <a:r>
              <a:rPr lang="ko-KR" altLang="en-US" dirty="0"/>
              <a:t>을 직접 만들어서 모델에 넣었는데요</a:t>
            </a:r>
            <a:r>
              <a:rPr lang="en-US" altLang="ko-KR" dirty="0"/>
              <a:t>, </a:t>
            </a:r>
            <a:r>
              <a:rPr lang="ko-KR" altLang="en-US" dirty="0"/>
              <a:t>실제로는 데이터를 어떻게 준비하느냐가 모델 성능의 </a:t>
            </a:r>
            <a:r>
              <a:rPr lang="en-US" altLang="ko-KR" dirty="0"/>
              <a:t>80%</a:t>
            </a:r>
            <a:r>
              <a:rPr lang="ko-KR" altLang="en-US" dirty="0"/>
              <a:t>를 결정합니다</a:t>
            </a:r>
            <a:r>
              <a:rPr lang="en-US" altLang="ko-KR" dirty="0"/>
              <a:t>. </a:t>
            </a:r>
            <a:r>
              <a:rPr lang="ko-KR" altLang="en-US" dirty="0"/>
              <a:t>데이터를 올바르게 나누는 방법</a:t>
            </a:r>
            <a:r>
              <a:rPr lang="en-US" altLang="ko-KR" dirty="0"/>
              <a:t>(</a:t>
            </a:r>
            <a:r>
              <a:rPr lang="ko-KR" altLang="en-US" dirty="0"/>
              <a:t>훈련 세트</a:t>
            </a:r>
            <a:r>
              <a:rPr lang="en-US" altLang="ko-KR" dirty="0"/>
              <a:t>, </a:t>
            </a:r>
            <a:r>
              <a:rPr lang="ko-KR" altLang="en-US" dirty="0"/>
              <a:t>테스트 세트</a:t>
            </a:r>
            <a:r>
              <a:rPr lang="en-US" altLang="ko-KR" dirty="0"/>
              <a:t>), </a:t>
            </a:r>
            <a:r>
              <a:rPr lang="ko-KR" altLang="en-US" dirty="0"/>
              <a:t>데이터의 스케일을 맞추는 </a:t>
            </a:r>
            <a:r>
              <a:rPr lang="ko-KR" altLang="en-US" dirty="0" err="1"/>
              <a:t>전처리</a:t>
            </a:r>
            <a:r>
              <a:rPr lang="ko-KR" altLang="en-US" dirty="0"/>
              <a:t> 방법 등을 배울 겁니다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### </a:t>
            </a:r>
            <a:r>
              <a:rPr lang="ko-KR" altLang="en-US" dirty="0"/>
              <a:t>과제 안내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이번 주 과제가 </a:t>
            </a:r>
            <a:r>
              <a:rPr lang="en-US" altLang="ko-KR" dirty="0"/>
              <a:t>GitHub Classroom</a:t>
            </a:r>
            <a:r>
              <a:rPr lang="ko-KR" altLang="en-US" dirty="0"/>
              <a:t>에 올라가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과제 내용</a:t>
            </a:r>
            <a:r>
              <a:rPr lang="en-US" altLang="ko-KR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오늘 만든 </a:t>
            </a:r>
            <a:r>
              <a:rPr lang="en-US" altLang="ko-KR" dirty="0"/>
              <a:t>"</a:t>
            </a:r>
            <a:r>
              <a:rPr lang="en-US" altLang="ko-KR" dirty="0" err="1"/>
              <a:t>BreamAndSmelt</a:t>
            </a:r>
            <a:r>
              <a:rPr lang="en-US" altLang="ko-KR" dirty="0"/>
              <a:t>" </a:t>
            </a:r>
            <a:r>
              <a:rPr lang="ko-KR" altLang="en-US" dirty="0"/>
              <a:t>노트북을 기반으로</a:t>
            </a:r>
            <a:r>
              <a:rPr lang="en-US" altLang="ko-KR" dirty="0"/>
              <a:t>, </a:t>
            </a:r>
            <a:r>
              <a:rPr lang="ko-KR" altLang="en-US" dirty="0"/>
              <a:t>교재의 확인 문제들을 코드로 풀어서 제출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- </a:t>
            </a:r>
            <a:r>
              <a:rPr lang="ko-KR" altLang="en-US" dirty="0"/>
              <a:t>마감</a:t>
            </a:r>
            <a:r>
              <a:rPr lang="en-US" altLang="ko-KR" dirty="0"/>
              <a:t>: </a:t>
            </a:r>
            <a:r>
              <a:rPr lang="ko-KR" altLang="en-US" dirty="0"/>
              <a:t>다음 주 수업 전까지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GitHub Classroom </a:t>
            </a:r>
            <a:r>
              <a:rPr lang="ko-KR" altLang="en-US" dirty="0"/>
              <a:t>사용법은 지난 실습 시간에 연습했으니 잘 하실 수 있을 거예요</a:t>
            </a:r>
            <a:r>
              <a:rPr lang="en-US" altLang="ko-KR" dirty="0"/>
              <a:t>. </a:t>
            </a:r>
            <a:r>
              <a:rPr lang="ko-KR" altLang="en-US" dirty="0"/>
              <a:t>혹시 제출 과정에서 문제가 있으면 이메일이나 </a:t>
            </a:r>
            <a:r>
              <a:rPr lang="ko-KR" altLang="en-US" dirty="0" err="1"/>
              <a:t>단톡방으로</a:t>
            </a:r>
            <a:r>
              <a:rPr lang="ko-KR" altLang="en-US" dirty="0"/>
              <a:t> 질문해 주세요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이메일</a:t>
            </a:r>
            <a:r>
              <a:rPr lang="en-US" altLang="ko-KR" dirty="0"/>
              <a:t>: sangdon.park@dju.kr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수고하셨습니다</a:t>
            </a:r>
            <a:r>
              <a:rPr lang="en-US" altLang="ko-KR" dirty="0"/>
              <a:t>! </a:t>
            </a:r>
            <a:r>
              <a:rPr lang="ko-KR" altLang="en-US" dirty="0"/>
              <a:t>질문 있으신 분</a:t>
            </a:r>
            <a:r>
              <a:rPr lang="en-US" altLang="ko-KR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/>
          <p:nvPr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7"/>
          <p:cNvSpPr/>
          <p:nvPr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7"/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47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20" name="Google Shape;20;p47"/>
          <p:cNvCxnSpPr/>
          <p:nvPr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내지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8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8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5" name="Google Shape;25;p4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8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9"/>
          <p:cNvSpPr txBox="1">
            <a:spLocks noGrp="1"/>
          </p:cNvSpPr>
          <p:nvPr>
            <p:ph type="body" idx="1"/>
          </p:nvPr>
        </p:nvSpPr>
        <p:spPr>
          <a:xfrm>
            <a:off x="691375" y="2932204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6436"/>
              </a:buClr>
              <a:buSzPts val="4800"/>
              <a:buNone/>
              <a:defRPr sz="4800">
                <a:solidFill>
                  <a:srgbClr val="F0643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9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9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" name="Google Shape;32;p49"/>
          <p:cNvGrpSpPr/>
          <p:nvPr/>
        </p:nvGrpSpPr>
        <p:grpSpPr>
          <a:xfrm>
            <a:off x="11379724" y="208758"/>
            <a:ext cx="320022" cy="359778"/>
            <a:chOff x="3567553" y="1499912"/>
            <a:chExt cx="320022" cy="359778"/>
          </a:xfrm>
        </p:grpSpPr>
        <p:sp>
          <p:nvSpPr>
            <p:cNvPr id="33" name="Google Shape;33;p49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9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9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9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9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9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0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0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4" name="Google Shape;44;p50"/>
          <p:cNvSpPr txBox="1">
            <a:spLocks noGrp="1"/>
          </p:cNvSpPr>
          <p:nvPr>
            <p:ph type="body" idx="1"/>
          </p:nvPr>
        </p:nvSpPr>
        <p:spPr>
          <a:xfrm>
            <a:off x="487015" y="815008"/>
            <a:ext cx="11281052" cy="218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1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1"/>
          <p:cNvSpPr txBox="1">
            <a:spLocks noGrp="1"/>
          </p:cNvSpPr>
          <p:nvPr>
            <p:ph type="body" idx="1"/>
          </p:nvPr>
        </p:nvSpPr>
        <p:spPr>
          <a:xfrm>
            <a:off x="4632325" y="3242853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1"/>
          <p:cNvSpPr txBox="1">
            <a:spLocks noGrp="1"/>
          </p:cNvSpPr>
          <p:nvPr>
            <p:ph type="body" idx="2"/>
          </p:nvPr>
        </p:nvSpPr>
        <p:spPr>
          <a:xfrm>
            <a:off x="4632324" y="4074122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1"/>
          <p:cNvSpPr txBox="1">
            <a:spLocks noGrp="1"/>
          </p:cNvSpPr>
          <p:nvPr>
            <p:ph type="body" idx="3"/>
          </p:nvPr>
        </p:nvSpPr>
        <p:spPr>
          <a:xfrm>
            <a:off x="4632323" y="4910800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1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51"/>
          <p:cNvGrpSpPr/>
          <p:nvPr/>
        </p:nvGrpSpPr>
        <p:grpSpPr>
          <a:xfrm>
            <a:off x="11568567" y="267121"/>
            <a:ext cx="320022" cy="359778"/>
            <a:chOff x="3567553" y="1499912"/>
            <a:chExt cx="320022" cy="359778"/>
          </a:xfrm>
        </p:grpSpPr>
        <p:sp>
          <p:nvSpPr>
            <p:cNvPr id="53" name="Google Shape;53;p51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1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1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1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51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51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5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2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65" name="Google Shape;65;p52"/>
          <p:cNvSpPr txBox="1">
            <a:spLocks noGrp="1"/>
          </p:cNvSpPr>
          <p:nvPr>
            <p:ph type="body" idx="1"/>
          </p:nvPr>
        </p:nvSpPr>
        <p:spPr>
          <a:xfrm>
            <a:off x="487015" y="815009"/>
            <a:ext cx="11281052" cy="78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2"/>
          </p:nvPr>
        </p:nvSpPr>
        <p:spPr>
          <a:xfrm>
            <a:off x="691375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3"/>
          </p:nvPr>
        </p:nvSpPr>
        <p:spPr>
          <a:xfrm>
            <a:off x="6437106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aungpyaeap/fish-marke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smelt_list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matplotlib_prop_cycle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bit.ly/matplotlib_marker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subTitle" idx="1"/>
          </p:nvPr>
        </p:nvSpPr>
        <p:spPr>
          <a:xfrm>
            <a:off x="8053710" y="5222914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 dirty="0"/>
              <a:t>대전대학교 컴퓨터공학과</a:t>
            </a:r>
          </a:p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ko-KR" altLang="en-US" b="1" dirty="0"/>
          </a:p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 dirty="0"/>
              <a:t>조교수 박상돈</a:t>
            </a:r>
          </a:p>
        </p:txBody>
      </p:sp>
      <p:sp>
        <p:nvSpPr>
          <p:cNvPr id="83" name="Google Shape;83;p1"/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F2F2F2"/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1020350" y="851445"/>
            <a:ext cx="8816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1</a:t>
            </a:r>
            <a:r>
              <a:rPr lang="en-US" altLang="ko-K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  <a:r>
              <a:rPr lang="ko-K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인공지능 개요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81;p1">
            <a:extLst>
              <a:ext uri="{FF2B5EF4-FFF2-40B4-BE49-F238E27FC236}">
                <a16:creationId xmlns:a16="http://schemas.microsoft.com/office/drawing/2014/main" id="{D255C8CA-F2C0-2E2E-6B00-3212170AA20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47600" y="2777285"/>
            <a:ext cx="2884900" cy="108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</a:pPr>
            <a:r>
              <a:rPr lang="ko-KR" altLang="en-US" b="1" dirty="0"/>
              <a:t>인공지능</a:t>
            </a:r>
            <a:br>
              <a:rPr lang="en-US" altLang="ko-KR" b="1" dirty="0"/>
            </a:b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사각형: 둥근 모서리 257">
            <a:extLst>
              <a:ext uri="{FF2B5EF4-FFF2-40B4-BE49-F238E27FC236}">
                <a16:creationId xmlns:a16="http://schemas.microsoft.com/office/drawing/2014/main" id="{12C1E04B-C2EE-4282-0B42-EC2817BFB1AE}"/>
              </a:ext>
            </a:extLst>
          </p:cNvPr>
          <p:cNvSpPr/>
          <p:nvPr/>
        </p:nvSpPr>
        <p:spPr>
          <a:xfrm>
            <a:off x="517087" y="3236259"/>
            <a:ext cx="1421336" cy="22702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02B4F975-1015-90A0-3CCC-00C1B9AE9E8B}"/>
              </a:ext>
            </a:extLst>
          </p:cNvPr>
          <p:cNvGrpSpPr/>
          <p:nvPr/>
        </p:nvGrpSpPr>
        <p:grpSpPr>
          <a:xfrm>
            <a:off x="1823418" y="1250041"/>
            <a:ext cx="9791501" cy="4683694"/>
            <a:chOff x="1688834" y="968744"/>
            <a:chExt cx="9791501" cy="4683694"/>
          </a:xfrm>
        </p:grpSpPr>
        <p:cxnSp>
          <p:nvCxnSpPr>
            <p:cNvPr id="260" name="직선 연결선 259">
              <a:extLst>
                <a:ext uri="{FF2B5EF4-FFF2-40B4-BE49-F238E27FC236}">
                  <a16:creationId xmlns:a16="http://schemas.microsoft.com/office/drawing/2014/main" id="{D322412B-16FB-122C-98D9-6031CC3D336A}"/>
                </a:ext>
              </a:extLst>
            </p:cNvPr>
            <p:cNvCxnSpPr/>
            <p:nvPr/>
          </p:nvCxnSpPr>
          <p:spPr>
            <a:xfrm>
              <a:off x="2864537" y="968744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원호 260">
              <a:extLst>
                <a:ext uri="{FF2B5EF4-FFF2-40B4-BE49-F238E27FC236}">
                  <a16:creationId xmlns:a16="http://schemas.microsoft.com/office/drawing/2014/main" id="{32961DD3-04CB-A353-AE13-AE54C4CD8A34}"/>
                </a:ext>
              </a:extLst>
            </p:cNvPr>
            <p:cNvSpPr/>
            <p:nvPr/>
          </p:nvSpPr>
          <p:spPr>
            <a:xfrm>
              <a:off x="9138488" y="968744"/>
              <a:ext cx="2341847" cy="2341847"/>
            </a:xfrm>
            <a:prstGeom prst="arc">
              <a:avLst>
                <a:gd name="adj1" fmla="val 16200000"/>
                <a:gd name="adj2" fmla="val 5402766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9E86320E-1F79-26CB-27E4-D86DF4198757}"/>
                </a:ext>
              </a:extLst>
            </p:cNvPr>
            <p:cNvCxnSpPr/>
            <p:nvPr/>
          </p:nvCxnSpPr>
          <p:spPr>
            <a:xfrm>
              <a:off x="2864536" y="3310591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원호 262">
              <a:extLst>
                <a:ext uri="{FF2B5EF4-FFF2-40B4-BE49-F238E27FC236}">
                  <a16:creationId xmlns:a16="http://schemas.microsoft.com/office/drawing/2014/main" id="{F63E3299-D560-6B86-E798-B856530C9630}"/>
                </a:ext>
              </a:extLst>
            </p:cNvPr>
            <p:cNvSpPr/>
            <p:nvPr/>
          </p:nvSpPr>
          <p:spPr>
            <a:xfrm>
              <a:off x="1697418" y="3310591"/>
              <a:ext cx="2341847" cy="2341847"/>
            </a:xfrm>
            <a:prstGeom prst="arc">
              <a:avLst>
                <a:gd name="adj1" fmla="val 10883827"/>
                <a:gd name="adj2" fmla="val 16223894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2E0BCE31-04DA-6D04-BAEA-33E07563BC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6944" y="5568403"/>
              <a:ext cx="7847853" cy="30245"/>
            </a:xfrm>
            <a:prstGeom prst="line">
              <a:avLst/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원호 264">
              <a:extLst>
                <a:ext uri="{FF2B5EF4-FFF2-40B4-BE49-F238E27FC236}">
                  <a16:creationId xmlns:a16="http://schemas.microsoft.com/office/drawing/2014/main" id="{FBC8F5C8-247F-2744-94D5-21D032237EDB}"/>
                </a:ext>
              </a:extLst>
            </p:cNvPr>
            <p:cNvSpPr/>
            <p:nvPr/>
          </p:nvSpPr>
          <p:spPr>
            <a:xfrm>
              <a:off x="1688834" y="3256801"/>
              <a:ext cx="2341847" cy="2341847"/>
            </a:xfrm>
            <a:prstGeom prst="arc">
              <a:avLst>
                <a:gd name="adj1" fmla="val 5337265"/>
                <a:gd name="adj2" fmla="val 10736895"/>
              </a:avLst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6" name="TextBox 265">
            <a:extLst>
              <a:ext uri="{FF2B5EF4-FFF2-40B4-BE49-F238E27FC236}">
                <a16:creationId xmlns:a16="http://schemas.microsoft.com/office/drawing/2014/main" id="{54EB019E-5518-7188-2AA3-08BD04CE5B08}"/>
              </a:ext>
            </a:extLst>
          </p:cNvPr>
          <p:cNvSpPr txBox="1"/>
          <p:nvPr/>
        </p:nvSpPr>
        <p:spPr>
          <a:xfrm>
            <a:off x="517087" y="898705"/>
            <a:ext cx="284267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                        01~06</a:t>
            </a:r>
            <a:r>
              <a:rPr lang="ko-KR" altLang="en-US" sz="1200" b="1">
                <a:latin typeface="+mn-ea"/>
              </a:rPr>
              <a:t>장</a:t>
            </a:r>
          </a:p>
          <a:p>
            <a:r>
              <a:rPr lang="ko-KR" altLang="en-US" sz="1200">
                <a:latin typeface="+mn-ea"/>
              </a:rPr>
              <a:t>딥러닝만 먼저 배우고 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싶다면 </a:t>
            </a:r>
            <a:r>
              <a:rPr lang="en-US" altLang="ko-KR" sz="1200">
                <a:latin typeface="+mn-ea"/>
              </a:rPr>
              <a:t>01~04</a:t>
            </a:r>
            <a:r>
              <a:rPr lang="ko-KR" altLang="en-US" sz="1200">
                <a:latin typeface="+mn-ea"/>
              </a:rPr>
              <a:t>장을 읽은 후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07</a:t>
            </a:r>
            <a:r>
              <a:rPr lang="ko-KR" altLang="en-US" sz="1200">
                <a:latin typeface="+mn-ea"/>
              </a:rPr>
              <a:t>장으로 건너뛰어도 좋습니다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300" b="1">
              <a:latin typeface="+mn-ea"/>
            </a:endParaRPr>
          </a:p>
          <a:p>
            <a:r>
              <a:rPr lang="ko-KR" altLang="en-US" sz="1300" b="1">
                <a:latin typeface="+mn-ea"/>
              </a:rPr>
              <a:t> </a:t>
            </a:r>
            <a:endParaRPr lang="en-US" altLang="ko-KR" sz="1300" b="1">
              <a:latin typeface="+mn-ea"/>
            </a:endParaRPr>
          </a:p>
          <a:p>
            <a:r>
              <a:rPr lang="en-US" altLang="ko-KR" sz="1300" b="1">
                <a:latin typeface="+mn-ea"/>
              </a:rPr>
              <a:t>                      07~10</a:t>
            </a:r>
            <a:r>
              <a:rPr lang="ko-KR" altLang="en-US" sz="1300" b="1">
                <a:latin typeface="+mn-ea"/>
              </a:rPr>
              <a:t>장</a:t>
            </a:r>
            <a:endParaRPr lang="ko-KR" altLang="en-US" sz="1300" b="1" dirty="0">
              <a:latin typeface="+mn-ea"/>
            </a:endParaRPr>
          </a:p>
          <a:p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장을 읽은 후 </a:t>
            </a:r>
            <a:r>
              <a:rPr lang="en-US" altLang="ko-KR" sz="1300">
                <a:latin typeface="+mn-ea"/>
              </a:rPr>
              <a:t>08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장은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순서대로 읽지 않아도 괜찮습니다</a:t>
            </a:r>
            <a:r>
              <a:rPr lang="en-US" altLang="ko-KR" sz="1300">
                <a:latin typeface="+mn-ea"/>
              </a:rPr>
              <a:t>. 10</a:t>
            </a:r>
            <a:r>
              <a:rPr lang="ko-KR" altLang="en-US" sz="1300">
                <a:latin typeface="+mn-ea"/>
              </a:rPr>
              <a:t>장을 읽기 전에 </a:t>
            </a:r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장을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읽는 것이 좋습니다</a:t>
            </a:r>
            <a:r>
              <a:rPr lang="en-US" altLang="ko-KR" sz="1300">
                <a:latin typeface="+mn-ea"/>
              </a:rPr>
              <a:t>.</a:t>
            </a:r>
          </a:p>
          <a:p>
            <a:endParaRPr lang="en-US" altLang="ko-KR" sz="1300">
              <a:latin typeface="+mn-ea"/>
            </a:endParaRPr>
          </a:p>
          <a:p>
            <a:r>
              <a:rPr lang="ko-KR" altLang="en-US" sz="1200" b="1">
                <a:latin typeface="+mn-ea"/>
              </a:rPr>
              <a:t>난이도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267" name="텍스트 개체 틀 1">
            <a:extLst>
              <a:ext uri="{FF2B5EF4-FFF2-40B4-BE49-F238E27FC236}">
                <a16:creationId xmlns:a16="http://schemas.microsoft.com/office/drawing/2014/main" id="{38022695-2D24-77BA-8BE4-64D75F74F6F1}"/>
              </a:ext>
            </a:extLst>
          </p:cNvPr>
          <p:cNvSpPr txBox="1">
            <a:spLocks/>
          </p:cNvSpPr>
          <p:nvPr/>
        </p:nvSpPr>
        <p:spPr>
          <a:xfrm>
            <a:off x="1500589" y="167418"/>
            <a:ext cx="3130348" cy="4967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3200" b="1">
                <a:solidFill>
                  <a:srgbClr val="9751CB"/>
                </a:solidFill>
                <a:cs typeface="+mj-cs"/>
              </a:rPr>
              <a:t>학습 로드맵</a:t>
            </a:r>
            <a:endParaRPr lang="ko-KR" altLang="en-US" sz="3200" b="1" dirty="0">
              <a:solidFill>
                <a:srgbClr val="9751CB"/>
              </a:solidFill>
              <a:cs typeface="+mj-cs"/>
            </a:endParaRPr>
          </a:p>
        </p:txBody>
      </p:sp>
      <p:sp>
        <p:nvSpPr>
          <p:cNvPr id="268" name="Oval 18">
            <a:extLst>
              <a:ext uri="{FF2B5EF4-FFF2-40B4-BE49-F238E27FC236}">
                <a16:creationId xmlns:a16="http://schemas.microsoft.com/office/drawing/2014/main" id="{1D9A77EF-A4A5-D489-F260-32509555A765}"/>
              </a:ext>
            </a:extLst>
          </p:cNvPr>
          <p:cNvSpPr/>
          <p:nvPr/>
        </p:nvSpPr>
        <p:spPr>
          <a:xfrm>
            <a:off x="2735292" y="960398"/>
            <a:ext cx="569237" cy="56923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9" name="Oval 19">
            <a:extLst>
              <a:ext uri="{FF2B5EF4-FFF2-40B4-BE49-F238E27FC236}">
                <a16:creationId xmlns:a16="http://schemas.microsoft.com/office/drawing/2014/main" id="{82B9AE34-B0A5-D029-35B5-53C6C59650C2}"/>
              </a:ext>
            </a:extLst>
          </p:cNvPr>
          <p:cNvSpPr/>
          <p:nvPr/>
        </p:nvSpPr>
        <p:spPr>
          <a:xfrm>
            <a:off x="4223420" y="1092481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01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0" name="Oval 20">
            <a:extLst>
              <a:ext uri="{FF2B5EF4-FFF2-40B4-BE49-F238E27FC236}">
                <a16:creationId xmlns:a16="http://schemas.microsoft.com/office/drawing/2014/main" id="{9DE3008A-5973-1F3B-4C71-B79F3E2D975F}"/>
              </a:ext>
            </a:extLst>
          </p:cNvPr>
          <p:cNvSpPr/>
          <p:nvPr/>
        </p:nvSpPr>
        <p:spPr>
          <a:xfrm>
            <a:off x="7768090" y="1132770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02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1" name="Oval 21">
            <a:extLst>
              <a:ext uri="{FF2B5EF4-FFF2-40B4-BE49-F238E27FC236}">
                <a16:creationId xmlns:a16="http://schemas.microsoft.com/office/drawing/2014/main" id="{F4CFCA46-B64D-2B22-20EF-0A294D55A286}"/>
              </a:ext>
            </a:extLst>
          </p:cNvPr>
          <p:cNvSpPr/>
          <p:nvPr/>
        </p:nvSpPr>
        <p:spPr>
          <a:xfrm>
            <a:off x="11221506" y="1496186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03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2" name="Oval 22">
            <a:extLst>
              <a:ext uri="{FF2B5EF4-FFF2-40B4-BE49-F238E27FC236}">
                <a16:creationId xmlns:a16="http://schemas.microsoft.com/office/drawing/2014/main" id="{128C0947-0DBE-69DF-B7CB-3A28E4C6AC46}"/>
              </a:ext>
            </a:extLst>
          </p:cNvPr>
          <p:cNvSpPr/>
          <p:nvPr/>
        </p:nvSpPr>
        <p:spPr>
          <a:xfrm>
            <a:off x="9920064" y="34448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04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3" name="Oval 23">
            <a:extLst>
              <a:ext uri="{FF2B5EF4-FFF2-40B4-BE49-F238E27FC236}">
                <a16:creationId xmlns:a16="http://schemas.microsoft.com/office/drawing/2014/main" id="{8042E4D6-186C-227B-3AC1-20CB6CDFFEED}"/>
              </a:ext>
            </a:extLst>
          </p:cNvPr>
          <p:cNvSpPr/>
          <p:nvPr/>
        </p:nvSpPr>
        <p:spPr>
          <a:xfrm>
            <a:off x="6812063" y="34425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05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4" name="Oval 24">
            <a:extLst>
              <a:ext uri="{FF2B5EF4-FFF2-40B4-BE49-F238E27FC236}">
                <a16:creationId xmlns:a16="http://schemas.microsoft.com/office/drawing/2014/main" id="{7354A141-6ADE-1B70-C5F2-5FC309251E5F}"/>
              </a:ext>
            </a:extLst>
          </p:cNvPr>
          <p:cNvSpPr/>
          <p:nvPr/>
        </p:nvSpPr>
        <p:spPr>
          <a:xfrm>
            <a:off x="3824374" y="3434293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06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5" name="Oval 25">
            <a:extLst>
              <a:ext uri="{FF2B5EF4-FFF2-40B4-BE49-F238E27FC236}">
                <a16:creationId xmlns:a16="http://schemas.microsoft.com/office/drawing/2014/main" id="{5CF3828E-B130-017D-A8A5-D09735222B82}"/>
              </a:ext>
            </a:extLst>
          </p:cNvPr>
          <p:cNvSpPr/>
          <p:nvPr/>
        </p:nvSpPr>
        <p:spPr>
          <a:xfrm>
            <a:off x="1659340" y="456919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07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6" name="Oval 26">
            <a:extLst>
              <a:ext uri="{FF2B5EF4-FFF2-40B4-BE49-F238E27FC236}">
                <a16:creationId xmlns:a16="http://schemas.microsoft.com/office/drawing/2014/main" id="{CB1B3200-27F2-4573-9AAB-0E90F9DAB084}"/>
              </a:ext>
            </a:extLst>
          </p:cNvPr>
          <p:cNvSpPr/>
          <p:nvPr/>
        </p:nvSpPr>
        <p:spPr>
          <a:xfrm>
            <a:off x="3883421" y="57205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08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7" name="Oval 27">
            <a:extLst>
              <a:ext uri="{FF2B5EF4-FFF2-40B4-BE49-F238E27FC236}">
                <a16:creationId xmlns:a16="http://schemas.microsoft.com/office/drawing/2014/main" id="{80C31AA4-1812-D01C-523D-76E86A60E898}"/>
              </a:ext>
            </a:extLst>
          </p:cNvPr>
          <p:cNvSpPr/>
          <p:nvPr/>
        </p:nvSpPr>
        <p:spPr>
          <a:xfrm>
            <a:off x="6531975" y="5715848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09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8" name="Oval 28">
            <a:extLst>
              <a:ext uri="{FF2B5EF4-FFF2-40B4-BE49-F238E27FC236}">
                <a16:creationId xmlns:a16="http://schemas.microsoft.com/office/drawing/2014/main" id="{F617D3B9-E791-F83B-2B98-3F1BFBF9A5E1}"/>
              </a:ext>
            </a:extLst>
          </p:cNvPr>
          <p:cNvSpPr/>
          <p:nvPr/>
        </p:nvSpPr>
        <p:spPr>
          <a:xfrm>
            <a:off x="10773758" y="5426752"/>
            <a:ext cx="726831" cy="7268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GOAL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0C79F81F-8CC0-7A1A-864D-4DB609B1FE37}"/>
              </a:ext>
            </a:extLst>
          </p:cNvPr>
          <p:cNvSpPr txBox="1"/>
          <p:nvPr/>
        </p:nvSpPr>
        <p:spPr>
          <a:xfrm>
            <a:off x="3267950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나의 첫 머신러닝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57FD3E21-276E-8EE1-D22B-6ED851341545}"/>
              </a:ext>
            </a:extLst>
          </p:cNvPr>
          <p:cNvSpPr txBox="1"/>
          <p:nvPr/>
        </p:nvSpPr>
        <p:spPr>
          <a:xfrm>
            <a:off x="6736707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데이터 다루기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94D8B1BE-D210-B63F-AF41-65396C96D94B}"/>
              </a:ext>
            </a:extLst>
          </p:cNvPr>
          <p:cNvSpPr txBox="1"/>
          <p:nvPr/>
        </p:nvSpPr>
        <p:spPr>
          <a:xfrm>
            <a:off x="9034540" y="154592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회귀 알고리즘과 모델 규제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EEA84F89-36CF-1236-A0C5-7D974E4B200A}"/>
              </a:ext>
            </a:extLst>
          </p:cNvPr>
          <p:cNvSpPr txBox="1"/>
          <p:nvPr/>
        </p:nvSpPr>
        <p:spPr>
          <a:xfrm>
            <a:off x="8925274" y="368789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다양한 분류 알고리즘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1FA3644A-A517-27AE-508F-ECB861A67F6B}"/>
              </a:ext>
            </a:extLst>
          </p:cNvPr>
          <p:cNvSpPr txBox="1"/>
          <p:nvPr/>
        </p:nvSpPr>
        <p:spPr>
          <a:xfrm>
            <a:off x="5840837" y="36503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트리 알고리즘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DA5504A9-987B-B921-0619-25DBDDFA54AB}"/>
              </a:ext>
            </a:extLst>
          </p:cNvPr>
          <p:cNvSpPr txBox="1"/>
          <p:nvPr/>
        </p:nvSpPr>
        <p:spPr>
          <a:xfrm>
            <a:off x="2852040" y="3663958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비지도 학습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DAFAB60B-9626-3F82-37CF-C1731D1E5649}"/>
              </a:ext>
            </a:extLst>
          </p:cNvPr>
          <p:cNvSpPr txBox="1"/>
          <p:nvPr/>
        </p:nvSpPr>
        <p:spPr>
          <a:xfrm>
            <a:off x="1528758" y="45551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딥러닝을 시작합니다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61917367-4ECA-AF33-0AE4-CF04CF7F41AF}"/>
              </a:ext>
            </a:extLst>
          </p:cNvPr>
          <p:cNvSpPr txBox="1"/>
          <p:nvPr/>
        </p:nvSpPr>
        <p:spPr>
          <a:xfrm>
            <a:off x="2852040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이미지를 위한 인공 신경망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955BF713-9DF7-CC54-B85D-D77F22475BD4}"/>
              </a:ext>
            </a:extLst>
          </p:cNvPr>
          <p:cNvSpPr txBox="1"/>
          <p:nvPr/>
        </p:nvSpPr>
        <p:spPr>
          <a:xfrm>
            <a:off x="5637018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텍스트를 위한 인공 신경망</a:t>
            </a:r>
          </a:p>
        </p:txBody>
      </p:sp>
      <p:grpSp>
        <p:nvGrpSpPr>
          <p:cNvPr id="288" name="Group 52">
            <a:extLst>
              <a:ext uri="{FF2B5EF4-FFF2-40B4-BE49-F238E27FC236}">
                <a16:creationId xmlns:a16="http://schemas.microsoft.com/office/drawing/2014/main" id="{05590B24-3D25-27AE-AB29-08F367338853}"/>
              </a:ext>
            </a:extLst>
          </p:cNvPr>
          <p:cNvGrpSpPr/>
          <p:nvPr/>
        </p:nvGrpSpPr>
        <p:grpSpPr>
          <a:xfrm>
            <a:off x="1117980" y="3293231"/>
            <a:ext cx="762509" cy="109142"/>
            <a:chOff x="6620256" y="231648"/>
            <a:chExt cx="1194477" cy="170972"/>
          </a:xfrm>
        </p:grpSpPr>
        <p:sp>
          <p:nvSpPr>
            <p:cNvPr id="289" name="Oval 47">
              <a:extLst>
                <a:ext uri="{FF2B5EF4-FFF2-40B4-BE49-F238E27FC236}">
                  <a16:creationId xmlns:a16="http://schemas.microsoft.com/office/drawing/2014/main" id="{44BA8117-3E30-1DFA-ED75-1E3A8B6EF8A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0" name="Oval 48">
              <a:extLst>
                <a:ext uri="{FF2B5EF4-FFF2-40B4-BE49-F238E27FC236}">
                  <a16:creationId xmlns:a16="http://schemas.microsoft.com/office/drawing/2014/main" id="{3FF54BFA-54CC-3451-1E4B-88D6D5EDAB7E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1" name="Oval 49">
              <a:extLst>
                <a:ext uri="{FF2B5EF4-FFF2-40B4-BE49-F238E27FC236}">
                  <a16:creationId xmlns:a16="http://schemas.microsoft.com/office/drawing/2014/main" id="{52113E12-CCA2-3254-F242-AE0723A66959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2" name="Oval 50">
              <a:extLst>
                <a:ext uri="{FF2B5EF4-FFF2-40B4-BE49-F238E27FC236}">
                  <a16:creationId xmlns:a16="http://schemas.microsoft.com/office/drawing/2014/main" id="{4413CFF3-5F96-C564-9DC1-6FBB4B5311CC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3" name="Oval 51">
              <a:extLst>
                <a:ext uri="{FF2B5EF4-FFF2-40B4-BE49-F238E27FC236}">
                  <a16:creationId xmlns:a16="http://schemas.microsoft.com/office/drawing/2014/main" id="{608CF110-92B5-AC5E-4E3A-F8F41569C627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4" name="Group 53">
            <a:extLst>
              <a:ext uri="{FF2B5EF4-FFF2-40B4-BE49-F238E27FC236}">
                <a16:creationId xmlns:a16="http://schemas.microsoft.com/office/drawing/2014/main" id="{00026FBF-B323-3C06-3EC8-50644870A98B}"/>
              </a:ext>
            </a:extLst>
          </p:cNvPr>
          <p:cNvGrpSpPr/>
          <p:nvPr/>
        </p:nvGrpSpPr>
        <p:grpSpPr>
          <a:xfrm>
            <a:off x="4002984" y="1660410"/>
            <a:ext cx="781607" cy="111876"/>
            <a:chOff x="6620256" y="231648"/>
            <a:chExt cx="1194477" cy="170972"/>
          </a:xfrm>
        </p:grpSpPr>
        <p:sp>
          <p:nvSpPr>
            <p:cNvPr id="295" name="Oval 54">
              <a:extLst>
                <a:ext uri="{FF2B5EF4-FFF2-40B4-BE49-F238E27FC236}">
                  <a16:creationId xmlns:a16="http://schemas.microsoft.com/office/drawing/2014/main" id="{F6F21702-C5B7-5E52-F1C3-4EB4CB8E210A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6" name="Oval 55">
              <a:extLst>
                <a:ext uri="{FF2B5EF4-FFF2-40B4-BE49-F238E27FC236}">
                  <a16:creationId xmlns:a16="http://schemas.microsoft.com/office/drawing/2014/main" id="{878EFEAB-45C3-AB45-E65C-D83DEE50C6EE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7" name="Oval 56">
              <a:extLst>
                <a:ext uri="{FF2B5EF4-FFF2-40B4-BE49-F238E27FC236}">
                  <a16:creationId xmlns:a16="http://schemas.microsoft.com/office/drawing/2014/main" id="{1D107360-AE40-2858-5137-BC71FB968FCF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8" name="Oval 57">
              <a:extLst>
                <a:ext uri="{FF2B5EF4-FFF2-40B4-BE49-F238E27FC236}">
                  <a16:creationId xmlns:a16="http://schemas.microsoft.com/office/drawing/2014/main" id="{8010C22F-DB77-875B-7F33-685429A1A7E8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9" name="Oval 58">
              <a:extLst>
                <a:ext uri="{FF2B5EF4-FFF2-40B4-BE49-F238E27FC236}">
                  <a16:creationId xmlns:a16="http://schemas.microsoft.com/office/drawing/2014/main" id="{40139ED5-29D6-9907-F67E-3D1DE3042DAB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0" name="Group 59">
            <a:extLst>
              <a:ext uri="{FF2B5EF4-FFF2-40B4-BE49-F238E27FC236}">
                <a16:creationId xmlns:a16="http://schemas.microsoft.com/office/drawing/2014/main" id="{DD84EC20-FDA2-46E7-48DA-7B29D5EC19CB}"/>
              </a:ext>
            </a:extLst>
          </p:cNvPr>
          <p:cNvGrpSpPr/>
          <p:nvPr/>
        </p:nvGrpSpPr>
        <p:grpSpPr>
          <a:xfrm>
            <a:off x="7516826" y="1648563"/>
            <a:ext cx="781607" cy="111876"/>
            <a:chOff x="6620256" y="231648"/>
            <a:chExt cx="1194477" cy="170972"/>
          </a:xfrm>
        </p:grpSpPr>
        <p:sp>
          <p:nvSpPr>
            <p:cNvPr id="301" name="Oval 60">
              <a:extLst>
                <a:ext uri="{FF2B5EF4-FFF2-40B4-BE49-F238E27FC236}">
                  <a16:creationId xmlns:a16="http://schemas.microsoft.com/office/drawing/2014/main" id="{0BA1425B-9BE7-1677-8E95-65040F867AAF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2" name="Oval 61">
              <a:extLst>
                <a:ext uri="{FF2B5EF4-FFF2-40B4-BE49-F238E27FC236}">
                  <a16:creationId xmlns:a16="http://schemas.microsoft.com/office/drawing/2014/main" id="{1CD9FDA2-F451-A9AC-3AD5-45667E02B896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3" name="Oval 62">
              <a:extLst>
                <a:ext uri="{FF2B5EF4-FFF2-40B4-BE49-F238E27FC236}">
                  <a16:creationId xmlns:a16="http://schemas.microsoft.com/office/drawing/2014/main" id="{19A7D24A-E50F-DC97-4404-606859F25FA4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4" name="Oval 63">
              <a:extLst>
                <a:ext uri="{FF2B5EF4-FFF2-40B4-BE49-F238E27FC236}">
                  <a16:creationId xmlns:a16="http://schemas.microsoft.com/office/drawing/2014/main" id="{3FBB6500-708F-D2EC-EF43-97EC1A7535E1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5" name="Oval 64">
              <a:extLst>
                <a:ext uri="{FF2B5EF4-FFF2-40B4-BE49-F238E27FC236}">
                  <a16:creationId xmlns:a16="http://schemas.microsoft.com/office/drawing/2014/main" id="{26D8B479-9B69-558B-4A4F-5DA11D06A567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6" name="Group 71">
            <a:extLst>
              <a:ext uri="{FF2B5EF4-FFF2-40B4-BE49-F238E27FC236}">
                <a16:creationId xmlns:a16="http://schemas.microsoft.com/office/drawing/2014/main" id="{F3E557FA-DD7C-9A62-0174-FBD45E96559F}"/>
              </a:ext>
            </a:extLst>
          </p:cNvPr>
          <p:cNvGrpSpPr/>
          <p:nvPr/>
        </p:nvGrpSpPr>
        <p:grpSpPr>
          <a:xfrm>
            <a:off x="9668801" y="3949020"/>
            <a:ext cx="781607" cy="111876"/>
            <a:chOff x="6620256" y="231648"/>
            <a:chExt cx="1194477" cy="170972"/>
          </a:xfrm>
        </p:grpSpPr>
        <p:sp>
          <p:nvSpPr>
            <p:cNvPr id="307" name="Oval 72">
              <a:extLst>
                <a:ext uri="{FF2B5EF4-FFF2-40B4-BE49-F238E27FC236}">
                  <a16:creationId xmlns:a16="http://schemas.microsoft.com/office/drawing/2014/main" id="{13A746CC-45DD-3138-8A44-89D5B9E5842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8" name="Oval 73">
              <a:extLst>
                <a:ext uri="{FF2B5EF4-FFF2-40B4-BE49-F238E27FC236}">
                  <a16:creationId xmlns:a16="http://schemas.microsoft.com/office/drawing/2014/main" id="{2DBB532E-9656-F210-42E7-E00513007B6C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9" name="Oval 74">
              <a:extLst>
                <a:ext uri="{FF2B5EF4-FFF2-40B4-BE49-F238E27FC236}">
                  <a16:creationId xmlns:a16="http://schemas.microsoft.com/office/drawing/2014/main" id="{83A9DE78-8F14-8824-3076-3D7C2505A8F0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0" name="Oval 75">
              <a:extLst>
                <a:ext uri="{FF2B5EF4-FFF2-40B4-BE49-F238E27FC236}">
                  <a16:creationId xmlns:a16="http://schemas.microsoft.com/office/drawing/2014/main" id="{28F0D80B-9B08-EBD0-5B29-C928559EAD8F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1" name="Oval 76">
              <a:extLst>
                <a:ext uri="{FF2B5EF4-FFF2-40B4-BE49-F238E27FC236}">
                  <a16:creationId xmlns:a16="http://schemas.microsoft.com/office/drawing/2014/main" id="{A2DD570E-0E39-9459-2296-55CFEB9D742F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2" name="Group 78">
            <a:extLst>
              <a:ext uri="{FF2B5EF4-FFF2-40B4-BE49-F238E27FC236}">
                <a16:creationId xmlns:a16="http://schemas.microsoft.com/office/drawing/2014/main" id="{220F6764-4D84-D277-EBE3-7E5B524BBC7F}"/>
              </a:ext>
            </a:extLst>
          </p:cNvPr>
          <p:cNvGrpSpPr/>
          <p:nvPr/>
        </p:nvGrpSpPr>
        <p:grpSpPr>
          <a:xfrm>
            <a:off x="6620324" y="3940957"/>
            <a:ext cx="781607" cy="111876"/>
            <a:chOff x="6620256" y="231648"/>
            <a:chExt cx="1194477" cy="170972"/>
          </a:xfrm>
        </p:grpSpPr>
        <p:sp>
          <p:nvSpPr>
            <p:cNvPr id="313" name="Oval 79">
              <a:extLst>
                <a:ext uri="{FF2B5EF4-FFF2-40B4-BE49-F238E27FC236}">
                  <a16:creationId xmlns:a16="http://schemas.microsoft.com/office/drawing/2014/main" id="{C2D86B4C-6CEF-4A28-6EBF-CFBBF4523C5D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4" name="Oval 80">
              <a:extLst>
                <a:ext uri="{FF2B5EF4-FFF2-40B4-BE49-F238E27FC236}">
                  <a16:creationId xmlns:a16="http://schemas.microsoft.com/office/drawing/2014/main" id="{80695270-33C4-1FD9-CE36-E8C822EAE8E2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5" name="Oval 81">
              <a:extLst>
                <a:ext uri="{FF2B5EF4-FFF2-40B4-BE49-F238E27FC236}">
                  <a16:creationId xmlns:a16="http://schemas.microsoft.com/office/drawing/2014/main" id="{008E9571-5C85-CA13-4EBD-5D3B88C5C335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6" name="Oval 82">
              <a:extLst>
                <a:ext uri="{FF2B5EF4-FFF2-40B4-BE49-F238E27FC236}">
                  <a16:creationId xmlns:a16="http://schemas.microsoft.com/office/drawing/2014/main" id="{30CF92DF-0C92-EEE1-139D-D2441E3EF430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7" name="Oval 83">
              <a:extLst>
                <a:ext uri="{FF2B5EF4-FFF2-40B4-BE49-F238E27FC236}">
                  <a16:creationId xmlns:a16="http://schemas.microsoft.com/office/drawing/2014/main" id="{36BBA687-39BE-A00C-EEA1-EB32DC7A43A4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8" name="Group 84">
            <a:extLst>
              <a:ext uri="{FF2B5EF4-FFF2-40B4-BE49-F238E27FC236}">
                <a16:creationId xmlns:a16="http://schemas.microsoft.com/office/drawing/2014/main" id="{B628D79A-5B48-7540-6002-5A171E43AB68}"/>
              </a:ext>
            </a:extLst>
          </p:cNvPr>
          <p:cNvGrpSpPr/>
          <p:nvPr/>
        </p:nvGrpSpPr>
        <p:grpSpPr>
          <a:xfrm>
            <a:off x="3581354" y="3932775"/>
            <a:ext cx="781607" cy="111876"/>
            <a:chOff x="6620256" y="231648"/>
            <a:chExt cx="1194477" cy="170972"/>
          </a:xfrm>
        </p:grpSpPr>
        <p:sp>
          <p:nvSpPr>
            <p:cNvPr id="319" name="Oval 85">
              <a:extLst>
                <a:ext uri="{FF2B5EF4-FFF2-40B4-BE49-F238E27FC236}">
                  <a16:creationId xmlns:a16="http://schemas.microsoft.com/office/drawing/2014/main" id="{A101C4BE-B318-7435-6D19-53CDA72AB256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0" name="Oval 86">
              <a:extLst>
                <a:ext uri="{FF2B5EF4-FFF2-40B4-BE49-F238E27FC236}">
                  <a16:creationId xmlns:a16="http://schemas.microsoft.com/office/drawing/2014/main" id="{A72145EC-4A82-6027-317E-E4DEF02358DB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1" name="Oval 87">
              <a:extLst>
                <a:ext uri="{FF2B5EF4-FFF2-40B4-BE49-F238E27FC236}">
                  <a16:creationId xmlns:a16="http://schemas.microsoft.com/office/drawing/2014/main" id="{17AE8D65-7B69-ACB5-C03D-AD3CF7D8FA7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2" name="Oval 88">
              <a:extLst>
                <a:ext uri="{FF2B5EF4-FFF2-40B4-BE49-F238E27FC236}">
                  <a16:creationId xmlns:a16="http://schemas.microsoft.com/office/drawing/2014/main" id="{E7BE91CD-4C78-FA88-E28A-719FC5F77E7B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3" name="Oval 89">
              <a:extLst>
                <a:ext uri="{FF2B5EF4-FFF2-40B4-BE49-F238E27FC236}">
                  <a16:creationId xmlns:a16="http://schemas.microsoft.com/office/drawing/2014/main" id="{F085F953-BFEC-C20B-8D8C-6F2871ABC13E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4" name="Group 90">
            <a:extLst>
              <a:ext uri="{FF2B5EF4-FFF2-40B4-BE49-F238E27FC236}">
                <a16:creationId xmlns:a16="http://schemas.microsoft.com/office/drawing/2014/main" id="{45B49325-5FF1-E15C-8795-E4C995B689A2}"/>
              </a:ext>
            </a:extLst>
          </p:cNvPr>
          <p:cNvGrpSpPr/>
          <p:nvPr/>
        </p:nvGrpSpPr>
        <p:grpSpPr>
          <a:xfrm>
            <a:off x="2308877" y="4832174"/>
            <a:ext cx="781607" cy="111876"/>
            <a:chOff x="6620256" y="231648"/>
            <a:chExt cx="1194477" cy="170972"/>
          </a:xfrm>
        </p:grpSpPr>
        <p:sp>
          <p:nvSpPr>
            <p:cNvPr id="325" name="Oval 91">
              <a:extLst>
                <a:ext uri="{FF2B5EF4-FFF2-40B4-BE49-F238E27FC236}">
                  <a16:creationId xmlns:a16="http://schemas.microsoft.com/office/drawing/2014/main" id="{FC981893-2E48-0165-A0D7-68ED22672C61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6" name="Oval 92">
              <a:extLst>
                <a:ext uri="{FF2B5EF4-FFF2-40B4-BE49-F238E27FC236}">
                  <a16:creationId xmlns:a16="http://schemas.microsoft.com/office/drawing/2014/main" id="{D14D4CC3-B514-85FC-5789-E221E810D8F4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7" name="Oval 93">
              <a:extLst>
                <a:ext uri="{FF2B5EF4-FFF2-40B4-BE49-F238E27FC236}">
                  <a16:creationId xmlns:a16="http://schemas.microsoft.com/office/drawing/2014/main" id="{E91F6130-C21E-9201-DD7F-FCBD0FE662CD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8" name="Oval 94">
              <a:extLst>
                <a:ext uri="{FF2B5EF4-FFF2-40B4-BE49-F238E27FC236}">
                  <a16:creationId xmlns:a16="http://schemas.microsoft.com/office/drawing/2014/main" id="{6555EA22-557B-3B2F-0157-B0655D9AF32B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9" name="Oval 95">
              <a:extLst>
                <a:ext uri="{FF2B5EF4-FFF2-40B4-BE49-F238E27FC236}">
                  <a16:creationId xmlns:a16="http://schemas.microsoft.com/office/drawing/2014/main" id="{4B291156-A7E7-41CF-969E-0956ACBF16A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0" name="Group 96">
            <a:extLst>
              <a:ext uri="{FF2B5EF4-FFF2-40B4-BE49-F238E27FC236}">
                <a16:creationId xmlns:a16="http://schemas.microsoft.com/office/drawing/2014/main" id="{281F0EEE-CF3B-949D-2FC1-DBD8D729A460}"/>
              </a:ext>
            </a:extLst>
          </p:cNvPr>
          <p:cNvGrpSpPr/>
          <p:nvPr/>
        </p:nvGrpSpPr>
        <p:grpSpPr>
          <a:xfrm>
            <a:off x="3661942" y="6300696"/>
            <a:ext cx="781607" cy="111876"/>
            <a:chOff x="6620256" y="231648"/>
            <a:chExt cx="1194477" cy="170972"/>
          </a:xfrm>
        </p:grpSpPr>
        <p:sp>
          <p:nvSpPr>
            <p:cNvPr id="331" name="Oval 97">
              <a:extLst>
                <a:ext uri="{FF2B5EF4-FFF2-40B4-BE49-F238E27FC236}">
                  <a16:creationId xmlns:a16="http://schemas.microsoft.com/office/drawing/2014/main" id="{8EA64B54-E846-E179-5720-F377F24F3AF4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2" name="Oval 98">
              <a:extLst>
                <a:ext uri="{FF2B5EF4-FFF2-40B4-BE49-F238E27FC236}">
                  <a16:creationId xmlns:a16="http://schemas.microsoft.com/office/drawing/2014/main" id="{DF6CB16C-1518-A94D-8542-5240E0B458D6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3" name="Oval 99">
              <a:extLst>
                <a:ext uri="{FF2B5EF4-FFF2-40B4-BE49-F238E27FC236}">
                  <a16:creationId xmlns:a16="http://schemas.microsoft.com/office/drawing/2014/main" id="{E845FE2B-2636-7798-A2E2-7722017E74A1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4" name="Oval 100">
              <a:extLst>
                <a:ext uri="{FF2B5EF4-FFF2-40B4-BE49-F238E27FC236}">
                  <a16:creationId xmlns:a16="http://schemas.microsoft.com/office/drawing/2014/main" id="{6770AF44-9727-4483-EC79-2F147AEF871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5" name="Oval 101">
              <a:extLst>
                <a:ext uri="{FF2B5EF4-FFF2-40B4-BE49-F238E27FC236}">
                  <a16:creationId xmlns:a16="http://schemas.microsoft.com/office/drawing/2014/main" id="{7D1B5E45-F211-6A92-6A28-15AABDA90E7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6" name="Group 102">
            <a:extLst>
              <a:ext uri="{FF2B5EF4-FFF2-40B4-BE49-F238E27FC236}">
                <a16:creationId xmlns:a16="http://schemas.microsoft.com/office/drawing/2014/main" id="{4BF785EC-86E6-1F99-9895-A404C401422B}"/>
              </a:ext>
            </a:extLst>
          </p:cNvPr>
          <p:cNvGrpSpPr/>
          <p:nvPr/>
        </p:nvGrpSpPr>
        <p:grpSpPr>
          <a:xfrm>
            <a:off x="6280713" y="6300696"/>
            <a:ext cx="781607" cy="111876"/>
            <a:chOff x="6620256" y="231648"/>
            <a:chExt cx="1194477" cy="170972"/>
          </a:xfrm>
        </p:grpSpPr>
        <p:sp>
          <p:nvSpPr>
            <p:cNvPr id="337" name="Oval 103">
              <a:extLst>
                <a:ext uri="{FF2B5EF4-FFF2-40B4-BE49-F238E27FC236}">
                  <a16:creationId xmlns:a16="http://schemas.microsoft.com/office/drawing/2014/main" id="{1E40D9BE-E76D-29A5-E502-B79E9FDE767F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8" name="Oval 104">
              <a:extLst>
                <a:ext uri="{FF2B5EF4-FFF2-40B4-BE49-F238E27FC236}">
                  <a16:creationId xmlns:a16="http://schemas.microsoft.com/office/drawing/2014/main" id="{A2B775F3-EEA9-4B1E-B6D9-29770CF4C98E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" name="Oval 105">
              <a:extLst>
                <a:ext uri="{FF2B5EF4-FFF2-40B4-BE49-F238E27FC236}">
                  <a16:creationId xmlns:a16="http://schemas.microsoft.com/office/drawing/2014/main" id="{8D7EFE39-00C0-A2E0-7206-98591091BD87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" name="Oval 106">
              <a:extLst>
                <a:ext uri="{FF2B5EF4-FFF2-40B4-BE49-F238E27FC236}">
                  <a16:creationId xmlns:a16="http://schemas.microsoft.com/office/drawing/2014/main" id="{EF74A8C9-92C1-37E8-B13E-A8784328546F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1" name="Oval 107">
              <a:extLst>
                <a:ext uri="{FF2B5EF4-FFF2-40B4-BE49-F238E27FC236}">
                  <a16:creationId xmlns:a16="http://schemas.microsoft.com/office/drawing/2014/main" id="{AB8655A4-D557-4969-6B03-410A39B79524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42" name="Picture 109">
            <a:extLst>
              <a:ext uri="{FF2B5EF4-FFF2-40B4-BE49-F238E27FC236}">
                <a16:creationId xmlns:a16="http://schemas.microsoft.com/office/drawing/2014/main" id="{DDE9989D-619F-3B01-FAC8-A4EE6C872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977" y="4566768"/>
            <a:ext cx="816091" cy="726831"/>
          </a:xfrm>
          <a:prstGeom prst="rect">
            <a:avLst/>
          </a:prstGeom>
        </p:spPr>
      </p:pic>
      <p:pic>
        <p:nvPicPr>
          <p:cNvPr id="343" name="Picture 117">
            <a:extLst>
              <a:ext uri="{FF2B5EF4-FFF2-40B4-BE49-F238E27FC236}">
                <a16:creationId xmlns:a16="http://schemas.microsoft.com/office/drawing/2014/main" id="{813C5220-E820-CCD8-3DE3-BD66C42F5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827" y="2800280"/>
            <a:ext cx="585825" cy="595027"/>
          </a:xfrm>
          <a:prstGeom prst="rect">
            <a:avLst/>
          </a:prstGeom>
        </p:spPr>
      </p:pic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45AA9070-9502-5DEA-A8BD-D7A53D8CEACE}"/>
              </a:ext>
            </a:extLst>
          </p:cNvPr>
          <p:cNvSpPr/>
          <p:nvPr/>
        </p:nvSpPr>
        <p:spPr>
          <a:xfrm>
            <a:off x="544686" y="865559"/>
            <a:ext cx="1011671" cy="22702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머신러닝편</a:t>
            </a:r>
          </a:p>
        </p:txBody>
      </p:sp>
      <p:sp>
        <p:nvSpPr>
          <p:cNvPr id="345" name="사각형: 둥근 모서리 344">
            <a:extLst>
              <a:ext uri="{FF2B5EF4-FFF2-40B4-BE49-F238E27FC236}">
                <a16:creationId xmlns:a16="http://schemas.microsoft.com/office/drawing/2014/main" id="{3CC05D4F-DA99-7251-395D-7BE6907022ED}"/>
              </a:ext>
            </a:extLst>
          </p:cNvPr>
          <p:cNvSpPr/>
          <p:nvPr/>
        </p:nvSpPr>
        <p:spPr>
          <a:xfrm>
            <a:off x="517087" y="1997822"/>
            <a:ext cx="1011671" cy="227029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딥러닝편</a:t>
            </a:r>
          </a:p>
        </p:txBody>
      </p:sp>
      <p:sp>
        <p:nvSpPr>
          <p:cNvPr id="346" name="Oval 27">
            <a:extLst>
              <a:ext uri="{FF2B5EF4-FFF2-40B4-BE49-F238E27FC236}">
                <a16:creationId xmlns:a16="http://schemas.microsoft.com/office/drawing/2014/main" id="{E926D801-B563-8CB0-8EE7-E105120A397E}"/>
              </a:ext>
            </a:extLst>
          </p:cNvPr>
          <p:cNvSpPr/>
          <p:nvPr/>
        </p:nvSpPr>
        <p:spPr>
          <a:xfrm>
            <a:off x="9077641" y="57072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>
                <a:latin typeface="+mn-ea"/>
              </a:rPr>
              <a:t>10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4FB34541-260F-31A5-F1F6-16B1C4425917}"/>
              </a:ext>
            </a:extLst>
          </p:cNvPr>
          <p:cNvSpPr txBox="1"/>
          <p:nvPr/>
        </p:nvSpPr>
        <p:spPr>
          <a:xfrm>
            <a:off x="8182684" y="601508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/>
              <a:t>언어 모델을 위한 신경망</a:t>
            </a:r>
            <a:endParaRPr lang="ko-KR" altLang="en-US" sz="1200" b="1" dirty="0"/>
          </a:p>
        </p:txBody>
      </p:sp>
      <p:grpSp>
        <p:nvGrpSpPr>
          <p:cNvPr id="348" name="Group 102">
            <a:extLst>
              <a:ext uri="{FF2B5EF4-FFF2-40B4-BE49-F238E27FC236}">
                <a16:creationId xmlns:a16="http://schemas.microsoft.com/office/drawing/2014/main" id="{A40592C8-63E6-EAAB-7FB7-195D8E05EAB9}"/>
              </a:ext>
            </a:extLst>
          </p:cNvPr>
          <p:cNvGrpSpPr/>
          <p:nvPr/>
        </p:nvGrpSpPr>
        <p:grpSpPr>
          <a:xfrm>
            <a:off x="8911112" y="6300696"/>
            <a:ext cx="781607" cy="111876"/>
            <a:chOff x="6620256" y="231648"/>
            <a:chExt cx="1194477" cy="170972"/>
          </a:xfrm>
        </p:grpSpPr>
        <p:sp>
          <p:nvSpPr>
            <p:cNvPr id="349" name="Oval 103">
              <a:extLst>
                <a:ext uri="{FF2B5EF4-FFF2-40B4-BE49-F238E27FC236}">
                  <a16:creationId xmlns:a16="http://schemas.microsoft.com/office/drawing/2014/main" id="{5E617CBC-D15E-BBC3-55C7-CF88E04B3F2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" name="Oval 104">
              <a:extLst>
                <a:ext uri="{FF2B5EF4-FFF2-40B4-BE49-F238E27FC236}">
                  <a16:creationId xmlns:a16="http://schemas.microsoft.com/office/drawing/2014/main" id="{D2925DF5-98D8-8D00-C3CA-61546E82621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Oval 105">
              <a:extLst>
                <a:ext uri="{FF2B5EF4-FFF2-40B4-BE49-F238E27FC236}">
                  <a16:creationId xmlns:a16="http://schemas.microsoft.com/office/drawing/2014/main" id="{471BA1EC-D31A-0872-B81F-F0921E277191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" name="Oval 106">
              <a:extLst>
                <a:ext uri="{FF2B5EF4-FFF2-40B4-BE49-F238E27FC236}">
                  <a16:creationId xmlns:a16="http://schemas.microsoft.com/office/drawing/2014/main" id="{2E4235FC-B915-5487-D196-BA04A676D96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" name="Oval 107">
              <a:extLst>
                <a:ext uri="{FF2B5EF4-FFF2-40B4-BE49-F238E27FC236}">
                  <a16:creationId xmlns:a16="http://schemas.microsoft.com/office/drawing/2014/main" id="{D820BBD1-0492-3845-A611-9ACDEE7E5774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 txBox="1"/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6" name="Google Shape;216;p6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  <p:sp>
        <p:nvSpPr>
          <p:cNvPr id="217" name="Google Shape;217;p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Contents</a:t>
            </a:r>
            <a:endParaRPr/>
          </a:p>
        </p:txBody>
      </p:sp>
      <p:sp>
        <p:nvSpPr>
          <p:cNvPr id="218" name="Google Shape;218;p6"/>
          <p:cNvSpPr txBox="1">
            <a:spLocks noGrp="1"/>
          </p:cNvSpPr>
          <p:nvPr>
            <p:ph type="body" idx="4294967295"/>
          </p:nvPr>
        </p:nvSpPr>
        <p:spPr>
          <a:xfrm>
            <a:off x="720000" y="1440000"/>
            <a:ext cx="11280775" cy="135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b="1" dirty="0"/>
              <a:t>CHAPTER 01 </a:t>
            </a:r>
            <a:r>
              <a:rPr lang="ko-KR" altLang="en-US" b="1" dirty="0"/>
              <a:t>인공지능 개요</a:t>
            </a:r>
            <a:endParaRPr sz="2000" b="1" dirty="0"/>
          </a:p>
        </p:txBody>
      </p:sp>
      <p:sp>
        <p:nvSpPr>
          <p:cNvPr id="219" name="Google Shape;219;p6"/>
          <p:cNvSpPr txBox="1"/>
          <p:nvPr/>
        </p:nvSpPr>
        <p:spPr>
          <a:xfrm>
            <a:off x="720000" y="2672698"/>
            <a:ext cx="10034954" cy="1623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1-1	인공지능과 머신러닝, 딥러닝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1-2 	코랩과 주피터 노트북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1-3 	마켓과 머신러닝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 txBox="1">
            <a:spLocks noGrp="1"/>
          </p:cNvSpPr>
          <p:nvPr>
            <p:ph type="body" idx="1"/>
          </p:nvPr>
        </p:nvSpPr>
        <p:spPr>
          <a:xfrm>
            <a:off x="691375" y="1558326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600"/>
              <a:buNone/>
            </a:pPr>
            <a:r>
              <a:rPr lang="ko-KR" sz="3600" b="1" dirty="0"/>
              <a:t>CHAPTER </a:t>
            </a:r>
            <a:r>
              <a:rPr lang="ko-KR" sz="3600" b="1"/>
              <a:t>01 </a:t>
            </a:r>
            <a:r>
              <a:rPr lang="ko-KR" altLang="en-US" sz="3600" b="1"/>
              <a:t>인공지능 개요</a:t>
            </a:r>
            <a:endParaRPr sz="3600" b="1" dirty="0"/>
          </a:p>
        </p:txBody>
      </p:sp>
      <p:sp>
        <p:nvSpPr>
          <p:cNvPr id="226" name="Google Shape;226;p7"/>
          <p:cNvSpPr txBox="1"/>
          <p:nvPr/>
        </p:nvSpPr>
        <p:spPr>
          <a:xfrm>
            <a:off x="691375" y="3429000"/>
            <a:ext cx="10328031" cy="1991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학습목표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인공지능, 머신러닝, 딥러닝의 차이점을 이해합니다.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구글 코랩 사용법을 배웁니다.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첫 번째 머신러닝 프로그램을 만들고 머신러닝의 기본 작동 원리를 이해합니다.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691375" y="2712078"/>
            <a:ext cx="5071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F06436"/>
                </a:solidFill>
                <a:latin typeface="Calibri"/>
                <a:ea typeface="Calibri"/>
                <a:cs typeface="Calibri"/>
                <a:sym typeface="Calibri"/>
              </a:rPr>
              <a:t>이 생선의 이름은 무엇인가요?</a:t>
            </a:r>
            <a:endParaRPr sz="1800" b="1">
              <a:solidFill>
                <a:srgbClr val="F064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딥러닝(1)</a:t>
            </a:r>
            <a:endParaRPr/>
          </a:p>
        </p:txBody>
      </p:sp>
      <p:sp>
        <p:nvSpPr>
          <p:cNvPr id="233" name="Google Shape;233;p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  <p:sp>
        <p:nvSpPr>
          <p:cNvPr id="234" name="Google Shape;234;p8"/>
          <p:cNvSpPr txBox="1">
            <a:spLocks noGrp="1"/>
          </p:cNvSpPr>
          <p:nvPr>
            <p:ph type="body" idx="1"/>
          </p:nvPr>
        </p:nvSpPr>
        <p:spPr>
          <a:xfrm>
            <a:off x="487015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인공지능이란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사람처럼 학습하고 추론할 수 있는 지능을 가진 컴퓨터 시스템을 만드는 기술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지능을 가진 로봇을 다룬 최초의 소설은 150년 전</a:t>
            </a:r>
            <a:endParaRPr/>
          </a:p>
        </p:txBody>
      </p:sp>
      <p:grpSp>
        <p:nvGrpSpPr>
          <p:cNvPr id="236" name="Google Shape;236;p8"/>
          <p:cNvGrpSpPr/>
          <p:nvPr/>
        </p:nvGrpSpPr>
        <p:grpSpPr>
          <a:xfrm>
            <a:off x="127025" y="2589841"/>
            <a:ext cx="11848630" cy="3166991"/>
            <a:chOff x="46747" y="2659885"/>
            <a:chExt cx="11848630" cy="3166991"/>
          </a:xfrm>
        </p:grpSpPr>
        <p:sp>
          <p:nvSpPr>
            <p:cNvPr id="237" name="Google Shape;237;p8"/>
            <p:cNvSpPr txBox="1"/>
            <p:nvPr/>
          </p:nvSpPr>
          <p:spPr>
            <a:xfrm>
              <a:off x="873856" y="2659885"/>
              <a:ext cx="16674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인공지능 태동기</a:t>
              </a:r>
              <a:endParaRPr/>
            </a:p>
          </p:txBody>
        </p:sp>
        <p:sp>
          <p:nvSpPr>
            <p:cNvPr id="238" name="Google Shape;238;p8"/>
            <p:cNvSpPr txBox="1"/>
            <p:nvPr/>
          </p:nvSpPr>
          <p:spPr>
            <a:xfrm>
              <a:off x="2831466" y="5488322"/>
              <a:ext cx="16674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인공지능 황금기</a:t>
              </a:r>
              <a:endParaRPr/>
            </a:p>
          </p:txBody>
        </p:sp>
        <p:sp>
          <p:nvSpPr>
            <p:cNvPr id="239" name="Google Shape;239;p8"/>
            <p:cNvSpPr txBox="1"/>
            <p:nvPr/>
          </p:nvSpPr>
          <p:spPr>
            <a:xfrm>
              <a:off x="4203626" y="3431039"/>
              <a:ext cx="1176925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1차 AI 겨울</a:t>
              </a:r>
              <a:endParaRPr/>
            </a:p>
          </p:txBody>
        </p:sp>
        <p:sp>
          <p:nvSpPr>
            <p:cNvPr id="240" name="Google Shape;240;p8"/>
            <p:cNvSpPr txBox="1"/>
            <p:nvPr/>
          </p:nvSpPr>
          <p:spPr>
            <a:xfrm>
              <a:off x="5973433" y="3431039"/>
              <a:ext cx="1176925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2차 AI 겨울</a:t>
              </a:r>
              <a:endParaRPr/>
            </a:p>
          </p:txBody>
        </p:sp>
        <p:sp>
          <p:nvSpPr>
            <p:cNvPr id="241" name="Google Shape;241;p8"/>
            <p:cNvSpPr txBox="1"/>
            <p:nvPr/>
          </p:nvSpPr>
          <p:spPr>
            <a:xfrm>
              <a:off x="5474800" y="4729409"/>
              <a:ext cx="61587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AI 붐</a:t>
              </a:r>
              <a:endParaRPr/>
            </a:p>
          </p:txBody>
        </p:sp>
        <p:sp>
          <p:nvSpPr>
            <p:cNvPr id="242" name="Google Shape;242;p8"/>
            <p:cNvSpPr txBox="1"/>
            <p:nvPr/>
          </p:nvSpPr>
          <p:spPr>
            <a:xfrm>
              <a:off x="1187195" y="3167669"/>
              <a:ext cx="120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튜링 테스트</a:t>
              </a:r>
              <a:endParaRPr/>
            </a:p>
          </p:txBody>
        </p:sp>
        <p:sp>
          <p:nvSpPr>
            <p:cNvPr id="243" name="Google Shape;243;p8"/>
            <p:cNvSpPr txBox="1"/>
            <p:nvPr/>
          </p:nvSpPr>
          <p:spPr>
            <a:xfrm>
              <a:off x="2864046" y="2683655"/>
              <a:ext cx="14205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프랑크 로젠블라트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퍼셉트론</a:t>
              </a:r>
              <a:endParaRPr/>
            </a:p>
          </p:txBody>
        </p:sp>
        <p:sp>
          <p:nvSpPr>
            <p:cNvPr id="244" name="Google Shape;244;p8"/>
            <p:cNvSpPr txBox="1"/>
            <p:nvPr/>
          </p:nvSpPr>
          <p:spPr>
            <a:xfrm>
              <a:off x="3917845" y="3198044"/>
              <a:ext cx="17931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컴퓨터 성능 한계</a:t>
              </a:r>
              <a:endParaRPr/>
            </a:p>
          </p:txBody>
        </p:sp>
        <p:sp>
          <p:nvSpPr>
            <p:cNvPr id="245" name="Google Shape;245;p8"/>
            <p:cNvSpPr txBox="1"/>
            <p:nvPr/>
          </p:nvSpPr>
          <p:spPr>
            <a:xfrm>
              <a:off x="5553222" y="3207794"/>
              <a:ext cx="1943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전문가 시스템 실패</a:t>
              </a:r>
              <a:endParaRPr/>
            </a:p>
          </p:txBody>
        </p:sp>
        <p:sp>
          <p:nvSpPr>
            <p:cNvPr id="246" name="Google Shape;246;p8"/>
            <p:cNvSpPr txBox="1"/>
            <p:nvPr/>
          </p:nvSpPr>
          <p:spPr>
            <a:xfrm>
              <a:off x="9517596" y="3186494"/>
              <a:ext cx="801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알파고</a:t>
              </a:r>
              <a:endParaRPr/>
            </a:p>
          </p:txBody>
        </p:sp>
        <p:sp>
          <p:nvSpPr>
            <p:cNvPr id="247" name="Google Shape;247;p8"/>
            <p:cNvSpPr txBox="1"/>
            <p:nvPr/>
          </p:nvSpPr>
          <p:spPr>
            <a:xfrm>
              <a:off x="7955723" y="3135069"/>
              <a:ext cx="997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AlexNet</a:t>
              </a:r>
              <a:endParaRPr sz="15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8"/>
            <p:cNvSpPr txBox="1"/>
            <p:nvPr/>
          </p:nvSpPr>
          <p:spPr>
            <a:xfrm>
              <a:off x="46747" y="4674294"/>
              <a:ext cx="19437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월터 피츠와 워런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매컬러의 MCP 뉴런</a:t>
              </a:r>
              <a:endParaRPr/>
            </a:p>
          </p:txBody>
        </p:sp>
        <p:sp>
          <p:nvSpPr>
            <p:cNvPr id="249" name="Google Shape;249;p8"/>
            <p:cNvSpPr txBox="1"/>
            <p:nvPr/>
          </p:nvSpPr>
          <p:spPr>
            <a:xfrm>
              <a:off x="1917474" y="4653919"/>
              <a:ext cx="1420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다트머스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AI 컨퍼런스</a:t>
              </a:r>
              <a:endParaRPr/>
            </a:p>
          </p:txBody>
        </p:sp>
        <p:sp>
          <p:nvSpPr>
            <p:cNvPr id="250" name="Google Shape;250;p8"/>
            <p:cNvSpPr txBox="1"/>
            <p:nvPr/>
          </p:nvSpPr>
          <p:spPr>
            <a:xfrm>
              <a:off x="3065545" y="4670194"/>
              <a:ext cx="247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데이비드 허블과 토르스텐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비셀의 시각 피질 연구</a:t>
              </a:r>
              <a:endParaRPr/>
            </a:p>
          </p:txBody>
        </p:sp>
        <p:sp>
          <p:nvSpPr>
            <p:cNvPr id="251" name="Google Shape;251;p8"/>
            <p:cNvSpPr txBox="1"/>
            <p:nvPr/>
          </p:nvSpPr>
          <p:spPr>
            <a:xfrm>
              <a:off x="5155770" y="5041344"/>
              <a:ext cx="16401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전문가 시스템</a:t>
              </a:r>
              <a:endParaRPr/>
            </a:p>
          </p:txBody>
        </p:sp>
        <p:sp>
          <p:nvSpPr>
            <p:cNvPr id="252" name="Google Shape;252;p8"/>
            <p:cNvSpPr txBox="1"/>
            <p:nvPr/>
          </p:nvSpPr>
          <p:spPr>
            <a:xfrm>
              <a:off x="7340159" y="4684644"/>
              <a:ext cx="862736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LeNet-5</a:t>
              </a:r>
              <a:endParaRPr sz="15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8"/>
            <p:cNvSpPr txBox="1"/>
            <p:nvPr/>
          </p:nvSpPr>
          <p:spPr>
            <a:xfrm>
              <a:off x="8647647" y="4681544"/>
              <a:ext cx="997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텐서플로</a:t>
              </a:r>
              <a:endParaRPr/>
            </a:p>
          </p:txBody>
        </p:sp>
        <p:sp>
          <p:nvSpPr>
            <p:cNvPr id="254" name="Google Shape;254;p8"/>
            <p:cNvSpPr/>
            <p:nvPr/>
          </p:nvSpPr>
          <p:spPr>
            <a:xfrm rot="-5400000">
              <a:off x="1561393" y="2213714"/>
              <a:ext cx="163172" cy="179315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8"/>
            <p:cNvSpPr/>
            <p:nvPr/>
          </p:nvSpPr>
          <p:spPr>
            <a:xfrm rot="-5400000">
              <a:off x="4723085" y="3242557"/>
              <a:ext cx="177476" cy="1186229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8"/>
            <p:cNvSpPr/>
            <p:nvPr/>
          </p:nvSpPr>
          <p:spPr>
            <a:xfrm rot="-5400000">
              <a:off x="6411677" y="3248653"/>
              <a:ext cx="177476" cy="1186229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7" name="Google Shape;257;p8"/>
            <p:cNvGrpSpPr/>
            <p:nvPr/>
          </p:nvGrpSpPr>
          <p:grpSpPr>
            <a:xfrm>
              <a:off x="614351" y="3591779"/>
              <a:ext cx="11281026" cy="924048"/>
              <a:chOff x="614351" y="3591779"/>
              <a:chExt cx="11281026" cy="924048"/>
            </a:xfrm>
          </p:grpSpPr>
          <p:grpSp>
            <p:nvGrpSpPr>
              <p:cNvPr id="258" name="Google Shape;258;p8"/>
              <p:cNvGrpSpPr/>
              <p:nvPr/>
            </p:nvGrpSpPr>
            <p:grpSpPr>
              <a:xfrm>
                <a:off x="614351" y="3593780"/>
                <a:ext cx="11281026" cy="922047"/>
                <a:chOff x="614351" y="3593780"/>
                <a:chExt cx="11281026" cy="922047"/>
              </a:xfrm>
            </p:grpSpPr>
            <p:grpSp>
              <p:nvGrpSpPr>
                <p:cNvPr id="259" name="Google Shape;259;p8"/>
                <p:cNvGrpSpPr/>
                <p:nvPr/>
              </p:nvGrpSpPr>
              <p:grpSpPr>
                <a:xfrm>
                  <a:off x="614351" y="3605695"/>
                  <a:ext cx="11281026" cy="910132"/>
                  <a:chOff x="670560" y="3469040"/>
                  <a:chExt cx="11281026" cy="910132"/>
                </a:xfrm>
              </p:grpSpPr>
              <p:cxnSp>
                <p:nvCxnSpPr>
                  <p:cNvPr id="260" name="Google Shape;260;p8"/>
                  <p:cNvCxnSpPr/>
                  <p:nvPr/>
                </p:nvCxnSpPr>
                <p:spPr>
                  <a:xfrm>
                    <a:off x="670560" y="3913632"/>
                    <a:ext cx="10718165" cy="0"/>
                  </a:xfrm>
                  <a:prstGeom prst="straightConnector1">
                    <a:avLst/>
                  </a:prstGeom>
                  <a:noFill/>
                  <a:ln w="57150" cap="flat" cmpd="sng">
                    <a:solidFill>
                      <a:srgbClr val="9751CB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261" name="Google Shape;261;p8"/>
                  <p:cNvSpPr txBox="1"/>
                  <p:nvPr/>
                </p:nvSpPr>
                <p:spPr>
                  <a:xfrm>
                    <a:off x="803275" y="3469040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1943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" name="Google Shape;262;p8"/>
                  <p:cNvSpPr txBox="1"/>
                  <p:nvPr/>
                </p:nvSpPr>
                <p:spPr>
                  <a:xfrm>
                    <a:off x="1524000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1950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" name="Google Shape;263;p8"/>
                  <p:cNvSpPr txBox="1"/>
                  <p:nvPr/>
                </p:nvSpPr>
                <p:spPr>
                  <a:xfrm>
                    <a:off x="2106211" y="3469040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1956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" name="Google Shape;264;p8"/>
                  <p:cNvSpPr txBox="1"/>
                  <p:nvPr/>
                </p:nvSpPr>
                <p:spPr>
                  <a:xfrm>
                    <a:off x="2539554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1957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" name="Google Shape;265;p8"/>
                  <p:cNvSpPr txBox="1"/>
                  <p:nvPr/>
                </p:nvSpPr>
                <p:spPr>
                  <a:xfrm>
                    <a:off x="4173282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1974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" name="Google Shape;266;p8"/>
                  <p:cNvSpPr txBox="1"/>
                  <p:nvPr/>
                </p:nvSpPr>
                <p:spPr>
                  <a:xfrm>
                    <a:off x="5014530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1980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7" name="Google Shape;267;p8"/>
                  <p:cNvSpPr txBox="1"/>
                  <p:nvPr/>
                </p:nvSpPr>
                <p:spPr>
                  <a:xfrm>
                    <a:off x="5855778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1987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8"/>
                  <p:cNvSpPr txBox="1"/>
                  <p:nvPr/>
                </p:nvSpPr>
                <p:spPr>
                  <a:xfrm>
                    <a:off x="6697026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1993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" name="Google Shape;269;p8"/>
                  <p:cNvSpPr txBox="1"/>
                  <p:nvPr/>
                </p:nvSpPr>
                <p:spPr>
                  <a:xfrm>
                    <a:off x="7498693" y="3469040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1998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" name="Google Shape;270;p8"/>
                  <p:cNvSpPr txBox="1"/>
                  <p:nvPr/>
                </p:nvSpPr>
                <p:spPr>
                  <a:xfrm>
                    <a:off x="8259104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2012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8"/>
                  <p:cNvSpPr txBox="1"/>
                  <p:nvPr/>
                </p:nvSpPr>
                <p:spPr>
                  <a:xfrm>
                    <a:off x="9722144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2016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" name="Google Shape;272;p8"/>
                  <p:cNvSpPr txBox="1"/>
                  <p:nvPr/>
                </p:nvSpPr>
                <p:spPr>
                  <a:xfrm>
                    <a:off x="11401435" y="3762901"/>
                    <a:ext cx="550151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600" b="1">
                        <a:solidFill>
                          <a:srgbClr val="7030A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현재</a:t>
                    </a:r>
                    <a:endParaRPr/>
                  </a:p>
                </p:txBody>
              </p:sp>
            </p:grpSp>
            <p:sp>
              <p:nvSpPr>
                <p:cNvPr id="273" name="Google Shape;273;p8"/>
                <p:cNvSpPr txBox="1"/>
                <p:nvPr/>
              </p:nvSpPr>
              <p:spPr>
                <a:xfrm>
                  <a:off x="3132991" y="3593780"/>
                  <a:ext cx="582211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1959</a:t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74" name="Google Shape;274;p8"/>
              <p:cNvSpPr txBox="1"/>
              <p:nvPr/>
            </p:nvSpPr>
            <p:spPr>
              <a:xfrm>
                <a:off x="8880387" y="3591779"/>
                <a:ext cx="58221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2015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5" name="Google Shape;275;p8"/>
            <p:cNvSpPr/>
            <p:nvPr/>
          </p:nvSpPr>
          <p:spPr>
            <a:xfrm rot="5400000">
              <a:off x="5600909" y="4022845"/>
              <a:ext cx="177476" cy="1186229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6" name="Google Shape;276;p8"/>
            <p:cNvCxnSpPr/>
            <p:nvPr/>
          </p:nvCxnSpPr>
          <p:spPr>
            <a:xfrm>
              <a:off x="1038172" y="4035737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7" name="Google Shape;277;p8"/>
            <p:cNvCxnSpPr/>
            <p:nvPr/>
          </p:nvCxnSpPr>
          <p:spPr>
            <a:xfrm>
              <a:off x="2366346" y="4035737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8" name="Google Shape;278;p8"/>
            <p:cNvCxnSpPr/>
            <p:nvPr/>
          </p:nvCxnSpPr>
          <p:spPr>
            <a:xfrm>
              <a:off x="7759611" y="4035737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9" name="Google Shape;279;p8"/>
            <p:cNvCxnSpPr/>
            <p:nvPr/>
          </p:nvCxnSpPr>
          <p:spPr>
            <a:xfrm>
              <a:off x="9173268" y="4035737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80" name="Google Shape;280;p8"/>
            <p:cNvCxnSpPr/>
            <p:nvPr/>
          </p:nvCxnSpPr>
          <p:spPr>
            <a:xfrm>
              <a:off x="1743087" y="3435471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81" name="Google Shape;281;p8"/>
            <p:cNvCxnSpPr/>
            <p:nvPr/>
          </p:nvCxnSpPr>
          <p:spPr>
            <a:xfrm>
              <a:off x="8448795" y="3404969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82" name="Google Shape;282;p8"/>
            <p:cNvCxnSpPr/>
            <p:nvPr/>
          </p:nvCxnSpPr>
          <p:spPr>
            <a:xfrm>
              <a:off x="9934774" y="3406234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83" name="Google Shape;283;p8"/>
            <p:cNvCxnSpPr/>
            <p:nvPr/>
          </p:nvCxnSpPr>
          <p:spPr>
            <a:xfrm flipH="1">
              <a:off x="2754151" y="3374381"/>
              <a:ext cx="474915" cy="802374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84" name="Google Shape;284;p8"/>
            <p:cNvCxnSpPr/>
            <p:nvPr/>
          </p:nvCxnSpPr>
          <p:spPr>
            <a:xfrm>
              <a:off x="3491168" y="3872973"/>
              <a:ext cx="500400" cy="7806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85" name="Google Shape;285;p8"/>
            <p:cNvSpPr/>
            <p:nvPr/>
          </p:nvSpPr>
          <p:spPr>
            <a:xfrm rot="5400000">
              <a:off x="3490260" y="4315707"/>
              <a:ext cx="195973" cy="2007282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6" name="Google Shape;286;p8"/>
          <p:cNvCxnSpPr/>
          <p:nvPr/>
        </p:nvCxnSpPr>
        <p:spPr>
          <a:xfrm>
            <a:off x="10714050" y="3997868"/>
            <a:ext cx="1800" cy="648000"/>
          </a:xfrm>
          <a:prstGeom prst="straightConnector1">
            <a:avLst/>
          </a:prstGeom>
          <a:noFill/>
          <a:ln w="9525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7" name="Google Shape;287;p8"/>
          <p:cNvSpPr txBox="1"/>
          <p:nvPr/>
        </p:nvSpPr>
        <p:spPr>
          <a:xfrm>
            <a:off x="10216050" y="4701000"/>
            <a:ext cx="997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rgbClr val="7030A0"/>
                </a:solidFill>
              </a:rPr>
              <a:t>챗GPT</a:t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10423790" y="3562460"/>
            <a:ext cx="58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ko-K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딥러닝(2)</a:t>
            </a:r>
            <a:endParaRPr/>
          </a:p>
        </p:txBody>
      </p:sp>
      <p:sp>
        <p:nvSpPr>
          <p:cNvPr id="294" name="Google Shape;294;p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  <p:sp>
        <p:nvSpPr>
          <p:cNvPr id="295" name="Google Shape;295;p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098689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인공지능이란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⁃"/>
            </a:pPr>
            <a:r>
              <a:rPr lang="ko-KR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인공일반지능(Artificial general Intelligence) 혹은 강인공지능(Strong AI)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ko-KR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영화에 흔히 등장하는 인공지능</a:t>
            </a:r>
            <a:endParaRPr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ko-KR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영화 &lt;그녀&gt;의 사만다나 지금도 가장 사악한 인공지능으로 불리는 &lt;터미네이터&gt;의 스카이넷처럼 사람과 구분하기 어려운 지능을 가진 컴퓨터 시스템</a:t>
            </a:r>
            <a:endParaRPr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약인공지능(Week AI)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현실에서 우리가 마주하고 있는 인공지능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아직까지는 특정 분야에서 사람의 일을 도와주는 보조 역할만 가능</a:t>
            </a:r>
            <a:br>
              <a:rPr lang="ko-KR">
                <a:latin typeface="Calibri"/>
                <a:ea typeface="Calibri"/>
                <a:cs typeface="Calibri"/>
                <a:sym typeface="Calibri"/>
              </a:rPr>
            </a:br>
            <a:r>
              <a:rPr lang="ko-KR">
                <a:latin typeface="Calibri"/>
                <a:ea typeface="Calibri"/>
                <a:cs typeface="Calibri"/>
                <a:sym typeface="Calibri"/>
              </a:rPr>
              <a:t>(음성 비서, 자율 주행 자동차, 음악 추천, 기계 번역 등)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예: 이세돌과 바둑 시합을 한 알파고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딥러닝(3)</a:t>
            </a:r>
            <a:endParaRPr/>
          </a:p>
        </p:txBody>
      </p:sp>
      <p:sp>
        <p:nvSpPr>
          <p:cNvPr id="302" name="Google Shape;302;p1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  <p:sp>
        <p:nvSpPr>
          <p:cNvPr id="303" name="Google Shape;303;p1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24609" cy="507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Char char="◦"/>
            </a:pPr>
            <a:r>
              <a:rPr lang="ko-KR" sz="2200"/>
              <a:t>머신러닝이란</a:t>
            </a:r>
            <a:endParaRPr/>
          </a:p>
          <a:p>
            <a:pPr marL="685800" lvl="1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900"/>
              <a:t>규칙을 일일이 프로그래밍하지 않아도 자동으로 데이터에서 규칙을 학습하는 알고리즘을 연구하는 분야</a:t>
            </a:r>
            <a:endParaRPr sz="1900"/>
          </a:p>
          <a:p>
            <a:pPr marL="685800" lvl="1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900"/>
              <a:t>인공지능의 하위 분야 중에서 지능을 구현하기 위한 소프트웨어를 담당하는 핵심 분야</a:t>
            </a:r>
            <a:endParaRPr sz="1900"/>
          </a:p>
          <a:p>
            <a:pPr marL="685800" lvl="1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900">
                <a:latin typeface="Calibri"/>
                <a:ea typeface="Calibri"/>
                <a:cs typeface="Calibri"/>
                <a:sym typeface="Calibri"/>
              </a:rPr>
              <a:t>머신러닝은 통계학과 깊은 관련이 있음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통계학에서 유래된 머신러닝 알고리즘이 많으며, 통계학과 컴퓨터 과학 분야가 상호 작용하면서 발전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대표적인 오픈소스 통계 소프트웨어인 R에는 다양한 머신러닝 알고리즘이 구현되어 있음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900">
                <a:latin typeface="Calibri"/>
                <a:ea typeface="Calibri"/>
                <a:cs typeface="Calibri"/>
                <a:sym typeface="Calibri"/>
              </a:rPr>
              <a:t>최근 머신러닝의 발전은 통계나 수학 이론보다 경험을 바탕으로 발전하는 경우도 많음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컴퓨터 과학 분야가 이런 발전을 주도, 컴퓨터 과학 분야의 대표적인 머신러닝 라이브러리는 사이킷런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사이킷런이 있기 전까지 머신러닝 기술은 대부분 폐쇄적인 코드와 라이브러리로 통용되어서 해당 분야에 대한 </a:t>
            </a:r>
            <a:br>
              <a:rPr lang="ko-KR" sz="1700">
                <a:latin typeface="Calibri"/>
                <a:ea typeface="Calibri"/>
                <a:cs typeface="Calibri"/>
                <a:sym typeface="Calibri"/>
              </a:rPr>
            </a:b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전문 교육을 이수하거나 비싼 비용을 지불하고 구매를 해야 했음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하지만 사이킷런과 같은 오픈소스 라이브러리의 발전 덕분에 머신러닝 분야는 말 그대로 폭발적으로 성장</a:t>
            </a:r>
            <a:endParaRPr/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파이썬 코드를 다룰 수 있다면 누구나 머신러닝 알고리즘을 무료로 손쉽게 제품에 활용할 수 있음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딥러닝(4)</a:t>
            </a:r>
            <a:endParaRPr/>
          </a:p>
        </p:txBody>
      </p:sp>
      <p:sp>
        <p:nvSpPr>
          <p:cNvPr id="310" name="Google Shape;310;p1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  <p:sp>
        <p:nvSpPr>
          <p:cNvPr id="311" name="Google Shape;311;p1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딥러닝이란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딥러닝(deep learning): 많은 머신러닝 알고리즘 중에 인공 신경망(artificial neural network)을 </a:t>
            </a:r>
            <a:br>
              <a:rPr lang="ko-KR"/>
            </a:br>
            <a:r>
              <a:rPr lang="ko-KR"/>
              <a:t>기반으로 한 방법들의 통칭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대부분 인공 신경망과 딥러닝을 크게 구분하지 않고 사용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최초의 합성곱 신경망: 1998년 얀 르쿤(Yann Lecun)이 신경망 모델 LeNet-5을 만들어 손글씨 숫자를 인식하는 데 성공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합성곱 신경망이 이미지 분류 작업에 널리 사용되기 시작: 2012년에 제프리 힌턴(Geoffrey Hinton)의 팀이 AlexNet 모델로 이미지 분류 대회인 ImageNet에서 기존의 머신러닝 방법을 누르고 우승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국내에서는 2016년 이세돌과 알파고의 대국으로 인해 딥러닝에 대한 관심이 크게 상승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alibri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2022년에는 챗GPT가 출시되면서 일반 대중이 인공지능 기술을 직접 활용하는 시대를 열었습니다.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"/>
          <p:cNvSpPr txBox="1">
            <a:spLocks noGrp="1"/>
          </p:cNvSpPr>
          <p:nvPr>
            <p:ph type="title"/>
          </p:nvPr>
        </p:nvSpPr>
        <p:spPr>
          <a:xfrm>
            <a:off x="5632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딥러닝(5)</a:t>
            </a:r>
            <a:endParaRPr/>
          </a:p>
        </p:txBody>
      </p:sp>
      <p:sp>
        <p:nvSpPr>
          <p:cNvPr id="318" name="Google Shape;318;p1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  <p:sp>
        <p:nvSpPr>
          <p:cNvPr id="319" name="Google Shape;319;p1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인공 신경망 성능 발전의 원동력 세 가지</a:t>
            </a:r>
            <a:endParaRPr/>
          </a:p>
          <a:p>
            <a:pPr marL="800100" lvl="1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복잡한 알고리즘을 훈련할 수 있는 풍부한 데이터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컴퓨터 성능의 향상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혁신적인 알고리즘 개발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2015년 구글은 딥러닝 라이브러리인 텐서플로(TensorFlow)를 오픈소스로 공개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2018년 페이스북도 파이토치(PyTorch) 딥러닝 라이브러리를 오픈소스로 발표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이 라이브러리들의 공통점은 인공 신경망 알고리즘을 전문으로 다루고 있다는 것과 모두 사용하기 </a:t>
            </a:r>
            <a:br>
              <a:rPr lang="ko-KR">
                <a:latin typeface="Calibri"/>
                <a:ea typeface="Calibri"/>
                <a:cs typeface="Calibri"/>
                <a:sym typeface="Calibri"/>
              </a:rPr>
            </a:br>
            <a:r>
              <a:rPr lang="ko-KR">
                <a:latin typeface="Calibri"/>
                <a:ea typeface="Calibri"/>
                <a:cs typeface="Calibri"/>
                <a:sym typeface="Calibri"/>
              </a:rPr>
              <a:t>쉬운 파이썬 API를 제공한다는 점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9554" y="5338519"/>
            <a:ext cx="6867525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마무리</a:t>
            </a:r>
            <a:endParaRPr/>
          </a:p>
        </p:txBody>
      </p:sp>
      <p:sp>
        <p:nvSpPr>
          <p:cNvPr id="327" name="Google Shape;327;p1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body" idx="1"/>
          </p:nvPr>
        </p:nvSpPr>
        <p:spPr>
          <a:xfrm>
            <a:off x="432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인공지능은 사람처럼 학습하고 추론할 수 있는 지능을 가진 시스템을 만드는 기술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인공지능은 강인공지능과 약인공지능으로 구분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머신러닝은 규칙을 프로그래밍하지 않아도 자동으로 데이터에서 규칙을 학습하는 알고리즘을 연구하는 분야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사이킷런이 대표적인 라이브러리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딥러닝은 인공 신경망이라고도 하며, 텐서플로와 파이토치가 대표적인 라이브러리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노트북(1)</a:t>
            </a:r>
            <a:endParaRPr/>
          </a:p>
        </p:txBody>
      </p:sp>
      <p:sp>
        <p:nvSpPr>
          <p:cNvPr id="335" name="Google Shape;335;p1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  <p:sp>
        <p:nvSpPr>
          <p:cNvPr id="336" name="Google Shape;336;p1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51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구글 코랩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구글 코랩(Colab)은 웹 브라우저에서 무료로 파이썬 프로그램을 테스트하고 저장할 수 있는 서비스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 프로그램 제작도 가능한 클라우드 기반의 주피터 노트북 개발 환경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머신러닝은 컴퓨터 사양이 중요한데, 구글 코랩을 사용하면 컴퓨터 성능과 상관없이 프로그램을 실습해 볼 수 있음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구글 계정만 있다면 누구나 무료로 코랩을 사용할 수 있음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코랩 웹사이트(</a:t>
            </a:r>
            <a:r>
              <a:rPr lang="ko-KR" u="sng">
                <a:solidFill>
                  <a:schemeClr val="hlink"/>
                </a:solidFill>
                <a:hlinkClick r:id="rId3"/>
              </a:rPr>
              <a:t>https://colab.research.google.com</a:t>
            </a:r>
            <a:r>
              <a:rPr lang="ko-KR"/>
              <a:t>)에 접속하고 로그인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구글 계정으로 로그인하지 않아도 코랩에 접속할 수 있지만, 코드를 실행할 수는 없음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코랩은 웹 브라우저에서 텍스트와 프로그램 코드를 자유롭게 작성할 수 있는 온라인 에디터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이런 코랩 파일을 노트북(Notebook) 혹은 코랩 노트북이라고 칭함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노트북에서 셀(cell)은 코드 또는 텍스트의 덩어리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노트북은 보통 여러 개의 코드 셀과 텍스트 셀로 구성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노트북(2)</a:t>
            </a:r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  <p:sp>
        <p:nvSpPr>
          <p:cNvPr id="344" name="Google Shape;344;p15"/>
          <p:cNvSpPr txBox="1">
            <a:spLocks noGrp="1"/>
          </p:cNvSpPr>
          <p:nvPr>
            <p:ph type="body" idx="1"/>
          </p:nvPr>
        </p:nvSpPr>
        <p:spPr>
          <a:xfrm>
            <a:off x="432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텍스트 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셀(cell): 코랩에서 실행할 수 있는 최소 단위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셀 안에 있는 내용을 한 번에 실행하고 그 결과를 노트북에 나타냄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텍스트 셀은 코드처럼 실행되는 것이 아니기 때문에 자유롭게 사용해도 괜찮음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셀 하나에 아주 긴 글을 써도 되고, 여러 셀에 나누어 작성해도 무방함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텍스트 셀 수정: 원하는 셀로 이동한 후 Enter 키를 누르거나 마우스를 더블 클릭하여 편집 화면으로 들어감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텍스트 셀에서는 HTML과 마크다운(Markdown)을 혼용해서 사용 가능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왼쪽 창에서 텍스트를 수정하면 오른쪽 미리 보기 창에서 수정된 결과를 바로 볼 수 있음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&lt;h1&gt; 태그 아래에 임의의 텍스트를 추가하고 미리 보기 창에 나타나는 결과를 확인해보기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텍스트 셀의 수정을 끝내려면 ESC 키를 누름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4316" y="5820011"/>
            <a:ext cx="741012" cy="3512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1" name="Google Shape;351;p16"/>
          <p:cNvGraphicFramePr/>
          <p:nvPr/>
        </p:nvGraphicFramePr>
        <p:xfrm>
          <a:off x="1043233" y="2092067"/>
          <a:ext cx="9058675" cy="407935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51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라인을 제목으로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선택한 글자를 굵은 글자로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선택한 글자를 이탤릭체로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코드 형식으로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선택한 글자를 링크로 만들기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이미지를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들여 쓴 블록을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번호 매기기 목록을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글머리 기호 목록을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가로줄을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11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미리 보기 창의 위치를 오른쪽에서 아래로 또는 아래에서 오른쪽으로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52" name="Google Shape;352;p1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노트북(3)</a:t>
            </a:r>
            <a:endParaRPr/>
          </a:p>
        </p:txBody>
      </p:sp>
      <p:sp>
        <p:nvSpPr>
          <p:cNvPr id="353" name="Google Shape;353;p1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  <p:sp>
        <p:nvSpPr>
          <p:cNvPr id="354" name="Google Shape;354;p1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텍스트 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기본 메뉴</a:t>
            </a:r>
            <a:endParaRPr/>
          </a:p>
        </p:txBody>
      </p:sp>
      <p:pic>
        <p:nvPicPr>
          <p:cNvPr id="356" name="Google Shape;35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2099" y="2126844"/>
            <a:ext cx="3333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6874" y="2496565"/>
            <a:ext cx="228600" cy="30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68299" y="2891066"/>
            <a:ext cx="257175" cy="280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87436" y="3218497"/>
            <a:ext cx="418899" cy="34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74861" y="3627360"/>
            <a:ext cx="480462" cy="31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46396" y="3958907"/>
            <a:ext cx="329556" cy="34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35157" y="4341509"/>
            <a:ext cx="352987" cy="34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917813" y="4730098"/>
            <a:ext cx="356429" cy="31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917813" y="5112542"/>
            <a:ext cx="364566" cy="303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905642" y="5550947"/>
            <a:ext cx="418899" cy="181146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6"/>
          <p:cNvSpPr/>
          <p:nvPr/>
        </p:nvSpPr>
        <p:spPr>
          <a:xfrm>
            <a:off x="7015659" y="1968865"/>
            <a:ext cx="3755100" cy="3345600"/>
          </a:xfrm>
          <a:prstGeom prst="roundRect">
            <a:avLst>
              <a:gd name="adj" fmla="val 8192"/>
            </a:avLst>
          </a:prstGeom>
          <a:solidFill>
            <a:schemeClr val="lt1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현재 셀에 적용할 수 있는 기능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위로 이동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아래로 이동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링크 만들기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수정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탭에서 셀 미러링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셀 삭제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셀 작업 더보기</a:t>
            </a:r>
            <a:endParaRPr/>
          </a:p>
        </p:txBody>
      </p:sp>
      <p:pic>
        <p:nvPicPr>
          <p:cNvPr id="367" name="Google Shape;367;p1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207622" y="2557232"/>
            <a:ext cx="326791" cy="34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192464" y="2887655"/>
            <a:ext cx="357106" cy="346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130786" y="3325070"/>
            <a:ext cx="480462" cy="248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6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207622" y="3663912"/>
            <a:ext cx="344211" cy="31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6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207622" y="4011548"/>
            <a:ext cx="331089" cy="34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6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263820" y="4341972"/>
            <a:ext cx="2857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343913" y="4703922"/>
            <a:ext cx="190500" cy="36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6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953161" y="5850045"/>
            <a:ext cx="285750" cy="291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노트북(4)</a:t>
            </a:r>
            <a:endParaRPr/>
          </a:p>
        </p:txBody>
      </p:sp>
      <p:sp>
        <p:nvSpPr>
          <p:cNvPr id="380" name="Google Shape;380;p1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  <p:sp>
        <p:nvSpPr>
          <p:cNvPr id="381" name="Google Shape;381;p1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코드 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‘Colaboratory에 오신 것을 환영합니다’ 노트북의 세 번째 셀이 코드 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코드 셀로 이동하면 코드와 결과가 함께 선택됨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3" name="Google Shape;383;p17"/>
          <p:cNvGraphicFramePr/>
          <p:nvPr/>
        </p:nvGraphicFramePr>
        <p:xfrm>
          <a:off x="1280849" y="2642062"/>
          <a:ext cx="6280150" cy="51817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seconds_in_a_day = 24 * 60 * 60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seconds_in_a_day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84" name="Google Shape;38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0091" y="3381502"/>
            <a:ext cx="320580" cy="34347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7"/>
          <p:cNvSpPr txBox="1"/>
          <p:nvPr/>
        </p:nvSpPr>
        <p:spPr>
          <a:xfrm>
            <a:off x="2077893" y="3370107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86400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 txBox="1"/>
          <p:nvPr/>
        </p:nvSpPr>
        <p:spPr>
          <a:xfrm>
            <a:off x="8157093" y="2716476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코드</a:t>
            </a:r>
            <a:endParaRPr/>
          </a:p>
        </p:txBody>
      </p:sp>
      <p:sp>
        <p:nvSpPr>
          <p:cNvPr id="387" name="Google Shape;387;p17"/>
          <p:cNvSpPr txBox="1"/>
          <p:nvPr/>
        </p:nvSpPr>
        <p:spPr>
          <a:xfrm>
            <a:off x="8157092" y="3365566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결과</a:t>
            </a:r>
            <a:endParaRPr/>
          </a:p>
        </p:txBody>
      </p:sp>
      <p:cxnSp>
        <p:nvCxnSpPr>
          <p:cNvPr id="388" name="Google Shape;388;p17"/>
          <p:cNvCxnSpPr/>
          <p:nvPr/>
        </p:nvCxnSpPr>
        <p:spPr>
          <a:xfrm rot="10800000">
            <a:off x="7683627" y="2901142"/>
            <a:ext cx="365760" cy="0"/>
          </a:xfrm>
          <a:prstGeom prst="straightConnector1">
            <a:avLst/>
          </a:prstGeom>
          <a:noFill/>
          <a:ln w="9525" cap="flat" cmpd="sng">
            <a:solidFill>
              <a:srgbClr val="205A0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9" name="Google Shape;389;p17"/>
          <p:cNvCxnSpPr/>
          <p:nvPr/>
        </p:nvCxnSpPr>
        <p:spPr>
          <a:xfrm rot="10800000">
            <a:off x="3611499" y="3545106"/>
            <a:ext cx="4450080" cy="0"/>
          </a:xfrm>
          <a:prstGeom prst="straightConnector1">
            <a:avLst/>
          </a:prstGeom>
          <a:noFill/>
          <a:ln w="9525" cap="flat" cmpd="sng">
            <a:solidFill>
              <a:srgbClr val="205A04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노트북(5)</a:t>
            </a:r>
            <a:endParaRPr/>
          </a:p>
        </p:txBody>
      </p:sp>
      <p:sp>
        <p:nvSpPr>
          <p:cNvPr id="395" name="Google Shape;395;p1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  <p:sp>
        <p:nvSpPr>
          <p:cNvPr id="396" name="Google Shape;396;p1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노트북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코랩은 구글이 대화식 프로그래밍 환경인 주피터(Jupyter)를 커스터마이징한 것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파이썬 지원으로 시작한 주피터 프로젝트는 최근에는 다른 언어도 지원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주피터 프로젝트의 대표 제품이 바로 노트북(Notebook), 흔히 주피터 노트북이라고 부름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코랩 노트북은 구글 클라우드의 가상 서버(Virtual Machine)를 사용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화면 오른쪽 상단에 있는 RAM, 디스크 아이콘에 마우스를 올리면 상세 정보를 알 수 있음</a:t>
            </a:r>
            <a:br>
              <a:rPr lang="ko-KR">
                <a:latin typeface="Calibri"/>
                <a:ea typeface="Calibri"/>
                <a:cs typeface="Calibri"/>
                <a:sym typeface="Calibri"/>
              </a:rPr>
            </a:br>
            <a:r>
              <a:rPr lang="ko-KR">
                <a:latin typeface="Calibri"/>
                <a:ea typeface="Calibri"/>
                <a:cs typeface="Calibri"/>
                <a:sym typeface="Calibri"/>
              </a:rPr>
              <a:t>코드를 실행하기 전이나 연결이 끊어진 상태에서는 아이콘 대신에 [연결] 버튼이 활성화됨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18"/>
          <p:cNvPicPr preferRelativeResize="0"/>
          <p:nvPr/>
        </p:nvPicPr>
        <p:blipFill rotWithShape="1">
          <a:blip r:embed="rId3">
            <a:alphaModFix/>
          </a:blip>
          <a:srcRect t="4297"/>
          <a:stretch/>
        </p:blipFill>
        <p:spPr>
          <a:xfrm>
            <a:off x="1274850" y="4194500"/>
            <a:ext cx="4692600" cy="192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노트북(6)</a:t>
            </a:r>
            <a:endParaRPr/>
          </a:p>
        </p:txBody>
      </p:sp>
      <p:sp>
        <p:nvSpPr>
          <p:cNvPr id="404" name="Google Shape;404;p1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  <p:sp>
        <p:nvSpPr>
          <p:cNvPr id="405" name="Google Shape;405;p1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 dirty="0"/>
              <a:t>노트북</a:t>
            </a:r>
            <a:endParaRPr dirty="0"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 dirty="0"/>
              <a:t>노트북은 구글 클라우드의 </a:t>
            </a:r>
            <a:r>
              <a:rPr lang="ko-KR" dirty="0" err="1"/>
              <a:t>컴퓨트</a:t>
            </a:r>
            <a:r>
              <a:rPr lang="ko-KR" dirty="0"/>
              <a:t> 엔진(</a:t>
            </a:r>
            <a:r>
              <a:rPr lang="ko-KR" dirty="0" err="1"/>
              <a:t>Compute</a:t>
            </a:r>
            <a:r>
              <a:rPr lang="ko-KR" dirty="0"/>
              <a:t> </a:t>
            </a:r>
            <a:r>
              <a:rPr lang="ko-KR" dirty="0" err="1"/>
              <a:t>Engine</a:t>
            </a:r>
            <a:r>
              <a:rPr lang="ko-KR" dirty="0"/>
              <a:t>)</a:t>
            </a:r>
            <a:r>
              <a:rPr lang="ko-KR" dirty="0" err="1"/>
              <a:t>에</a:t>
            </a:r>
            <a:r>
              <a:rPr lang="ko-KR" dirty="0"/>
              <a:t> 연결되어 있음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dirty="0"/>
              <a:t>서버의 메모리는 약 12기가이고, 디스크 공간은 약 225기가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dirty="0"/>
              <a:t>구글 계정만 있으면 </a:t>
            </a:r>
            <a:r>
              <a:rPr lang="ko-KR" dirty="0" err="1"/>
              <a:t>코랩</a:t>
            </a:r>
            <a:r>
              <a:rPr lang="ko-KR" dirty="0"/>
              <a:t> 노트북을 사용해 무료로 가상 서버를 활용할 수 있음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dirty="0"/>
              <a:t>무료 제한 사항으로 </a:t>
            </a:r>
            <a:r>
              <a:rPr lang="ko-KR" dirty="0" err="1"/>
              <a:t>코랩</a:t>
            </a:r>
            <a:r>
              <a:rPr lang="ko-KR" dirty="0"/>
              <a:t> 노트북으로 동시에 사용할 수 있는 구글 클라우드의 가상 서버는 최대 5개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dirty="0"/>
              <a:t>5개 이상의 노트북을 열어야 한다면 이미 실행 중인 노트북을 저장한 다음 구글 클라우드와 연결을 끊어야 함</a:t>
            </a:r>
            <a:endParaRPr dirty="0"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dirty="0"/>
              <a:t>1개의 노트북을 12시간 이상 실행할 수 없음</a:t>
            </a:r>
            <a:endParaRPr dirty="0"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</p:txBody>
      </p:sp>
      <p:sp>
        <p:nvSpPr>
          <p:cNvPr id="407" name="Google Shape;407;p19"/>
          <p:cNvSpPr/>
          <p:nvPr/>
        </p:nvSpPr>
        <p:spPr>
          <a:xfrm>
            <a:off x="1354075" y="4196724"/>
            <a:ext cx="9845100" cy="1077900"/>
          </a:xfrm>
          <a:prstGeom prst="roundRect">
            <a:avLst>
              <a:gd name="adj" fmla="val 9432"/>
            </a:avLst>
          </a:prstGeom>
          <a:solidFill>
            <a:srgbClr val="CBF3F6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600"/>
              <a:buFont typeface="Arial"/>
              <a:buChar char="•"/>
            </a:pP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구글은 </a:t>
            </a:r>
            <a:r>
              <a:rPr lang="ko-KR" sz="16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2020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년 </a:t>
            </a:r>
            <a:r>
              <a:rPr lang="ko-KR" sz="16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월 더 많은 메모리와 컴퓨팅 파워를 제공하는 코랩 프로(</a:t>
            </a:r>
            <a:r>
              <a:rPr lang="ko-KR" sz="16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Colab Pro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sz="1600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 유료 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서비스 시작</a:t>
            </a:r>
            <a:endParaRPr sz="1600" b="0" i="0" u="none" strike="noStrike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600"/>
              <a:buFont typeface="Arial"/>
              <a:buChar char="•"/>
            </a:pP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코랩 프로는 한 번에 최대 </a:t>
            </a:r>
            <a:r>
              <a:rPr lang="ko-KR" sz="16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24 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시간 동안 프로그램을 실행할 수 있음</a:t>
            </a:r>
            <a:endParaRPr sz="1600" b="0" i="0" u="none" strike="noStrike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600"/>
              <a:buFont typeface="Arial"/>
              <a:buChar char="•"/>
            </a:pP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현재는 미국과 캐나다에서만 서비스 가입이 가능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노트북(7)</a:t>
            </a:r>
            <a:endParaRPr/>
          </a:p>
        </p:txBody>
      </p:sp>
      <p:sp>
        <p:nvSpPr>
          <p:cNvPr id="413" name="Google Shape;413;p2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  <p:sp>
        <p:nvSpPr>
          <p:cNvPr id="414" name="Google Shape;414;p2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새 노트북 만들기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01	[파일]-[새 노트]를 클릭해서 새로운 노트북 시작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02	새 노트북은 Untitled[숫자].ipynb 이름으로 만들어지고, 노트북에는 빈 코드의 셀 하나가 나타남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03	코드 셀에 ‘Hello World’를 출력하는 print( ) 코드를 작성하고, 이 파일의 이름을 ‘Hello World’로 	       저장하기</a:t>
            </a:r>
            <a:br>
              <a:rPr lang="ko-KR"/>
            </a:br>
            <a:r>
              <a:rPr lang="ko-KR"/>
              <a:t>	        - 빈 코드 셀을 마우스로 선택하고 다음과 같이 입력한 다음 셀을 실행</a:t>
            </a:r>
            <a:br>
              <a:rPr lang="ko-KR"/>
            </a:br>
            <a:r>
              <a:rPr lang="ko-KR"/>
              <a:t>	        - 코드 셀을 실행하려면 Ctrl + Enter 키(macOS는 cmd + Enter 키)를 누르거나 왼쪽에 있는 </a:t>
            </a:r>
            <a:br>
              <a:rPr lang="ko-KR"/>
            </a:br>
            <a:r>
              <a:rPr lang="ko-KR"/>
              <a:t>	          플레이 아이콘을 클릭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04	노트북은 자동으로 구글 드라이브의 [내 드라이브]-[Colab Notebooks] 폴더 아래에 저장됨</a:t>
            </a:r>
            <a:br>
              <a:rPr lang="ko-KR"/>
            </a:br>
            <a:r>
              <a:rPr lang="ko-KR"/>
              <a:t>  	- 웹 브라우저에서 구글 드라이브(https://drive.google.com)로 접속해서 확인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05	노트북의 이름 변경</a:t>
            </a:r>
            <a:br>
              <a:rPr lang="ko-KR"/>
            </a:br>
            <a:r>
              <a:rPr lang="ko-KR"/>
              <a:t>	       - 제목을 마우스로 클릭하면 수정할 수 있도록 바뀜</a:t>
            </a:r>
            <a:br>
              <a:rPr lang="ko-KR"/>
            </a:br>
            <a:r>
              <a:rPr lang="ko-KR"/>
              <a:t>	       - 이 파일의 제목을 ‘Hello World’로 바꿔 보기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노트북(8)</a:t>
            </a:r>
            <a:endParaRPr/>
          </a:p>
        </p:txBody>
      </p:sp>
      <p:sp>
        <p:nvSpPr>
          <p:cNvPr id="421" name="Google Shape;421;p2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  <p:sp>
        <p:nvSpPr>
          <p:cNvPr id="422" name="Google Shape;422;p2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새 노트북 만들기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06	노트북 이름을 수정하고 저장하면 잠시 후 구글 드라이브에 있는 이름이 변경됨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07	이렇게 저장된 노트북을 코랩으로 불러오기</a:t>
            </a:r>
            <a:endParaRPr/>
          </a:p>
          <a:p>
            <a:pPr marL="990000" lvl="1" indent="0" algn="l" rtl="0">
              <a:lnSpc>
                <a:spcPct val="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br>
              <a:rPr lang="ko-KR"/>
            </a:br>
            <a:r>
              <a:rPr lang="ko-KR"/>
              <a:t>- 코랩 노트북 화면에서 [파일]-[노트 열기]를 선택</a:t>
            </a:r>
            <a:endParaRPr/>
          </a:p>
          <a:p>
            <a:pPr marL="9900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- 팝업 창에서 [Google 드라이브]를 선택하면 [Colab Notebooks]에 들어간 노트북을 코랩에서 열거나 구글 드라이브에서 코랩 노트북을 선택하고 마우스 오른쪽 버튼을 클릭하여 팝업 메뉴를 띄운 다음 [연결 앱]-[Google Colaboratory]를 선택하면 노트북을 코랩에서 열기</a:t>
            </a:r>
            <a:endParaRPr/>
          </a:p>
          <a:p>
            <a:pPr marL="9900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- 만약 [연결 앱] 목록에 [Google Colaboratory]가 없다면, [연결할 앱 더보기]를 클릭한 후 Colab을 검색해 설치해 주세요.</a:t>
            </a:r>
            <a:endParaRPr/>
          </a:p>
        </p:txBody>
      </p:sp>
      <p:pic>
        <p:nvPicPr>
          <p:cNvPr id="424" name="Google Shape;42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96950" y="4607050"/>
            <a:ext cx="6339126" cy="196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마무리(1)</a:t>
            </a:r>
            <a:endParaRPr/>
          </a:p>
        </p:txBody>
      </p:sp>
      <p:sp>
        <p:nvSpPr>
          <p:cNvPr id="430" name="Google Shape;430;p2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19</a:t>
            </a:fld>
            <a:endParaRPr/>
          </a:p>
        </p:txBody>
      </p:sp>
      <p:sp>
        <p:nvSpPr>
          <p:cNvPr id="431" name="Google Shape;431;p2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키워드로 끝내는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코랩은 구글 계정이 있으면 누구나 사용할 수 있는 웹 브라우저 기반의 파이썬 코드 실행 환경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노트북은 코랩의 프로그램 작성 단위이며, 일반 프로그램 파일과 달리 대화식으로 프로그램을 만들 수 있기 때문에 데이터 분석이나 교육에 매우 적합</a:t>
            </a:r>
            <a:br>
              <a:rPr lang="ko-KR"/>
            </a:br>
            <a:r>
              <a:rPr lang="ko-KR"/>
              <a:t>노트북에는 코드, 코드의 실행 결과, 문서를 모두 저장하여 보관할 수 있음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구글 드라이브는 구글이 제공하는 클라우드 파일 저장 서비스. 코랩에서 만든 노트북은 자동으로 구글 클라우드의 ‘Colab Notebooks’ 폴더에 저장되고 필요할 때 다시 코랩에서 열 수 있음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표로 정리하는 툴바와 마크다운</a:t>
            </a:r>
            <a:endParaRPr/>
          </a:p>
        </p:txBody>
      </p:sp>
      <p:pic>
        <p:nvPicPr>
          <p:cNvPr id="433" name="Google Shape;4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275" y="4528050"/>
            <a:ext cx="6138626" cy="19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마무리(2)</a:t>
            </a:r>
            <a:endParaRPr/>
          </a:p>
        </p:txBody>
      </p:sp>
      <p:sp>
        <p:nvSpPr>
          <p:cNvPr id="439" name="Google Shape;439;p2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20</a:t>
            </a:fld>
            <a:endParaRPr/>
          </a:p>
        </p:txBody>
      </p:sp>
      <p:sp>
        <p:nvSpPr>
          <p:cNvPr id="440" name="Google Shape;440;p23"/>
          <p:cNvSpPr txBox="1">
            <a:spLocks noGrp="1"/>
          </p:cNvSpPr>
          <p:nvPr>
            <p:ph type="body" idx="1"/>
          </p:nvPr>
        </p:nvSpPr>
        <p:spPr>
          <a:xfrm>
            <a:off x="487015" y="815007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텍스트 셀에 사용할 수 있는 마크다운</a:t>
            </a:r>
            <a:endParaRPr/>
          </a:p>
        </p:txBody>
      </p:sp>
      <p:graphicFrame>
        <p:nvGraphicFramePr>
          <p:cNvPr id="442" name="Google Shape;442;p23"/>
          <p:cNvGraphicFramePr/>
          <p:nvPr/>
        </p:nvGraphicFramePr>
        <p:xfrm>
          <a:off x="809035" y="1355813"/>
          <a:ext cx="9985275" cy="4785510"/>
        </p:xfrm>
        <a:graphic>
          <a:graphicData uri="http://schemas.openxmlformats.org/drawingml/2006/table">
            <a:tbl>
              <a:tblPr firstRow="1" bandRow="1">
                <a:noFill/>
                <a:tableStyleId>{AB367915-EC1C-4A17-8A3B-353DF6489126}</a:tableStyleId>
              </a:tblPr>
              <a:tblGrid>
                <a:gridCol w="378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마크다운 형식</a:t>
                      </a:r>
                      <a:endParaRPr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5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설명</a:t>
                      </a:r>
                      <a:endParaRPr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5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예제</a:t>
                      </a:r>
                      <a:endParaRPr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5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 제목1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&lt;h1&gt;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제목1</a:t>
                      </a:r>
                      <a:endParaRPr sz="1400" b="1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## 제목2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&lt;h2&gt;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/>
                        <a:t>제목2</a:t>
                      </a:r>
                      <a:endParaRPr sz="12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### 제목3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&lt;h3&gt;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/>
                        <a:t>제목3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#### 제목4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&lt;h4&gt;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제목4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##### 제목5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&lt;h5&gt;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/>
                        <a:t>제목5</a:t>
                      </a:r>
                      <a:endParaRPr sz="9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**혼공머신**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굵게 쓰기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혼공신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*혼공머신* 뚀는 _혼공머신_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기울임 꼴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i="1" u="none" strike="noStrike" cap="none"/>
                        <a:t>혼공신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~~혼공머신~~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취소선을 추가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sngStrike" cap="none"/>
                        <a:t>혼공신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`print("Hello World!")`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백틱 기호를 사용한 코드 서체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Print (“Hello World”)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&gt; 혼공머신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들여쓰기(여러 단계를 들여쓸 수 있음)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       혼공신  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* 혼공머신 또는 - 혼공머신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글머리 기호 목록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strike="noStrike" cap="none"/>
                        <a:t>혼공신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[한빛미디어](http://www.hanbit.co.kr/)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링크 생성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sng" strike="noStrike" cap="none">
                          <a:solidFill>
                            <a:srgbClr val="0070C0"/>
                          </a:solidFill>
                        </a:rPr>
                        <a:t>한빛미디어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! [한빛미디어](http://www.hanbit.co.kr/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images/common/logo_hanbit.png)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이미지를 추가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$ y = x \times z$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레이텍을 추가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Y = X × Z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43" name="Google Shape;443;p23"/>
          <p:cNvSpPr/>
          <p:nvPr/>
        </p:nvSpPr>
        <p:spPr>
          <a:xfrm>
            <a:off x="8163859" y="4465393"/>
            <a:ext cx="47625" cy="190500"/>
          </a:xfrm>
          <a:prstGeom prst="rect">
            <a:avLst/>
          </a:prstGeom>
          <a:solidFill>
            <a:srgbClr val="98E9ED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2259" y="5405353"/>
            <a:ext cx="1634023" cy="293194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3"/>
          <p:cNvSpPr txBox="1"/>
          <p:nvPr/>
        </p:nvSpPr>
        <p:spPr>
          <a:xfrm>
            <a:off x="809035" y="6234694"/>
            <a:ext cx="84037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※ 레이텍(LaTeX)은 수식, 그래프, 다이어그램 등을 그리는 데 유용한 문서 저작도구로 보통 논문 작성에 많이 사용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확인 문제(1)</a:t>
            </a:r>
            <a:endParaRPr/>
          </a:p>
        </p:txBody>
      </p:sp>
      <p:sp>
        <p:nvSpPr>
          <p:cNvPr id="451" name="Google Shape;451;p2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21</a:t>
            </a:fld>
            <a:endParaRPr/>
          </a:p>
        </p:txBody>
      </p:sp>
      <p:sp>
        <p:nvSpPr>
          <p:cNvPr id="452" name="Google Shape;452;p2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 dirty="0"/>
              <a:t>구글에서 제공하는 웹 브라우저 기반의 파이썬 실행 환경은 무엇인가?</a:t>
            </a:r>
            <a:br>
              <a:rPr lang="ko-KR" dirty="0"/>
            </a:br>
            <a:r>
              <a:rPr lang="ko-KR" dirty="0"/>
              <a:t>① 주피터 노트북 	</a:t>
            </a:r>
            <a:r>
              <a:rPr lang="en-US" altLang="ko-KR" dirty="0"/>
              <a:t>	</a:t>
            </a:r>
            <a:r>
              <a:rPr lang="ko-KR" dirty="0"/>
              <a:t>② </a:t>
            </a:r>
            <a:r>
              <a:rPr lang="ko-KR" dirty="0" err="1"/>
              <a:t>코랩</a:t>
            </a:r>
            <a:r>
              <a:rPr lang="ko-KR" dirty="0"/>
              <a:t> </a:t>
            </a:r>
            <a:br>
              <a:rPr lang="ko-KR" dirty="0"/>
            </a:br>
            <a:r>
              <a:rPr lang="ko-KR" dirty="0"/>
              <a:t>③ 크롬 			④ 아나콘다</a:t>
            </a:r>
            <a:endParaRPr dirty="0"/>
          </a:p>
          <a:p>
            <a:pPr marL="457200" lvl="0" indent="-3302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dirty="0"/>
          </a:p>
          <a:p>
            <a:pPr marL="457200" lvl="0" indent="-4572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 dirty="0" err="1"/>
              <a:t>코랩</a:t>
            </a:r>
            <a:r>
              <a:rPr lang="ko-KR" dirty="0"/>
              <a:t> 노트북에서 쓸 수 있는 마크다운 중에서 다음 중 기울임 꼴로 쓰는 것은?</a:t>
            </a:r>
            <a:br>
              <a:rPr lang="ko-KR" dirty="0"/>
            </a:br>
            <a:r>
              <a:rPr lang="ko-KR" dirty="0"/>
              <a:t>① **</a:t>
            </a:r>
            <a:r>
              <a:rPr lang="ko-KR" dirty="0" err="1"/>
              <a:t>혼공머신</a:t>
            </a:r>
            <a:r>
              <a:rPr lang="ko-KR" dirty="0"/>
              <a:t>** 		② ~~</a:t>
            </a:r>
            <a:r>
              <a:rPr lang="ko-KR" dirty="0" err="1"/>
              <a:t>혼공머신</a:t>
            </a:r>
            <a:r>
              <a:rPr lang="ko-KR" dirty="0"/>
              <a:t>~~ </a:t>
            </a:r>
            <a:br>
              <a:rPr lang="ko-KR" dirty="0"/>
            </a:br>
            <a:r>
              <a:rPr lang="ko-KR" dirty="0"/>
              <a:t>③ `‘</a:t>
            </a:r>
            <a:r>
              <a:rPr lang="ko-KR" dirty="0" err="1"/>
              <a:t>혼공머신</a:t>
            </a:r>
            <a:r>
              <a:rPr lang="ko-KR" dirty="0"/>
              <a:t>’` 		④ </a:t>
            </a:r>
            <a:r>
              <a:rPr lang="ko-KR" dirty="0" err="1"/>
              <a:t>혼공머신</a:t>
            </a:r>
            <a:r>
              <a:rPr lang="ko-KR" dirty="0"/>
              <a:t>_</a:t>
            </a:r>
            <a:endParaRPr dirty="0"/>
          </a:p>
          <a:p>
            <a:pPr marL="457200" lvl="0" indent="-3302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dirty="0"/>
          </a:p>
          <a:p>
            <a:pPr marL="457200" lvl="0" indent="-4572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 dirty="0" err="1"/>
              <a:t>코랩</a:t>
            </a:r>
            <a:r>
              <a:rPr lang="ko-KR" dirty="0"/>
              <a:t> 노트북은 어디에서 실행되는가?</a:t>
            </a:r>
            <a:br>
              <a:rPr lang="ko-KR" dirty="0"/>
            </a:br>
            <a:r>
              <a:rPr lang="ko-KR" dirty="0"/>
              <a:t>① 내 컴퓨터 		② 구글 드라이브 </a:t>
            </a:r>
            <a:br>
              <a:rPr lang="ko-KR" dirty="0"/>
            </a:br>
            <a:r>
              <a:rPr lang="ko-KR" dirty="0"/>
              <a:t>③ 구글 클라우드 		④ 아마존 웹서비스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머신러닝(1)</a:t>
            </a:r>
            <a:endParaRPr/>
          </a:p>
        </p:txBody>
      </p:sp>
      <p:sp>
        <p:nvSpPr>
          <p:cNvPr id="459" name="Google Shape;459;p2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22</a:t>
            </a:fld>
            <a:endParaRPr/>
          </a:p>
        </p:txBody>
      </p:sp>
      <p:sp>
        <p:nvSpPr>
          <p:cNvPr id="460" name="Google Shape;460;p2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k-최근접 이웃을 사용하여 2개의 종류를 분류하는 머신러닝 모델을 훈련해보기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학습의 가상 조건 설정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한빛 마켓은 앱 마켓 최초로 살아 있는 생선을 판매하기 시작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고객이 온라인으로 주문하면 가장 빠른 물류 센터에서 신선한 </a:t>
            </a:r>
            <a:br>
              <a:rPr lang="ko-KR"/>
            </a:br>
            <a:r>
              <a:rPr lang="ko-KR"/>
              <a:t>생선을 곧바로 배송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문제 발생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물류 센터에서 생선을 고르는 직원이 도통 생선 이름을 외우지 못함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항상 주위 사람에게 “이 생선 이름이 뭐예요?”라고 물어봐 배송이 </a:t>
            </a:r>
            <a:br>
              <a:rPr lang="ko-KR"/>
            </a:br>
            <a:r>
              <a:rPr lang="ko-KR"/>
              <a:t>지연되기 일쑤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문제 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혼공머신에게 첫 번째 임무로 생선 이름을 자동으로 알려주는 </a:t>
            </a:r>
            <a:br>
              <a:rPr lang="ko-KR"/>
            </a:br>
            <a:r>
              <a:rPr lang="ko-KR"/>
              <a:t>머신러닝을 만들기</a:t>
            </a:r>
            <a:endParaRPr/>
          </a:p>
          <a:p>
            <a:pPr marL="228600" lvl="0" indent="-101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462" name="Google Shape;46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35277" y="1803919"/>
            <a:ext cx="2961215" cy="4760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머신러닝(2)</a:t>
            </a:r>
            <a:endParaRPr/>
          </a:p>
        </p:txBody>
      </p:sp>
      <p:sp>
        <p:nvSpPr>
          <p:cNvPr id="468" name="Google Shape;468;p2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23</a:t>
            </a:fld>
            <a:endParaRPr/>
          </a:p>
        </p:txBody>
      </p:sp>
      <p:sp>
        <p:nvSpPr>
          <p:cNvPr id="469" name="Google Shape;469;p2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생선 분류 문제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한빛 마켓에서 팔기 시작한 생선은 ‘도미’, ‘곤들매기’, ‘농어’, ‘강꼬치고기’, ‘로치’, ‘빙어’, ‘송어’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이 생선들은 물류 센터에 많이 준비되어 있고, 이 생선들을 프로그램으로 분류한다고 가정하여 적합한 프로그램을 만들기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사용할 생선 데이터는 캐글에 공개된 데이터셋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u="sng">
                <a:solidFill>
                  <a:schemeClr val="hlink"/>
                </a:solidFill>
                <a:hlinkClick r:id="rId3"/>
              </a:rPr>
              <a:t>https://www.kaggle.com/aungpyaeap/fish-market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캐글(kaggle.com)은 2010년에 설립된 전 세계에서 가장 큰 머신러닝 경연 대회 사이트로, 대회 정보뿐만 </a:t>
            </a:r>
            <a:br>
              <a:rPr lang="ko-KR"/>
            </a:br>
            <a:r>
              <a:rPr lang="ko-KR"/>
              <a:t>아니라 많은 데이터와 참고 자료를 제공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pic>
        <p:nvPicPr>
          <p:cNvPr id="471" name="Google Shape;47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1368" y="4520797"/>
            <a:ext cx="3533680" cy="21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머신러닝(3)</a:t>
            </a:r>
            <a:endParaRPr/>
          </a:p>
        </p:txBody>
      </p:sp>
      <p:sp>
        <p:nvSpPr>
          <p:cNvPr id="477" name="Google Shape;477;p2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24</a:t>
            </a:fld>
            <a:endParaRPr/>
          </a:p>
        </p:txBody>
      </p:sp>
      <p:sp>
        <p:nvSpPr>
          <p:cNvPr id="478" name="Google Shape;478;p2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57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생선 분류 문제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생선을 분류하는 일이니 생선의 특징을 알면 쉽게 구분할 수 있을 것으로 예상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도미 특성1: 생선 길이가 30cm 이상이면 도미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특성을 바탕으로 혼공머신이 만든 파이썬 프로그램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문제 발생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30cm보다 큰 생선이 무조건 도미? 또 도미의 크기가 모두 같을 리도 없음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한빛 마켓에서 판매하는 생선은 이렇게 절대 바뀌지 않을 기준을 정하기 어려움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이 문제를 머신러닝으로 어떻게 해결할 수 있을까? 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보통 프로그램은 ‘누군가 정해준 기준대로 일’을 수행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반대로 머신러닝은 누구도 알려주지 않는 기준을 찾아서 일을 수행</a:t>
            </a:r>
            <a:endParaRPr/>
          </a:p>
          <a:p>
            <a:pPr marL="914400" lvl="2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/>
              <a:t>   즉, 누가 말해 주지 않아도 머신러닝은 “30~40cm 길이의 생선은 도미이다”라는 기준을 찾음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머신러닝은 기준을 찾을 뿐만 아니라 이 기준을 이용해 생선이 도미인지 아닌지 판별</a:t>
            </a:r>
            <a:endParaRPr/>
          </a:p>
        </p:txBody>
      </p:sp>
      <p:graphicFrame>
        <p:nvGraphicFramePr>
          <p:cNvPr id="480" name="Google Shape;480;p27"/>
          <p:cNvGraphicFramePr/>
          <p:nvPr/>
        </p:nvGraphicFramePr>
        <p:xfrm>
          <a:off x="6770017" y="2325060"/>
          <a:ext cx="2707600" cy="4515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270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6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if fish_length &gt;= 30: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       print("도미")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02600" marR="85775" marT="42875" marB="428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머신러닝(4)</a:t>
            </a:r>
            <a:endParaRPr/>
          </a:p>
        </p:txBody>
      </p:sp>
      <p:sp>
        <p:nvSpPr>
          <p:cNvPr id="486" name="Google Shape;486;p2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25</a:t>
            </a:fld>
            <a:endParaRPr/>
          </a:p>
        </p:txBody>
      </p:sp>
      <p:sp>
        <p:nvSpPr>
          <p:cNvPr id="487" name="Google Shape;487;p2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200"/>
              <a:buChar char="◦"/>
            </a:pPr>
            <a:r>
              <a:rPr lang="ko-KR" sz="2200"/>
              <a:t>도미 데이터 준비하기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머신러닝은 어떻게 이런 기준을 스스로 찾을 수 있을까? 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머신러닝은 여러 개의 도미 생선을 보면 스스로 어떤 생선이 도미인지를 구분할 기준을 찾음 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그렇다면 도미 생선을 많이 준비해야 함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무게와 길이를 함께 재어 주는 저울을 이용하여 데이터 수집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먼저 혼공머신은 머신러닝을 사용해 도미와 빙어를 구분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도미와 빙어를 준비해서 저울에 올려놓고 무게와 길이를 측정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길이와 무게를 입력하기 전에 코랩에서 새 노트를 하나 생성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코랩 메뉴에서 [파일]-[새노트]를 클릭해서 노트를 생성한 다음에 제목은 ‘BreamAndSmelt’라 수정하고, 이후 과정을 입력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8555" y="4824648"/>
            <a:ext cx="3704653" cy="154645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머신러닝(5)</a:t>
            </a:r>
            <a:endParaRPr/>
          </a:p>
        </p:txBody>
      </p:sp>
      <p:sp>
        <p:nvSpPr>
          <p:cNvPr id="495" name="Google Shape;495;p2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26</a:t>
            </a:fld>
            <a:endParaRPr/>
          </a:p>
        </p:txBody>
      </p:sp>
      <p:sp>
        <p:nvSpPr>
          <p:cNvPr id="496" name="Google Shape;496;p2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Char char="◦"/>
            </a:pPr>
            <a:r>
              <a:rPr lang="ko-KR" sz="2200"/>
              <a:t>도미 데이터 준비하기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35마리의 도미를 준비하고 저울로 잰 도미의 길이(cm)와 무게(g)를 파이썬 리스트로 준비</a:t>
            </a:r>
            <a:br>
              <a:rPr lang="ko-KR"/>
            </a:br>
            <a:r>
              <a:rPr lang="ko-KR"/>
              <a:t>(데이터 소스: http://bit.ly/bream_list)</a:t>
            </a: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리스트에서 첫 번째 도미의 길이는 25.4cm, 무게는 242.0g이고 </a:t>
            </a:r>
            <a:br>
              <a:rPr lang="ko-KR"/>
            </a:br>
            <a:r>
              <a:rPr lang="ko-KR"/>
              <a:t>두 번째 도미의 길이는 26.3cm, 무게는 290.0g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특성(feature): 각 도미를 길이와 무게로 표현</a:t>
            </a:r>
            <a:endParaRPr/>
          </a:p>
        </p:txBody>
      </p:sp>
      <p:graphicFrame>
        <p:nvGraphicFramePr>
          <p:cNvPr id="498" name="Google Shape;498;p29"/>
          <p:cNvGraphicFramePr/>
          <p:nvPr/>
        </p:nvGraphicFramePr>
        <p:xfrm>
          <a:off x="1249489" y="2513550"/>
          <a:ext cx="7222675" cy="201169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722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bream_ length = [ 25.4, 26.3, 26.5, 29.0, 29.0, 29.7, 29.7, 30.0, 30.0, 30.7,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31.0, 31.0, 31.5, 32.0, 32.0, 32.0, 33.0, 33.0, 33.5, 33.5,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34.0, 34.0, 34.5, 35.0, 35.0, 35.0, 35.0, 36.0, 36.0, 37.0,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38.5, 38.5, 39.5, 41.0, 41.0]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bream_ weight = [ 242.0, 290.0, 340.0, 363.0, 430.0, 450.0, 500.0, 390.0,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 450.0, 500.0, 475.0, 500.0, 500.0, 340.0, 600.0, 600.0,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 700.0, 700.0, 610.0, 650.0, 575.0, 685.0, 620.0, 680.0,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 700.0, 725.0, 720.0, 714.0, 850.0, 1000.0, 920.0, 955.0,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 925.0, 975.0, 950.0]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9" name="Google Shape;499;p29"/>
          <p:cNvSpPr txBox="1"/>
          <p:nvPr/>
        </p:nvSpPr>
        <p:spPr>
          <a:xfrm>
            <a:off x="8585220" y="2551830"/>
            <a:ext cx="13228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생선의 길이</a:t>
            </a:r>
            <a:endParaRPr/>
          </a:p>
        </p:txBody>
      </p:sp>
      <p:sp>
        <p:nvSpPr>
          <p:cNvPr id="500" name="Google Shape;500;p29"/>
          <p:cNvSpPr txBox="1"/>
          <p:nvPr/>
        </p:nvSpPr>
        <p:spPr>
          <a:xfrm>
            <a:off x="8585220" y="3447433"/>
            <a:ext cx="13228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생선의 무게</a:t>
            </a:r>
            <a:endParaRPr/>
          </a:p>
        </p:txBody>
      </p:sp>
      <p:cxnSp>
        <p:nvCxnSpPr>
          <p:cNvPr id="501" name="Google Shape;501;p29"/>
          <p:cNvCxnSpPr/>
          <p:nvPr/>
        </p:nvCxnSpPr>
        <p:spPr>
          <a:xfrm rot="10800000">
            <a:off x="7079530" y="2670765"/>
            <a:ext cx="1505690" cy="0"/>
          </a:xfrm>
          <a:prstGeom prst="straightConnector1">
            <a:avLst/>
          </a:prstGeom>
          <a:noFill/>
          <a:ln w="9525" cap="flat" cmpd="sng">
            <a:solidFill>
              <a:srgbClr val="30870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2" name="Google Shape;502;p29"/>
          <p:cNvCxnSpPr/>
          <p:nvPr/>
        </p:nvCxnSpPr>
        <p:spPr>
          <a:xfrm rot="10800000">
            <a:off x="7145518" y="3577891"/>
            <a:ext cx="1419237" cy="0"/>
          </a:xfrm>
          <a:prstGeom prst="straightConnector1">
            <a:avLst/>
          </a:prstGeom>
          <a:noFill/>
          <a:ln w="9525" cap="flat" cmpd="sng">
            <a:solidFill>
              <a:srgbClr val="308707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머신러닝(6)</a:t>
            </a:r>
            <a:endParaRPr/>
          </a:p>
        </p:txBody>
      </p:sp>
      <p:sp>
        <p:nvSpPr>
          <p:cNvPr id="508" name="Google Shape;508;p3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27</a:t>
            </a:fld>
            <a:endParaRPr/>
          </a:p>
        </p:txBody>
      </p:sp>
      <p:sp>
        <p:nvSpPr>
          <p:cNvPr id="509" name="Google Shape;509;p30"/>
          <p:cNvSpPr txBox="1">
            <a:spLocks noGrp="1"/>
          </p:cNvSpPr>
          <p:nvPr>
            <p:ph type="body" idx="1"/>
          </p:nvPr>
        </p:nvSpPr>
        <p:spPr>
          <a:xfrm>
            <a:off x="487015" y="815007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산점도(scatter plot)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두 특성을 숫자에서 그래프로 표현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길이를 x축, 무게를 y축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각 도미를 이 그래프에 점으로 표시</a:t>
            </a:r>
            <a:endParaRPr/>
          </a:p>
          <a:p>
            <a:pPr marL="22860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파이썬에서 과학계산용 그래프를 그리는 대표적인 패키지는 맷플롯립(matplotlib)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이 패키지를 임포트하고 산점도를 그리는 scatter( ) 함수 사용</a:t>
            </a: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생선의 길이가 길수록 무게가 많이 나간다고 생각하면 이 그래프 모습은 매우 자연스러움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이렇게 산점도 그래프가 일직선에 가까운 형태로 나타나는 경우를 선형(linear)적이라고 표현</a:t>
            </a:r>
            <a:endParaRPr/>
          </a:p>
        </p:txBody>
      </p:sp>
      <p:graphicFrame>
        <p:nvGraphicFramePr>
          <p:cNvPr id="511" name="Google Shape;511;p30"/>
          <p:cNvGraphicFramePr/>
          <p:nvPr/>
        </p:nvGraphicFramePr>
        <p:xfrm>
          <a:off x="1197375" y="3535332"/>
          <a:ext cx="6280150" cy="13716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import matplotlib.pyplot as plt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matplotlib의 pylot 함수를 plt로 줄여서 사용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plt.scatter(bream_length, bream_weight)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plt.xlabel('length’)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x축은 길이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plt.ylabel('weight’)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y축은 무게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12" name="Google Shape;51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7885" y="3327020"/>
            <a:ext cx="2987204" cy="201987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0"/>
          <p:cNvSpPr/>
          <p:nvPr/>
        </p:nvSpPr>
        <p:spPr>
          <a:xfrm>
            <a:off x="7722097" y="4105308"/>
            <a:ext cx="256032" cy="231648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머신러닝(7)</a:t>
            </a:r>
            <a:endParaRPr/>
          </a:p>
        </p:txBody>
      </p:sp>
      <p:sp>
        <p:nvSpPr>
          <p:cNvPr id="519" name="Google Shape;519;p3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28</a:t>
            </a:fld>
            <a:endParaRPr/>
          </a:p>
        </p:txBody>
      </p:sp>
      <p:sp>
        <p:nvSpPr>
          <p:cNvPr id="520" name="Google Shape;520;p3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빙어 데이터 준비하기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빙어 14마리의 데이터를 앞에서와 같이 파이썬 리스트로 만들기</a:t>
            </a:r>
            <a:br>
              <a:rPr lang="ko-KR"/>
            </a:br>
            <a:r>
              <a:rPr lang="ko-KR"/>
              <a:t>(데이터 소스: </a:t>
            </a:r>
            <a:r>
              <a:rPr lang="ko-KR" u="sng">
                <a:solidFill>
                  <a:schemeClr val="hlink"/>
                </a:solidFill>
                <a:hlinkClick r:id="rId3"/>
              </a:rPr>
              <a:t>http://bit.ly/smelt_list</a:t>
            </a:r>
            <a:r>
              <a:rPr lang="ko-KR"/>
              <a:t>)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빙어의 산점도 그래프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scatter( ) 함수를 연달아 사용하여 2개의 산점도를 한 그래프로 그리기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graphicFrame>
        <p:nvGraphicFramePr>
          <p:cNvPr id="522" name="Google Shape;522;p31"/>
          <p:cNvGraphicFramePr/>
          <p:nvPr/>
        </p:nvGraphicFramePr>
        <p:xfrm>
          <a:off x="1262622" y="2556159"/>
          <a:ext cx="6280150" cy="94489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smelt_length = [ 9.8, 10.5, 10.6, 11.0, 11.2, 11.3, 11.8, 11.8, 12.0, 12.2,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12.4, 13.0, 14.3, 15.0]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smelt_weight = [ 6.7, 7.5, 7.0, 9.7, 9.8, 8.7, 10.0, 9.9, 9.8, 12.2, 13.4,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12.2, 19.7, 19.9]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p31"/>
          <p:cNvGraphicFramePr/>
          <p:nvPr/>
        </p:nvGraphicFramePr>
        <p:xfrm>
          <a:off x="1605153" y="4784295"/>
          <a:ext cx="5058050" cy="115825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505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plt.scatter(bream_length, bream_weight)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plt.scatter(smelt_length, smelt_weight)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24" name="Google Shape;52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54614" y="4349795"/>
            <a:ext cx="3312414" cy="222517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1"/>
          <p:cNvSpPr/>
          <p:nvPr/>
        </p:nvSpPr>
        <p:spPr>
          <a:xfrm>
            <a:off x="7286740" y="5247591"/>
            <a:ext cx="256032" cy="231648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머신러닝(8)</a:t>
            </a:r>
            <a:endParaRPr/>
          </a:p>
        </p:txBody>
      </p:sp>
      <p:sp>
        <p:nvSpPr>
          <p:cNvPr id="531" name="Google Shape;531;p3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29</a:t>
            </a:fld>
            <a:endParaRPr/>
          </a:p>
        </p:txBody>
      </p:sp>
      <p:sp>
        <p:nvSpPr>
          <p:cNvPr id="532" name="Google Shape;532;p3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이웃(k-Nearest Neighbors) 알고리즘을 사용해 도미와 빙어 데이터를 구분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k-최근접 이웃 알고리즘을 사용하기 전에 앞에서 준비했던 도미와 빙어 데이터를 하나의 데이터로 합침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파이썬에서는 다음처럼 두 리스트를 더하면 하나의 리스트로 만들어 줌</a:t>
            </a:r>
            <a:endParaRPr/>
          </a:p>
        </p:txBody>
      </p:sp>
      <p:graphicFrame>
        <p:nvGraphicFramePr>
          <p:cNvPr id="534" name="Google Shape;534;p32"/>
          <p:cNvGraphicFramePr/>
          <p:nvPr/>
        </p:nvGraphicFramePr>
        <p:xfrm>
          <a:off x="1730669" y="2965114"/>
          <a:ext cx="3647375" cy="51817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364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length = bream_length + smelt_length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weight = bream_weight + smelt_weight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35" name="Google Shape;53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2822" y="3826081"/>
            <a:ext cx="5146357" cy="2409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머신러닝(9)</a:t>
            </a:r>
            <a:endParaRPr/>
          </a:p>
        </p:txBody>
      </p:sp>
      <p:sp>
        <p:nvSpPr>
          <p:cNvPr id="541" name="Google Shape;541;p3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30</a:t>
            </a:fld>
            <a:endParaRPr/>
          </a:p>
        </p:txBody>
      </p:sp>
      <p:sp>
        <p:nvSpPr>
          <p:cNvPr id="542" name="Google Shape;542;p3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사이킷런(scikit-learn) 패키지를 사용하려면 오른쪽처럼 각 특성의 </a:t>
            </a:r>
            <a:br>
              <a:rPr lang="ko-KR"/>
            </a:br>
            <a:r>
              <a:rPr lang="ko-KR"/>
              <a:t>리스트를 세로 방향으로 늘어뜨린 2차원 리스트를 만들어야 함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파이썬의 zip( ) 함수와 리스트 내포(list comprehension) 구문을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zip( ) 함수는 나열된 리스트 각각에서 하나씩 원소를 꺼내 반환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zip( ) 함수와 리스트 내포 구문을 사용해 length와 weight 리스트를 2차원 리스트로 만들기</a:t>
            </a:r>
            <a:endParaRPr/>
          </a:p>
          <a:p>
            <a:pPr marL="914400" lvl="2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914400" lvl="2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</a:pPr>
            <a:endParaRPr sz="50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for 문은 zip( ) 함수로 length와 weight 리스트에서 원소를 하나씩 꺼내어 l과 w에 할당하면</a:t>
            </a:r>
            <a:endParaRPr/>
          </a:p>
          <a:p>
            <a:pPr marL="914400" lvl="2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/>
              <a:t>   [l, w]가 하나의 원소로 구성된 리스트가 만들어짐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예상대로 fish_data가 만들어졌는지 출력해서 확인</a:t>
            </a:r>
            <a:endParaRPr/>
          </a:p>
        </p:txBody>
      </p:sp>
      <p:graphicFrame>
        <p:nvGraphicFramePr>
          <p:cNvPr id="544" name="Google Shape;544;p33"/>
          <p:cNvGraphicFramePr/>
          <p:nvPr/>
        </p:nvGraphicFramePr>
        <p:xfrm>
          <a:off x="1627853" y="4386824"/>
          <a:ext cx="6280150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fish_data = [[l, w] for l, w in zip(length, weight)]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45" name="Google Shape;54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2528" y="337350"/>
            <a:ext cx="2942808" cy="2722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머신러닝(10)</a:t>
            </a:r>
            <a:endParaRPr/>
          </a:p>
        </p:txBody>
      </p:sp>
      <p:sp>
        <p:nvSpPr>
          <p:cNvPr id="551" name="Google Shape;551;p3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31</a:t>
            </a:fld>
            <a:endParaRPr/>
          </a:p>
        </p:txBody>
      </p:sp>
      <p:sp>
        <p:nvSpPr>
          <p:cNvPr id="552" name="Google Shape;552;p3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첫 번째 생선의 길이 25.4cm와 무게 242.0g이 하나의 리스트를 구성하고, 이런 리스트가 모여 전체 리스트를 만들었음. 이런 리스트를 2차원 리스트 혹은 리스트의 리스트라고 부름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정답 데이터 준비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첫 번째 생선은 도미이고, 두 번째 생선도 도미라는 식으로 각각 어떤 생선인지 답을 만드는 작업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도미와 빙어를 숫자 1과 0으로 표현</a:t>
            </a:r>
            <a:br>
              <a:rPr lang="ko-KR"/>
            </a:br>
            <a:r>
              <a:rPr lang="ko-KR"/>
              <a:t>- 예를 들어 첫 번째 생선은 도미이므로 1이고, 마지막 생선은 빙어이므로 0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앞서 도미와 빙어를 순서대로 나열했기 때문에 정답 리스트는 1이 35번 등장하고 0이 14번 등장하면 됨 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곱셈 연산자를 사용하면 파이썬 리스트를 간단하게 반복시킬 수 있음</a:t>
            </a:r>
            <a:endParaRPr/>
          </a:p>
        </p:txBody>
      </p:sp>
      <p:graphicFrame>
        <p:nvGraphicFramePr>
          <p:cNvPr id="554" name="Google Shape;554;p34"/>
          <p:cNvGraphicFramePr/>
          <p:nvPr/>
        </p:nvGraphicFramePr>
        <p:xfrm>
          <a:off x="1729286" y="4927793"/>
          <a:ext cx="6280150" cy="51817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fish_target = [1] * 35 + [0] * 14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print(fish_target)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55" name="Google Shape;55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8357" y="5765266"/>
            <a:ext cx="320580" cy="343479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4"/>
          <p:cNvSpPr/>
          <p:nvPr/>
        </p:nvSpPr>
        <p:spPr>
          <a:xfrm>
            <a:off x="2342204" y="5709793"/>
            <a:ext cx="5667232" cy="45442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AED3F5"/>
              </a:gs>
              <a:gs pos="50000">
                <a:srgbClr val="9FCAF2"/>
              </a:gs>
              <a:gs pos="100000">
                <a:srgbClr val="8EC3F4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[ 1, 1, 1, 1, 1, 1, 1, 1, 1, 1, 1, 1, 1, 1, 1, 1, 1, 1, 1, 1, 1, 1, 1, 1, 1,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1, 1, 1, 1, 1, 1, 1, 1, 1, 0, 0, 0, 0, 0, 0, 0, 0, 0, 0, 0, 0, 0, 0]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머신러닝(11)</a:t>
            </a:r>
            <a:endParaRPr/>
          </a:p>
        </p:txBody>
      </p:sp>
      <p:sp>
        <p:nvSpPr>
          <p:cNvPr id="562" name="Google Shape;562;p3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32</a:t>
            </a:fld>
            <a:endParaRPr/>
          </a:p>
        </p:txBody>
      </p:sp>
      <p:sp>
        <p:nvSpPr>
          <p:cNvPr id="563" name="Google Shape;563;p3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5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사이킷런 패키지에서 k-최근접 이웃 알고리즘을 구현한 클래스인 KNeighborsClassifier를 임포트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임포트한 KNeighborsClassifier 클래스의 객체 만들기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훈련(training)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객체에 fish_data와 fish_target을 전달하여 도미를 찾기 위한 기준을 학습시킴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이런 과정을 머신러닝에서는 훈련이라고 부름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사이킷런에서는 fit( ) 메서드가 이런 역할을 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메서드에 fish_data와 fish_target을 순서대로 전달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객체(또는 모델) kn이 얼마나 잘 훈련되었는지 평가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/>
              <a:t>사이킷런에서 모델을 평가하는 메서드는 score( ) 메서드이고, 0에서 1 사이의 값을 반환</a:t>
            </a:r>
            <a:br>
              <a:rPr lang="ko-KR"/>
            </a:br>
            <a:r>
              <a:rPr lang="ko-KR"/>
              <a:t>(1은 모든 데이터를 정확히 맞혔다는 것을 나타냄. 예를 들어 0.5라면 절반만 맞혔다는 의미)</a:t>
            </a: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graphicFrame>
        <p:nvGraphicFramePr>
          <p:cNvPr id="565" name="Google Shape;565;p35"/>
          <p:cNvGraphicFramePr/>
          <p:nvPr/>
        </p:nvGraphicFramePr>
        <p:xfrm>
          <a:off x="1265990" y="1942395"/>
          <a:ext cx="6280150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from sklearn.neighbors import KNeighborsClassifier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6" name="Google Shape;566;p35"/>
          <p:cNvGraphicFramePr/>
          <p:nvPr/>
        </p:nvGraphicFramePr>
        <p:xfrm>
          <a:off x="1265990" y="2728446"/>
          <a:ext cx="6280150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 = KNeighborsClassifier()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7" name="Google Shape;567;p35"/>
          <p:cNvGraphicFramePr/>
          <p:nvPr/>
        </p:nvGraphicFramePr>
        <p:xfrm>
          <a:off x="1710135" y="4900632"/>
          <a:ext cx="6280150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kn.fit(fish_data, fish_target)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8" name="Google Shape;568;p35"/>
          <p:cNvGraphicFramePr/>
          <p:nvPr/>
        </p:nvGraphicFramePr>
        <p:xfrm>
          <a:off x="2094974" y="6243011"/>
          <a:ext cx="6280150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kn.score(fish_data, fish_target)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9" name="Google Shape;569;p35"/>
          <p:cNvSpPr txBox="1"/>
          <p:nvPr/>
        </p:nvSpPr>
        <p:spPr>
          <a:xfrm>
            <a:off x="9254478" y="6228646"/>
            <a:ext cx="10789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0" name="Google Shape;570;p35"/>
          <p:cNvCxnSpPr/>
          <p:nvPr/>
        </p:nvCxnSpPr>
        <p:spPr>
          <a:xfrm>
            <a:off x="8577057" y="6409275"/>
            <a:ext cx="475488" cy="0"/>
          </a:xfrm>
          <a:prstGeom prst="straightConnector1">
            <a:avLst/>
          </a:prstGeom>
          <a:noFill/>
          <a:ln w="9525" cap="flat" cmpd="sng">
            <a:solidFill>
              <a:srgbClr val="308707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머신러닝(12)</a:t>
            </a:r>
            <a:endParaRPr/>
          </a:p>
        </p:txBody>
      </p:sp>
      <p:sp>
        <p:nvSpPr>
          <p:cNvPr id="576" name="Google Shape;576;p3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33</a:t>
            </a:fld>
            <a:endParaRPr/>
          </a:p>
        </p:txBody>
      </p:sp>
      <p:sp>
        <p:nvSpPr>
          <p:cNvPr id="577" name="Google Shape;577;p3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41748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앞에서 첫 번째 머신러닝 프로그램을 성공적으로 만들었는데, 여기서 사용한 알고리즘은 k-최근접 이웃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어떤 데이터에 대한 답을 구할 때 주위의 다른 데이터를 보고 다수를 차지하는 것을 정답으로 사용</a:t>
            </a:r>
            <a:br>
              <a:rPr lang="ko-KR"/>
            </a:br>
            <a:r>
              <a:rPr lang="ko-KR"/>
              <a:t>마치 근묵자흑과 같이 주위의 데이터로 현재 데이터를 판단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다음 그림에 삼각형으로 표시된 새로운 데이터가 있다고 가정하면, 이 삼각형은 도미와 빙어 중 어디에 속할까?</a:t>
            </a:r>
            <a:endParaRPr/>
          </a:p>
        </p:txBody>
      </p:sp>
      <p:grpSp>
        <p:nvGrpSpPr>
          <p:cNvPr id="579" name="Google Shape;579;p36"/>
          <p:cNvGrpSpPr/>
          <p:nvPr/>
        </p:nvGrpSpPr>
        <p:grpSpPr>
          <a:xfrm>
            <a:off x="3819604" y="3685880"/>
            <a:ext cx="4552793" cy="2988166"/>
            <a:chOff x="3007652" y="3393801"/>
            <a:chExt cx="5026533" cy="3299099"/>
          </a:xfrm>
        </p:grpSpPr>
        <p:pic>
          <p:nvPicPr>
            <p:cNvPr id="580" name="Google Shape;580;p36"/>
            <p:cNvPicPr preferRelativeResize="0"/>
            <p:nvPr/>
          </p:nvPicPr>
          <p:blipFill rotWithShape="1">
            <a:blip r:embed="rId3">
              <a:alphaModFix/>
            </a:blip>
            <a:srcRect t="1" b="-420"/>
            <a:stretch/>
          </p:blipFill>
          <p:spPr>
            <a:xfrm>
              <a:off x="3007652" y="3393801"/>
              <a:ext cx="5026533" cy="3299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36"/>
            <p:cNvSpPr/>
            <p:nvPr/>
          </p:nvSpPr>
          <p:spPr>
            <a:xfrm>
              <a:off x="4385349" y="4287088"/>
              <a:ext cx="2101804" cy="768096"/>
            </a:xfrm>
            <a:custGeom>
              <a:avLst/>
              <a:gdLst/>
              <a:ahLst/>
              <a:cxnLst/>
              <a:rect l="l" t="t" r="r" b="b"/>
              <a:pathLst>
                <a:path w="2101804" h="768096" extrusionOk="0">
                  <a:moveTo>
                    <a:pt x="0" y="146304"/>
                  </a:moveTo>
                  <a:cubicBezTo>
                    <a:pt x="14382" y="218213"/>
                    <a:pt x="14708" y="242989"/>
                    <a:pt x="60960" y="316992"/>
                  </a:cubicBezTo>
                  <a:cubicBezTo>
                    <a:pt x="80818" y="348765"/>
                    <a:pt x="111267" y="372638"/>
                    <a:pt x="134112" y="402336"/>
                  </a:cubicBezTo>
                  <a:cubicBezTo>
                    <a:pt x="191171" y="476513"/>
                    <a:pt x="191417" y="526817"/>
                    <a:pt x="304800" y="560832"/>
                  </a:cubicBezTo>
                  <a:lnTo>
                    <a:pt x="426720" y="597408"/>
                  </a:lnTo>
                  <a:cubicBezTo>
                    <a:pt x="466895" y="608887"/>
                    <a:pt x="494546" y="613412"/>
                    <a:pt x="536448" y="621792"/>
                  </a:cubicBezTo>
                  <a:cubicBezTo>
                    <a:pt x="577088" y="642112"/>
                    <a:pt x="614288" y="671732"/>
                    <a:pt x="658368" y="682752"/>
                  </a:cubicBezTo>
                  <a:cubicBezTo>
                    <a:pt x="727162" y="699951"/>
                    <a:pt x="719753" y="696137"/>
                    <a:pt x="804672" y="731520"/>
                  </a:cubicBezTo>
                  <a:cubicBezTo>
                    <a:pt x="821449" y="738510"/>
                    <a:pt x="835731" y="751817"/>
                    <a:pt x="853440" y="755904"/>
                  </a:cubicBezTo>
                  <a:cubicBezTo>
                    <a:pt x="889299" y="764179"/>
                    <a:pt x="926592" y="764032"/>
                    <a:pt x="963168" y="768096"/>
                  </a:cubicBezTo>
                  <a:cubicBezTo>
                    <a:pt x="1017237" y="765843"/>
                    <a:pt x="1215082" y="772756"/>
                    <a:pt x="1316736" y="743712"/>
                  </a:cubicBezTo>
                  <a:cubicBezTo>
                    <a:pt x="1353807" y="733120"/>
                    <a:pt x="1389888" y="719328"/>
                    <a:pt x="1426464" y="707136"/>
                  </a:cubicBezTo>
                  <a:cubicBezTo>
                    <a:pt x="1450848" y="699008"/>
                    <a:pt x="1478230" y="697009"/>
                    <a:pt x="1499616" y="682752"/>
                  </a:cubicBezTo>
                  <a:cubicBezTo>
                    <a:pt x="1586710" y="624689"/>
                    <a:pt x="1544337" y="641092"/>
                    <a:pt x="1621536" y="621792"/>
                  </a:cubicBezTo>
                  <a:cubicBezTo>
                    <a:pt x="1633728" y="609600"/>
                    <a:pt x="1642690" y="592927"/>
                    <a:pt x="1658112" y="585216"/>
                  </a:cubicBezTo>
                  <a:cubicBezTo>
                    <a:pt x="1676610" y="575967"/>
                    <a:pt x="1749792" y="562080"/>
                    <a:pt x="1780032" y="548640"/>
                  </a:cubicBezTo>
                  <a:cubicBezTo>
                    <a:pt x="1804944" y="537568"/>
                    <a:pt x="1827872" y="522189"/>
                    <a:pt x="1853184" y="512064"/>
                  </a:cubicBezTo>
                  <a:cubicBezTo>
                    <a:pt x="1868742" y="505841"/>
                    <a:pt x="1885840" y="504475"/>
                    <a:pt x="1901952" y="499872"/>
                  </a:cubicBezTo>
                  <a:cubicBezTo>
                    <a:pt x="1914309" y="496341"/>
                    <a:pt x="1926171" y="491211"/>
                    <a:pt x="1938528" y="487680"/>
                  </a:cubicBezTo>
                  <a:cubicBezTo>
                    <a:pt x="1954640" y="483077"/>
                    <a:pt x="1971130" y="479897"/>
                    <a:pt x="1987296" y="475488"/>
                  </a:cubicBezTo>
                  <a:cubicBezTo>
                    <a:pt x="2015840" y="467703"/>
                    <a:pt x="2044192" y="459232"/>
                    <a:pt x="2072640" y="451104"/>
                  </a:cubicBezTo>
                  <a:cubicBezTo>
                    <a:pt x="2076704" y="434848"/>
                    <a:pt x="2080229" y="418448"/>
                    <a:pt x="2084832" y="402336"/>
                  </a:cubicBezTo>
                  <a:cubicBezTo>
                    <a:pt x="2099085" y="352449"/>
                    <a:pt x="2114552" y="347286"/>
                    <a:pt x="2084832" y="280416"/>
                  </a:cubicBezTo>
                  <a:cubicBezTo>
                    <a:pt x="2075644" y="259742"/>
                    <a:pt x="2028758" y="251159"/>
                    <a:pt x="2011680" y="243840"/>
                  </a:cubicBezTo>
                  <a:cubicBezTo>
                    <a:pt x="1853245" y="175939"/>
                    <a:pt x="2084640" y="262070"/>
                    <a:pt x="1901952" y="207264"/>
                  </a:cubicBezTo>
                  <a:cubicBezTo>
                    <a:pt x="1880990" y="200975"/>
                    <a:pt x="1862317" y="187801"/>
                    <a:pt x="1840992" y="182880"/>
                  </a:cubicBezTo>
                  <a:cubicBezTo>
                    <a:pt x="1809066" y="175512"/>
                    <a:pt x="1775968" y="174752"/>
                    <a:pt x="1743456" y="170688"/>
                  </a:cubicBezTo>
                  <a:lnTo>
                    <a:pt x="1621536" y="134112"/>
                  </a:lnTo>
                  <a:cubicBezTo>
                    <a:pt x="1597003" y="126445"/>
                    <a:pt x="1573320" y="115962"/>
                    <a:pt x="1548384" y="109728"/>
                  </a:cubicBezTo>
                  <a:cubicBezTo>
                    <a:pt x="1508177" y="99676"/>
                    <a:pt x="1466544" y="95891"/>
                    <a:pt x="1426464" y="85344"/>
                  </a:cubicBezTo>
                  <a:cubicBezTo>
                    <a:pt x="1264153" y="42631"/>
                    <a:pt x="1362049" y="42928"/>
                    <a:pt x="1170432" y="24384"/>
                  </a:cubicBezTo>
                  <a:cubicBezTo>
                    <a:pt x="1093469" y="16936"/>
                    <a:pt x="1015956" y="17015"/>
                    <a:pt x="938784" y="12192"/>
                  </a:cubicBezTo>
                  <a:cubicBezTo>
                    <a:pt x="885899" y="8887"/>
                    <a:pt x="833120" y="4064"/>
                    <a:pt x="780288" y="0"/>
                  </a:cubicBezTo>
                  <a:cubicBezTo>
                    <a:pt x="682752" y="8128"/>
                    <a:pt x="584450" y="9722"/>
                    <a:pt x="487680" y="24384"/>
                  </a:cubicBezTo>
                  <a:cubicBezTo>
                    <a:pt x="425181" y="33854"/>
                    <a:pt x="375154" y="65957"/>
                    <a:pt x="316992" y="85344"/>
                  </a:cubicBezTo>
                  <a:cubicBezTo>
                    <a:pt x="301096" y="90643"/>
                    <a:pt x="284120" y="92237"/>
                    <a:pt x="268224" y="97536"/>
                  </a:cubicBezTo>
                  <a:cubicBezTo>
                    <a:pt x="235283" y="108516"/>
                    <a:pt x="203200" y="121920"/>
                    <a:pt x="170688" y="134112"/>
                  </a:cubicBezTo>
                  <a:cubicBezTo>
                    <a:pt x="162560" y="146304"/>
                    <a:pt x="156665" y="160327"/>
                    <a:pt x="146304" y="170688"/>
                  </a:cubicBezTo>
                  <a:cubicBezTo>
                    <a:pt x="135943" y="181049"/>
                    <a:pt x="119264" y="183947"/>
                    <a:pt x="109728" y="195072"/>
                  </a:cubicBezTo>
                  <a:cubicBezTo>
                    <a:pt x="94306" y="213064"/>
                    <a:pt x="85344" y="235712"/>
                    <a:pt x="73152" y="256032"/>
                  </a:cubicBezTo>
                  <a:cubicBezTo>
                    <a:pt x="69088" y="272288"/>
                    <a:pt x="65563" y="288688"/>
                    <a:pt x="60960" y="304800"/>
                  </a:cubicBezTo>
                  <a:cubicBezTo>
                    <a:pt x="57429" y="317157"/>
                    <a:pt x="48768" y="328525"/>
                    <a:pt x="48768" y="341376"/>
                  </a:cubicBezTo>
                  <a:cubicBezTo>
                    <a:pt x="48768" y="370113"/>
                    <a:pt x="52703" y="399195"/>
                    <a:pt x="60960" y="426720"/>
                  </a:cubicBezTo>
                  <a:cubicBezTo>
                    <a:pt x="72947" y="466677"/>
                    <a:pt x="74755" y="463296"/>
                    <a:pt x="97536" y="463296"/>
                  </a:cubicBezTo>
                </a:path>
              </a:pathLst>
            </a:cu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6271435" y="4502752"/>
              <a:ext cx="195326" cy="168384"/>
            </a:xfrm>
            <a:prstGeom prst="triangle">
              <a:avLst>
                <a:gd name="adj" fmla="val 50000"/>
              </a:avLst>
            </a:prstGeom>
            <a:solidFill>
              <a:srgbClr val="3087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36"/>
            <p:cNvSpPr txBox="1"/>
            <p:nvPr/>
          </p:nvSpPr>
          <p:spPr>
            <a:xfrm>
              <a:off x="3998228" y="4433056"/>
              <a:ext cx="20066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이 생선은 도미? 빙어?</a:t>
              </a:r>
              <a:endParaRPr sz="1400" b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4" name="Google Shape;584;p36"/>
            <p:cNvCxnSpPr/>
            <p:nvPr/>
          </p:nvCxnSpPr>
          <p:spPr>
            <a:xfrm>
              <a:off x="5899067" y="4586943"/>
              <a:ext cx="276210" cy="0"/>
            </a:xfrm>
            <a:prstGeom prst="straightConnector1">
              <a:avLst/>
            </a:prstGeom>
            <a:noFill/>
            <a:ln w="9525" cap="flat" cmpd="sng">
              <a:solidFill>
                <a:srgbClr val="9751CB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머신러닝(13)</a:t>
            </a:r>
            <a:endParaRPr/>
          </a:p>
        </p:txBody>
      </p:sp>
      <p:sp>
        <p:nvSpPr>
          <p:cNvPr id="590" name="Google Shape;590;p3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34</a:t>
            </a:fld>
            <a:endParaRPr/>
          </a:p>
        </p:txBody>
      </p:sp>
      <p:sp>
        <p:nvSpPr>
          <p:cNvPr id="591" name="Google Shape;591;p3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predict( ) 메서드는 새로운 데이터의 정답을 예측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메서드도 앞서 fit( ) 메서드와 마찬가지로 리스트의 리스트를 전달해야 함</a:t>
            </a:r>
            <a:endParaRPr/>
          </a:p>
          <a:p>
            <a:pPr marL="914400" lvl="2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/>
              <a:t>   그래서 삼각형 포인트를 리스트로 2번 감싸고, 반환되는 값은 1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우리는 앞서 도미는 1, 빙어는 0으로 가정. 따라서 삼각형(   )은 도미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5875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k-최근접 이웃 알고리즘을 위해 준비해야 할 일은 데이터를 모두 가지고 있는 게 전부</a:t>
            </a:r>
            <a:endParaRPr/>
          </a:p>
          <a:p>
            <a:pPr marL="1600200" lvl="3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/>
              <a:t>새로운 데이터에 대해 예측할 때는 가장 가까운 직선거리에 어떤 데이터가 있는지를 살피기만 하면 됨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/>
              <a:t>단점은 k-최근접 이웃 알고리즘의 이런 특징 때문에 데이터가 아주 많은 경우 사용하기 어려움</a:t>
            </a:r>
            <a:br>
              <a:rPr lang="ko-KR"/>
            </a:br>
            <a:r>
              <a:rPr lang="ko-KR"/>
              <a:t>데이터가 크기 때문에 메모리가 많이 필요하고, 직선거리를 계산하는 데도 많은 시간이 필요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사이킷런의 KNeighborsClassifier 클래스도 마찬가지</a:t>
            </a:r>
            <a:endParaRPr/>
          </a:p>
          <a:p>
            <a:pPr marL="1600200" lvl="3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/>
              <a:t>이 클래스는 _fit_X 속성에 우리가 전달한 fish_data를 모두 가지고 있으며,  _y 속성에 fish_target을 가짐</a:t>
            </a:r>
            <a:endParaRPr/>
          </a:p>
        </p:txBody>
      </p:sp>
      <p:sp>
        <p:nvSpPr>
          <p:cNvPr id="593" name="Google Shape;593;p37"/>
          <p:cNvSpPr/>
          <p:nvPr/>
        </p:nvSpPr>
        <p:spPr>
          <a:xfrm>
            <a:off x="6931246" y="3223487"/>
            <a:ext cx="195326" cy="168384"/>
          </a:xfrm>
          <a:prstGeom prst="triangle">
            <a:avLst>
              <a:gd name="adj" fmla="val 50000"/>
            </a:avLst>
          </a:prstGeom>
          <a:solidFill>
            <a:srgbClr val="308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4" name="Google Shape;594;p37"/>
          <p:cNvGraphicFramePr/>
          <p:nvPr/>
        </p:nvGraphicFramePr>
        <p:xfrm>
          <a:off x="1691035" y="3650818"/>
          <a:ext cx="2682250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268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kn.predict([[30, 600]])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5" name="Google Shape;595;p37"/>
          <p:cNvSpPr txBox="1"/>
          <p:nvPr/>
        </p:nvSpPr>
        <p:spPr>
          <a:xfrm>
            <a:off x="5474556" y="3615659"/>
            <a:ext cx="16520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array([1])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6" name="Google Shape;596;p37"/>
          <p:cNvCxnSpPr/>
          <p:nvPr/>
        </p:nvCxnSpPr>
        <p:spPr>
          <a:xfrm>
            <a:off x="4698363" y="3800325"/>
            <a:ext cx="451104" cy="0"/>
          </a:xfrm>
          <a:prstGeom prst="straightConnector1">
            <a:avLst/>
          </a:prstGeom>
          <a:noFill/>
          <a:ln w="9525" cap="flat" cmpd="sng">
            <a:solidFill>
              <a:srgbClr val="1C5A25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머신러닝(14)</a:t>
            </a:r>
            <a:endParaRPr/>
          </a:p>
        </p:txBody>
      </p:sp>
      <p:sp>
        <p:nvSpPr>
          <p:cNvPr id="602" name="Google Shape;602;p3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35</a:t>
            </a:fld>
            <a:endParaRPr/>
          </a:p>
        </p:txBody>
      </p:sp>
      <p:sp>
        <p:nvSpPr>
          <p:cNvPr id="603" name="Google Shape;603;p3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실제로 k-최근접 이웃 알고리즘은 무언가 훈련되는 게 없는 것인가?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fit( ) 메서드에 전달한 데이터를 모두 저장하고 있다가 새로운 데이터가 등장하면 가장 가까운 데이터를 참고하여 도미인지 빙어인지를 구분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가까운 몇 개의 데이터를 참고할지는 정하기 나름이지만, KNeighborsClassifier 클래스의 기본값은 5임</a:t>
            </a:r>
            <a:br>
              <a:rPr lang="ko-KR"/>
            </a:br>
            <a:r>
              <a:rPr lang="ko-KR"/>
              <a:t>이 기준은 n_neighbors 매개변수로 바꿀 수 있음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다음과 같이 하면 어떤 결과가 나올까?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가장 가까운 데이터 49개를 사용하는 k-최근접 이웃 모델에 fish_data를 적용하면 fish_data에 있는 모든 생선을 사용하여 예측</a:t>
            </a:r>
            <a:br>
              <a:rPr lang="ko-KR"/>
            </a:br>
            <a:r>
              <a:rPr lang="ko-KR"/>
              <a:t>- fish_data의 데이터 49개 중에 도미가 35개로 다수를 차지하므로 어떤 데이터를 넣어도 무조건 도미로 예측</a:t>
            </a:r>
            <a:endParaRPr/>
          </a:p>
        </p:txBody>
      </p:sp>
      <p:graphicFrame>
        <p:nvGraphicFramePr>
          <p:cNvPr id="605" name="Google Shape;605;p38"/>
          <p:cNvGraphicFramePr/>
          <p:nvPr/>
        </p:nvGraphicFramePr>
        <p:xfrm>
          <a:off x="1737360" y="4362192"/>
          <a:ext cx="8717275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871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kn49 = KNeighborsClassifier(n_neighbors=49)  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참고 데이터를 49개로 한 kn49 모델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6" name="Google Shape;606;p38"/>
          <p:cNvGraphicFramePr/>
          <p:nvPr/>
        </p:nvGraphicFramePr>
        <p:xfrm>
          <a:off x="1719072" y="5901802"/>
          <a:ext cx="3962400" cy="51817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kn49.fit(fish_data, fish_target)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kn49.score(fish_data, fish_target)</a:t>
                      </a:r>
                      <a:endParaRPr sz="1400" b="0" u="none" strike="noStrike" cap="none">
                        <a:solidFill>
                          <a:srgbClr val="7030A0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7" name="Google Shape;607;p38"/>
          <p:cNvSpPr txBox="1"/>
          <p:nvPr/>
        </p:nvSpPr>
        <p:spPr>
          <a:xfrm>
            <a:off x="6721348" y="5993813"/>
            <a:ext cx="27669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0.7142857142857143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8" name="Google Shape;608;p38"/>
          <p:cNvCxnSpPr/>
          <p:nvPr/>
        </p:nvCxnSpPr>
        <p:spPr>
          <a:xfrm>
            <a:off x="5978376" y="6178479"/>
            <a:ext cx="446069" cy="0"/>
          </a:xfrm>
          <a:prstGeom prst="straightConnector1">
            <a:avLst/>
          </a:prstGeom>
          <a:noFill/>
          <a:ln w="9525" cap="flat" cmpd="sng">
            <a:solidFill>
              <a:srgbClr val="1C5A25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머신러닝(14)</a:t>
            </a:r>
            <a:endParaRPr/>
          </a:p>
        </p:txBody>
      </p:sp>
      <p:sp>
        <p:nvSpPr>
          <p:cNvPr id="614" name="Google Shape;614;p3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36</a:t>
            </a:fld>
            <a:endParaRPr/>
          </a:p>
        </p:txBody>
      </p:sp>
      <p:sp>
        <p:nvSpPr>
          <p:cNvPr id="615" name="Google Shape;615;p3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fish_data에 있는 생선 중에 도미가 35개이고 빙어가 14개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kn49 모델은 도미만 올바르게 맞히기 때문에 다음과 같이 정확도를 계산하면 score( ) 메서드와 같은 값을 얻을 수 있음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n_neighbors 매개변수를 49로 두는 것은 좋지 않음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기본값을 5로 하여 도미를 완벽하게 분류한 모델을 사용</a:t>
            </a:r>
            <a:endParaRPr/>
          </a:p>
        </p:txBody>
      </p:sp>
      <p:graphicFrame>
        <p:nvGraphicFramePr>
          <p:cNvPr id="617" name="Google Shape;617;p39"/>
          <p:cNvGraphicFramePr/>
          <p:nvPr/>
        </p:nvGraphicFramePr>
        <p:xfrm>
          <a:off x="1712537" y="3096631"/>
          <a:ext cx="3962400" cy="3048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i="1" u="none" strike="noStrike" cap="none">
                          <a:solidFill>
                            <a:schemeClr val="dk1"/>
                          </a:solidFill>
                        </a:rPr>
                        <a:t>print(35/49)</a:t>
                      </a:r>
                      <a:endParaRPr sz="1400" b="0" i="1" u="none" strike="noStrike" cap="none">
                        <a:solidFill>
                          <a:srgbClr val="7030A0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8" name="Google Shape;618;p39"/>
          <p:cNvSpPr txBox="1"/>
          <p:nvPr/>
        </p:nvSpPr>
        <p:spPr>
          <a:xfrm>
            <a:off x="6711922" y="3049125"/>
            <a:ext cx="27669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0.7142857142857143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9" name="Google Shape;619;p39"/>
          <p:cNvCxnSpPr/>
          <p:nvPr/>
        </p:nvCxnSpPr>
        <p:spPr>
          <a:xfrm>
            <a:off x="5970395" y="3233791"/>
            <a:ext cx="446069" cy="0"/>
          </a:xfrm>
          <a:prstGeom prst="straightConnector1">
            <a:avLst/>
          </a:prstGeom>
          <a:noFill/>
          <a:ln w="9525" cap="flat" cmpd="sng">
            <a:solidFill>
              <a:srgbClr val="1C5A2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0" name="Google Shape;620;p39"/>
          <p:cNvSpPr/>
          <p:nvPr/>
        </p:nvSpPr>
        <p:spPr>
          <a:xfrm>
            <a:off x="1520412" y="4540159"/>
            <a:ext cx="8899965" cy="171309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결괏값은 왜 한 번만 출력될까?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kn49.score() 다음에 바로 print 명령을 사용하면 결괏값이 2번 출력되어야 할 것 같지만 그렇지 않음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코드 셀은 마지막 실행 코드의 반환값만을 자동 출력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모든 코드를 한 셀에 넣으면 중간의 반환값은 출력하지 않음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따라서 두 값을 모두 출력하려면 각각 print 명령을 사용하거나 여러 개의 코드 셀로 나누어 작성해야 함</a:t>
            </a:r>
            <a:endParaRPr/>
          </a:p>
        </p:txBody>
      </p:sp>
      <p:pic>
        <p:nvPicPr>
          <p:cNvPr id="621" name="Google Shape;621;p39" descr="Lightbulb and gea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3014" y="4528973"/>
            <a:ext cx="455111" cy="455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머신러닝(15)</a:t>
            </a:r>
            <a:endParaRPr/>
          </a:p>
        </p:txBody>
      </p:sp>
      <p:sp>
        <p:nvSpPr>
          <p:cNvPr id="627" name="Google Shape;627;p4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37</a:t>
            </a:fld>
            <a:endParaRPr/>
          </a:p>
        </p:txBody>
      </p:sp>
      <p:sp>
        <p:nvSpPr>
          <p:cNvPr id="628" name="Google Shape;628;p4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도미와 빙어 분류 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분류 준비 과정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도미와 빙어를 구분하기 위한 첫 번째 머신러닝 프로그램을 작성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먼저 도미 35마리와 빙어 14마리의 길이와 무게를 측정해서 파이썬 리스트 생성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도미와 빙어 데이터를 합쳐 리스트의 리스트로 데이터를 준비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첫 번째 머신러닝 프로그램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사이킷런의 k-최근접 이웃 알고리즘은 주변에서 가장 가까운 5개의 데이터를 보고 다수결의 원칙에 따라 데이터를 예측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모델은 혼공머신이 준비한 도미와 빙어 데이터를 모두 완벽하게 맞힘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사용 메서드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KNeighborsClassifier 클래스의 fit ( ), score ( ), predict ( ) 메서드를 사용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마무리(1)</a:t>
            </a:r>
            <a:endParaRPr/>
          </a:p>
        </p:txBody>
      </p:sp>
      <p:sp>
        <p:nvSpPr>
          <p:cNvPr id="635" name="Google Shape;635;p4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38</a:t>
            </a:fld>
            <a:endParaRPr/>
          </a:p>
        </p:txBody>
      </p:sp>
      <p:sp>
        <p:nvSpPr>
          <p:cNvPr id="636" name="Google Shape;636;p4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키워드로 끝내는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특성은 데이터를 표현하는 하나의 성질. 이 절에서 생선 데이터 각각을 길이와 무게 특성으로 표현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 알고리즘이 데이터에서 규칙을 찾는 과정이 훈련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사이킷런에서는 fit( ) 메서드가 하는 역할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알고리즘은 가장 간단한 머신러닝 알고리즘 중 하나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사실 어떤 규칙을 찾기보다는 전체 데이터를 메모리에 가지고 있는 것이 전부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 프로그램에서 알고리즘이 구현된 객체를 모델이라 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종종 알고리즘 자체를 모델이라고 부르기도 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정확도는 정확한 답을 몇 개 맞혔는지를 백분율로 나타낸 값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사이킷런에서는 0 ~1 사이의 값으로 출력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정확도 = (정확히 맞힌 개수) / (전체 데이터 개수)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마무리(2)</a:t>
            </a:r>
            <a:endParaRPr/>
          </a:p>
        </p:txBody>
      </p:sp>
      <p:sp>
        <p:nvSpPr>
          <p:cNvPr id="643" name="Google Shape;643;p4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39</a:t>
            </a:fld>
            <a:endParaRPr/>
          </a:p>
        </p:txBody>
      </p:sp>
      <p:sp>
        <p:nvSpPr>
          <p:cNvPr id="644" name="Google Shape;644;p4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matplotlib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scatter( )는 산점도를 그리는 맷플롯립 함수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처음 2개의 매개변수로 x축 값과 y축 값을 전달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값은 파이썬 리스트 또는 넘파이 배열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c 매개변수로 색깔을 지정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지정하지 않을 경우 10개의 기본 색깔을 사용해 그래프를 그림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색깔은 </a:t>
            </a:r>
            <a:r>
              <a:rPr lang="ko-KR" u="sng">
                <a:solidFill>
                  <a:schemeClr val="hlink"/>
                </a:solidFill>
                <a:hlinkClick r:id="rId3"/>
              </a:rPr>
              <a:t>https://bit.ly/matplotlib_prop_cycle</a:t>
            </a:r>
            <a:r>
              <a:rPr lang="ko-KR"/>
              <a:t>을 참고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marker 매개변수로 마커 스타일을 지정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marker의 기본값은 o(circle, 원)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지정할 수 있는 마커 종류는 </a:t>
            </a:r>
            <a:r>
              <a:rPr lang="ko-KR" u="sng">
                <a:solidFill>
                  <a:schemeClr val="hlink"/>
                </a:solidFill>
                <a:hlinkClick r:id="rId4"/>
              </a:rPr>
              <a:t>https://bit.ly/matplotlib_marker</a:t>
            </a:r>
            <a:r>
              <a:rPr lang="ko-KR"/>
              <a:t>를 참고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마무리(3)</a:t>
            </a:r>
            <a:endParaRPr/>
          </a:p>
        </p:txBody>
      </p:sp>
      <p:sp>
        <p:nvSpPr>
          <p:cNvPr id="651" name="Google Shape;651;p4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40</a:t>
            </a:fld>
            <a:endParaRPr/>
          </a:p>
        </p:txBody>
      </p:sp>
      <p:sp>
        <p:nvSpPr>
          <p:cNvPr id="652" name="Google Shape;652;p4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KNeighborsClassifier( )는 k-최근접 이웃 분류 모델을 만드는 사이킷런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n_neighbors 매개변수로 이웃의 개수를 지정. 기본값은 5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p 매개변수로 거리를 재는 방법을 지정. 1일 경우 맨해튼 거리(https://bit.ly/man_distance)를 사용하고, 2일 경우 유클리디안 거리(https://bit.ly/euc_distance)를 사용. 기본값은 2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n_jobs 매개변수로 사용할 CPU 코어를 지정 가능. -1로 설정하면 모든 CPU 코어를 사용</a:t>
            </a:r>
            <a:br>
              <a:rPr lang="ko-KR"/>
            </a:br>
            <a:r>
              <a:rPr lang="ko-KR"/>
              <a:t>이웃 간의 거리 계산 속도를 높일 수 있지만 fit ( ) 메서드에는 영향이 없음. 기본값은 1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fit( )은 사이킷런 모델을 훈련할 때 사용하는 메서드. 처음 두 매개변수로 훈련에 사용할 특성과 </a:t>
            </a:r>
            <a:br>
              <a:rPr lang="ko-KR"/>
            </a:br>
            <a:r>
              <a:rPr lang="ko-KR"/>
              <a:t>정답 데이터를 전달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predict( )는 사이킷런 모델을 훈련하고 예측할 때 사용하는 메서드. 특성 데이터 하나만 매개변수로 받음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score( )는 훈련된 사이킷런 모델의 성능을 측정. 처음 두 매개변수로 특성과 정답 데이터를 전달. 이 메서드는 먼저 predict ( ) 메서드로 예측을 수행한 다음 분류 모델일 경우 정답과 비교하여 올바르게 예측한 개수의 </a:t>
            </a:r>
            <a:br>
              <a:rPr lang="ko-KR"/>
            </a:br>
            <a:r>
              <a:rPr lang="ko-KR"/>
              <a:t>비율을 반환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43dd304a0c_0_3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확인 문제(1)</a:t>
            </a:r>
            <a:endParaRPr/>
          </a:p>
        </p:txBody>
      </p:sp>
      <p:sp>
        <p:nvSpPr>
          <p:cNvPr id="659" name="Google Shape;659;g343dd304a0c_0_3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41</a:t>
            </a:fld>
            <a:endParaRPr/>
          </a:p>
        </p:txBody>
      </p:sp>
      <p:sp>
        <p:nvSpPr>
          <p:cNvPr id="660" name="Google Shape;660;g343dd304a0c_0_3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5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 dirty="0"/>
              <a:t>데이터를 표현하는 하나의 성질로써, 예를 들어 국가 데이터의 경우 인구 수, GDP, 면적 등이 하나의 국가를 나타냄. </a:t>
            </a:r>
            <a:r>
              <a:rPr lang="ko-KR" dirty="0" err="1"/>
              <a:t>머신러닝에서</a:t>
            </a:r>
            <a:r>
              <a:rPr lang="ko-KR" dirty="0"/>
              <a:t> 이런 성질을 무엇이라고 하나?</a:t>
            </a:r>
            <a:br>
              <a:rPr lang="ko-KR" dirty="0"/>
            </a:br>
            <a:r>
              <a:rPr lang="ko-KR" dirty="0"/>
              <a:t>① 특성 		</a:t>
            </a:r>
            <a:r>
              <a:rPr lang="en-US" altLang="ko-KR" dirty="0"/>
              <a:t>	</a:t>
            </a:r>
            <a:r>
              <a:rPr lang="ko-KR" dirty="0"/>
              <a:t>② 특질	 	</a:t>
            </a:r>
            <a:br>
              <a:rPr lang="ko-KR" dirty="0"/>
            </a:br>
            <a:r>
              <a:rPr lang="ko-KR" dirty="0"/>
              <a:t>③ 개성 		</a:t>
            </a:r>
            <a:r>
              <a:rPr lang="en-US" altLang="ko-KR" dirty="0"/>
              <a:t>	</a:t>
            </a:r>
            <a:r>
              <a:rPr lang="ko-KR" dirty="0"/>
              <a:t>④ 요소</a:t>
            </a:r>
            <a:endParaRPr dirty="0"/>
          </a:p>
          <a:p>
            <a:pPr marL="457200" lvl="0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dirty="0"/>
          </a:p>
          <a:p>
            <a:pPr marL="457200" lvl="0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dirty="0"/>
          </a:p>
          <a:p>
            <a:pPr marL="457200" lvl="0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dirty="0"/>
          </a:p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 dirty="0"/>
              <a:t>가장 가까운 이웃을 참고하여 정답을 예측하는 알고리즘이 구현된 </a:t>
            </a:r>
            <a:r>
              <a:rPr lang="ko-KR" dirty="0" err="1"/>
              <a:t>사이킷런</a:t>
            </a:r>
            <a:r>
              <a:rPr lang="ko-KR" dirty="0"/>
              <a:t> 클래스는?</a:t>
            </a:r>
            <a:br>
              <a:rPr lang="ko-KR" dirty="0"/>
            </a:br>
            <a:r>
              <a:rPr lang="ko-KR" dirty="0"/>
              <a:t>① </a:t>
            </a:r>
            <a:r>
              <a:rPr lang="ko-KR" dirty="0" err="1"/>
              <a:t>SGDClassifier</a:t>
            </a:r>
            <a:r>
              <a:rPr lang="ko-KR" dirty="0"/>
              <a:t>			     </a:t>
            </a:r>
            <a:r>
              <a:rPr lang="en-US" altLang="ko-KR" dirty="0"/>
              <a:t>	</a:t>
            </a:r>
            <a:r>
              <a:rPr lang="ko-KR" dirty="0"/>
              <a:t>② </a:t>
            </a:r>
            <a:r>
              <a:rPr lang="ko-KR" dirty="0" err="1"/>
              <a:t>LinearRegression</a:t>
            </a:r>
            <a:br>
              <a:rPr lang="ko-KR" dirty="0"/>
            </a:br>
            <a:r>
              <a:rPr lang="ko-KR" dirty="0"/>
              <a:t>③ </a:t>
            </a:r>
            <a:r>
              <a:rPr lang="ko-KR" dirty="0" err="1"/>
              <a:t>RandomForestClassifier</a:t>
            </a:r>
            <a:r>
              <a:rPr lang="ko-KR" dirty="0"/>
              <a:t>		</a:t>
            </a:r>
            <a:r>
              <a:rPr lang="en-US" altLang="ko-KR" dirty="0"/>
              <a:t>	</a:t>
            </a:r>
            <a:r>
              <a:rPr lang="ko-KR" dirty="0"/>
              <a:t>④ </a:t>
            </a:r>
            <a:r>
              <a:rPr lang="ko-KR" dirty="0" err="1"/>
              <a:t>KNeighborsClassifier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확인 문제(1)</a:t>
            </a:r>
            <a:endParaRPr/>
          </a:p>
        </p:txBody>
      </p:sp>
      <p:sp>
        <p:nvSpPr>
          <p:cNvPr id="667" name="Google Shape;667;p4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42</a:t>
            </a:fld>
            <a:endParaRPr/>
          </a:p>
        </p:txBody>
      </p:sp>
      <p:sp>
        <p:nvSpPr>
          <p:cNvPr id="668" name="Google Shape;668;p4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ko-KR"/>
              <a:t>사이킷런 모델을 훈련할 때 사용하는 메서드는 어떤 것인가?</a:t>
            </a:r>
            <a:br>
              <a:rPr lang="ko-KR"/>
            </a:br>
            <a:r>
              <a:rPr lang="ko-KR"/>
              <a:t>① predict( ) 	② fit( ) </a:t>
            </a:r>
            <a:br>
              <a:rPr lang="ko-KR"/>
            </a:br>
            <a:r>
              <a:rPr lang="ko-KR"/>
              <a:t>③ score( ) 		④ transform( )</a:t>
            </a:r>
            <a:endParaRPr/>
          </a:p>
          <a:p>
            <a:pPr marL="2286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3"/>
            </a:pPr>
            <a:r>
              <a:rPr lang="ko-KR"/>
              <a:t>다음 중 모델의 정확도를 계산하는 올바른 방법은?</a:t>
            </a:r>
            <a:endParaRPr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/>
              <a:t>① (틀린 개수) / (전체 데이터 개수)</a:t>
            </a:r>
            <a:endParaRPr sz="18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/>
              <a:t>② (전체 데이터 개수) / (틀린 개수)</a:t>
            </a:r>
            <a:endParaRPr sz="18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/>
              <a:t>③ (정확히 맞힌 개수) / (전체 데이터 개수)</a:t>
            </a:r>
            <a:endParaRPr sz="18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/>
              <a:t>④ (전체 데이터 개수) / (정확히 맞힌 개수)</a:t>
            </a:r>
            <a:endParaRPr sz="1800"/>
          </a:p>
          <a:p>
            <a:pPr marL="2286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확인 문제(2)</a:t>
            </a:r>
            <a:endParaRPr/>
          </a:p>
        </p:txBody>
      </p:sp>
      <p:sp>
        <p:nvSpPr>
          <p:cNvPr id="675" name="Google Shape;675;p4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43</a:t>
            </a:fld>
            <a:endParaRPr/>
          </a:p>
        </p:txBody>
      </p:sp>
      <p:sp>
        <p:nvSpPr>
          <p:cNvPr id="676" name="Google Shape;676;p4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5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5"/>
            </a:pPr>
            <a:r>
              <a:rPr lang="ko-KR" dirty="0"/>
              <a:t>교재 56쪽에서 </a:t>
            </a:r>
            <a:r>
              <a:rPr lang="ko-KR" dirty="0" err="1"/>
              <a:t>n_neighbors를</a:t>
            </a:r>
            <a:r>
              <a:rPr lang="ko-KR" dirty="0"/>
              <a:t> 49로 설정했을 때 점수가 1.0보다 작았음. 즉 정확도가 100%가 아님. 그럼 </a:t>
            </a:r>
            <a:r>
              <a:rPr lang="ko-KR" dirty="0" err="1"/>
              <a:t>n_neighbors의</a:t>
            </a:r>
            <a:r>
              <a:rPr lang="ko-KR" dirty="0"/>
              <a:t> 기본값인 5부터 49까지 바꾸어 가며 점수가 1.0 아래로 내려가기 시작하는 이웃의 개수를 찾아보자. </a:t>
            </a:r>
            <a:br>
              <a:rPr lang="ko-KR" dirty="0"/>
            </a:br>
            <a:r>
              <a:rPr lang="ko-KR" sz="1600" dirty="0"/>
              <a:t>이 문제를 위해 </a:t>
            </a:r>
            <a:r>
              <a:rPr lang="ko-KR" sz="1600" dirty="0" err="1"/>
              <a:t>KNeighborsClassifier</a:t>
            </a:r>
            <a:r>
              <a:rPr lang="ko-KR" sz="1600" dirty="0"/>
              <a:t> 클래스 객체를 매번 다시 만들 필요는 없음. 심지어 </a:t>
            </a:r>
            <a:r>
              <a:rPr lang="ko-KR" sz="1600" dirty="0" err="1"/>
              <a:t>fit</a:t>
            </a:r>
            <a:r>
              <a:rPr lang="ko-KR" sz="1600" dirty="0"/>
              <a:t> ( ) 메서 </a:t>
            </a:r>
            <a:r>
              <a:rPr lang="ko-KR" sz="1600" dirty="0" err="1"/>
              <a:t>드로</a:t>
            </a:r>
            <a:r>
              <a:rPr lang="ko-KR" sz="1600" dirty="0"/>
              <a:t> 훈련을 </a:t>
            </a:r>
            <a:br>
              <a:rPr lang="ko-KR" sz="1600" dirty="0"/>
            </a:br>
            <a:r>
              <a:rPr lang="ko-KR" sz="1600" dirty="0"/>
              <a:t>다시 할 필요도 없음. k-최근접 이웃 알고리즘의 훈련은 데이터를 저장하는 것이 전부이기 때문임. </a:t>
            </a:r>
            <a:br>
              <a:rPr lang="ko-KR" sz="1600" dirty="0"/>
            </a:br>
            <a:r>
              <a:rPr lang="ko-KR" sz="1600" dirty="0" err="1"/>
              <a:t>KNeighborsClassifier</a:t>
            </a:r>
            <a:r>
              <a:rPr lang="ko-KR" sz="1600" dirty="0"/>
              <a:t> 클래스의 이웃 개수는 모델 객체의 </a:t>
            </a:r>
            <a:r>
              <a:rPr lang="ko-KR" sz="1600" dirty="0" err="1"/>
              <a:t>n_neighbors</a:t>
            </a:r>
            <a:r>
              <a:rPr lang="ko-KR" sz="1600" dirty="0"/>
              <a:t> 속성으로 바꿀 수 있으며, 이웃 개수를 바꾼 후 </a:t>
            </a:r>
            <a:r>
              <a:rPr lang="ko-KR" sz="1600" dirty="0" err="1"/>
              <a:t>score</a:t>
            </a:r>
            <a:r>
              <a:rPr lang="ko-KR" sz="1600" dirty="0"/>
              <a:t>( ) 메서드로 다시 계산하기만 하면 됨</a:t>
            </a:r>
            <a:endParaRPr dirty="0"/>
          </a:p>
        </p:txBody>
      </p:sp>
      <p:graphicFrame>
        <p:nvGraphicFramePr>
          <p:cNvPr id="678" name="Google Shape;678;p45"/>
          <p:cNvGraphicFramePr/>
          <p:nvPr/>
        </p:nvGraphicFramePr>
        <p:xfrm>
          <a:off x="1002165" y="3619296"/>
          <a:ext cx="7849050" cy="243841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784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 = KNeighborsClassifier()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kn.fit(fish_data, fish_target)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for n in range(5, 50):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k-최근접 이웃 개수 설정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kn.n_neighbors =                                                        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이 라인을 완성해 보세요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점수 계산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score = kn.score(                          ,                          )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이 라인을 완성해 보세요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100% 정확도에 미치지 못하는 이웃</a:t>
                      </a: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개수 출력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if score &lt; 1: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print(n, score)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Break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9" name="Google Shape;679;p45"/>
          <p:cNvSpPr/>
          <p:nvPr/>
        </p:nvSpPr>
        <p:spPr>
          <a:xfrm>
            <a:off x="2839039" y="4555032"/>
            <a:ext cx="2415540" cy="167640"/>
          </a:xfrm>
          <a:prstGeom prst="rect">
            <a:avLst/>
          </a:prstGeom>
          <a:solidFill>
            <a:srgbClr val="1A84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5"/>
          <p:cNvSpPr/>
          <p:nvPr/>
        </p:nvSpPr>
        <p:spPr>
          <a:xfrm>
            <a:off x="2778079" y="4973406"/>
            <a:ext cx="929640" cy="167640"/>
          </a:xfrm>
          <a:prstGeom prst="rect">
            <a:avLst/>
          </a:prstGeom>
          <a:solidFill>
            <a:srgbClr val="1A84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5"/>
          <p:cNvSpPr/>
          <p:nvPr/>
        </p:nvSpPr>
        <p:spPr>
          <a:xfrm>
            <a:off x="3882979" y="4973406"/>
            <a:ext cx="929640" cy="167640"/>
          </a:xfrm>
          <a:prstGeom prst="rect">
            <a:avLst/>
          </a:prstGeom>
          <a:solidFill>
            <a:srgbClr val="1A84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rgbClr val="000000"/>
      </a:dk1>
      <a:lt1>
        <a:srgbClr val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16991</Words>
  <Application>Microsoft Office PowerPoint</Application>
  <PresentationFormat>와이드스크린</PresentationFormat>
  <Paragraphs>2212</Paragraphs>
  <Slides>43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0" baseType="lpstr">
      <vt:lpstr>Noto Sans Symbols</vt:lpstr>
      <vt:lpstr>Arial</vt:lpstr>
      <vt:lpstr>Helvetica Neue Light</vt:lpstr>
      <vt:lpstr>Calibri</vt:lpstr>
      <vt:lpstr>Malgun Gothic</vt:lpstr>
      <vt:lpstr>Malgun Gothic</vt:lpstr>
      <vt:lpstr>Office 테마</vt:lpstr>
      <vt:lpstr>인공지능 </vt:lpstr>
      <vt:lpstr>PowerPoint 프레젠테이션</vt:lpstr>
      <vt:lpstr>Contents</vt:lpstr>
      <vt:lpstr>PowerPoint 프레젠테이션</vt:lpstr>
      <vt:lpstr>SECTION 1-1 인공지능과 머신러닝, 딥러닝(1)</vt:lpstr>
      <vt:lpstr>SECTION 1-1 인공지능과 머신러닝, 딥러닝(2)</vt:lpstr>
      <vt:lpstr>SECTION 1-1 인공지능과 머신러닝, 딥러닝(3)</vt:lpstr>
      <vt:lpstr>SECTION 1-1 인공지능과 머신러닝, 딥러닝(4)</vt:lpstr>
      <vt:lpstr>SECTION 1-1 인공지능과 머신러닝, 딥러닝(5)</vt:lpstr>
      <vt:lpstr>SECTION 1-1 마무리</vt:lpstr>
      <vt:lpstr>SECTION 1-2 코랩과 주피터 노트북(1)</vt:lpstr>
      <vt:lpstr>SECTION 1-2 코랩과 주피터 노트북(2)</vt:lpstr>
      <vt:lpstr>SECTION 1-2 코랩과 주피터 노트북(3)</vt:lpstr>
      <vt:lpstr>SECTION 1-2 코랩과 주피터 노트북(4)</vt:lpstr>
      <vt:lpstr>SECTION 1-2 코랩과 주피터 노트북(5)</vt:lpstr>
      <vt:lpstr>SECTION 1-2 코랩과 주피터 노트북(6)</vt:lpstr>
      <vt:lpstr>SECTION 1-2 코랩과 주피터 노트북(7)</vt:lpstr>
      <vt:lpstr>SECTION 1-2 코랩과 주피터 노트북(8)</vt:lpstr>
      <vt:lpstr>SECTION 1-2 마무리(1)</vt:lpstr>
      <vt:lpstr>SECTION 1-2 마무리(2)</vt:lpstr>
      <vt:lpstr>SECTION 1-2 확인 문제(1)</vt:lpstr>
      <vt:lpstr>SECTION 1-3 마켓과 머신러닝(1)</vt:lpstr>
      <vt:lpstr>SECTION 1-3 마켓과 머신러닝(2)</vt:lpstr>
      <vt:lpstr>SECTION 1-3 마켓과 머신러닝(3)</vt:lpstr>
      <vt:lpstr>SECTION 1-3 마켓과 머신러닝(4)</vt:lpstr>
      <vt:lpstr>SECTION 1-3 마켓과 머신러닝(5)</vt:lpstr>
      <vt:lpstr>SECTION 1-3 마켓과 머신러닝(6)</vt:lpstr>
      <vt:lpstr>SECTION 1-3 마켓과 머신러닝(7)</vt:lpstr>
      <vt:lpstr>SECTION 1-3 마켓과 머신러닝(8)</vt:lpstr>
      <vt:lpstr>SECTION 1-3 마켓과 머신러닝(9)</vt:lpstr>
      <vt:lpstr>SECTION 1-3 마켓과 머신러닝(10)</vt:lpstr>
      <vt:lpstr>SECTION 1-3 마켓과 머신러닝(11)</vt:lpstr>
      <vt:lpstr>SECTION 1-3 마켓과 머신러닝(12)</vt:lpstr>
      <vt:lpstr>SECTION 1-3 마켓과 머신러닝(13)</vt:lpstr>
      <vt:lpstr>SECTION 1-3 마켓과 머신러닝(14)</vt:lpstr>
      <vt:lpstr>SECTION 1-3 마켓과 머신러닝(14)</vt:lpstr>
      <vt:lpstr>SECTION 1-3 마켓과 머신러닝(15)</vt:lpstr>
      <vt:lpstr>SECTION 1-3 마무리(1)</vt:lpstr>
      <vt:lpstr>SECTION 1-3 마무리(2)</vt:lpstr>
      <vt:lpstr>SECTION 1-3 마무리(3)</vt:lpstr>
      <vt:lpstr>SECTION 1-3 확인 문제(1)</vt:lpstr>
      <vt:lpstr>SECTION 1-3 확인 문제(1)</vt:lpstr>
      <vt:lpstr>SECTION 1-3 확인 문제(2)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혼자 공부하는 머신러닝+딥러닝 (개정판)</dc:title>
  <dc:creator>마케팅팀</dc:creator>
  <cp:lastModifiedBy>USER</cp:lastModifiedBy>
  <cp:revision>55</cp:revision>
  <dcterms:created xsi:type="dcterms:W3CDTF">2020-01-31T07:25:46Z</dcterms:created>
  <dcterms:modified xsi:type="dcterms:W3CDTF">2026-03-01T15:20:58Z</dcterms:modified>
</cp:coreProperties>
</file>